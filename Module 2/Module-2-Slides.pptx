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42" r:id="rId2"/>
    <p:sldId id="2644" r:id="rId3"/>
    <p:sldId id="2645" r:id="rId4"/>
    <p:sldId id="2646" r:id="rId5"/>
    <p:sldId id="2647" r:id="rId6"/>
    <p:sldId id="264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86772-F0A8-4E1B-B561-FD8ABFE462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8E7FC-2AA1-4EB0-90EC-47484AA40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2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A1E9-A8AA-3860-CD07-1D7C2052F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D87E3-668A-796F-144C-6F56ED9EF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FA11F-A0D3-1D03-A5E3-41D78F89F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75E71-108A-4D92-CC95-BAE2B9085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0EC0B-1C13-EEC5-8528-0A7793226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13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C739-C60E-3E75-06E6-EA89534B2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12E80-B5A7-B890-6C54-11D994F46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EFD7E-807A-BB92-00C8-2B66E396D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FF171-0FA3-E048-6A3B-D2824FC16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7481C-2396-6BC8-3F4F-3842E927F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8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0E7E-5C67-86A2-F94C-0AEC36EA1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179D8-E1B1-F13E-C785-DABE47003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383DF-2492-4C7F-41AE-414270485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43BB2-4D6A-9160-E887-AC6629AAC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1B46F-CBB3-13B6-A260-676A6C771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33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31FD0-EA11-49FF-653E-9F061021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F0F0E-964D-4D89-1493-535D8DA70B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1CB3C-4651-E9CB-9BF2-6A745FDC1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75D31-0B42-9837-5C9A-0A66618D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ECD61-FD66-A8AC-81B4-4738F4170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D4A6D-625F-D9D3-FEDD-2D301EC6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6DAA-681D-D25F-481B-67159F87D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D58AF-85B8-F13A-F2EC-DBD160F9C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BD893-9F9D-44B9-9303-F5464A8A2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4F7DB7-E549-A495-2F8D-0049C9052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A4AA0-1CE0-CC17-4735-9F15FA36B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C86518-E65B-122F-6EB7-75CCE37C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E2AD4-70C5-1069-3F15-7B754CC2C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DC05F-EF39-7D52-BDDB-4E0A559D1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6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3E42-741E-4D6A-18B3-ACC2B0920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0EEB8-D6A4-BBB0-99A5-BC804F62E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A5090-A45F-2CC4-6CA5-27BEE5AA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C30FD-C592-5040-9F44-D02B86BD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36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A2CE4-EAA6-9B97-98C8-A70239771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C70285-33B1-D196-749B-31DDC979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3E1CB-8CB0-BBC2-8739-D9D30A6A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67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16D09-73FB-8CBB-D2A3-A5F8A0E47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9165-DD0C-114F-ED3C-28A7A9E97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F4D51-C00E-C5D4-C230-046843913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9B66A-7C58-E384-3B5F-9534418BD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A507C-2B1D-9691-F387-68DCBC49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09F08-FFAA-AAAD-0C4F-0CBEE27A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77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7A684-A3A2-6FFD-3977-969535D42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C0130D-E79A-FE64-C83D-EC89BEDD08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F21B9-5041-AC50-456E-37907CE5D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77F6B-59D6-9265-904D-4553B27E5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4E094-3637-2F6F-31EB-8613EB7F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7CAB2-8653-C646-7A6D-5CF86416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36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727E4-1FC4-B2E8-F973-C09556E9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B15E4-E06F-4015-0BD9-FCD2D3AEF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BDF46-1A4E-6542-0366-EE9C9948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F2226-C6DC-F038-7F38-C17217894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A631B-DC50-F506-5B18-93EDD937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99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105F01-5005-92FB-FE31-D140E72839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50FFA-7F39-84DC-2D42-58998DE5B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D50EE-A48F-2526-0746-3BA5EA8E9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D16EB-9688-29B1-070E-F02F8CA4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FC3DB-1AB4-58A6-07C6-A6D984281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8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1196" y="437282"/>
            <a:ext cx="8013405" cy="729784"/>
          </a:xfrm>
        </p:spPr>
        <p:txBody>
          <a:bodyPr/>
          <a:lstStyle>
            <a:lvl1pPr algn="r"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EBB876-AD82-6640-9B9E-C4D87C53B3FE}"/>
              </a:ext>
            </a:extLst>
          </p:cNvPr>
          <p:cNvSpPr txBox="1"/>
          <p:nvPr userDrawn="1"/>
        </p:nvSpPr>
        <p:spPr>
          <a:xfrm>
            <a:off x="506675" y="6154609"/>
            <a:ext cx="3683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E2902F"/>
                </a:solidFill>
                <a:latin typeface="Gadugi" panose="020B0502040204020203" pitchFamily="34" charset="0"/>
                <a:ea typeface="Calibri" panose="020F0502020204030204" pitchFamily="34" charset="0"/>
                <a:cs typeface="Leelawadee UI Semilight" panose="020B0402040204020203" pitchFamily="34" charset="-34"/>
              </a:rPr>
              <a:t>Develop a passion for learning.</a:t>
            </a:r>
            <a:endParaRPr lang="en-US" sz="1000" dirty="0">
              <a:solidFill>
                <a:srgbClr val="E2902F"/>
              </a:solidFill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F5BC6B56-12EC-3047-A242-968A3B571C2A}"/>
              </a:ext>
            </a:extLst>
          </p:cNvPr>
          <p:cNvSpPr txBox="1">
            <a:spLocks/>
          </p:cNvSpPr>
          <p:nvPr userDrawn="1"/>
        </p:nvSpPr>
        <p:spPr>
          <a:xfrm>
            <a:off x="506675" y="6554719"/>
            <a:ext cx="4572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2025 by Innovation In Software Corporation</a:t>
            </a:r>
          </a:p>
        </p:txBody>
      </p:sp>
    </p:spTree>
    <p:extLst>
      <p:ext uri="{BB962C8B-B14F-4D97-AF65-F5344CB8AC3E}">
        <p14:creationId xmlns:p14="http://schemas.microsoft.com/office/powerpoint/2010/main" val="3771228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6AF518-45B1-BF92-84F9-E5611079D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F6CA0-997E-1531-296D-F763878B3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C2A68-9ABE-2D7E-B580-B4EF7173C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F7C1C5-2B25-475A-8FFD-378930511B3E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DA864-63D4-452C-AD02-01544A062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034E6-3652-E2AF-4BAF-35215F3E0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0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AC60F-CB02-FA03-DA1C-5E6A87310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CD2F62E-C139-9E7D-06D1-25A59F83C2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100" y="0"/>
            <a:ext cx="11706912" cy="1325563"/>
          </a:xfrm>
          <a:prstGeom prst="rect">
            <a:avLst/>
          </a:prstGeom>
        </p:spPr>
        <p:txBody>
          <a:bodyPr>
            <a:normAutofit/>
          </a:bodyPr>
          <a:lstStyle>
            <a:lvl1pPr defTabSz="905255">
              <a:defRPr sz="3564" spc="-99"/>
            </a:lvl1pPr>
          </a:lstStyle>
          <a:p>
            <a:pPr algn="l"/>
            <a:r>
              <a:rPr lang="en-US" sz="4000" b="1" dirty="0">
                <a:solidFill>
                  <a:schemeClr val="accent2"/>
                </a:solidFill>
                <a:latin typeface="+mn-lt"/>
                <a:ea typeface="Nirmala UI Semilight" panose="020B0402040204020203" pitchFamily="34" charset="0"/>
                <a:cs typeface="Nirmala UI Semilight" panose="020B0402040204020203" pitchFamily="34" charset="0"/>
              </a:rPr>
              <a:t>Infrastructure as Code – Intro to Bicep</a:t>
            </a:r>
            <a:endParaRPr sz="4000" dirty="0">
              <a:solidFill>
                <a:schemeClr val="accent2"/>
              </a:solidFill>
              <a:latin typeface="+mn-lt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8C71AF8-9412-90E8-9256-A0A434EF49A3}"/>
              </a:ext>
            </a:extLst>
          </p:cNvPr>
          <p:cNvSpPr txBox="1"/>
          <p:nvPr/>
        </p:nvSpPr>
        <p:spPr>
          <a:xfrm>
            <a:off x="302988" y="1325563"/>
            <a:ext cx="11403924" cy="28828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3200" b="1" spc="-10" dirty="0">
                <a:solidFill>
                  <a:schemeClr val="accent1">
                    <a:lumMod val="75000"/>
                  </a:schemeClr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What is Infrastructure as Code (</a:t>
            </a:r>
            <a:r>
              <a:rPr lang="en-US" sz="3200" b="1" spc="-10" dirty="0" err="1">
                <a:solidFill>
                  <a:schemeClr val="accent1">
                    <a:lumMod val="75000"/>
                  </a:schemeClr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IaC</a:t>
            </a:r>
            <a:r>
              <a:rPr lang="en-US" sz="3200" b="1" spc="-10" dirty="0">
                <a:solidFill>
                  <a:schemeClr val="accent1">
                    <a:lumMod val="75000"/>
                  </a:schemeClr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)?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b="1" spc="-10" dirty="0">
                <a:solidFill>
                  <a:schemeClr val="accent2"/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Idempotent!</a:t>
            </a:r>
            <a:endParaRPr lang="en-US" sz="2800" b="1" spc="-10" dirty="0"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Codify Infrastructure: VMs, Storage, Networks, etc.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Declarative or Imperative Definitions (Terraform vs Ansible)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Repeatable, version-controlled deployments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Enables DevOps, CI/CD, Automation</a:t>
            </a:r>
          </a:p>
        </p:txBody>
      </p: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1F13E12-DF81-2D79-3621-04D9818F01D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kern="1200" cap="none" spc="0" normalizeH="0" baseline="0">
                <a:ln>
                  <a:noFill/>
                </a:ln>
                <a:solidFill>
                  <a:srgbClr val="D1282E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20AF49-533A-2FDF-E08E-F60202D27DA6}"/>
              </a:ext>
            </a:extLst>
          </p:cNvPr>
          <p:cNvSpPr txBox="1"/>
          <p:nvPr/>
        </p:nvSpPr>
        <p:spPr>
          <a:xfrm>
            <a:off x="3817203" y="4872247"/>
            <a:ext cx="4375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 b="1" dirty="0">
                <a:solidFill>
                  <a:schemeClr val="accent2"/>
                </a:solidFill>
              </a:rPr>
              <a:t>Infrastructure as Code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5854B-BED9-98E9-E673-9AE53A2140E7}"/>
              </a:ext>
            </a:extLst>
          </p:cNvPr>
          <p:cNvSpPr txBox="1"/>
          <p:nvPr/>
        </p:nvSpPr>
        <p:spPr>
          <a:xfrm>
            <a:off x="0" y="5441789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</a:rPr>
              <a:t>Infrastructure as Code (</a:t>
            </a:r>
            <a:r>
              <a:rPr lang="en-US" sz="2000" b="1" dirty="0" err="1">
                <a:solidFill>
                  <a:schemeClr val="accent2"/>
                </a:solidFill>
              </a:rPr>
              <a:t>IaC</a:t>
            </a:r>
            <a:r>
              <a:rPr lang="en-US" sz="2000" b="1" dirty="0">
                <a:solidFill>
                  <a:schemeClr val="accent2"/>
                </a:solidFill>
              </a:rPr>
              <a:t>) </a:t>
            </a:r>
            <a:r>
              <a:rPr lang="en-US" sz="2000" b="1" dirty="0"/>
              <a:t>is the practice of managing and provisioning cloud infrastructure using machine-readable configuration files instead of manual processes or GUIs.</a:t>
            </a:r>
          </a:p>
        </p:txBody>
      </p:sp>
    </p:spTree>
    <p:extLst>
      <p:ext uri="{BB962C8B-B14F-4D97-AF65-F5344CB8AC3E}">
        <p14:creationId xmlns:p14="http://schemas.microsoft.com/office/powerpoint/2010/main" val="247679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969F5-98FB-82C7-B08B-B0B04947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9B46611-C14E-BC95-020E-BF626C3F13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100" y="0"/>
            <a:ext cx="11706912" cy="1325563"/>
          </a:xfrm>
          <a:prstGeom prst="rect">
            <a:avLst/>
          </a:prstGeom>
        </p:spPr>
        <p:txBody>
          <a:bodyPr>
            <a:normAutofit/>
          </a:bodyPr>
          <a:lstStyle>
            <a:lvl1pPr defTabSz="905255">
              <a:defRPr sz="3564" spc="-99"/>
            </a:lvl1pPr>
          </a:lstStyle>
          <a:p>
            <a:pPr algn="l"/>
            <a:r>
              <a:rPr lang="en-US" sz="4000" b="1" dirty="0">
                <a:solidFill>
                  <a:schemeClr val="accent2"/>
                </a:solidFill>
                <a:latin typeface="+mn-lt"/>
                <a:ea typeface="Nirmala UI Semilight" panose="020B0402040204020203" pitchFamily="34" charset="0"/>
                <a:cs typeface="Nirmala UI Semilight" panose="020B0402040204020203" pitchFamily="34" charset="0"/>
              </a:rPr>
              <a:t>Why </a:t>
            </a:r>
            <a:r>
              <a:rPr lang="en-US" sz="4000" b="1" dirty="0" err="1">
                <a:solidFill>
                  <a:schemeClr val="accent2"/>
                </a:solidFill>
                <a:latin typeface="+mn-lt"/>
                <a:ea typeface="Nirmala UI Semilight" panose="020B0402040204020203" pitchFamily="34" charset="0"/>
                <a:cs typeface="Nirmala UI Semilight" panose="020B0402040204020203" pitchFamily="34" charset="0"/>
              </a:rPr>
              <a:t>IaC</a:t>
            </a:r>
            <a:r>
              <a:rPr lang="en-US" sz="4000" b="1" dirty="0">
                <a:solidFill>
                  <a:schemeClr val="accent2"/>
                </a:solidFill>
                <a:latin typeface="+mn-lt"/>
                <a:ea typeface="Nirmala UI Semilight" panose="020B0402040204020203" pitchFamily="34" charset="0"/>
                <a:cs typeface="Nirmala UI Semilight" panose="020B0402040204020203" pitchFamily="34" charset="0"/>
              </a:rPr>
              <a:t> Matters in Azure</a:t>
            </a:r>
            <a:endParaRPr sz="4000" dirty="0">
              <a:solidFill>
                <a:schemeClr val="accent2"/>
              </a:solidFill>
              <a:latin typeface="+mn-lt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2BBC3F4-FDD5-E3C7-811A-4F65C116112A}"/>
              </a:ext>
            </a:extLst>
          </p:cNvPr>
          <p:cNvSpPr txBox="1"/>
          <p:nvPr/>
        </p:nvSpPr>
        <p:spPr>
          <a:xfrm>
            <a:off x="302988" y="1325563"/>
            <a:ext cx="5977496" cy="247503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3200" b="1" spc="-10" dirty="0">
                <a:solidFill>
                  <a:schemeClr val="accent1">
                    <a:lumMod val="75000"/>
                  </a:schemeClr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Why Azure Engineers Use </a:t>
            </a:r>
            <a:r>
              <a:rPr lang="en-US" sz="3200" b="1" spc="-10" dirty="0" err="1">
                <a:solidFill>
                  <a:schemeClr val="accent1">
                    <a:lumMod val="75000"/>
                  </a:schemeClr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IaC</a:t>
            </a:r>
            <a:r>
              <a:rPr lang="en-US" sz="3200" b="1" spc="-10" dirty="0">
                <a:solidFill>
                  <a:schemeClr val="accent1">
                    <a:lumMod val="75000"/>
                  </a:schemeClr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!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Consistency across environments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Avoid drift from manual changes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Supports automation pipelines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Auditability and Collaboration</a:t>
            </a:r>
          </a:p>
        </p:txBody>
      </p: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32EF248B-3E7F-FE24-AED4-C0DE34E19BB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kern="1200" cap="none" spc="0" normalizeH="0" baseline="0">
                <a:ln>
                  <a:noFill/>
                </a:ln>
                <a:solidFill>
                  <a:srgbClr val="D1282E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FA1E2A-3835-E327-8D8B-26A1550DB062}"/>
              </a:ext>
            </a:extLst>
          </p:cNvPr>
          <p:cNvSpPr txBox="1"/>
          <p:nvPr/>
        </p:nvSpPr>
        <p:spPr>
          <a:xfrm>
            <a:off x="5309085" y="4857014"/>
            <a:ext cx="15738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 b="1" dirty="0">
                <a:solidFill>
                  <a:schemeClr val="accent2"/>
                </a:solidFill>
              </a:rPr>
              <a:t>Pro Tip!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1252C6-41E9-6342-78ED-2A552474C545}"/>
              </a:ext>
            </a:extLst>
          </p:cNvPr>
          <p:cNvSpPr txBox="1"/>
          <p:nvPr/>
        </p:nvSpPr>
        <p:spPr>
          <a:xfrm>
            <a:off x="0" y="544178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Always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parameterize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accent2"/>
                </a:solidFill>
              </a:rPr>
              <a:t>resource names </a:t>
            </a:r>
            <a:r>
              <a:rPr lang="en-US" sz="2400" b="1" dirty="0"/>
              <a:t>and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accent2"/>
                </a:solidFill>
              </a:rPr>
              <a:t>locations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/>
              <a:t>in your </a:t>
            </a:r>
            <a:r>
              <a:rPr lang="en-US" sz="2400" b="1" dirty="0">
                <a:solidFill>
                  <a:schemeClr val="accent2"/>
                </a:solidFill>
              </a:rPr>
              <a:t>Bicep templates</a:t>
            </a:r>
            <a:r>
              <a:rPr lang="en-US" sz="2400" b="1" dirty="0"/>
              <a:t>—this makes your deployments reusable across environments.</a:t>
            </a:r>
          </a:p>
        </p:txBody>
      </p:sp>
      <p:pic>
        <p:nvPicPr>
          <p:cNvPr id="6" name="Picture 5" descr="Infrastructure being defined, and supplied from parameters specified in a declarative manifest, or code block.">
            <a:extLst>
              <a:ext uri="{FF2B5EF4-FFF2-40B4-BE49-F238E27FC236}">
                <a16:creationId xmlns:a16="http://schemas.microsoft.com/office/drawing/2014/main" id="{CF503381-EF4E-1D62-3372-70870D863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914" y="1325563"/>
            <a:ext cx="4550996" cy="256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20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CCAD2-F189-4CCF-1BF4-9AC72003E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442B109-2AD0-4D76-5B47-1CEEDCF05F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100" y="0"/>
            <a:ext cx="11706912" cy="1325563"/>
          </a:xfrm>
          <a:prstGeom prst="rect">
            <a:avLst/>
          </a:prstGeom>
        </p:spPr>
        <p:txBody>
          <a:bodyPr>
            <a:normAutofit/>
          </a:bodyPr>
          <a:lstStyle>
            <a:lvl1pPr defTabSz="905255">
              <a:defRPr sz="3564" spc="-99"/>
            </a:lvl1pPr>
          </a:lstStyle>
          <a:p>
            <a:pPr algn="l"/>
            <a:r>
              <a:rPr lang="en-US" sz="4000" b="1" dirty="0">
                <a:solidFill>
                  <a:schemeClr val="accent2"/>
                </a:solidFill>
                <a:latin typeface="+mn-lt"/>
                <a:ea typeface="Nirmala UI Semilight" panose="020B0402040204020203" pitchFamily="34" charset="0"/>
                <a:cs typeface="Nirmala UI Semilight" panose="020B0402040204020203" pitchFamily="34" charset="0"/>
              </a:rPr>
              <a:t>Azure’s First </a:t>
            </a:r>
            <a:r>
              <a:rPr lang="en-US" sz="4000" b="1" dirty="0" err="1">
                <a:solidFill>
                  <a:schemeClr val="accent2"/>
                </a:solidFill>
                <a:latin typeface="+mn-lt"/>
                <a:ea typeface="Nirmala UI Semilight" panose="020B0402040204020203" pitchFamily="34" charset="0"/>
                <a:cs typeface="Nirmala UI Semilight" panose="020B0402040204020203" pitchFamily="34" charset="0"/>
              </a:rPr>
              <a:t>IaC</a:t>
            </a:r>
            <a:r>
              <a:rPr lang="en-US" sz="4000" b="1" dirty="0">
                <a:solidFill>
                  <a:schemeClr val="accent2"/>
                </a:solidFill>
                <a:latin typeface="+mn-lt"/>
                <a:ea typeface="Nirmala UI Semilight" panose="020B0402040204020203" pitchFamily="34" charset="0"/>
                <a:cs typeface="Nirmala UI Semilight" panose="020B0402040204020203" pitchFamily="34" charset="0"/>
              </a:rPr>
              <a:t> Language: ARM JSON</a:t>
            </a:r>
            <a:endParaRPr sz="4000" dirty="0">
              <a:solidFill>
                <a:schemeClr val="accent2"/>
              </a:solidFill>
              <a:latin typeface="+mn-lt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BEFD57A-F9F3-9778-BFA7-673943F95A37}"/>
              </a:ext>
            </a:extLst>
          </p:cNvPr>
          <p:cNvSpPr txBox="1"/>
          <p:nvPr/>
        </p:nvSpPr>
        <p:spPr>
          <a:xfrm>
            <a:off x="302988" y="1325563"/>
            <a:ext cx="5977496" cy="284436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3200" b="1" spc="-10" dirty="0">
                <a:solidFill>
                  <a:schemeClr val="accent1">
                    <a:lumMod val="75000"/>
                  </a:schemeClr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JSON Arm Templates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JSON-Based syntax for defining Azure Resources.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Used by Azure Portal, CLI, and SDK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Declarative and Expressive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Not Human-Friendly</a:t>
            </a:r>
          </a:p>
        </p:txBody>
      </p: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A1597B83-2BB1-F75E-E355-DE09B6DF252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kern="1200" cap="none" spc="0" normalizeH="0" baseline="0">
                <a:ln>
                  <a:noFill/>
                </a:ln>
                <a:solidFill>
                  <a:srgbClr val="D1282E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2386C-CED9-3D63-8B1F-D91274A1F7F3}"/>
              </a:ext>
            </a:extLst>
          </p:cNvPr>
          <p:cNvSpPr txBox="1"/>
          <p:nvPr/>
        </p:nvSpPr>
        <p:spPr>
          <a:xfrm>
            <a:off x="6401160" y="1001718"/>
            <a:ext cx="5367175" cy="5678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"$schema": "https://schema.management.azure.com/schemas/...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1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contentVersion</a:t>
            </a:r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"1.0.0.0",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"parameters": {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11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storageAccountName</a:t>
            </a:r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"type": "string"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},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"location": {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"type": "string",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US" sz="11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defaultValue</a:t>
            </a:r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11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eastus</a:t>
            </a:r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"resources": [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"type": "</a:t>
            </a:r>
            <a:r>
              <a:rPr lang="en-US" sz="11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Microsoft.Storage</a:t>
            </a:r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1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storageAccounts</a:t>
            </a:r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US" sz="11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apiVersion</a:t>
            </a:r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"2022-09-01",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"name": "[parameters('</a:t>
            </a:r>
            <a:r>
              <a:rPr lang="en-US" sz="11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storageAccountName</a:t>
            </a:r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')]",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"location": "[parameters('location')]",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US" sz="11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sku</a:t>
            </a:r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"name": "</a:t>
            </a:r>
            <a:r>
              <a:rPr lang="en-US" sz="11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Standard_LRS</a:t>
            </a:r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},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"kind": "StorageV2",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"properties": {}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],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"outputs": {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11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storageAccountName</a:t>
            </a:r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"type": "string",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"value": "[parameters('</a:t>
            </a:r>
            <a:r>
              <a:rPr lang="en-US" sz="11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storageAccountName</a:t>
            </a:r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')]"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1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8404DF-6009-EF3D-9750-9ED31B7CA083}"/>
              </a:ext>
            </a:extLst>
          </p:cNvPr>
          <p:cNvSpPr txBox="1"/>
          <p:nvPr/>
        </p:nvSpPr>
        <p:spPr>
          <a:xfrm>
            <a:off x="693462" y="4326341"/>
            <a:ext cx="5097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ARM JSON templates are too verbose, hard to read, and difficult to maintain—Bicep solves this with cleaner syntax and better tooling.</a:t>
            </a:r>
          </a:p>
        </p:txBody>
      </p:sp>
    </p:spTree>
    <p:extLst>
      <p:ext uri="{BB962C8B-B14F-4D97-AF65-F5344CB8AC3E}">
        <p14:creationId xmlns:p14="http://schemas.microsoft.com/office/powerpoint/2010/main" val="3046293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973F0-935D-4E77-E6BF-989E35E17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CABB221-1B4E-1018-57C8-850C8520DF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100" y="0"/>
            <a:ext cx="11706912" cy="1325563"/>
          </a:xfrm>
          <a:prstGeom prst="rect">
            <a:avLst/>
          </a:prstGeom>
        </p:spPr>
        <p:txBody>
          <a:bodyPr>
            <a:normAutofit/>
          </a:bodyPr>
          <a:lstStyle>
            <a:lvl1pPr defTabSz="905255">
              <a:defRPr sz="3564" spc="-99"/>
            </a:lvl1pPr>
          </a:lstStyle>
          <a:p>
            <a:pPr algn="l"/>
            <a:r>
              <a:rPr lang="en-US" sz="4000" b="1" dirty="0">
                <a:solidFill>
                  <a:schemeClr val="accent2"/>
                </a:solidFill>
                <a:latin typeface="+mn-lt"/>
                <a:ea typeface="Nirmala UI Semilight" panose="020B0402040204020203" pitchFamily="34" charset="0"/>
                <a:cs typeface="Nirmala UI Semilight" panose="020B0402040204020203" pitchFamily="34" charset="0"/>
              </a:rPr>
              <a:t>Enter Bicep – A Better Way to Deploy</a:t>
            </a:r>
            <a:endParaRPr sz="4000" dirty="0">
              <a:solidFill>
                <a:schemeClr val="accent2"/>
              </a:solidFill>
              <a:latin typeface="+mn-lt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3A58557-327D-DFF1-8D27-904CC7DEDD16}"/>
              </a:ext>
            </a:extLst>
          </p:cNvPr>
          <p:cNvSpPr txBox="1"/>
          <p:nvPr/>
        </p:nvSpPr>
        <p:spPr>
          <a:xfrm>
            <a:off x="302987" y="961999"/>
            <a:ext cx="5977496" cy="3275256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3200" b="1" spc="-10" dirty="0">
                <a:solidFill>
                  <a:schemeClr val="tx2">
                    <a:lumMod val="50000"/>
                    <a:lumOff val="50000"/>
                  </a:schemeClr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Bicep: ARM JSON, Reimagined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DSL (Domain-Specific Language) that compiles to ARM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Concise, Readable, Maintainable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Strong Tooling support (VS Code, Linting, Auto-Complete)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Built by Microsoft, fully supported</a:t>
            </a:r>
          </a:p>
        </p:txBody>
      </p: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9902D549-F59B-047B-ECC2-1A0F8BCABF8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kern="1200" cap="none" spc="0" normalizeH="0" baseline="0">
                <a:ln>
                  <a:noFill/>
                </a:ln>
                <a:solidFill>
                  <a:srgbClr val="D1282E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E2701-88EA-0863-5AE8-F8ECC7CFD6FF}"/>
              </a:ext>
            </a:extLst>
          </p:cNvPr>
          <p:cNvSpPr txBox="1"/>
          <p:nvPr/>
        </p:nvSpPr>
        <p:spPr>
          <a:xfrm>
            <a:off x="6091703" y="1874728"/>
            <a:ext cx="555472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 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storageAccountName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 location string = 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resourceGroup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().location</a:t>
            </a:r>
          </a:p>
          <a:p>
            <a:endParaRPr lang="en-US" sz="1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 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'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Microsoft.Storage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storageAccounts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@...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name: 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storageAccountName</a:t>
            </a:r>
            <a:endParaRPr lang="en-US" sz="1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location: location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sku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name: '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Standard_LRS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kind: 'StorageV2'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properties: {}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saName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 = sa.name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0EBC16-F3CD-27C9-788F-6B634BEC0D9E}"/>
              </a:ext>
            </a:extLst>
          </p:cNvPr>
          <p:cNvSpPr txBox="1"/>
          <p:nvPr/>
        </p:nvSpPr>
        <p:spPr>
          <a:xfrm>
            <a:off x="483174" y="4229758"/>
            <a:ext cx="50973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Bicep is preferred today because it’s easier to read, faster to write, and fully supported by Azure—all without sacrificing the power of ARM templates.</a:t>
            </a:r>
          </a:p>
        </p:txBody>
      </p:sp>
    </p:spTree>
    <p:extLst>
      <p:ext uri="{BB962C8B-B14F-4D97-AF65-F5344CB8AC3E}">
        <p14:creationId xmlns:p14="http://schemas.microsoft.com/office/powerpoint/2010/main" val="3556824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DC048-4F26-1B0B-967E-696AA20D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7086422-2413-A43A-C942-78AB7951B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100" y="0"/>
            <a:ext cx="11706912" cy="1325563"/>
          </a:xfrm>
          <a:prstGeom prst="rect">
            <a:avLst/>
          </a:prstGeom>
        </p:spPr>
        <p:txBody>
          <a:bodyPr>
            <a:normAutofit/>
          </a:bodyPr>
          <a:lstStyle>
            <a:lvl1pPr defTabSz="905255">
              <a:defRPr sz="3564" spc="-99"/>
            </a:lvl1pPr>
          </a:lstStyle>
          <a:p>
            <a:pPr algn="l"/>
            <a:r>
              <a:rPr lang="en-US" sz="4000" b="1" dirty="0">
                <a:solidFill>
                  <a:schemeClr val="accent2"/>
                </a:solidFill>
                <a:latin typeface="+mn-lt"/>
                <a:ea typeface="Nirmala UI Semilight" panose="020B0402040204020203" pitchFamily="34" charset="0"/>
                <a:cs typeface="Nirmala UI Semilight" panose="020B0402040204020203" pitchFamily="34" charset="0"/>
              </a:rPr>
              <a:t>Declarative vs. Imperative</a:t>
            </a:r>
            <a:endParaRPr sz="4000" dirty="0">
              <a:solidFill>
                <a:schemeClr val="accent2"/>
              </a:solidFill>
              <a:latin typeface="+mn-lt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0CE082A-0EE3-11D8-09CE-90F53A8330F7}"/>
              </a:ext>
            </a:extLst>
          </p:cNvPr>
          <p:cNvSpPr txBox="1"/>
          <p:nvPr/>
        </p:nvSpPr>
        <p:spPr>
          <a:xfrm>
            <a:off x="302986" y="961999"/>
            <a:ext cx="11405839" cy="2413481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3200" b="1" spc="-10" dirty="0">
                <a:solidFill>
                  <a:schemeClr val="accent1">
                    <a:lumMod val="75000"/>
                  </a:schemeClr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Where Bicep Fits: Declarative by Design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b="1" spc="-10" dirty="0">
                <a:solidFill>
                  <a:schemeClr val="accent2"/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Imperative:</a:t>
            </a:r>
            <a:r>
              <a:rPr lang="en-US" sz="2800" spc="-10" dirty="0">
                <a:solidFill>
                  <a:schemeClr val="accent2"/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 </a:t>
            </a: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Step-by-Step (e.g., Bash, PowerShell, Ansible)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b="1" spc="-10" dirty="0">
                <a:solidFill>
                  <a:schemeClr val="accent2"/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Declarative:</a:t>
            </a:r>
            <a:r>
              <a:rPr lang="en-US" sz="2800" spc="-10" dirty="0">
                <a:solidFill>
                  <a:schemeClr val="bg1"/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 </a:t>
            </a: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Describe Desired State (e.g., Bicep, Terraform) 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Bicep focuses on </a:t>
            </a:r>
            <a:r>
              <a:rPr lang="en-US" sz="2800" b="1" i="1" spc="-10" dirty="0">
                <a:solidFill>
                  <a:schemeClr val="accent1">
                    <a:lumMod val="75000"/>
                  </a:schemeClr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what</a:t>
            </a: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 to deploy, not </a:t>
            </a:r>
            <a:r>
              <a:rPr lang="en-US" sz="2800" b="1" i="1" spc="-10" dirty="0">
                <a:solidFill>
                  <a:schemeClr val="accent1">
                    <a:lumMod val="75000"/>
                  </a:schemeClr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how</a:t>
            </a:r>
            <a:r>
              <a:rPr lang="en-US" sz="2800" i="1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.</a:t>
            </a: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Azure Resource Manager ensures consistency</a:t>
            </a:r>
          </a:p>
        </p:txBody>
      </p: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E8CDFBC0-6F36-A504-3276-38F700C3ECE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kern="1200" cap="none" spc="0" normalizeH="0" baseline="0">
                <a:ln>
                  <a:noFill/>
                </a:ln>
                <a:solidFill>
                  <a:srgbClr val="D1282E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E7E866-9012-10D4-E9D3-C7354F2AC830}"/>
              </a:ext>
            </a:extLst>
          </p:cNvPr>
          <p:cNvSpPr txBox="1"/>
          <p:nvPr/>
        </p:nvSpPr>
        <p:spPr>
          <a:xfrm>
            <a:off x="182100" y="3465531"/>
            <a:ext cx="117069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Declarative Order (like Bicep):</a:t>
            </a:r>
          </a:p>
          <a:p>
            <a:pPr lvl="1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ngenial Black" panose="02000503040000020004" pitchFamily="2" charset="0"/>
              </a:rPr>
              <a:t>“I’d like a venti iced oat milk caramel macchiato, light ice, with two extra pumps of vanilla and an extra shot of espresso”</a:t>
            </a:r>
          </a:p>
          <a:p>
            <a:endParaRPr lang="en-US" sz="1400" b="1" dirty="0">
              <a:solidFill>
                <a:schemeClr val="accent2"/>
              </a:solidFill>
            </a:endParaRPr>
          </a:p>
          <a:p>
            <a:r>
              <a:rPr lang="en-US" sz="2800" b="1" dirty="0">
                <a:solidFill>
                  <a:schemeClr val="accent2"/>
                </a:solidFill>
              </a:rPr>
              <a:t>Why It’s Declarative:</a:t>
            </a:r>
          </a:p>
          <a:p>
            <a:r>
              <a:rPr lang="en-US" sz="2400" b="1" dirty="0"/>
              <a:t>You describe what you want, not how they should make it. The barista figures out the steps. Just like Bicep describes desired state, not the procedure.</a:t>
            </a:r>
          </a:p>
        </p:txBody>
      </p:sp>
    </p:spTree>
    <p:extLst>
      <p:ext uri="{BB962C8B-B14F-4D97-AF65-F5344CB8AC3E}">
        <p14:creationId xmlns:p14="http://schemas.microsoft.com/office/powerpoint/2010/main" val="79501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79092-9A1C-F900-6FCE-94C63CB4F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BE139A5-6EB1-D805-B73D-5090B12607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100" y="0"/>
            <a:ext cx="11706912" cy="1325563"/>
          </a:xfrm>
          <a:prstGeom prst="rect">
            <a:avLst/>
          </a:prstGeom>
        </p:spPr>
        <p:txBody>
          <a:bodyPr>
            <a:normAutofit/>
          </a:bodyPr>
          <a:lstStyle>
            <a:lvl1pPr defTabSz="905255">
              <a:defRPr sz="3564" spc="-99"/>
            </a:lvl1pPr>
          </a:lstStyle>
          <a:p>
            <a:pPr algn="l"/>
            <a:r>
              <a:rPr lang="en-US" sz="4000" b="1" dirty="0">
                <a:solidFill>
                  <a:schemeClr val="accent2"/>
                </a:solidFill>
                <a:latin typeface="+mn-lt"/>
                <a:ea typeface="Nirmala UI Semilight" panose="020B0402040204020203" pitchFamily="34" charset="0"/>
                <a:cs typeface="Nirmala UI Semilight" panose="020B0402040204020203" pitchFamily="34" charset="0"/>
              </a:rPr>
              <a:t>Recap – Why Bicep?</a:t>
            </a:r>
            <a:endParaRPr sz="4000" dirty="0">
              <a:solidFill>
                <a:schemeClr val="accent2"/>
              </a:solidFill>
              <a:latin typeface="+mn-lt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1C848CF-2B37-5D05-1948-46323103CB57}"/>
              </a:ext>
            </a:extLst>
          </p:cNvPr>
          <p:cNvSpPr txBox="1"/>
          <p:nvPr/>
        </p:nvSpPr>
        <p:spPr>
          <a:xfrm>
            <a:off x="302986" y="961999"/>
            <a:ext cx="11405839" cy="2659702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3200" b="1" spc="-10" dirty="0">
                <a:solidFill>
                  <a:schemeClr val="accent1">
                    <a:lumMod val="75000"/>
                  </a:schemeClr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Why Bicep is the Future of Azure </a:t>
            </a:r>
            <a:r>
              <a:rPr lang="en-US" sz="3200" b="1" spc="-10" dirty="0" err="1">
                <a:solidFill>
                  <a:schemeClr val="accent1">
                    <a:lumMod val="75000"/>
                  </a:schemeClr>
                </a:solidFill>
                <a:ea typeface="Nirmala UI Semilight" panose="020B0402040204020203" pitchFamily="34" charset="0"/>
                <a:cs typeface="Nirmala UI Semilight" panose="020B0402040204020203" pitchFamily="34" charset="0"/>
              </a:rPr>
              <a:t>IaC</a:t>
            </a:r>
            <a:endParaRPr lang="en-US" sz="3200" b="1" spc="-10" dirty="0">
              <a:solidFill>
                <a:schemeClr val="accent1">
                  <a:lumMod val="75000"/>
                </a:schemeClr>
              </a:solidFill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3200" b="1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Cleaner syntax, fewer errors</a:t>
            </a:r>
          </a:p>
          <a:p>
            <a:pPr marL="469900" indent="-4572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3200" b="1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Full support from Microsoft</a:t>
            </a:r>
          </a:p>
          <a:p>
            <a:pPr marL="469900" indent="-4572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3200" b="1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Replaces ARM without sacrificing compatibility</a:t>
            </a:r>
          </a:p>
          <a:p>
            <a:pPr marL="469900" indent="-4572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3200" b="1" spc="-10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Easy to learn, Easy to extend</a:t>
            </a:r>
            <a:endParaRPr lang="en-US" sz="2800" b="1" spc="-10" dirty="0"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6A36A61E-4696-5D3F-F79F-6712E591759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kern="1200" cap="none" spc="0" normalizeH="0" baseline="0">
                <a:ln>
                  <a:noFill/>
                </a:ln>
                <a:solidFill>
                  <a:srgbClr val="D1282E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B6E09B-3F49-6525-9CDD-75E274DEAC7F}"/>
              </a:ext>
            </a:extLst>
          </p:cNvPr>
          <p:cNvSpPr txBox="1"/>
          <p:nvPr/>
        </p:nvSpPr>
        <p:spPr>
          <a:xfrm>
            <a:off x="242544" y="4583700"/>
            <a:ext cx="117069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/>
                </a:solidFill>
              </a:rPr>
              <a:t>To Summarize</a:t>
            </a:r>
          </a:p>
          <a:p>
            <a:pPr algn="ctr"/>
            <a:r>
              <a:rPr lang="en-US" sz="2400" b="1" dirty="0"/>
              <a:t>Bicep is a Domain-Specific Language (DSL) for deploying Azure resources declaratively, offering a cleaner alternative to ARM JSON while compiling to the same underlying engine.</a:t>
            </a:r>
          </a:p>
        </p:txBody>
      </p:sp>
    </p:spTree>
    <p:extLst>
      <p:ext uri="{BB962C8B-B14F-4D97-AF65-F5344CB8AC3E}">
        <p14:creationId xmlns:p14="http://schemas.microsoft.com/office/powerpoint/2010/main" val="1505056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1435</TotalTime>
  <Words>678</Words>
  <Application>Microsoft Office PowerPoint</Application>
  <PresentationFormat>Widescreen</PresentationFormat>
  <Paragraphs>102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</vt:lpstr>
      <vt:lpstr>Aptos Display</vt:lpstr>
      <vt:lpstr>Arial</vt:lpstr>
      <vt:lpstr>Congenial Black</vt:lpstr>
      <vt:lpstr>Courier New</vt:lpstr>
      <vt:lpstr>Gadugi</vt:lpstr>
      <vt:lpstr>Leelawadee</vt:lpstr>
      <vt:lpstr>Nirmala UI Semilight</vt:lpstr>
      <vt:lpstr>Office Theme</vt:lpstr>
      <vt:lpstr>Infrastructure as Code – Intro to Bicep</vt:lpstr>
      <vt:lpstr>Why IaC Matters in Azure</vt:lpstr>
      <vt:lpstr>Azure’s First IaC Language: ARM JSON</vt:lpstr>
      <vt:lpstr>Enter Bicep – A Better Way to Deploy</vt:lpstr>
      <vt:lpstr>Declarative vs. Imperative</vt:lpstr>
      <vt:lpstr>Recap – Why Bicep?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Patrick</dc:creator>
  <cp:lastModifiedBy>Tim Patrick</cp:lastModifiedBy>
  <cp:revision>4</cp:revision>
  <dcterms:created xsi:type="dcterms:W3CDTF">2025-08-05T16:10:54Z</dcterms:created>
  <dcterms:modified xsi:type="dcterms:W3CDTF">2025-08-06T16:11:25Z</dcterms:modified>
</cp:coreProperties>
</file>