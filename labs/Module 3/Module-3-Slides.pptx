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media/image11.jpg" ContentType="image/jpg"/>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94" r:id="rId2"/>
    <p:sldId id="2596" r:id="rId3"/>
    <p:sldId id="2595" r:id="rId4"/>
    <p:sldId id="2597" r:id="rId5"/>
    <p:sldId id="2599" r:id="rId6"/>
    <p:sldId id="2598" r:id="rId7"/>
    <p:sldId id="2600" r:id="rId8"/>
    <p:sldId id="2601" r:id="rId9"/>
    <p:sldId id="2602" r:id="rId10"/>
    <p:sldId id="2603" r:id="rId11"/>
    <p:sldId id="2604" r:id="rId12"/>
    <p:sldId id="2605" r:id="rId13"/>
    <p:sldId id="2606" r:id="rId14"/>
    <p:sldId id="2607" r:id="rId15"/>
    <p:sldId id="2608" r:id="rId16"/>
    <p:sldId id="2609" r:id="rId17"/>
    <p:sldId id="2610" r:id="rId18"/>
    <p:sldId id="5235" r:id="rId19"/>
    <p:sldId id="527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0" autoAdjust="0"/>
    <p:restoredTop sz="94660"/>
  </p:normalViewPr>
  <p:slideViewPr>
    <p:cSldViewPr snapToGrid="0">
      <p:cViewPr varScale="1">
        <p:scale>
          <a:sx n="80" d="100"/>
          <a:sy n="80" d="100"/>
        </p:scale>
        <p:origin x="114" y="6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E86772-F0A8-4E1B-B561-FD8ABFE46209}" type="datetimeFigureOut">
              <a:rPr lang="en-US" smtClean="0"/>
              <a:t>8/6/2025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98E7FC-2AA1-4EB0-90EC-47484AA400A1}" type="slidenum">
              <a:rPr lang="en-US" smtClean="0"/>
              <a:t>‹#›</a:t>
            </a:fld>
            <a:endParaRPr lang="en-US"/>
          </a:p>
        </p:txBody>
      </p:sp>
    </p:spTree>
    <p:extLst>
      <p:ext uri="{BB962C8B-B14F-4D97-AF65-F5344CB8AC3E}">
        <p14:creationId xmlns:p14="http://schemas.microsoft.com/office/powerpoint/2010/main" val="26250272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Azure Virtual Network, or </a:t>
            </a:r>
            <a:r>
              <a:rPr lang="en-US" dirty="0" err="1"/>
              <a:t>VNet</a:t>
            </a:r>
            <a:r>
              <a:rPr lang="en-US" dirty="0"/>
              <a:t>. Think of a </a:t>
            </a:r>
            <a:r>
              <a:rPr lang="en-US" dirty="0" err="1"/>
              <a:t>VNet</a:t>
            </a:r>
            <a:r>
              <a:rPr lang="en-US" dirty="0"/>
              <a:t> as your own private data center in the cloud. It’s not a physical space, but rather a </a:t>
            </a:r>
            <a:r>
              <a:rPr lang="en-US" i="1" dirty="0"/>
              <a:t>logical</a:t>
            </a:r>
            <a:r>
              <a:rPr lang="en-US" dirty="0"/>
              <a:t> isolation of the Azure environment that’s specifically dedicated to your subscription.</a:t>
            </a:r>
          </a:p>
          <a:p>
            <a:r>
              <a:rPr lang="en-US" dirty="0"/>
              <a:t>This means that all the resources you deploy inside your </a:t>
            </a:r>
            <a:r>
              <a:rPr lang="en-US" dirty="0" err="1"/>
              <a:t>VNet</a:t>
            </a:r>
            <a:r>
              <a:rPr lang="en-US" dirty="0"/>
              <a:t> — like virtual machines, databases, containers, or services — can talk to each other securely and efficiently, just like they would on a private on-premises network.</a:t>
            </a:r>
          </a:p>
          <a:p>
            <a:r>
              <a:rPr lang="en-US" dirty="0"/>
              <a:t>A key point is that this is a </a:t>
            </a:r>
            <a:r>
              <a:rPr lang="en-US" b="1" dirty="0"/>
              <a:t>private network</a:t>
            </a:r>
            <a:r>
              <a:rPr lang="en-US" dirty="0"/>
              <a:t>, meaning it’s not open to the public internet unless you explicitly configure it to be. This helps significantly with both security and compliance, especially for organizations that handle sensitive data or have strict regulatory requirements.</a:t>
            </a:r>
          </a:p>
          <a:p>
            <a:r>
              <a:rPr lang="en-US" dirty="0"/>
              <a:t>The </a:t>
            </a:r>
            <a:r>
              <a:rPr lang="en-US" dirty="0" err="1"/>
              <a:t>VNet</a:t>
            </a:r>
            <a:r>
              <a:rPr lang="en-US" dirty="0"/>
              <a:t> enables you to connect different Azure resources — even across regions or subscriptions — and also lets you integrate with your on-premise infrastructure through VPNs or Azure ExpressRoute.</a:t>
            </a:r>
          </a:p>
          <a:p>
            <a:endParaRPr lang="en-CA" dirty="0"/>
          </a:p>
        </p:txBody>
      </p:sp>
      <p:sp>
        <p:nvSpPr>
          <p:cNvPr id="4" name="Slide Number Placeholder 3"/>
          <p:cNvSpPr>
            <a:spLocks noGrp="1"/>
          </p:cNvSpPr>
          <p:nvPr>
            <p:ph type="sldNum" sz="quarter" idx="5"/>
          </p:nvPr>
        </p:nvSpPr>
        <p:spPr/>
        <p:txBody>
          <a:bodyPr/>
          <a:lstStyle/>
          <a:p>
            <a:fld id="{DAC03921-7077-42B0-8C81-48C0A93EA22E}" type="slidenum">
              <a:rPr lang="en-US" smtClean="0"/>
              <a:t>1</a:t>
            </a:fld>
            <a:endParaRPr lang="en-US"/>
          </a:p>
        </p:txBody>
      </p:sp>
    </p:spTree>
    <p:extLst>
      <p:ext uri="{BB962C8B-B14F-4D97-AF65-F5344CB8AC3E}">
        <p14:creationId xmlns:p14="http://schemas.microsoft.com/office/powerpoint/2010/main" val="5042025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visually breaks down the hierarchy and structure of a Virtual Network — or </a:t>
            </a:r>
            <a:r>
              <a:rPr lang="en-US" dirty="0" err="1"/>
              <a:t>VNet</a:t>
            </a:r>
            <a:r>
              <a:rPr lang="en-US" dirty="0"/>
              <a:t> — within Azure.</a:t>
            </a:r>
          </a:p>
          <a:p>
            <a:r>
              <a:rPr lang="en-US" dirty="0"/>
              <a:t>Let’s start from the innermost layer. We have </a:t>
            </a:r>
            <a:r>
              <a:rPr lang="en-US" b="1" dirty="0"/>
              <a:t>Subnets</a:t>
            </a:r>
            <a:r>
              <a:rPr lang="en-US" dirty="0"/>
              <a:t>, which are smaller network segments within a </a:t>
            </a:r>
            <a:r>
              <a:rPr lang="en-US" dirty="0" err="1"/>
              <a:t>VNet</a:t>
            </a:r>
            <a:r>
              <a:rPr lang="en-US" dirty="0"/>
              <a:t>. Think of these as isolated lanes of traffic — they allow you to logically group and separate resources, such as separating web servers from databases.</a:t>
            </a:r>
          </a:p>
          <a:p>
            <a:r>
              <a:rPr lang="en-US" dirty="0"/>
              <a:t>All of these subnets live inside a </a:t>
            </a:r>
            <a:r>
              <a:rPr lang="en-US" b="1" dirty="0"/>
              <a:t>Virtual Network</a:t>
            </a:r>
            <a:r>
              <a:rPr lang="en-US" dirty="0"/>
              <a:t> — the blue box here. This </a:t>
            </a:r>
            <a:r>
              <a:rPr lang="en-US" dirty="0" err="1"/>
              <a:t>VNet</a:t>
            </a:r>
            <a:r>
              <a:rPr lang="en-US" dirty="0"/>
              <a:t> provides internal communication between all subnets, allowing secure, low-latency connections across your Azure services.</a:t>
            </a:r>
          </a:p>
          <a:p>
            <a:r>
              <a:rPr lang="en-US" dirty="0"/>
              <a:t>Now zooming out a bit, the Virtual Network itself exists within a specific </a:t>
            </a:r>
            <a:r>
              <a:rPr lang="en-US" b="1" dirty="0"/>
              <a:t>Region</a:t>
            </a:r>
            <a:r>
              <a:rPr lang="en-US" dirty="0"/>
              <a:t> — shown in green. A region refers to a physical location where Azure has its data centers. So, a </a:t>
            </a:r>
            <a:r>
              <a:rPr lang="en-US" dirty="0" err="1"/>
              <a:t>VNet</a:t>
            </a:r>
            <a:r>
              <a:rPr lang="en-US" dirty="0"/>
              <a:t> is always tied to a single region.</a:t>
            </a:r>
          </a:p>
          <a:p>
            <a:r>
              <a:rPr lang="en-US" dirty="0"/>
              <a:t>Finally, the outermost layer is your </a:t>
            </a:r>
            <a:r>
              <a:rPr lang="en-US" b="1" dirty="0"/>
              <a:t>Subscription</a:t>
            </a:r>
            <a:r>
              <a:rPr lang="en-US" dirty="0"/>
              <a:t> — this defines the billing boundary and scope of your Azure resources. Everything — from </a:t>
            </a:r>
            <a:r>
              <a:rPr lang="en-US" dirty="0" err="1"/>
              <a:t>VNets</a:t>
            </a:r>
            <a:r>
              <a:rPr lang="en-US" dirty="0"/>
              <a:t> to VMs — is ultimately billed and managed under this subscription.</a:t>
            </a:r>
          </a:p>
          <a:p>
            <a:r>
              <a:rPr lang="en-US" dirty="0"/>
              <a:t>This layered model helps isolate workloads, manage security policies, and optimize traffic routing — all while staying under the umbrella of your Azure subscription</a:t>
            </a:r>
          </a:p>
          <a:p>
            <a:endParaRPr lang="en-CA" dirty="0"/>
          </a:p>
        </p:txBody>
      </p:sp>
      <p:sp>
        <p:nvSpPr>
          <p:cNvPr id="4" name="Slide Number Placeholder 3"/>
          <p:cNvSpPr>
            <a:spLocks noGrp="1"/>
          </p:cNvSpPr>
          <p:nvPr>
            <p:ph type="sldNum" sz="quarter" idx="5"/>
          </p:nvPr>
        </p:nvSpPr>
        <p:spPr/>
        <p:txBody>
          <a:bodyPr/>
          <a:lstStyle/>
          <a:p>
            <a:fld id="{DAC03921-7077-42B0-8C81-48C0A93EA22E}" type="slidenum">
              <a:rPr lang="en-US" smtClean="0"/>
              <a:t>2</a:t>
            </a:fld>
            <a:endParaRPr lang="en-US"/>
          </a:p>
        </p:txBody>
      </p:sp>
    </p:spTree>
    <p:extLst>
      <p:ext uri="{BB962C8B-B14F-4D97-AF65-F5344CB8AC3E}">
        <p14:creationId xmlns:p14="http://schemas.microsoft.com/office/powerpoint/2010/main" val="13104731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a hybrid identity and access management architecture using Azure and on-premises infrastructure. Let's walk through the flow step by step.</a:t>
            </a:r>
          </a:p>
          <a:p>
            <a:endParaRPr lang="en-US" dirty="0"/>
          </a:p>
          <a:p>
            <a:r>
              <a:rPr lang="en-US" dirty="0"/>
              <a:t>On the </a:t>
            </a:r>
            <a:r>
              <a:rPr lang="en-US" b="1" dirty="0"/>
              <a:t>left</a:t>
            </a:r>
            <a:r>
              <a:rPr lang="en-US" dirty="0"/>
              <a:t>, we have the on-premises environment belonging to an enterprise — in this example, 'Contoso.com'. It includes internal users, a domain controller, and a DNS server. This environment connects securely to Azure using </a:t>
            </a:r>
            <a:r>
              <a:rPr lang="en-US" b="1" dirty="0"/>
              <a:t>ExpressRoute</a:t>
            </a:r>
            <a:r>
              <a:rPr lang="en-US" dirty="0"/>
              <a:t>, which provides a private, high-throughput connection — much more secure and reliable than a public VPN.</a:t>
            </a:r>
          </a:p>
          <a:p>
            <a:endParaRPr lang="en-US" dirty="0"/>
          </a:p>
          <a:p>
            <a:r>
              <a:rPr lang="en-US" dirty="0"/>
              <a:t>Moving into the </a:t>
            </a:r>
            <a:r>
              <a:rPr lang="en-US" b="1" dirty="0"/>
              <a:t>Azure side</a:t>
            </a:r>
            <a:r>
              <a:rPr lang="en-US" dirty="0"/>
              <a:t>, you’ll see it’s segmented into two subnets:</a:t>
            </a:r>
          </a:p>
          <a:p>
            <a:r>
              <a:rPr lang="en-US" b="1" dirty="0"/>
              <a:t>Subnet1: Internal (INT)</a:t>
            </a:r>
            <a:r>
              <a:rPr lang="en-US" dirty="0"/>
              <a:t> contains domain controllers and Active Directory Federation Services (AD FS) servers. These are responsible for handling identity and authentication requests for internal users. This subnet is protected by a Network Security Group (NSG) labeled NSG_INT, which restricts traffic to and from the subnet based on security rules.</a:t>
            </a:r>
          </a:p>
          <a:p>
            <a:r>
              <a:rPr lang="en-US" b="1" dirty="0"/>
              <a:t>Subnet2: DMZ</a:t>
            </a:r>
            <a:r>
              <a:rPr lang="en-US" dirty="0"/>
              <a:t> contains Web Application Proxy (WAP) servers, which act as a bridge between external users (like those accessing from the internet) and internal AD FS services. This subnet has its own security group (NSG_DMZ) and is fronted by an </a:t>
            </a:r>
            <a:r>
              <a:rPr lang="en-US" b="1" dirty="0"/>
              <a:t>internet-facing load balancer</a:t>
            </a:r>
            <a:r>
              <a:rPr lang="en-US" dirty="0"/>
              <a:t> to distribute public traffic.</a:t>
            </a:r>
          </a:p>
          <a:p>
            <a:r>
              <a:rPr lang="en-US" dirty="0"/>
              <a:t>Between the two subnets is an </a:t>
            </a:r>
            <a:r>
              <a:rPr lang="en-US" b="1" dirty="0"/>
              <a:t>internal load balancer</a:t>
            </a:r>
            <a:r>
              <a:rPr lang="en-US" dirty="0"/>
              <a:t> that routes traffic securely between the WAP servers in the DMZ and the AD FS servers in the internal subnet.</a:t>
            </a:r>
          </a:p>
          <a:p>
            <a:endParaRPr lang="en-US" dirty="0"/>
          </a:p>
          <a:p>
            <a:r>
              <a:rPr lang="en-US" dirty="0"/>
              <a:t>Notice the use of </a:t>
            </a:r>
            <a:r>
              <a:rPr lang="en-US" b="1" dirty="0"/>
              <a:t>availability sets</a:t>
            </a:r>
            <a:r>
              <a:rPr lang="en-US" dirty="0"/>
              <a:t> in both subnets — this ensures high availability and redundancy within each role.</a:t>
            </a:r>
          </a:p>
          <a:p>
            <a:r>
              <a:rPr lang="en-US" dirty="0"/>
              <a:t>In summary, this architecture enables secure authentication for both internal and external users by combining on-prem identity systems with Azure services, while applying strict network segmentation and load balancing for resilience and performance.</a:t>
            </a:r>
          </a:p>
          <a:p>
            <a:endParaRPr lang="en-CA" dirty="0"/>
          </a:p>
        </p:txBody>
      </p:sp>
      <p:sp>
        <p:nvSpPr>
          <p:cNvPr id="4" name="Slide Number Placeholder 3"/>
          <p:cNvSpPr>
            <a:spLocks noGrp="1"/>
          </p:cNvSpPr>
          <p:nvPr>
            <p:ph type="sldNum" sz="quarter" idx="5"/>
          </p:nvPr>
        </p:nvSpPr>
        <p:spPr/>
        <p:txBody>
          <a:bodyPr/>
          <a:lstStyle/>
          <a:p>
            <a:fld id="{DAC03921-7077-42B0-8C81-48C0A93EA22E}" type="slidenum">
              <a:rPr lang="en-US" smtClean="0"/>
              <a:t>3</a:t>
            </a:fld>
            <a:endParaRPr lang="en-US"/>
          </a:p>
        </p:txBody>
      </p:sp>
    </p:spTree>
    <p:extLst>
      <p:ext uri="{BB962C8B-B14F-4D97-AF65-F5344CB8AC3E}">
        <p14:creationId xmlns:p14="http://schemas.microsoft.com/office/powerpoint/2010/main" val="10269598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a:t>
            </a:r>
            <a:r>
              <a:rPr lang="en-US" b="1" dirty="0" err="1"/>
              <a:t>VNets</a:t>
            </a:r>
            <a:r>
              <a:rPr lang="en-US" b="1" dirty="0"/>
              <a:t> are isolated by default</a:t>
            </a:r>
            <a:r>
              <a:rPr lang="en-US" dirty="0"/>
              <a:t>. This means one </a:t>
            </a:r>
            <a:r>
              <a:rPr lang="en-US" dirty="0" err="1"/>
              <a:t>VNet</a:t>
            </a:r>
            <a:r>
              <a:rPr lang="en-US" dirty="0"/>
              <a:t> cannot communicate with another unless you explicitly set up a connection, like a </a:t>
            </a:r>
            <a:r>
              <a:rPr lang="en-US" dirty="0" err="1"/>
              <a:t>VNet</a:t>
            </a:r>
            <a:r>
              <a:rPr lang="en-US" dirty="0"/>
              <a:t> peering or a VPN. This isolation is critical for implementing security boundaries — for example, keeping production and test environments separate.</a:t>
            </a:r>
          </a:p>
          <a:p>
            <a:endParaRPr lang="en-US" dirty="0"/>
          </a:p>
          <a:p>
            <a:r>
              <a:rPr lang="en-US" dirty="0"/>
              <a:t>Azure </a:t>
            </a:r>
            <a:r>
              <a:rPr lang="en-US" dirty="0" err="1"/>
              <a:t>VNets</a:t>
            </a:r>
            <a:r>
              <a:rPr lang="en-US" dirty="0"/>
              <a:t> are also </a:t>
            </a:r>
            <a:r>
              <a:rPr lang="en-US" b="1" dirty="0"/>
              <a:t>highly customizable</a:t>
            </a:r>
            <a:r>
              <a:rPr lang="en-US" dirty="0"/>
              <a:t>. You can create different </a:t>
            </a:r>
            <a:r>
              <a:rPr lang="en-US" dirty="0" err="1"/>
              <a:t>VNets</a:t>
            </a:r>
            <a:r>
              <a:rPr lang="en-US" dirty="0"/>
              <a:t> for </a:t>
            </a:r>
            <a:r>
              <a:rPr lang="en-US" b="1" dirty="0"/>
              <a:t>development, testing, and production</a:t>
            </a:r>
            <a:r>
              <a:rPr lang="en-US" dirty="0"/>
              <a:t>, and — here’s the interesting part — they can even share the same CIDR block, as long as they’re not connected. This is useful in completely isolated environments, like separate subscriptions or for air-gapped testing.</a:t>
            </a:r>
          </a:p>
          <a:p>
            <a:endParaRPr lang="en-US" dirty="0"/>
          </a:p>
          <a:p>
            <a:r>
              <a:rPr lang="en-US" dirty="0"/>
              <a:t>On the flip side, if you want </a:t>
            </a:r>
            <a:r>
              <a:rPr lang="en-US" dirty="0" err="1"/>
              <a:t>VNets</a:t>
            </a:r>
            <a:r>
              <a:rPr lang="en-US" dirty="0"/>
              <a:t> to communicate — say, between departments or across regions — you can assign </a:t>
            </a:r>
            <a:r>
              <a:rPr lang="en-US" b="1" dirty="0"/>
              <a:t>different CIDRs</a:t>
            </a:r>
            <a:r>
              <a:rPr lang="en-US" dirty="0"/>
              <a:t> and use </a:t>
            </a:r>
            <a:r>
              <a:rPr lang="en-US" dirty="0" err="1"/>
              <a:t>VNet</a:t>
            </a:r>
            <a:r>
              <a:rPr lang="en-US" dirty="0"/>
              <a:t> peering to connect them. This enables shared services or multi-tier application models across </a:t>
            </a:r>
            <a:r>
              <a:rPr lang="en-US" dirty="0" err="1"/>
              <a:t>VNets</a:t>
            </a:r>
            <a:r>
              <a:rPr lang="en-US" dirty="0"/>
              <a:t>.</a:t>
            </a:r>
          </a:p>
          <a:p>
            <a:r>
              <a:rPr lang="en-US" dirty="0"/>
              <a:t>Lastly, Azure offers </a:t>
            </a:r>
            <a:r>
              <a:rPr lang="en-US" b="1" dirty="0"/>
              <a:t>built-in DNS resolution</a:t>
            </a:r>
            <a:r>
              <a:rPr lang="en-US" dirty="0"/>
              <a:t> for all </a:t>
            </a:r>
            <a:r>
              <a:rPr lang="en-US" dirty="0" err="1"/>
              <a:t>VNets</a:t>
            </a:r>
            <a:r>
              <a:rPr lang="en-US" dirty="0"/>
              <a:t>. You can use Azure’s internal DNS, or replace it with a custom DNS server. This makes it easier to resolve hostnames within your virtual network and support service discovery.</a:t>
            </a:r>
          </a:p>
          <a:p>
            <a:endParaRPr lang="en-CA" dirty="0"/>
          </a:p>
        </p:txBody>
      </p:sp>
      <p:sp>
        <p:nvSpPr>
          <p:cNvPr id="4" name="Slide Number Placeholder 3"/>
          <p:cNvSpPr>
            <a:spLocks noGrp="1"/>
          </p:cNvSpPr>
          <p:nvPr>
            <p:ph type="sldNum" sz="quarter" idx="5"/>
          </p:nvPr>
        </p:nvSpPr>
        <p:spPr/>
        <p:txBody>
          <a:bodyPr/>
          <a:lstStyle/>
          <a:p>
            <a:fld id="{DAC03921-7077-42B0-8C81-48C0A93EA22E}" type="slidenum">
              <a:rPr lang="en-US" smtClean="0"/>
              <a:t>4</a:t>
            </a:fld>
            <a:endParaRPr lang="en-US"/>
          </a:p>
        </p:txBody>
      </p:sp>
    </p:spTree>
    <p:extLst>
      <p:ext uri="{BB962C8B-B14F-4D97-AF65-F5344CB8AC3E}">
        <p14:creationId xmlns:p14="http://schemas.microsoft.com/office/powerpoint/2010/main" val="19038239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a:t>
            </a:r>
            <a:r>
              <a:rPr lang="en-US" b="1" dirty="0" err="1"/>
              <a:t>VNets</a:t>
            </a:r>
            <a:r>
              <a:rPr lang="en-US" b="1" dirty="0"/>
              <a:t> can be connected to each other</a:t>
            </a:r>
            <a:r>
              <a:rPr lang="en-US" dirty="0"/>
              <a:t> using </a:t>
            </a:r>
            <a:r>
              <a:rPr lang="en-US" dirty="0" err="1"/>
              <a:t>VNet</a:t>
            </a:r>
            <a:r>
              <a:rPr lang="en-US" dirty="0"/>
              <a:t> peering. This allows resources in different virtual networks — even in different regions — to communicate securely and with low latency, almost as if they were on the same network.</a:t>
            </a:r>
          </a:p>
          <a:p>
            <a:r>
              <a:rPr lang="en-US" dirty="0"/>
              <a:t>Within a single </a:t>
            </a:r>
            <a:r>
              <a:rPr lang="en-US" dirty="0" err="1"/>
              <a:t>VNet</a:t>
            </a:r>
            <a:r>
              <a:rPr lang="en-US" dirty="0"/>
              <a:t>, </a:t>
            </a:r>
            <a:r>
              <a:rPr lang="en-US" b="1" dirty="0"/>
              <a:t>any resource can talk to any other</a:t>
            </a:r>
            <a:r>
              <a:rPr lang="en-US" dirty="0"/>
              <a:t>, even if they are in </a:t>
            </a:r>
            <a:r>
              <a:rPr lang="en-US" b="1" dirty="0"/>
              <a:t>different subnets</a:t>
            </a:r>
            <a:r>
              <a:rPr lang="en-US" dirty="0"/>
              <a:t>. There’s no need to configure explicit routing for that — Azure takes care of the internal network routing automatically.</a:t>
            </a:r>
          </a:p>
          <a:p>
            <a:r>
              <a:rPr lang="en-US" dirty="0"/>
              <a:t>For example, you might have an </a:t>
            </a:r>
            <a:r>
              <a:rPr lang="en-US" b="1" dirty="0"/>
              <a:t>application server in one subnet</a:t>
            </a:r>
            <a:r>
              <a:rPr lang="en-US" dirty="0"/>
              <a:t> and a </a:t>
            </a:r>
            <a:r>
              <a:rPr lang="en-US" b="1" dirty="0"/>
              <a:t>database server in another</a:t>
            </a:r>
            <a:r>
              <a:rPr lang="en-US" dirty="0"/>
              <a:t>. As long as the correct Network Security Group rules are in place, the app server can connect to the database server without needing to go over the internet.</a:t>
            </a:r>
          </a:p>
          <a:p>
            <a:r>
              <a:rPr lang="en-US" dirty="0"/>
              <a:t>This flexible connectivity model allows you to separate your workloads logically — such as by role, function, or security level — while still keeping them tightly integrated at the network layer.</a:t>
            </a:r>
          </a:p>
          <a:p>
            <a:endParaRPr lang="en-CA" dirty="0"/>
          </a:p>
        </p:txBody>
      </p:sp>
      <p:sp>
        <p:nvSpPr>
          <p:cNvPr id="4" name="Slide Number Placeholder 3"/>
          <p:cNvSpPr>
            <a:spLocks noGrp="1"/>
          </p:cNvSpPr>
          <p:nvPr>
            <p:ph type="sldNum" sz="quarter" idx="5"/>
          </p:nvPr>
        </p:nvSpPr>
        <p:spPr/>
        <p:txBody>
          <a:bodyPr/>
          <a:lstStyle/>
          <a:p>
            <a:fld id="{DAC03921-7077-42B0-8C81-48C0A93EA22E}" type="slidenum">
              <a:rPr lang="en-US" smtClean="0"/>
              <a:t>5</a:t>
            </a:fld>
            <a:endParaRPr lang="en-US"/>
          </a:p>
        </p:txBody>
      </p:sp>
    </p:spTree>
    <p:extLst>
      <p:ext uri="{BB962C8B-B14F-4D97-AF65-F5344CB8AC3E}">
        <p14:creationId xmlns:p14="http://schemas.microsoft.com/office/powerpoint/2010/main" val="17253618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When you create a subnet in an Azure Virtual Network, not all IP addresses in that subnet range are available for your use — some are automatically reserved by Azure for internal functions.</a:t>
            </a:r>
          </a:p>
          <a:p>
            <a:endParaRPr lang="en-US" b="0" dirty="0"/>
          </a:p>
          <a:p>
            <a:r>
              <a:rPr lang="en-US" b="0" dirty="0"/>
              <a:t>Let’s break it down:</a:t>
            </a:r>
          </a:p>
          <a:p>
            <a:r>
              <a:rPr lang="en-US" b="0" dirty="0"/>
              <a:t>The first IP address in the range is reserved for the network ID — this identifies the subnet itself.</a:t>
            </a:r>
          </a:p>
          <a:p>
            <a:r>
              <a:rPr lang="en-US" b="0" dirty="0"/>
              <a:t>The last IP address is used for the broadcast address, which isn’t actually used in Azure, but it’s still reserved to maintain compatibility with networking standards.</a:t>
            </a:r>
          </a:p>
          <a:p>
            <a:endParaRPr lang="en-US" b="0" dirty="0"/>
          </a:p>
          <a:p>
            <a:r>
              <a:rPr lang="en-US" b="0" dirty="0"/>
              <a:t>In addition to those two, three more IP addresses are reserved by Azure:</a:t>
            </a:r>
          </a:p>
          <a:p>
            <a:pPr lvl="1"/>
            <a:r>
              <a:rPr lang="en-US" b="0" dirty="0"/>
              <a:t>One for the default gateway,</a:t>
            </a:r>
          </a:p>
          <a:p>
            <a:pPr lvl="1"/>
            <a:r>
              <a:rPr lang="en-US" b="0" dirty="0"/>
              <a:t>One for Azure’s internal DNS service (if used),</a:t>
            </a:r>
          </a:p>
          <a:p>
            <a:pPr lvl="1"/>
            <a:r>
              <a:rPr lang="en-US" b="0" dirty="0"/>
              <a:t>And one for future internal use.</a:t>
            </a:r>
          </a:p>
          <a:p>
            <a:r>
              <a:rPr lang="en-US" b="0" dirty="0"/>
              <a:t>So in total, the first four IPs and the last IP in any subnet are not usable. For example, if you create a /24 subnet (which has 256 addresses), only 251 of those are available for your virtual machines and other resources.</a:t>
            </a:r>
          </a:p>
          <a:p>
            <a:r>
              <a:rPr lang="en-US" b="0" dirty="0"/>
              <a:t>It’s important to plan for this when designing address spaces, especially in tightly constrained environments or when using small CIDR blocks</a:t>
            </a:r>
          </a:p>
        </p:txBody>
      </p:sp>
      <p:sp>
        <p:nvSpPr>
          <p:cNvPr id="4" name="Slide Number Placeholder 3"/>
          <p:cNvSpPr>
            <a:spLocks noGrp="1"/>
          </p:cNvSpPr>
          <p:nvPr>
            <p:ph type="sldNum" sz="quarter" idx="5"/>
          </p:nvPr>
        </p:nvSpPr>
        <p:spPr/>
        <p:txBody>
          <a:bodyPr/>
          <a:lstStyle/>
          <a:p>
            <a:fld id="{DAC03921-7077-42B0-8C81-48C0A93EA22E}" type="slidenum">
              <a:rPr lang="en-US" smtClean="0"/>
              <a:t>7</a:t>
            </a:fld>
            <a:endParaRPr lang="en-US"/>
          </a:p>
        </p:txBody>
      </p:sp>
    </p:spTree>
    <p:extLst>
      <p:ext uri="{BB962C8B-B14F-4D97-AF65-F5344CB8AC3E}">
        <p14:creationId xmlns:p14="http://schemas.microsoft.com/office/powerpoint/2010/main" val="8740338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In Azure Virtual Networks, there are some important considerations around which network protocols are supported and which are restricted.</a:t>
            </a:r>
          </a:p>
          <a:p>
            <a:r>
              <a:rPr lang="en-US" b="0" dirty="0"/>
              <a:t>Starting with what’s supported — you can use the following TCP/IP protocols within your </a:t>
            </a:r>
            <a:r>
              <a:rPr lang="en-US" b="0" dirty="0" err="1"/>
              <a:t>VNet</a:t>
            </a:r>
            <a:r>
              <a:rPr lang="en-US" b="0" dirty="0"/>
              <a:t>:</a:t>
            </a:r>
          </a:p>
          <a:p>
            <a:endParaRPr lang="en-US" b="0" dirty="0"/>
          </a:p>
          <a:p>
            <a:r>
              <a:rPr lang="en-US" b="0" dirty="0"/>
              <a:t>TCP (Transmission Control Protocol)</a:t>
            </a:r>
          </a:p>
          <a:p>
            <a:r>
              <a:rPr lang="en-US" b="0" dirty="0"/>
              <a:t>UDP (User Datagram Protocol)</a:t>
            </a:r>
          </a:p>
          <a:p>
            <a:r>
              <a:rPr lang="en-US" b="0" dirty="0"/>
              <a:t>ICMP (used for tools like ping)</a:t>
            </a:r>
          </a:p>
          <a:p>
            <a:r>
              <a:rPr lang="en-US" b="0" dirty="0"/>
              <a:t>ESP (Encapsulating Security Payload)</a:t>
            </a:r>
          </a:p>
          <a:p>
            <a:r>
              <a:rPr lang="en-US" b="0" dirty="0"/>
              <a:t>AH (Authentication Header)</a:t>
            </a:r>
          </a:p>
          <a:p>
            <a:r>
              <a:rPr lang="en-US" b="0" dirty="0"/>
              <a:t>These are enough to support most typical applications, including web servers, databases, remote administration, and even VPN tunnels using supported protocols.</a:t>
            </a:r>
          </a:p>
          <a:p>
            <a:r>
              <a:rPr lang="en-US" b="0" dirty="0"/>
              <a:t>Now, let’s look at what’s not supported:</a:t>
            </a:r>
          </a:p>
          <a:p>
            <a:r>
              <a:rPr lang="en-US" b="0" dirty="0"/>
              <a:t>Multicast and broadcast traffic are blocked, due to Azure’s virtualized networking model — it’s all Layer 3 (IP-based) routing.</a:t>
            </a:r>
          </a:p>
          <a:p>
            <a:r>
              <a:rPr lang="en-US" b="0" dirty="0"/>
              <a:t>IP-in-IP encapsulation and GRE (Generic Routing Encapsulation) are also not allowed, which means certain custom VPN solutions won’t work unless they use supported tunneling methods.</a:t>
            </a:r>
          </a:p>
          <a:p>
            <a:r>
              <a:rPr lang="en-US" b="0" dirty="0"/>
              <a:t>You also can’t use DHCP over unicast. Specifically, packets using UDP source port 68 and destination port 67 are blocked. Azure handles IP allocation via its own internal DHCP system, and your VMs automatically get IPs assigned from the subnet range.</a:t>
            </a:r>
          </a:p>
          <a:p>
            <a:r>
              <a:rPr lang="en-US" b="0" dirty="0"/>
              <a:t>Lastly, UDP ports 4791 and 65330 are reserved for Azure's internal host operations — you shouldn’t try to use these for your own applications, or you may run into unexpected behavior.</a:t>
            </a:r>
          </a:p>
          <a:p>
            <a:r>
              <a:rPr lang="en-US" b="0" dirty="0"/>
              <a:t>The key message: Azure supports most common traffic types but restricts some low-level or legacy protocols to maintain a secure, performant virtual network environment.</a:t>
            </a:r>
          </a:p>
          <a:p>
            <a:endParaRPr lang="en-CA" b="0" dirty="0"/>
          </a:p>
        </p:txBody>
      </p:sp>
      <p:sp>
        <p:nvSpPr>
          <p:cNvPr id="4" name="Slide Number Placeholder 3"/>
          <p:cNvSpPr>
            <a:spLocks noGrp="1"/>
          </p:cNvSpPr>
          <p:nvPr>
            <p:ph type="sldNum" sz="quarter" idx="5"/>
          </p:nvPr>
        </p:nvSpPr>
        <p:spPr/>
        <p:txBody>
          <a:bodyPr/>
          <a:lstStyle/>
          <a:p>
            <a:fld id="{DAC03921-7077-42B0-8C81-48C0A93EA22E}" type="slidenum">
              <a:rPr lang="en-US" smtClean="0"/>
              <a:t>8</a:t>
            </a:fld>
            <a:endParaRPr lang="en-US"/>
          </a:p>
        </p:txBody>
      </p:sp>
    </p:spTree>
    <p:extLst>
      <p:ext uri="{BB962C8B-B14F-4D97-AF65-F5344CB8AC3E}">
        <p14:creationId xmlns:p14="http://schemas.microsoft.com/office/powerpoint/2010/main" val="9476177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Let’s clarify the </a:t>
            </a:r>
            <a:r>
              <a:rPr lang="en-CA" b="1" dirty="0"/>
              <a:t>default connectivity</a:t>
            </a:r>
            <a:r>
              <a:rPr lang="en-CA" dirty="0"/>
              <a:t> behavior for VMs in an Azure </a:t>
            </a:r>
            <a:r>
              <a:rPr lang="en-CA" dirty="0" err="1"/>
              <a:t>VNet</a:t>
            </a:r>
            <a:r>
              <a:rPr lang="en-CA" dirty="0"/>
              <a:t>:</a:t>
            </a:r>
          </a:p>
          <a:p>
            <a:endParaRPr lang="en-CA" dirty="0"/>
          </a:p>
          <a:p>
            <a:r>
              <a:rPr lang="en-CA" b="1" dirty="0"/>
              <a:t>Intra‑</a:t>
            </a:r>
            <a:r>
              <a:rPr lang="en-CA" b="1" dirty="0" err="1"/>
              <a:t>VNet</a:t>
            </a:r>
            <a:r>
              <a:rPr lang="en-CA" b="1" dirty="0"/>
              <a:t> communication</a:t>
            </a:r>
            <a:br>
              <a:rPr lang="en-CA" dirty="0"/>
            </a:br>
            <a:r>
              <a:rPr lang="en-CA" dirty="0"/>
              <a:t>By default, a VM can communicate with *</a:t>
            </a:r>
            <a:r>
              <a:rPr lang="en-CA" i="1" dirty="0"/>
              <a:t>every other VM in every subnet of the same </a:t>
            </a:r>
            <a:r>
              <a:rPr lang="en-CA" i="1" dirty="0" err="1"/>
              <a:t>VNet</a:t>
            </a:r>
            <a:r>
              <a:rPr lang="en-CA" dirty="0"/>
              <a:t>. Azure automatically creates routes such that all subnets within a </a:t>
            </a:r>
            <a:r>
              <a:rPr lang="en-CA" dirty="0" err="1"/>
              <a:t>VNet</a:t>
            </a:r>
            <a:r>
              <a:rPr lang="en-CA" dirty="0"/>
              <a:t> can talk to each other without additional configuration</a:t>
            </a:r>
          </a:p>
          <a:p>
            <a:endParaRPr lang="en-CA" b="1" dirty="0"/>
          </a:p>
          <a:p>
            <a:r>
              <a:rPr lang="en-CA" b="1" dirty="0"/>
              <a:t>Peered </a:t>
            </a:r>
            <a:r>
              <a:rPr lang="en-CA" b="1" dirty="0" err="1"/>
              <a:t>VNets</a:t>
            </a:r>
            <a:br>
              <a:rPr lang="en-CA" dirty="0"/>
            </a:br>
            <a:r>
              <a:rPr lang="en-CA" dirty="0"/>
              <a:t>When you set up </a:t>
            </a:r>
            <a:r>
              <a:rPr lang="en-CA" b="1" dirty="0" err="1"/>
              <a:t>VNet</a:t>
            </a:r>
            <a:r>
              <a:rPr lang="en-CA" b="1" dirty="0"/>
              <a:t> peering</a:t>
            </a:r>
            <a:r>
              <a:rPr lang="en-CA" dirty="0"/>
              <a:t>—regional or global—by default you allow </a:t>
            </a:r>
            <a:r>
              <a:rPr lang="en-CA" b="1" dirty="0"/>
              <a:t>full connectivity</a:t>
            </a:r>
            <a:r>
              <a:rPr lang="en-CA" dirty="0"/>
              <a:t> between the </a:t>
            </a:r>
            <a:r>
              <a:rPr lang="en-CA" dirty="0" err="1"/>
              <a:t>VNets</a:t>
            </a:r>
            <a:r>
              <a:rPr lang="en-CA" dirty="0"/>
              <a:t>. This means VMs in the peered </a:t>
            </a:r>
            <a:r>
              <a:rPr lang="en-CA" dirty="0" err="1"/>
              <a:t>VNet</a:t>
            </a:r>
            <a:r>
              <a:rPr lang="en-CA" dirty="0"/>
              <a:t> can communicate directly with yours over Microsoft's backbone, with low latency and no gateway involved. For ExpressRoute peering however, connectivity isn't enabled by default—you must explicitly allow it in the gateway settings.</a:t>
            </a:r>
          </a:p>
          <a:p>
            <a:endParaRPr lang="en-CA" dirty="0"/>
          </a:p>
          <a:p>
            <a:r>
              <a:rPr lang="en-CA" b="1" dirty="0"/>
              <a:t>Outbound to the Internet</a:t>
            </a:r>
            <a:br>
              <a:rPr lang="en-CA" dirty="0"/>
            </a:br>
            <a:r>
              <a:rPr lang="en-CA" dirty="0"/>
              <a:t>VMs in a </a:t>
            </a:r>
            <a:r>
              <a:rPr lang="en-CA" dirty="0" err="1"/>
              <a:t>VNet</a:t>
            </a:r>
            <a:r>
              <a:rPr lang="en-CA" dirty="0"/>
              <a:t> have </a:t>
            </a:r>
            <a:r>
              <a:rPr lang="en-CA" b="1" dirty="0"/>
              <a:t>implicit outbound access</a:t>
            </a:r>
            <a:r>
              <a:rPr lang="en-CA" dirty="0"/>
              <a:t> to the Internet by default. Azure automatically assigns a default outbound IP if no NAT gateway, public IP, or load balancer is configured. </a:t>
            </a:r>
          </a:p>
          <a:p>
            <a:endParaRPr lang="en-CA" dirty="0"/>
          </a:p>
          <a:p>
            <a:r>
              <a:rPr lang="en-CA" b="1" dirty="0"/>
              <a:t>Note: Azure plans to retire this default outbound access for new deployments by September 30, 2025, so we recommend using explicit methods like NAT Gateways.</a:t>
            </a:r>
          </a:p>
          <a:p>
            <a:endParaRPr lang="en-CA" b="1" dirty="0"/>
          </a:p>
          <a:p>
            <a:r>
              <a:rPr lang="en-CA" b="1" dirty="0"/>
              <a:t>VPN or ExpressRoute connectivity</a:t>
            </a:r>
          </a:p>
          <a:p>
            <a:br>
              <a:rPr lang="en-CA" dirty="0"/>
            </a:br>
            <a:r>
              <a:rPr lang="en-CA" dirty="0"/>
              <a:t>If your </a:t>
            </a:r>
            <a:r>
              <a:rPr lang="en-CA" dirty="0" err="1"/>
              <a:t>VNet</a:t>
            </a:r>
            <a:r>
              <a:rPr lang="en-CA" dirty="0"/>
              <a:t> is connected to on‑premises networks via </a:t>
            </a:r>
            <a:r>
              <a:rPr lang="en-CA" b="1" dirty="0"/>
              <a:t>Azure VPN Gateway</a:t>
            </a:r>
            <a:r>
              <a:rPr lang="en-CA" dirty="0"/>
              <a:t> or </a:t>
            </a:r>
            <a:r>
              <a:rPr lang="en-CA" b="1" dirty="0"/>
              <a:t>ExpressRoute</a:t>
            </a:r>
            <a:r>
              <a:rPr lang="en-CA" dirty="0"/>
              <a:t>, </a:t>
            </a:r>
            <a:r>
              <a:rPr lang="en-CA" b="1" dirty="0"/>
              <a:t>outbound and inbound connectivity is enabled</a:t>
            </a:r>
            <a:r>
              <a:rPr lang="en-CA" dirty="0"/>
              <a:t> by default over those connections. That means VMs can reach on‑prem services and the reverse, once the gateway is provisioned</a:t>
            </a:r>
            <a:endParaRPr lang="en-US" dirty="0"/>
          </a:p>
        </p:txBody>
      </p:sp>
      <p:sp>
        <p:nvSpPr>
          <p:cNvPr id="4" name="Slide Number Placeholder 3"/>
          <p:cNvSpPr>
            <a:spLocks noGrp="1"/>
          </p:cNvSpPr>
          <p:nvPr>
            <p:ph type="sldNum" sz="quarter" idx="5"/>
          </p:nvPr>
        </p:nvSpPr>
        <p:spPr/>
        <p:txBody>
          <a:bodyPr/>
          <a:lstStyle/>
          <a:p>
            <a:fld id="{DAC03921-7077-42B0-8C81-48C0A93EA22E}" type="slidenum">
              <a:rPr lang="en-US" smtClean="0"/>
              <a:t>9</a:t>
            </a:fld>
            <a:endParaRPr lang="en-US"/>
          </a:p>
        </p:txBody>
      </p:sp>
    </p:spTree>
    <p:extLst>
      <p:ext uri="{BB962C8B-B14F-4D97-AF65-F5344CB8AC3E}">
        <p14:creationId xmlns:p14="http://schemas.microsoft.com/office/powerpoint/2010/main" val="33026901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many real-world architectures, you </a:t>
            </a:r>
            <a:r>
              <a:rPr lang="en-US" i="1" dirty="0"/>
              <a:t>don’t</a:t>
            </a:r>
            <a:r>
              <a:rPr lang="en-US" dirty="0"/>
              <a:t> want blanket connectivity by default—security and compliance often require more controlled access.</a:t>
            </a:r>
          </a:p>
          <a:p>
            <a:endParaRPr lang="en-US" dirty="0"/>
          </a:p>
          <a:p>
            <a:r>
              <a:rPr lang="en-US" b="1" dirty="0"/>
              <a:t>Restrict inter-tier communication</a:t>
            </a:r>
            <a:br>
              <a:rPr lang="en-US" dirty="0"/>
            </a:br>
            <a:r>
              <a:rPr lang="en-US" dirty="0"/>
              <a:t>For example, in a multi-tier application, you may only want the </a:t>
            </a:r>
            <a:r>
              <a:rPr lang="en-US" b="1" dirty="0"/>
              <a:t>web tier</a:t>
            </a:r>
            <a:r>
              <a:rPr lang="en-US" dirty="0"/>
              <a:t> to talk to the </a:t>
            </a:r>
            <a:r>
              <a:rPr lang="en-US" b="1" dirty="0"/>
              <a:t>application tier</a:t>
            </a:r>
            <a:r>
              <a:rPr lang="en-US" dirty="0"/>
              <a:t>, and the </a:t>
            </a:r>
            <a:r>
              <a:rPr lang="en-US" b="1" dirty="0"/>
              <a:t>application tier</a:t>
            </a:r>
            <a:r>
              <a:rPr lang="en-US" dirty="0"/>
              <a:t> to talk to </a:t>
            </a:r>
            <a:r>
              <a:rPr lang="en-US" b="1" dirty="0"/>
              <a:t>database tier</a:t>
            </a:r>
            <a:r>
              <a:rPr lang="en-US" dirty="0"/>
              <a:t>. Allowing unrestricted connectivity between all VMs—like dev to prod—can pose security risks. Use </a:t>
            </a:r>
            <a:r>
              <a:rPr lang="en-US" b="1" dirty="0"/>
              <a:t>Network Security Groups (NSGs)</a:t>
            </a:r>
            <a:r>
              <a:rPr lang="en-US" dirty="0"/>
              <a:t> to explicitly </a:t>
            </a:r>
            <a:r>
              <a:rPr lang="en-US" i="1" dirty="0"/>
              <a:t>allow</a:t>
            </a:r>
            <a:r>
              <a:rPr lang="en-US" dirty="0"/>
              <a:t> only the necessary ports and block everything else.</a:t>
            </a:r>
          </a:p>
          <a:p>
            <a:endParaRPr lang="en-US" dirty="0"/>
          </a:p>
          <a:p>
            <a:r>
              <a:rPr lang="en-US" b="1" dirty="0"/>
              <a:t>Limit public outbound access (DMZ scenarios)</a:t>
            </a:r>
            <a:br>
              <a:rPr lang="en-US" dirty="0"/>
            </a:br>
            <a:r>
              <a:rPr lang="en-US" dirty="0"/>
              <a:t>If you have a DMZ subnet for frontend servers, you might want to prevent them from reaching the internet directly or reaching internal subnets. While Azure allows default outbound access, best practice is to disable it and force explicit egress through a </a:t>
            </a:r>
            <a:r>
              <a:rPr lang="en-US" b="1" dirty="0"/>
              <a:t>NAT Gateway</a:t>
            </a:r>
            <a:r>
              <a:rPr lang="en-US" dirty="0"/>
              <a:t> or an </a:t>
            </a:r>
            <a:r>
              <a:rPr lang="en-US" b="1" dirty="0"/>
              <a:t>Azure Firewall</a:t>
            </a:r>
            <a:r>
              <a:rPr lang="en-US" dirty="0"/>
              <a:t>, and then use NSGs to control the allowed outbound ports and </a:t>
            </a:r>
          </a:p>
          <a:p>
            <a:endParaRPr lang="en-US" b="1" dirty="0"/>
          </a:p>
          <a:p>
            <a:r>
              <a:rPr lang="en-US" b="1" dirty="0"/>
              <a:t>Control traffic type &amp; source/destination</a:t>
            </a:r>
            <a:br>
              <a:rPr lang="en-US" dirty="0"/>
            </a:br>
            <a:r>
              <a:rPr lang="en-US" dirty="0"/>
              <a:t>You can finely tailor traffic: for instance, allow only TCP port 443 from the web subnet to the app subnet, and only SQL port 1433 from app to DB subnet. NSGs let you filter on five-tuple (protocol, source, destination, ports). With default NSG rules in place, you can then add </a:t>
            </a:r>
            <a:r>
              <a:rPr lang="en-US" i="1" dirty="0"/>
              <a:t>deny rules</a:t>
            </a:r>
            <a:r>
              <a:rPr lang="en-US" dirty="0"/>
              <a:t> at higher priority to block unwanted traffic paths .</a:t>
            </a:r>
          </a:p>
          <a:p>
            <a:endParaRPr lang="en-US" dirty="0"/>
          </a:p>
        </p:txBody>
      </p:sp>
      <p:sp>
        <p:nvSpPr>
          <p:cNvPr id="4" name="Slide Number Placeholder 3"/>
          <p:cNvSpPr>
            <a:spLocks noGrp="1"/>
          </p:cNvSpPr>
          <p:nvPr>
            <p:ph type="sldNum" sz="quarter" idx="5"/>
          </p:nvPr>
        </p:nvSpPr>
        <p:spPr/>
        <p:txBody>
          <a:bodyPr/>
          <a:lstStyle/>
          <a:p>
            <a:fld id="{DAC03921-7077-42B0-8C81-48C0A93EA22E}" type="slidenum">
              <a:rPr lang="en-US" smtClean="0"/>
              <a:t>10</a:t>
            </a:fld>
            <a:endParaRPr lang="en-US"/>
          </a:p>
        </p:txBody>
      </p:sp>
    </p:spTree>
    <p:extLst>
      <p:ext uri="{BB962C8B-B14F-4D97-AF65-F5344CB8AC3E}">
        <p14:creationId xmlns:p14="http://schemas.microsoft.com/office/powerpoint/2010/main" val="27611543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Applying an NSG at subnet level actually configures a set of rules that each VM enforces — it's not a single perimeter gate. If you attach another NSG to a NIC, </a:t>
            </a:r>
            <a:r>
              <a:rPr lang="en-US" b="1" dirty="0"/>
              <a:t>both NSGs must permit traffic</a:t>
            </a:r>
            <a:r>
              <a:rPr lang="en-US" dirty="0"/>
              <a:t>, which allows for layered, defense-in-depth security.</a:t>
            </a:r>
          </a:p>
          <a:p>
            <a:endParaRPr lang="en-US" dirty="0"/>
          </a:p>
          <a:p>
            <a:r>
              <a:rPr lang="en-US" dirty="0"/>
              <a:t>Apply NSGs to </a:t>
            </a:r>
            <a:r>
              <a:rPr lang="en-US" b="1" dirty="0"/>
              <a:t>subnets</a:t>
            </a:r>
            <a:r>
              <a:rPr lang="en-US" dirty="0"/>
              <a:t> for broad, consistent coverage.</a:t>
            </a:r>
          </a:p>
          <a:p>
            <a:r>
              <a:rPr lang="en-US" dirty="0"/>
              <a:t>Use </a:t>
            </a:r>
            <a:r>
              <a:rPr lang="en-US" b="1" dirty="0"/>
              <a:t>NIC-level NSGs</a:t>
            </a:r>
            <a:r>
              <a:rPr lang="en-US" dirty="0"/>
              <a:t> only for special cases needing tighter controls. This avoids scattered rule management. </a:t>
            </a:r>
          </a:p>
          <a:p>
            <a:r>
              <a:rPr lang="en-US" dirty="0"/>
              <a:t>Understand the </a:t>
            </a:r>
            <a:r>
              <a:rPr lang="en-US" b="1" dirty="0"/>
              <a:t>two-stage evaluation model</a:t>
            </a:r>
            <a:r>
              <a:rPr lang="en-US" dirty="0"/>
              <a:t> to prevent unintentional blocking of traffic.</a:t>
            </a:r>
          </a:p>
          <a:p>
            <a:endParaRPr lang="en-US" dirty="0"/>
          </a:p>
        </p:txBody>
      </p:sp>
      <p:sp>
        <p:nvSpPr>
          <p:cNvPr id="4" name="Slide Number Placeholder 3"/>
          <p:cNvSpPr>
            <a:spLocks noGrp="1"/>
          </p:cNvSpPr>
          <p:nvPr>
            <p:ph type="sldNum" sz="quarter" idx="5"/>
          </p:nvPr>
        </p:nvSpPr>
        <p:spPr/>
        <p:txBody>
          <a:bodyPr/>
          <a:lstStyle/>
          <a:p>
            <a:fld id="{DAC03921-7077-42B0-8C81-48C0A93EA22E}" type="slidenum">
              <a:rPr lang="en-US" smtClean="0"/>
              <a:t>11</a:t>
            </a:fld>
            <a:endParaRPr lang="en-US"/>
          </a:p>
        </p:txBody>
      </p:sp>
    </p:spTree>
    <p:extLst>
      <p:ext uri="{BB962C8B-B14F-4D97-AF65-F5344CB8AC3E}">
        <p14:creationId xmlns:p14="http://schemas.microsoft.com/office/powerpoint/2010/main" val="11921388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Priority &amp; Action</a:t>
            </a:r>
          </a:p>
          <a:p>
            <a:endParaRPr lang="en-US" b="0" dirty="0"/>
          </a:p>
          <a:p>
            <a:r>
              <a:rPr lang="en-US" b="0" dirty="0"/>
              <a:t>Priority level (100–4096) determines rule evaluation order—lower numbers are higher priority . Once traffic matches a rule, evaluation stops—subsequent rules are ignored.</a:t>
            </a:r>
          </a:p>
          <a:p>
            <a:r>
              <a:rPr lang="en-US" b="0" dirty="0"/>
              <a:t>Action is a simple Allow or Deny directive.</a:t>
            </a:r>
          </a:p>
          <a:p>
            <a:endParaRPr lang="en-US" b="0" dirty="0"/>
          </a:p>
          <a:p>
            <a:r>
              <a:rPr lang="en-US" b="1" dirty="0"/>
              <a:t>How It Works</a:t>
            </a:r>
          </a:p>
          <a:p>
            <a:endParaRPr lang="en-US" b="0" dirty="0"/>
          </a:p>
          <a:p>
            <a:r>
              <a:rPr lang="en-US" b="0" dirty="0"/>
              <a:t>NSGs are stateful, meaning once an outbound connection is allowed, return traffic is automatically permitted.</a:t>
            </a:r>
          </a:p>
          <a:p>
            <a:r>
              <a:rPr lang="en-US" b="0" dirty="0"/>
              <a:t>You cannot create two identical priority + direction rules—Azure enforces unique rule numbers</a:t>
            </a:r>
          </a:p>
          <a:p>
            <a:endParaRPr lang="en-US" b="0" dirty="0"/>
          </a:p>
          <a:p>
            <a:r>
              <a:rPr lang="en-US" b="1" dirty="0"/>
              <a:t>Real‑World NSG Rule Example</a:t>
            </a:r>
          </a:p>
          <a:p>
            <a:endParaRPr lang="en-US" b="0" dirty="0"/>
          </a:p>
          <a:p>
            <a:r>
              <a:rPr lang="en-US" b="0" dirty="0"/>
              <a:t>Suppose you want to allow SSH only from a specific office IP, but block all other SSH requests:</a:t>
            </a:r>
          </a:p>
          <a:p>
            <a:r>
              <a:rPr lang="en-US" b="0" dirty="0"/>
              <a:t>Deny rule at priority 100:</a:t>
            </a:r>
            <a:br>
              <a:rPr lang="en-US" b="0" dirty="0"/>
            </a:br>
            <a:r>
              <a:rPr lang="en-US" b="0" dirty="0"/>
              <a:t>Source: *, Source port: *, Destination: your VM’s IP, Destination port: 22, Protocol: TCP</a:t>
            </a:r>
          </a:p>
          <a:p>
            <a:r>
              <a:rPr lang="en-US" b="0" dirty="0"/>
              <a:t>Allow rule at priority 110:</a:t>
            </a:r>
            <a:br>
              <a:rPr lang="en-US" b="0" dirty="0"/>
            </a:br>
            <a:r>
              <a:rPr lang="en-US" b="0" dirty="0"/>
              <a:t>Source: </a:t>
            </a:r>
            <a:r>
              <a:rPr lang="en-US" b="0" dirty="0" err="1"/>
              <a:t>OfficeIP</a:t>
            </a:r>
            <a:r>
              <a:rPr lang="en-US" b="0" dirty="0"/>
              <a:t>/32, Destination: &lt;VM IP&gt;, Port 22, Protocol: TCP</a:t>
            </a:r>
          </a:p>
          <a:p>
            <a:r>
              <a:rPr lang="en-US" b="0" dirty="0"/>
              <a:t>Because the Deny rule has higher priority, it will block all traffic before the Allow rule applies—so you’d invert priority: Allow 100 first, then Deny at 110 </a:t>
            </a:r>
          </a:p>
          <a:p>
            <a:endParaRPr lang="en-US" b="0" dirty="0"/>
          </a:p>
          <a:p>
            <a:r>
              <a:rPr lang="en-US" b="1" dirty="0"/>
              <a:t>Key Takeaways</a:t>
            </a:r>
          </a:p>
          <a:p>
            <a:r>
              <a:rPr lang="en-US" dirty="0"/>
              <a:t>Rules match on </a:t>
            </a:r>
            <a:r>
              <a:rPr lang="en-US" b="1" dirty="0"/>
              <a:t>[source, source port, </a:t>
            </a:r>
            <a:r>
              <a:rPr lang="en-US" b="1" dirty="0" err="1"/>
              <a:t>dest</a:t>
            </a:r>
            <a:r>
              <a:rPr lang="en-US" b="1" dirty="0"/>
              <a:t>, </a:t>
            </a:r>
            <a:r>
              <a:rPr lang="en-US" b="1" dirty="0" err="1"/>
              <a:t>dest</a:t>
            </a:r>
            <a:r>
              <a:rPr lang="en-US" b="1" dirty="0"/>
              <a:t> port, protocol]</a:t>
            </a:r>
            <a:r>
              <a:rPr lang="en-US" dirty="0"/>
              <a:t>.</a:t>
            </a:r>
          </a:p>
          <a:p>
            <a:r>
              <a:rPr lang="en-US" dirty="0"/>
              <a:t>Evaluation is </a:t>
            </a:r>
            <a:r>
              <a:rPr lang="en-US" b="1" dirty="0"/>
              <a:t>priority-based</a:t>
            </a:r>
            <a:r>
              <a:rPr lang="en-US" dirty="0"/>
              <a:t>, stopping at first match.</a:t>
            </a:r>
          </a:p>
          <a:p>
            <a:r>
              <a:rPr lang="en-US" dirty="0"/>
              <a:t>NSGs are </a:t>
            </a:r>
            <a:r>
              <a:rPr lang="en-US" b="1" dirty="0"/>
              <a:t>stateful</a:t>
            </a:r>
            <a:r>
              <a:rPr lang="en-US" dirty="0"/>
              <a:t>, so explicit return rules aren’t needed.</a:t>
            </a:r>
          </a:p>
          <a:p>
            <a:r>
              <a:rPr lang="en-US" dirty="0"/>
              <a:t>Custom rules override Azure’s default ones, which have the lowest priority (65000+)</a:t>
            </a:r>
          </a:p>
          <a:p>
            <a:endParaRPr lang="en-US" b="0" dirty="0"/>
          </a:p>
          <a:p>
            <a:endParaRPr lang="en-US" b="0" dirty="0"/>
          </a:p>
          <a:p>
            <a:endParaRPr lang="en-US" b="0" dirty="0"/>
          </a:p>
        </p:txBody>
      </p:sp>
      <p:sp>
        <p:nvSpPr>
          <p:cNvPr id="4" name="Slide Number Placeholder 3"/>
          <p:cNvSpPr>
            <a:spLocks noGrp="1"/>
          </p:cNvSpPr>
          <p:nvPr>
            <p:ph type="sldNum" sz="quarter" idx="5"/>
          </p:nvPr>
        </p:nvSpPr>
        <p:spPr/>
        <p:txBody>
          <a:bodyPr/>
          <a:lstStyle/>
          <a:p>
            <a:fld id="{DAC03921-7077-42B0-8C81-48C0A93EA22E}" type="slidenum">
              <a:rPr lang="en-US" smtClean="0"/>
              <a:t>12</a:t>
            </a:fld>
            <a:endParaRPr lang="en-US"/>
          </a:p>
        </p:txBody>
      </p:sp>
    </p:spTree>
    <p:extLst>
      <p:ext uri="{BB962C8B-B14F-4D97-AF65-F5344CB8AC3E}">
        <p14:creationId xmlns:p14="http://schemas.microsoft.com/office/powerpoint/2010/main" val="22541725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0" dirty="0"/>
              <a:t>Azure NSG rules match traffic using the five-tuple plus CIDR ranges, so you can define source/destination IPs in CIDR notation (e.g., 10.0.0.0/24) to match single addresses or entire ranges.</a:t>
            </a:r>
          </a:p>
          <a:p>
            <a:endParaRPr lang="en-CA" b="0" dirty="0"/>
          </a:p>
          <a:p>
            <a:r>
              <a:rPr lang="en-CA" b="0" dirty="0"/>
              <a:t>Beyond explicit CIDR prefixes, Azure also provides three built-in service tags that streamline defining common traffic scopes:</a:t>
            </a:r>
          </a:p>
          <a:p>
            <a:endParaRPr lang="en-CA" b="0" dirty="0"/>
          </a:p>
          <a:p>
            <a:r>
              <a:rPr lang="en-CA" b="1" dirty="0" err="1"/>
              <a:t>VirtualNetwork</a:t>
            </a:r>
            <a:br>
              <a:rPr lang="en-CA" b="0" dirty="0"/>
            </a:br>
            <a:endParaRPr lang="en-CA" b="0" dirty="0"/>
          </a:p>
          <a:p>
            <a:r>
              <a:rPr lang="en-CA" b="0" dirty="0"/>
              <a:t>Represents your entire </a:t>
            </a:r>
            <a:r>
              <a:rPr lang="en-CA" b="0" dirty="0" err="1"/>
              <a:t>VNet</a:t>
            </a:r>
            <a:r>
              <a:rPr lang="en-CA" b="0" dirty="0"/>
              <a:t> address space, including any peered </a:t>
            </a:r>
            <a:r>
              <a:rPr lang="en-CA" b="0" dirty="0" err="1"/>
              <a:t>VNets</a:t>
            </a:r>
            <a:r>
              <a:rPr lang="en-CA" b="0" dirty="0"/>
              <a:t>, on-premises networks connected via VPN/ExpressRoute, the Azure host IP (168.63.129.16), and user-defined routes. This means a rule using this tag can match much more than just the local subnet or </a:t>
            </a:r>
            <a:r>
              <a:rPr lang="en-CA" b="0" dirty="0" err="1"/>
              <a:t>VNet</a:t>
            </a:r>
            <a:r>
              <a:rPr lang="en-CA" b="0" dirty="0"/>
              <a:t>.</a:t>
            </a:r>
          </a:p>
          <a:p>
            <a:endParaRPr lang="en-CA" b="0" dirty="0"/>
          </a:p>
          <a:p>
            <a:r>
              <a:rPr lang="en-CA" b="1" dirty="0" err="1"/>
              <a:t>AzureLoadBalancer</a:t>
            </a:r>
            <a:br>
              <a:rPr lang="en-CA" b="0" dirty="0"/>
            </a:br>
            <a:endParaRPr lang="en-CA" b="0" dirty="0"/>
          </a:p>
          <a:p>
            <a:r>
              <a:rPr lang="en-CA" b="0" dirty="0"/>
              <a:t>Matches Azure’s own infrastructure load balancer, specifically the health probe IP (168.63.129.16). This allows your VM or resource to accept load-balancer health checks.</a:t>
            </a:r>
          </a:p>
          <a:p>
            <a:endParaRPr lang="en-CA" b="0" dirty="0"/>
          </a:p>
          <a:p>
            <a:r>
              <a:rPr lang="en-CA" b="1" dirty="0"/>
              <a:t>Internet</a:t>
            </a:r>
            <a:br>
              <a:rPr lang="en-CA" b="0" dirty="0"/>
            </a:br>
            <a:endParaRPr lang="en-CA" b="0" dirty="0"/>
          </a:p>
          <a:p>
            <a:r>
              <a:rPr lang="en-CA" b="0" dirty="0"/>
              <a:t>Covers any public IP space—essentially anything outside your </a:t>
            </a:r>
            <a:r>
              <a:rPr lang="en-CA" b="0" dirty="0" err="1"/>
              <a:t>VNet</a:t>
            </a:r>
            <a:r>
              <a:rPr lang="en-CA" b="0" dirty="0"/>
              <a:t>. This tag includes Azure public IP ranges too. Use this to define rules for internet-bound or external traffic .</a:t>
            </a:r>
          </a:p>
          <a:p>
            <a:endParaRPr lang="en-US" b="0" dirty="0"/>
          </a:p>
        </p:txBody>
      </p:sp>
      <p:sp>
        <p:nvSpPr>
          <p:cNvPr id="4" name="Slide Number Placeholder 3"/>
          <p:cNvSpPr>
            <a:spLocks noGrp="1"/>
          </p:cNvSpPr>
          <p:nvPr>
            <p:ph type="sldNum" sz="quarter" idx="5"/>
          </p:nvPr>
        </p:nvSpPr>
        <p:spPr/>
        <p:txBody>
          <a:bodyPr/>
          <a:lstStyle/>
          <a:p>
            <a:fld id="{DAC03921-7077-42B0-8C81-48C0A93EA22E}" type="slidenum">
              <a:rPr lang="en-US" smtClean="0"/>
              <a:t>13</a:t>
            </a:fld>
            <a:endParaRPr lang="en-US"/>
          </a:p>
        </p:txBody>
      </p:sp>
    </p:spTree>
    <p:extLst>
      <p:ext uri="{BB962C8B-B14F-4D97-AF65-F5344CB8AC3E}">
        <p14:creationId xmlns:p14="http://schemas.microsoft.com/office/powerpoint/2010/main" val="27090232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On this slide, we’re looking at a typical Azure Virtual Network setup, segmented into three main subnets: the Frontend, </a:t>
            </a:r>
            <a:r>
              <a:rPr lang="en-US" sz="1200" b="0" i="0" kern="1200" dirty="0" err="1">
                <a:solidFill>
                  <a:schemeClr val="tx1"/>
                </a:solidFill>
                <a:effectLst/>
                <a:latin typeface="+mn-lt"/>
                <a:ea typeface="+mn-ea"/>
                <a:cs typeface="+mn-cs"/>
              </a:rPr>
              <a:t>Midtier</a:t>
            </a:r>
            <a:r>
              <a:rPr lang="en-US" sz="1200" b="0" i="0" kern="1200" dirty="0">
                <a:solidFill>
                  <a:schemeClr val="tx1"/>
                </a:solidFill>
                <a:effectLst/>
                <a:latin typeface="+mn-lt"/>
                <a:ea typeface="+mn-ea"/>
                <a:cs typeface="+mn-cs"/>
              </a:rPr>
              <a:t>, and Backend subnets. Each of these subnets contains two virtual machines, which represent the compute resources deployed in each layer of the application architecture.</a:t>
            </a:r>
          </a:p>
          <a:p>
            <a:r>
              <a:rPr lang="en-US" sz="1200" b="0" i="0" kern="1200" dirty="0">
                <a:solidFill>
                  <a:schemeClr val="tx1"/>
                </a:solidFill>
                <a:effectLst/>
                <a:latin typeface="+mn-lt"/>
                <a:ea typeface="+mn-ea"/>
                <a:cs typeface="+mn-cs"/>
              </a:rPr>
              <a:t>The key focus here is on how traffic is managed and secured using Network Security Groups, or NSGs. These NSGs act as virtual firewalls, controlling inbound and outbound traffic to the resources within each subnet.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Starting with the </a:t>
            </a:r>
            <a:r>
              <a:rPr lang="en-US" sz="1200" b="1" i="0" kern="1200" dirty="0">
                <a:solidFill>
                  <a:schemeClr val="tx1"/>
                </a:solidFill>
                <a:effectLst/>
                <a:latin typeface="+mn-lt"/>
                <a:ea typeface="+mn-ea"/>
                <a:cs typeface="+mn-cs"/>
              </a:rPr>
              <a:t>Frontend Subnet</a:t>
            </a:r>
            <a:r>
              <a:rPr lang="en-US" sz="1200" b="0" i="0" kern="1200" dirty="0">
                <a:solidFill>
                  <a:schemeClr val="tx1"/>
                </a:solidFill>
                <a:effectLst/>
                <a:latin typeface="+mn-lt"/>
                <a:ea typeface="+mn-ea"/>
                <a:cs typeface="+mn-cs"/>
              </a:rPr>
              <a:t>, it’s directly connected to the internet. You’ll notice green 'Allow' and red 'Deny' indicators showing which types of traffic are permitted or blocked. Typically, we allow HTTP/HTTPS traffic from the internet to the frontend VMs, while denying other types of access for security.</a:t>
            </a:r>
          </a:p>
          <a:p>
            <a:r>
              <a:rPr lang="en-US" sz="1200" b="0" i="0" kern="1200" dirty="0">
                <a:solidFill>
                  <a:schemeClr val="tx1"/>
                </a:solidFill>
                <a:effectLst/>
                <a:latin typeface="+mn-lt"/>
                <a:ea typeface="+mn-ea"/>
                <a:cs typeface="+mn-cs"/>
              </a:rPr>
              <a:t>The </a:t>
            </a:r>
            <a:r>
              <a:rPr lang="en-US" sz="1200" b="1" i="0" kern="1200" dirty="0" err="1">
                <a:solidFill>
                  <a:schemeClr val="tx1"/>
                </a:solidFill>
                <a:effectLst/>
                <a:latin typeface="+mn-lt"/>
                <a:ea typeface="+mn-ea"/>
                <a:cs typeface="+mn-cs"/>
              </a:rPr>
              <a:t>Midtier</a:t>
            </a:r>
            <a:r>
              <a:rPr lang="en-US" sz="1200" b="1" i="0" kern="1200" dirty="0">
                <a:solidFill>
                  <a:schemeClr val="tx1"/>
                </a:solidFill>
                <a:effectLst/>
                <a:latin typeface="+mn-lt"/>
                <a:ea typeface="+mn-ea"/>
                <a:cs typeface="+mn-cs"/>
              </a:rPr>
              <a:t> Subnet</a:t>
            </a:r>
            <a:r>
              <a:rPr lang="en-US" sz="1200" b="0" i="0" kern="1200" dirty="0">
                <a:solidFill>
                  <a:schemeClr val="tx1"/>
                </a:solidFill>
                <a:effectLst/>
                <a:latin typeface="+mn-lt"/>
                <a:ea typeface="+mn-ea"/>
                <a:cs typeface="+mn-cs"/>
              </a:rPr>
              <a:t> is isolated from the internet but can communicate with the Frontend Subnet. This is where application logic might reside, and NSGs ensure that only traffic from the Frontend Subnet is allowed in.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Finally, the </a:t>
            </a:r>
            <a:r>
              <a:rPr lang="en-US" sz="1200" b="1" i="0" kern="1200" dirty="0">
                <a:solidFill>
                  <a:schemeClr val="tx1"/>
                </a:solidFill>
                <a:effectLst/>
                <a:latin typeface="+mn-lt"/>
                <a:ea typeface="+mn-ea"/>
                <a:cs typeface="+mn-cs"/>
              </a:rPr>
              <a:t>Backend Subnet</a:t>
            </a:r>
            <a:r>
              <a:rPr lang="en-US" sz="1200" b="0" i="0" kern="1200" dirty="0">
                <a:solidFill>
                  <a:schemeClr val="tx1"/>
                </a:solidFill>
                <a:effectLst/>
                <a:latin typeface="+mn-lt"/>
                <a:ea typeface="+mn-ea"/>
                <a:cs typeface="+mn-cs"/>
              </a:rPr>
              <a:t> is the most restricted. It only accepts traffic from the </a:t>
            </a:r>
            <a:r>
              <a:rPr lang="en-US" sz="1200" b="0" i="0" kern="1200" dirty="0" err="1">
                <a:solidFill>
                  <a:schemeClr val="tx1"/>
                </a:solidFill>
                <a:effectLst/>
                <a:latin typeface="+mn-lt"/>
                <a:ea typeface="+mn-ea"/>
                <a:cs typeface="+mn-cs"/>
              </a:rPr>
              <a:t>Midtier</a:t>
            </a:r>
            <a:r>
              <a:rPr lang="en-US" sz="1200" b="0" i="0" kern="1200" dirty="0">
                <a:solidFill>
                  <a:schemeClr val="tx1"/>
                </a:solidFill>
                <a:effectLst/>
                <a:latin typeface="+mn-lt"/>
                <a:ea typeface="+mn-ea"/>
                <a:cs typeface="+mn-cs"/>
              </a:rPr>
              <a:t> Subnet, typically for database access or internal services. No direct internet or frontend access is allowed here, which is a best practice for securing sensitive data.</a:t>
            </a:r>
          </a:p>
          <a:p>
            <a:r>
              <a:rPr lang="en-US" sz="1200" b="0" i="0" kern="1200" dirty="0">
                <a:solidFill>
                  <a:schemeClr val="tx1"/>
                </a:solidFill>
                <a:effectLst/>
                <a:latin typeface="+mn-lt"/>
                <a:ea typeface="+mn-ea"/>
                <a:cs typeface="+mn-cs"/>
              </a:rPr>
              <a:t>This layered approach to network segmentation and access control helps enforce the principle of least privilege and enhances the overall security posture of the cloud environment</a:t>
            </a:r>
          </a:p>
          <a:p>
            <a:endParaRPr lang="en-US" dirty="0"/>
          </a:p>
        </p:txBody>
      </p:sp>
      <p:sp>
        <p:nvSpPr>
          <p:cNvPr id="4" name="Slide Number Placeholder 3"/>
          <p:cNvSpPr>
            <a:spLocks noGrp="1"/>
          </p:cNvSpPr>
          <p:nvPr>
            <p:ph type="sldNum" sz="quarter" idx="5"/>
          </p:nvPr>
        </p:nvSpPr>
        <p:spPr/>
        <p:txBody>
          <a:bodyPr/>
          <a:lstStyle/>
          <a:p>
            <a:fld id="{DAC03921-7077-42B0-8C81-48C0A93EA22E}" type="slidenum">
              <a:rPr lang="en-US" smtClean="0"/>
              <a:t>14</a:t>
            </a:fld>
            <a:endParaRPr lang="en-US"/>
          </a:p>
        </p:txBody>
      </p:sp>
    </p:spTree>
    <p:extLst>
      <p:ext uri="{BB962C8B-B14F-4D97-AF65-F5344CB8AC3E}">
        <p14:creationId xmlns:p14="http://schemas.microsoft.com/office/powerpoint/2010/main" val="13752157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Azure Network Security Groups combine multiple custom and default rules into a single organized ruleset. Here's how it works:</a:t>
            </a:r>
          </a:p>
          <a:p>
            <a:endParaRPr lang="en-US" b="0" dirty="0"/>
          </a:p>
          <a:p>
            <a:r>
              <a:rPr lang="en-US" b="0" dirty="0"/>
              <a:t>Rules are ordered by priority, which is a numeric value ranging from 100 (highest) to 4096 (lowest).</a:t>
            </a:r>
          </a:p>
          <a:p>
            <a:endParaRPr lang="en-US" b="0" dirty="0"/>
          </a:p>
          <a:p>
            <a:r>
              <a:rPr lang="en-US" b="0" dirty="0"/>
              <a:t>When network traffic flows into or out of a VM (via its NIC) or subnet, Azure evaluates NSG rules in ascending priority order—meaning lower numbers are processed first </a:t>
            </a:r>
          </a:p>
          <a:p>
            <a:endParaRPr lang="en-US" b="0" dirty="0"/>
          </a:p>
          <a:p>
            <a:r>
              <a:rPr lang="en-US" b="0" dirty="0"/>
              <a:t>Once a rule matches—based on the source, destination, protocol, and port—the specified action (Allow or Deny) is immediately applied, and no further rules are checked</a:t>
            </a:r>
          </a:p>
          <a:p>
            <a:endParaRPr lang="en-US" b="0" dirty="0"/>
          </a:p>
        </p:txBody>
      </p:sp>
      <p:sp>
        <p:nvSpPr>
          <p:cNvPr id="4" name="Slide Number Placeholder 3"/>
          <p:cNvSpPr>
            <a:spLocks noGrp="1"/>
          </p:cNvSpPr>
          <p:nvPr>
            <p:ph type="sldNum" sz="quarter" idx="5"/>
          </p:nvPr>
        </p:nvSpPr>
        <p:spPr/>
        <p:txBody>
          <a:bodyPr/>
          <a:lstStyle/>
          <a:p>
            <a:fld id="{DAC03921-7077-42B0-8C81-48C0A93EA22E}" type="slidenum">
              <a:rPr lang="en-US" smtClean="0"/>
              <a:t>15</a:t>
            </a:fld>
            <a:endParaRPr lang="en-US"/>
          </a:p>
        </p:txBody>
      </p:sp>
    </p:spTree>
    <p:extLst>
      <p:ext uri="{BB962C8B-B14F-4D97-AF65-F5344CB8AC3E}">
        <p14:creationId xmlns:p14="http://schemas.microsoft.com/office/powerpoint/2010/main" val="25664120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Managing fine‑grained security using IP ranges in large </a:t>
            </a:r>
            <a:r>
              <a:rPr lang="en-US" dirty="0" err="1"/>
              <a:t>VNets</a:t>
            </a:r>
            <a:r>
              <a:rPr lang="en-US" dirty="0"/>
              <a:t> quickly becomes difficult. That’s where </a:t>
            </a:r>
            <a:r>
              <a:rPr lang="en-US" b="1" dirty="0"/>
              <a:t>Application Security Groups (ASGs)</a:t>
            </a:r>
            <a:r>
              <a:rPr lang="en-US" dirty="0"/>
              <a:t> come in—they let you group NICs of VMs by function (like Web, DB, or WebApp) and reference those groups in NSG rules instead of explicit IP ranges.</a:t>
            </a:r>
          </a:p>
          <a:p>
            <a:endParaRPr lang="en-US" dirty="0"/>
          </a:p>
          <a:p>
            <a:r>
              <a:rPr lang="en-US" b="1" dirty="0"/>
              <a:t>How ASGs work:</a:t>
            </a:r>
          </a:p>
          <a:p>
            <a:endParaRPr lang="en-US" dirty="0"/>
          </a:p>
          <a:p>
            <a:r>
              <a:rPr lang="en-US" b="0" dirty="0"/>
              <a:t>You create an ASG for each role or application tier—e.g., ASG-Web, ASG-DB.</a:t>
            </a:r>
          </a:p>
          <a:p>
            <a:r>
              <a:rPr lang="en-US" b="0" dirty="0"/>
              <a:t>You assign each VM’s NIC to one or more ASGs—it becomes a logical member of those roles .</a:t>
            </a:r>
          </a:p>
          <a:p>
            <a:r>
              <a:rPr lang="en-US" b="0" dirty="0"/>
              <a:t>In your NSG, you use ASGs in rules. For example, allow traffic from ASG-Web to ASG-DB on port 1433. The NSG still supports all features—like service tags and CIDR ranges .</a:t>
            </a:r>
          </a:p>
          <a:p>
            <a:endParaRPr lang="en-US" b="0" dirty="0"/>
          </a:p>
          <a:p>
            <a:r>
              <a:rPr lang="en-CA" b="1" dirty="0"/>
              <a:t>Why use ASGs?</a:t>
            </a:r>
          </a:p>
          <a:p>
            <a:endParaRPr lang="en-CA" dirty="0"/>
          </a:p>
          <a:p>
            <a:r>
              <a:rPr lang="en-CA" b="0" dirty="0"/>
              <a:t>Simplification &amp; scalability: No need to maintain complex IP-based rules as you scale—just assign the VM NIC to the correct ASG.</a:t>
            </a:r>
          </a:p>
          <a:p>
            <a:r>
              <a:rPr lang="en-CA" b="0" dirty="0"/>
              <a:t>Consistent security policy at scale: One NSG can cover multiple subnets or roles while maintaining clarity via ASG tags.</a:t>
            </a:r>
          </a:p>
          <a:p>
            <a:r>
              <a:rPr lang="en-CA" b="0" dirty="0"/>
              <a:t>Micro-segmentation &amp; least privilege: You can restrict traffic precisely between roles (e.g., Web → App, App → DB) .</a:t>
            </a:r>
          </a:p>
          <a:p>
            <a:endParaRPr lang="en-US" b="0" dirty="0"/>
          </a:p>
          <a:p>
            <a:endParaRPr lang="en-US" dirty="0"/>
          </a:p>
          <a:p>
            <a:endParaRPr lang="en-US" dirty="0"/>
          </a:p>
        </p:txBody>
      </p:sp>
      <p:sp>
        <p:nvSpPr>
          <p:cNvPr id="4" name="Slide Number Placeholder 3"/>
          <p:cNvSpPr>
            <a:spLocks noGrp="1"/>
          </p:cNvSpPr>
          <p:nvPr>
            <p:ph type="sldNum" sz="quarter" idx="5"/>
          </p:nvPr>
        </p:nvSpPr>
        <p:spPr/>
        <p:txBody>
          <a:bodyPr/>
          <a:lstStyle/>
          <a:p>
            <a:fld id="{DAC03921-7077-42B0-8C81-48C0A93EA22E}" type="slidenum">
              <a:rPr lang="en-US" smtClean="0"/>
              <a:t>16</a:t>
            </a:fld>
            <a:endParaRPr lang="en-US"/>
          </a:p>
        </p:txBody>
      </p:sp>
    </p:spTree>
    <p:extLst>
      <p:ext uri="{BB962C8B-B14F-4D97-AF65-F5344CB8AC3E}">
        <p14:creationId xmlns:p14="http://schemas.microsoft.com/office/powerpoint/2010/main" val="12738382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slide illustrates how we can use </a:t>
            </a:r>
            <a:r>
              <a:rPr lang="en-US" sz="1200" b="1" i="0" kern="1200" dirty="0">
                <a:solidFill>
                  <a:schemeClr val="tx1"/>
                </a:solidFill>
                <a:effectLst/>
                <a:latin typeface="+mn-lt"/>
                <a:ea typeface="+mn-ea"/>
                <a:cs typeface="+mn-cs"/>
              </a:rPr>
              <a:t>Application Security Groups (ASGs)</a:t>
            </a:r>
            <a:r>
              <a:rPr lang="en-US" sz="1200" b="0" i="0" kern="1200" dirty="0">
                <a:solidFill>
                  <a:schemeClr val="tx1"/>
                </a:solidFill>
                <a:effectLst/>
                <a:latin typeface="+mn-lt"/>
                <a:ea typeface="+mn-ea"/>
                <a:cs typeface="+mn-cs"/>
              </a:rPr>
              <a:t> in combination with </a:t>
            </a:r>
            <a:r>
              <a:rPr lang="en-US" sz="1200" b="1" i="0" kern="1200" dirty="0">
                <a:solidFill>
                  <a:schemeClr val="tx1"/>
                </a:solidFill>
                <a:effectLst/>
                <a:latin typeface="+mn-lt"/>
                <a:ea typeface="+mn-ea"/>
                <a:cs typeface="+mn-cs"/>
              </a:rPr>
              <a:t>Network Security Groups (NSGs)</a:t>
            </a:r>
            <a:r>
              <a:rPr lang="en-US" sz="1200" b="0" i="0" kern="1200" dirty="0">
                <a:solidFill>
                  <a:schemeClr val="tx1"/>
                </a:solidFill>
                <a:effectLst/>
                <a:latin typeface="+mn-lt"/>
                <a:ea typeface="+mn-ea"/>
                <a:cs typeface="+mn-cs"/>
              </a:rPr>
              <a:t> to manage traffic flow securely and efficiently within our Azure environment.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We have three main server groups represented here:</a:t>
            </a:r>
          </a:p>
          <a:p>
            <a:r>
              <a:rPr lang="en-US" sz="1200" b="1" i="0" kern="1200" dirty="0" err="1">
                <a:solidFill>
                  <a:schemeClr val="tx1"/>
                </a:solidFill>
                <a:effectLst/>
                <a:latin typeface="+mn-lt"/>
                <a:ea typeface="+mn-ea"/>
                <a:cs typeface="+mn-cs"/>
              </a:rPr>
              <a:t>WebServers</a:t>
            </a:r>
            <a:r>
              <a:rPr lang="en-US" sz="1200" b="0" i="0" kern="1200" dirty="0">
                <a:solidFill>
                  <a:schemeClr val="tx1"/>
                </a:solidFill>
                <a:effectLst/>
                <a:latin typeface="+mn-lt"/>
                <a:ea typeface="+mn-ea"/>
                <a:cs typeface="+mn-cs"/>
              </a:rPr>
              <a:t>: These are exposed to the internet and handle incoming HTTP and HTTPS traffic.</a:t>
            </a:r>
          </a:p>
          <a:p>
            <a:r>
              <a:rPr lang="en-US" sz="1200" b="1" i="0" kern="1200" dirty="0" err="1">
                <a:solidFill>
                  <a:schemeClr val="tx1"/>
                </a:solidFill>
                <a:effectLst/>
                <a:latin typeface="+mn-lt"/>
                <a:ea typeface="+mn-ea"/>
                <a:cs typeface="+mn-cs"/>
              </a:rPr>
              <a:t>AppServers</a:t>
            </a:r>
            <a:r>
              <a:rPr lang="en-US" sz="1200" b="0" i="0" kern="1200" dirty="0">
                <a:solidFill>
                  <a:schemeClr val="tx1"/>
                </a:solidFill>
                <a:effectLst/>
                <a:latin typeface="+mn-lt"/>
                <a:ea typeface="+mn-ea"/>
                <a:cs typeface="+mn-cs"/>
              </a:rPr>
              <a:t>: These handle internal application logic and communicate only with the </a:t>
            </a:r>
            <a:r>
              <a:rPr lang="en-US" sz="1200" b="0" i="0" kern="1200" dirty="0" err="1">
                <a:solidFill>
                  <a:schemeClr val="tx1"/>
                </a:solidFill>
                <a:effectLst/>
                <a:latin typeface="+mn-lt"/>
                <a:ea typeface="+mn-ea"/>
                <a:cs typeface="+mn-cs"/>
              </a:rPr>
              <a:t>WebServers</a:t>
            </a:r>
            <a:r>
              <a:rPr lang="en-US" sz="1200" b="0" i="0" kern="1200" dirty="0">
                <a:solidFill>
                  <a:schemeClr val="tx1"/>
                </a:solidFill>
                <a:effectLst/>
                <a:latin typeface="+mn-lt"/>
                <a:ea typeface="+mn-ea"/>
                <a:cs typeface="+mn-cs"/>
              </a:rPr>
              <a:t>.</a:t>
            </a:r>
          </a:p>
          <a:p>
            <a:r>
              <a:rPr lang="en-US" sz="1200" b="1" i="0" kern="1200" dirty="0" err="1">
                <a:solidFill>
                  <a:schemeClr val="tx1"/>
                </a:solidFill>
                <a:effectLst/>
                <a:latin typeface="+mn-lt"/>
                <a:ea typeface="+mn-ea"/>
                <a:cs typeface="+mn-cs"/>
              </a:rPr>
              <a:t>DbServers</a:t>
            </a:r>
            <a:r>
              <a:rPr lang="en-US" sz="1200" b="0" i="0" kern="1200" dirty="0">
                <a:solidFill>
                  <a:schemeClr val="tx1"/>
                </a:solidFill>
                <a:effectLst/>
                <a:latin typeface="+mn-lt"/>
                <a:ea typeface="+mn-ea"/>
                <a:cs typeface="+mn-cs"/>
              </a:rPr>
              <a:t>: These store data and are only accessible by the </a:t>
            </a:r>
            <a:r>
              <a:rPr lang="en-US" sz="1200" b="0" i="0" kern="1200" dirty="0" err="1">
                <a:solidFill>
                  <a:schemeClr val="tx1"/>
                </a:solidFill>
                <a:effectLst/>
                <a:latin typeface="+mn-lt"/>
                <a:ea typeface="+mn-ea"/>
                <a:cs typeface="+mn-cs"/>
              </a:rPr>
              <a:t>AppServers</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table on the right outlines the NSG rules applied to control traffic:</a:t>
            </a:r>
          </a:p>
          <a:p>
            <a:r>
              <a:rPr lang="en-US" sz="1200" b="1" i="0" kern="1200" dirty="0" err="1">
                <a:solidFill>
                  <a:schemeClr val="tx1"/>
                </a:solidFill>
                <a:effectLst/>
                <a:latin typeface="+mn-lt"/>
                <a:ea typeface="+mn-ea"/>
                <a:cs typeface="+mn-cs"/>
              </a:rPr>
              <a:t>AllowInternetToWeb</a:t>
            </a:r>
            <a:r>
              <a:rPr lang="en-US" sz="1200" b="0" i="0" kern="1200" dirty="0">
                <a:solidFill>
                  <a:schemeClr val="tx1"/>
                </a:solidFill>
                <a:effectLst/>
                <a:latin typeface="+mn-lt"/>
                <a:ea typeface="+mn-ea"/>
                <a:cs typeface="+mn-cs"/>
              </a:rPr>
              <a:t>: This rule allows HTTP (port 80) and HTTPS (port 443) traffic from the internet to the </a:t>
            </a:r>
            <a:r>
              <a:rPr lang="en-US" sz="1200" b="0" i="0" kern="1200" dirty="0" err="1">
                <a:solidFill>
                  <a:schemeClr val="tx1"/>
                </a:solidFill>
                <a:effectLst/>
                <a:latin typeface="+mn-lt"/>
                <a:ea typeface="+mn-ea"/>
                <a:cs typeface="+mn-cs"/>
              </a:rPr>
              <a:t>WebServers</a:t>
            </a:r>
            <a:r>
              <a:rPr lang="en-US" sz="1200" b="0" i="0" kern="1200" dirty="0">
                <a:solidFill>
                  <a:schemeClr val="tx1"/>
                </a:solidFill>
                <a:effectLst/>
                <a:latin typeface="+mn-lt"/>
                <a:ea typeface="+mn-ea"/>
                <a:cs typeface="+mn-cs"/>
              </a:rPr>
              <a:t>.</a:t>
            </a:r>
          </a:p>
          <a:p>
            <a:r>
              <a:rPr lang="en-US" sz="1200" b="1" i="0" kern="1200" dirty="0">
                <a:solidFill>
                  <a:schemeClr val="tx1"/>
                </a:solidFill>
                <a:effectLst/>
                <a:latin typeface="+mn-lt"/>
                <a:ea typeface="+mn-ea"/>
                <a:cs typeface="+mn-cs"/>
              </a:rPr>
              <a:t>AllowWebToApp</a:t>
            </a:r>
            <a:r>
              <a:rPr lang="en-US" sz="1200" b="0" i="0" kern="1200" dirty="0">
                <a:solidFill>
                  <a:schemeClr val="tx1"/>
                </a:solidFill>
                <a:effectLst/>
                <a:latin typeface="+mn-lt"/>
                <a:ea typeface="+mn-ea"/>
                <a:cs typeface="+mn-cs"/>
              </a:rPr>
              <a:t>: This permits secure HTTPS traffic (port 443) from </a:t>
            </a:r>
            <a:r>
              <a:rPr lang="en-US" sz="1200" b="0" i="0" kern="1200" dirty="0" err="1">
                <a:solidFill>
                  <a:schemeClr val="tx1"/>
                </a:solidFill>
                <a:effectLst/>
                <a:latin typeface="+mn-lt"/>
                <a:ea typeface="+mn-ea"/>
                <a:cs typeface="+mn-cs"/>
              </a:rPr>
              <a:t>WebServers</a:t>
            </a:r>
            <a:r>
              <a:rPr lang="en-US" sz="1200" b="0" i="0" kern="1200" dirty="0">
                <a:solidFill>
                  <a:schemeClr val="tx1"/>
                </a:solidFill>
                <a:effectLst/>
                <a:latin typeface="+mn-lt"/>
                <a:ea typeface="+mn-ea"/>
                <a:cs typeface="+mn-cs"/>
              </a:rPr>
              <a:t> to </a:t>
            </a:r>
            <a:r>
              <a:rPr lang="en-US" sz="1200" b="0" i="0" kern="1200" dirty="0" err="1">
                <a:solidFill>
                  <a:schemeClr val="tx1"/>
                </a:solidFill>
                <a:effectLst/>
                <a:latin typeface="+mn-lt"/>
                <a:ea typeface="+mn-ea"/>
                <a:cs typeface="+mn-cs"/>
              </a:rPr>
              <a:t>AppServers</a:t>
            </a:r>
            <a:r>
              <a:rPr lang="en-US" sz="1200" b="0" i="0" kern="1200" dirty="0">
                <a:solidFill>
                  <a:schemeClr val="tx1"/>
                </a:solidFill>
                <a:effectLst/>
                <a:latin typeface="+mn-lt"/>
                <a:ea typeface="+mn-ea"/>
                <a:cs typeface="+mn-cs"/>
              </a:rPr>
              <a:t>.</a:t>
            </a:r>
          </a:p>
          <a:p>
            <a:r>
              <a:rPr lang="en-US" sz="1200" b="1" i="0" kern="1200" dirty="0" err="1">
                <a:solidFill>
                  <a:schemeClr val="tx1"/>
                </a:solidFill>
                <a:effectLst/>
                <a:latin typeface="+mn-lt"/>
                <a:ea typeface="+mn-ea"/>
                <a:cs typeface="+mn-cs"/>
              </a:rPr>
              <a:t>AllowAppToDb</a:t>
            </a:r>
            <a:r>
              <a:rPr lang="en-US" sz="1200" b="0" i="0" kern="1200" dirty="0">
                <a:solidFill>
                  <a:schemeClr val="tx1"/>
                </a:solidFill>
                <a:effectLst/>
                <a:latin typeface="+mn-lt"/>
                <a:ea typeface="+mn-ea"/>
                <a:cs typeface="+mn-cs"/>
              </a:rPr>
              <a:t>: This allows SQL traffic (port 1443) from </a:t>
            </a:r>
            <a:r>
              <a:rPr lang="en-US" sz="1200" b="0" i="0" kern="1200" dirty="0" err="1">
                <a:solidFill>
                  <a:schemeClr val="tx1"/>
                </a:solidFill>
                <a:effectLst/>
                <a:latin typeface="+mn-lt"/>
                <a:ea typeface="+mn-ea"/>
                <a:cs typeface="+mn-cs"/>
              </a:rPr>
              <a:t>AppServers</a:t>
            </a:r>
            <a:r>
              <a:rPr lang="en-US" sz="1200" b="0" i="0" kern="1200" dirty="0">
                <a:solidFill>
                  <a:schemeClr val="tx1"/>
                </a:solidFill>
                <a:effectLst/>
                <a:latin typeface="+mn-lt"/>
                <a:ea typeface="+mn-ea"/>
                <a:cs typeface="+mn-cs"/>
              </a:rPr>
              <a:t> to </a:t>
            </a:r>
            <a:r>
              <a:rPr lang="en-US" sz="1200" b="0" i="0" kern="1200" dirty="0" err="1">
                <a:solidFill>
                  <a:schemeClr val="tx1"/>
                </a:solidFill>
                <a:effectLst/>
                <a:latin typeface="+mn-lt"/>
                <a:ea typeface="+mn-ea"/>
                <a:cs typeface="+mn-cs"/>
              </a:rPr>
              <a:t>DbServers</a:t>
            </a:r>
            <a:r>
              <a:rPr lang="en-US" sz="1200" b="0" i="0" kern="1200" dirty="0">
                <a:solidFill>
                  <a:schemeClr val="tx1"/>
                </a:solidFill>
                <a:effectLst/>
                <a:latin typeface="+mn-lt"/>
                <a:ea typeface="+mn-ea"/>
                <a:cs typeface="+mn-cs"/>
              </a:rPr>
              <a:t>.</a:t>
            </a:r>
          </a:p>
          <a:p>
            <a:r>
              <a:rPr lang="en-US" sz="1200" b="1" i="0" kern="1200" dirty="0" err="1">
                <a:solidFill>
                  <a:schemeClr val="tx1"/>
                </a:solidFill>
                <a:effectLst/>
                <a:latin typeface="+mn-lt"/>
                <a:ea typeface="+mn-ea"/>
                <a:cs typeface="+mn-cs"/>
              </a:rPr>
              <a:t>DenyAllInbound</a:t>
            </a:r>
            <a:r>
              <a:rPr lang="en-US" sz="1200" b="0" i="0" kern="1200" dirty="0">
                <a:solidFill>
                  <a:schemeClr val="tx1"/>
                </a:solidFill>
                <a:effectLst/>
                <a:latin typeface="+mn-lt"/>
                <a:ea typeface="+mn-ea"/>
                <a:cs typeface="+mn-cs"/>
              </a:rPr>
              <a:t>: This is a default rule that blocks all other inbound traffic not explicitly allowed.</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By using ASGs, we can assign VMs to logical groups like </a:t>
            </a:r>
            <a:r>
              <a:rPr lang="en-US" sz="1200" b="0" i="0" kern="1200" dirty="0" err="1">
                <a:solidFill>
                  <a:schemeClr val="tx1"/>
                </a:solidFill>
                <a:effectLst/>
                <a:latin typeface="+mn-lt"/>
                <a:ea typeface="+mn-ea"/>
                <a:cs typeface="+mn-cs"/>
              </a:rPr>
              <a:t>WebServers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AppServers</a:t>
            </a:r>
            <a:r>
              <a:rPr lang="en-US" sz="1200" b="0" i="0" kern="1200" dirty="0">
                <a:solidFill>
                  <a:schemeClr val="tx1"/>
                </a:solidFill>
                <a:effectLst/>
                <a:latin typeface="+mn-lt"/>
                <a:ea typeface="+mn-ea"/>
                <a:cs typeface="+mn-cs"/>
              </a:rPr>
              <a:t>, and </a:t>
            </a:r>
            <a:r>
              <a:rPr lang="en-US" sz="1200" b="0" i="0" kern="1200" dirty="0" err="1">
                <a:solidFill>
                  <a:schemeClr val="tx1"/>
                </a:solidFill>
                <a:effectLst/>
                <a:latin typeface="+mn-lt"/>
                <a:ea typeface="+mn-ea"/>
                <a:cs typeface="+mn-cs"/>
              </a:rPr>
              <a:t>DbServers</a:t>
            </a:r>
            <a:r>
              <a:rPr lang="en-US" sz="1200" b="0" i="0" kern="1200" dirty="0">
                <a:solidFill>
                  <a:schemeClr val="tx1"/>
                </a:solidFill>
                <a:effectLst/>
                <a:latin typeface="+mn-lt"/>
                <a:ea typeface="+mn-ea"/>
                <a:cs typeface="+mn-cs"/>
              </a:rPr>
              <a:t>. This makes our NSG rules more readable and scalable, especially in dynamic environments where IP addresses change frequently.</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setup enforces a </a:t>
            </a:r>
            <a:r>
              <a:rPr lang="en-US" sz="1200" b="1" i="0" kern="1200" dirty="0">
                <a:solidFill>
                  <a:schemeClr val="tx1"/>
                </a:solidFill>
                <a:effectLst/>
                <a:latin typeface="+mn-lt"/>
                <a:ea typeface="+mn-ea"/>
                <a:cs typeface="+mn-cs"/>
              </a:rPr>
              <a:t>zero-trust model</a:t>
            </a:r>
            <a:r>
              <a:rPr lang="en-US" sz="1200" b="0" i="0" kern="1200" dirty="0">
                <a:solidFill>
                  <a:schemeClr val="tx1"/>
                </a:solidFill>
                <a:effectLst/>
                <a:latin typeface="+mn-lt"/>
                <a:ea typeface="+mn-ea"/>
                <a:cs typeface="+mn-cs"/>
              </a:rPr>
              <a:t>, where each layer only communicates with the next layer as needed, minimizing the attack surface and improving overall security.</a:t>
            </a:r>
          </a:p>
          <a:p>
            <a:endParaRPr lang="en-US" dirty="0"/>
          </a:p>
        </p:txBody>
      </p:sp>
      <p:sp>
        <p:nvSpPr>
          <p:cNvPr id="4" name="Slide Number Placeholder 3"/>
          <p:cNvSpPr>
            <a:spLocks noGrp="1"/>
          </p:cNvSpPr>
          <p:nvPr>
            <p:ph type="sldNum" sz="quarter" idx="5"/>
          </p:nvPr>
        </p:nvSpPr>
        <p:spPr/>
        <p:txBody>
          <a:bodyPr/>
          <a:lstStyle/>
          <a:p>
            <a:fld id="{DAC03921-7077-42B0-8C81-48C0A93EA22E}" type="slidenum">
              <a:rPr lang="en-US" smtClean="0"/>
              <a:t>17</a:t>
            </a:fld>
            <a:endParaRPr lang="en-US"/>
          </a:p>
        </p:txBody>
      </p:sp>
    </p:spTree>
    <p:extLst>
      <p:ext uri="{BB962C8B-B14F-4D97-AF65-F5344CB8AC3E}">
        <p14:creationId xmlns:p14="http://schemas.microsoft.com/office/powerpoint/2010/main" val="27198278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393C8-F2F8-7F3F-B11A-8A9D64C995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ACD23F-F025-AC7E-AD21-3AD765E1CF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558373-8ED0-BEE8-EE4F-A57C7AE7E7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0EB515-24E8-3A72-8982-A74B45ACAD68}"/>
              </a:ext>
            </a:extLst>
          </p:cNvPr>
          <p:cNvSpPr>
            <a:spLocks noGrp="1"/>
          </p:cNvSpPr>
          <p:nvPr>
            <p:ph type="sldNum" sz="quarter" idx="5"/>
          </p:nvPr>
        </p:nvSpPr>
        <p:spPr/>
        <p:txBody>
          <a:bodyPr/>
          <a:lstStyle/>
          <a:p>
            <a:fld id="{DAC03921-7077-42B0-8C81-48C0A93EA22E}" type="slidenum">
              <a:rPr lang="en-US" smtClean="0"/>
              <a:t>18</a:t>
            </a:fld>
            <a:endParaRPr lang="en-US"/>
          </a:p>
        </p:txBody>
      </p:sp>
    </p:spTree>
    <p:extLst>
      <p:ext uri="{BB962C8B-B14F-4D97-AF65-F5344CB8AC3E}">
        <p14:creationId xmlns:p14="http://schemas.microsoft.com/office/powerpoint/2010/main" val="35127198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315B4-D440-9BEB-A680-1FD3AEF099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E111F3-212D-93B9-1B54-4185ABE1DE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967DF5-697E-38CF-4628-DF4426AB4684}"/>
              </a:ext>
            </a:extLst>
          </p:cNvPr>
          <p:cNvSpPr>
            <a:spLocks noGrp="1"/>
          </p:cNvSpPr>
          <p:nvPr>
            <p:ph type="body" idx="1"/>
          </p:nvPr>
        </p:nvSpPr>
        <p:spPr/>
        <p:txBody>
          <a:bodyPr/>
          <a:lstStyle/>
          <a:p>
            <a:r>
              <a:rPr lang="en-US" dirty="0"/>
              <a:t>You can disable full connectivity by setting </a:t>
            </a:r>
            <a:r>
              <a:rPr lang="en-US" b="1" dirty="0"/>
              <a:t>“Block traffic to remote </a:t>
            </a:r>
            <a:r>
              <a:rPr lang="en-US" b="1" dirty="0" err="1"/>
              <a:t>VNet</a:t>
            </a:r>
            <a:r>
              <a:rPr lang="en-US" b="1" dirty="0"/>
              <a:t>”</a:t>
            </a:r>
            <a:r>
              <a:rPr lang="en-US" dirty="0"/>
              <a:t> on </a:t>
            </a:r>
            <a:r>
              <a:rPr lang="en-US" dirty="0" err="1"/>
              <a:t>WestEurope</a:t>
            </a:r>
            <a:r>
              <a:rPr lang="en-US" dirty="0"/>
              <a:t> peering, then selectively allow the DB subnet via NSG—minimal setup, no firewall required</a:t>
            </a:r>
          </a:p>
        </p:txBody>
      </p:sp>
      <p:sp>
        <p:nvSpPr>
          <p:cNvPr id="4" name="Slide Number Placeholder 3">
            <a:extLst>
              <a:ext uri="{FF2B5EF4-FFF2-40B4-BE49-F238E27FC236}">
                <a16:creationId xmlns:a16="http://schemas.microsoft.com/office/drawing/2014/main" id="{46EDCD7B-4F1D-9424-5060-AC75C5DCA5CD}"/>
              </a:ext>
            </a:extLst>
          </p:cNvPr>
          <p:cNvSpPr>
            <a:spLocks noGrp="1"/>
          </p:cNvSpPr>
          <p:nvPr>
            <p:ph type="sldNum" sz="quarter" idx="5"/>
          </p:nvPr>
        </p:nvSpPr>
        <p:spPr/>
        <p:txBody>
          <a:bodyPr/>
          <a:lstStyle/>
          <a:p>
            <a:fld id="{DAC03921-7077-42B0-8C81-48C0A93EA22E}" type="slidenum">
              <a:rPr lang="en-US" smtClean="0"/>
              <a:t>19</a:t>
            </a:fld>
            <a:endParaRPr lang="en-US"/>
          </a:p>
        </p:txBody>
      </p:sp>
    </p:spTree>
    <p:extLst>
      <p:ext uri="{BB962C8B-B14F-4D97-AF65-F5344CB8AC3E}">
        <p14:creationId xmlns:p14="http://schemas.microsoft.com/office/powerpoint/2010/main" val="32478732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2A1E9-A8AA-3860-CD07-1D7C2052F9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7DD87E3-668A-796F-144C-6F56ED9EFA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DDFA11F-A0D3-1D03-A5E3-41D78F89F9D9}"/>
              </a:ext>
            </a:extLst>
          </p:cNvPr>
          <p:cNvSpPr>
            <a:spLocks noGrp="1"/>
          </p:cNvSpPr>
          <p:nvPr>
            <p:ph type="dt" sz="half" idx="10"/>
          </p:nvPr>
        </p:nvSpPr>
        <p:spPr/>
        <p:txBody>
          <a:bodyPr/>
          <a:lstStyle/>
          <a:p>
            <a:fld id="{07F7C1C5-2B25-475A-8FFD-378930511B3E}" type="datetimeFigureOut">
              <a:rPr lang="en-US" smtClean="0"/>
              <a:t>8/6/2025</a:t>
            </a:fld>
            <a:endParaRPr lang="en-US"/>
          </a:p>
        </p:txBody>
      </p:sp>
      <p:sp>
        <p:nvSpPr>
          <p:cNvPr id="5" name="Footer Placeholder 4">
            <a:extLst>
              <a:ext uri="{FF2B5EF4-FFF2-40B4-BE49-F238E27FC236}">
                <a16:creationId xmlns:a16="http://schemas.microsoft.com/office/drawing/2014/main" id="{88475E71-108A-4D92-CC95-BAE2B90858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80EC0B-1C13-EEC5-8528-0A7793226F3E}"/>
              </a:ext>
            </a:extLst>
          </p:cNvPr>
          <p:cNvSpPr>
            <a:spLocks noGrp="1"/>
          </p:cNvSpPr>
          <p:nvPr>
            <p:ph type="sldNum" sz="quarter" idx="12"/>
          </p:nvPr>
        </p:nvSpPr>
        <p:spPr/>
        <p:txBody>
          <a:bodyPr/>
          <a:lstStyle/>
          <a:p>
            <a:fld id="{6EAEDD4E-A360-415A-BD24-1532F9C934D0}" type="slidenum">
              <a:rPr lang="en-US" smtClean="0"/>
              <a:t>‹#›</a:t>
            </a:fld>
            <a:endParaRPr lang="en-US"/>
          </a:p>
        </p:txBody>
      </p:sp>
    </p:spTree>
    <p:extLst>
      <p:ext uri="{BB962C8B-B14F-4D97-AF65-F5344CB8AC3E}">
        <p14:creationId xmlns:p14="http://schemas.microsoft.com/office/powerpoint/2010/main" val="2903513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9C739-C60E-3E75-06E6-EA89534B25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5A12E80-B5A7-B890-6C54-11D994F469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FEFD7E-807A-BB92-00C8-2B66E396DF9A}"/>
              </a:ext>
            </a:extLst>
          </p:cNvPr>
          <p:cNvSpPr>
            <a:spLocks noGrp="1"/>
          </p:cNvSpPr>
          <p:nvPr>
            <p:ph type="dt" sz="half" idx="10"/>
          </p:nvPr>
        </p:nvSpPr>
        <p:spPr/>
        <p:txBody>
          <a:bodyPr/>
          <a:lstStyle/>
          <a:p>
            <a:fld id="{07F7C1C5-2B25-475A-8FFD-378930511B3E}" type="datetimeFigureOut">
              <a:rPr lang="en-US" smtClean="0"/>
              <a:t>8/6/2025</a:t>
            </a:fld>
            <a:endParaRPr lang="en-US"/>
          </a:p>
        </p:txBody>
      </p:sp>
      <p:sp>
        <p:nvSpPr>
          <p:cNvPr id="5" name="Footer Placeholder 4">
            <a:extLst>
              <a:ext uri="{FF2B5EF4-FFF2-40B4-BE49-F238E27FC236}">
                <a16:creationId xmlns:a16="http://schemas.microsoft.com/office/drawing/2014/main" id="{536FF171-0FA3-E048-6A3B-D2824FC16B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17481C-2396-6BC8-3F4F-3842E927F32C}"/>
              </a:ext>
            </a:extLst>
          </p:cNvPr>
          <p:cNvSpPr>
            <a:spLocks noGrp="1"/>
          </p:cNvSpPr>
          <p:nvPr>
            <p:ph type="sldNum" sz="quarter" idx="12"/>
          </p:nvPr>
        </p:nvSpPr>
        <p:spPr/>
        <p:txBody>
          <a:bodyPr/>
          <a:lstStyle/>
          <a:p>
            <a:fld id="{6EAEDD4E-A360-415A-BD24-1532F9C934D0}" type="slidenum">
              <a:rPr lang="en-US" smtClean="0"/>
              <a:t>‹#›</a:t>
            </a:fld>
            <a:endParaRPr lang="en-US"/>
          </a:p>
        </p:txBody>
      </p:sp>
    </p:spTree>
    <p:extLst>
      <p:ext uri="{BB962C8B-B14F-4D97-AF65-F5344CB8AC3E}">
        <p14:creationId xmlns:p14="http://schemas.microsoft.com/office/powerpoint/2010/main" val="28660822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A0E7E-5C67-86A2-F94C-0AEC36EA1B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4179D8-E1B1-F13E-C785-DABE4700381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A383DF-2492-4C7F-41AE-41427048516B}"/>
              </a:ext>
            </a:extLst>
          </p:cNvPr>
          <p:cNvSpPr>
            <a:spLocks noGrp="1"/>
          </p:cNvSpPr>
          <p:nvPr>
            <p:ph type="dt" sz="half" idx="10"/>
          </p:nvPr>
        </p:nvSpPr>
        <p:spPr/>
        <p:txBody>
          <a:bodyPr/>
          <a:lstStyle/>
          <a:p>
            <a:fld id="{07F7C1C5-2B25-475A-8FFD-378930511B3E}" type="datetimeFigureOut">
              <a:rPr lang="en-US" smtClean="0"/>
              <a:t>8/6/2025</a:t>
            </a:fld>
            <a:endParaRPr lang="en-US"/>
          </a:p>
        </p:txBody>
      </p:sp>
      <p:sp>
        <p:nvSpPr>
          <p:cNvPr id="5" name="Footer Placeholder 4">
            <a:extLst>
              <a:ext uri="{FF2B5EF4-FFF2-40B4-BE49-F238E27FC236}">
                <a16:creationId xmlns:a16="http://schemas.microsoft.com/office/drawing/2014/main" id="{AE043BB2-4D6A-9160-E887-AC6629AAC6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21B46F-CBB3-13B6-A260-676A6C771857}"/>
              </a:ext>
            </a:extLst>
          </p:cNvPr>
          <p:cNvSpPr>
            <a:spLocks noGrp="1"/>
          </p:cNvSpPr>
          <p:nvPr>
            <p:ph type="sldNum" sz="quarter" idx="12"/>
          </p:nvPr>
        </p:nvSpPr>
        <p:spPr/>
        <p:txBody>
          <a:bodyPr/>
          <a:lstStyle/>
          <a:p>
            <a:fld id="{6EAEDD4E-A360-415A-BD24-1532F9C934D0}" type="slidenum">
              <a:rPr lang="en-US" smtClean="0"/>
              <a:t>‹#›</a:t>
            </a:fld>
            <a:endParaRPr lang="en-US"/>
          </a:p>
        </p:txBody>
      </p:sp>
    </p:spTree>
    <p:extLst>
      <p:ext uri="{BB962C8B-B14F-4D97-AF65-F5344CB8AC3E}">
        <p14:creationId xmlns:p14="http://schemas.microsoft.com/office/powerpoint/2010/main" val="758633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31FD0-EA11-49FF-653E-9F061021B1A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BF0F0E-964D-4D89-1493-535D8DA70B1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711CB3C-4651-E9CB-9BF2-6A745FDC1BA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075D31-0B42-9837-5C9A-0A66618DDF07}"/>
              </a:ext>
            </a:extLst>
          </p:cNvPr>
          <p:cNvSpPr>
            <a:spLocks noGrp="1"/>
          </p:cNvSpPr>
          <p:nvPr>
            <p:ph type="dt" sz="half" idx="10"/>
          </p:nvPr>
        </p:nvSpPr>
        <p:spPr/>
        <p:txBody>
          <a:bodyPr/>
          <a:lstStyle/>
          <a:p>
            <a:fld id="{07F7C1C5-2B25-475A-8FFD-378930511B3E}" type="datetimeFigureOut">
              <a:rPr lang="en-US" smtClean="0"/>
              <a:t>8/6/2025</a:t>
            </a:fld>
            <a:endParaRPr lang="en-US"/>
          </a:p>
        </p:txBody>
      </p:sp>
      <p:sp>
        <p:nvSpPr>
          <p:cNvPr id="6" name="Footer Placeholder 5">
            <a:extLst>
              <a:ext uri="{FF2B5EF4-FFF2-40B4-BE49-F238E27FC236}">
                <a16:creationId xmlns:a16="http://schemas.microsoft.com/office/drawing/2014/main" id="{872ECD61-FD66-A8AC-81B4-4738F41701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3D4A6D-625F-D9D3-FEDD-2D301EC61B41}"/>
              </a:ext>
            </a:extLst>
          </p:cNvPr>
          <p:cNvSpPr>
            <a:spLocks noGrp="1"/>
          </p:cNvSpPr>
          <p:nvPr>
            <p:ph type="sldNum" sz="quarter" idx="12"/>
          </p:nvPr>
        </p:nvSpPr>
        <p:spPr/>
        <p:txBody>
          <a:bodyPr/>
          <a:lstStyle/>
          <a:p>
            <a:fld id="{6EAEDD4E-A360-415A-BD24-1532F9C934D0}" type="slidenum">
              <a:rPr lang="en-US" smtClean="0"/>
              <a:t>‹#›</a:t>
            </a:fld>
            <a:endParaRPr lang="en-US"/>
          </a:p>
        </p:txBody>
      </p:sp>
    </p:spTree>
    <p:extLst>
      <p:ext uri="{BB962C8B-B14F-4D97-AF65-F5344CB8AC3E}">
        <p14:creationId xmlns:p14="http://schemas.microsoft.com/office/powerpoint/2010/main" val="43190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06DAA-681D-D25F-481B-67159F87DC3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7D58AF-85B8-F13A-F2EC-DBD160F9CC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9BD893-9F9D-44B9-9303-F5464A8A25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A4F7DB7-E549-A495-2F8D-0049C90528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FA4AA0-1CE0-CC17-4735-9F15FA36B25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4C86518-E65B-122F-6EB7-75CCE37CE4AC}"/>
              </a:ext>
            </a:extLst>
          </p:cNvPr>
          <p:cNvSpPr>
            <a:spLocks noGrp="1"/>
          </p:cNvSpPr>
          <p:nvPr>
            <p:ph type="dt" sz="half" idx="10"/>
          </p:nvPr>
        </p:nvSpPr>
        <p:spPr/>
        <p:txBody>
          <a:bodyPr/>
          <a:lstStyle/>
          <a:p>
            <a:fld id="{07F7C1C5-2B25-475A-8FFD-378930511B3E}" type="datetimeFigureOut">
              <a:rPr lang="en-US" smtClean="0"/>
              <a:t>8/6/2025</a:t>
            </a:fld>
            <a:endParaRPr lang="en-US"/>
          </a:p>
        </p:txBody>
      </p:sp>
      <p:sp>
        <p:nvSpPr>
          <p:cNvPr id="8" name="Footer Placeholder 7">
            <a:extLst>
              <a:ext uri="{FF2B5EF4-FFF2-40B4-BE49-F238E27FC236}">
                <a16:creationId xmlns:a16="http://schemas.microsoft.com/office/drawing/2014/main" id="{548E2AD4-70C5-1069-3F15-7B754CC2C6A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76DC05F-EF39-7D52-BDDB-4E0A559D17AE}"/>
              </a:ext>
            </a:extLst>
          </p:cNvPr>
          <p:cNvSpPr>
            <a:spLocks noGrp="1"/>
          </p:cNvSpPr>
          <p:nvPr>
            <p:ph type="sldNum" sz="quarter" idx="12"/>
          </p:nvPr>
        </p:nvSpPr>
        <p:spPr/>
        <p:txBody>
          <a:bodyPr/>
          <a:lstStyle/>
          <a:p>
            <a:fld id="{6EAEDD4E-A360-415A-BD24-1532F9C934D0}" type="slidenum">
              <a:rPr lang="en-US" smtClean="0"/>
              <a:t>‹#›</a:t>
            </a:fld>
            <a:endParaRPr lang="en-US"/>
          </a:p>
        </p:txBody>
      </p:sp>
    </p:spTree>
    <p:extLst>
      <p:ext uri="{BB962C8B-B14F-4D97-AF65-F5344CB8AC3E}">
        <p14:creationId xmlns:p14="http://schemas.microsoft.com/office/powerpoint/2010/main" val="4293867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93E42-741E-4D6A-18B3-ACC2B09206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F30EEB8-D6A4-BBB0-99A5-BC804F62E2FA}"/>
              </a:ext>
            </a:extLst>
          </p:cNvPr>
          <p:cNvSpPr>
            <a:spLocks noGrp="1"/>
          </p:cNvSpPr>
          <p:nvPr>
            <p:ph type="dt" sz="half" idx="10"/>
          </p:nvPr>
        </p:nvSpPr>
        <p:spPr/>
        <p:txBody>
          <a:bodyPr/>
          <a:lstStyle/>
          <a:p>
            <a:fld id="{07F7C1C5-2B25-475A-8FFD-378930511B3E}" type="datetimeFigureOut">
              <a:rPr lang="en-US" smtClean="0"/>
              <a:t>8/6/2025</a:t>
            </a:fld>
            <a:endParaRPr lang="en-US"/>
          </a:p>
        </p:txBody>
      </p:sp>
      <p:sp>
        <p:nvSpPr>
          <p:cNvPr id="4" name="Footer Placeholder 3">
            <a:extLst>
              <a:ext uri="{FF2B5EF4-FFF2-40B4-BE49-F238E27FC236}">
                <a16:creationId xmlns:a16="http://schemas.microsoft.com/office/drawing/2014/main" id="{224A5090-A45F-2CC4-6CA5-27BEE5AA456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E4C30FD-C592-5040-9F44-D02B86BD5C60}"/>
              </a:ext>
            </a:extLst>
          </p:cNvPr>
          <p:cNvSpPr>
            <a:spLocks noGrp="1"/>
          </p:cNvSpPr>
          <p:nvPr>
            <p:ph type="sldNum" sz="quarter" idx="12"/>
          </p:nvPr>
        </p:nvSpPr>
        <p:spPr/>
        <p:txBody>
          <a:bodyPr/>
          <a:lstStyle/>
          <a:p>
            <a:fld id="{6EAEDD4E-A360-415A-BD24-1532F9C934D0}" type="slidenum">
              <a:rPr lang="en-US" smtClean="0"/>
              <a:t>‹#›</a:t>
            </a:fld>
            <a:endParaRPr lang="en-US"/>
          </a:p>
        </p:txBody>
      </p:sp>
    </p:spTree>
    <p:extLst>
      <p:ext uri="{BB962C8B-B14F-4D97-AF65-F5344CB8AC3E}">
        <p14:creationId xmlns:p14="http://schemas.microsoft.com/office/powerpoint/2010/main" val="17179369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7A2CE4-EAA6-9B97-98C8-A70239771AE9}"/>
              </a:ext>
            </a:extLst>
          </p:cNvPr>
          <p:cNvSpPr>
            <a:spLocks noGrp="1"/>
          </p:cNvSpPr>
          <p:nvPr>
            <p:ph type="dt" sz="half" idx="10"/>
          </p:nvPr>
        </p:nvSpPr>
        <p:spPr/>
        <p:txBody>
          <a:bodyPr/>
          <a:lstStyle/>
          <a:p>
            <a:fld id="{07F7C1C5-2B25-475A-8FFD-378930511B3E}" type="datetimeFigureOut">
              <a:rPr lang="en-US" smtClean="0"/>
              <a:t>8/6/2025</a:t>
            </a:fld>
            <a:endParaRPr lang="en-US"/>
          </a:p>
        </p:txBody>
      </p:sp>
      <p:sp>
        <p:nvSpPr>
          <p:cNvPr id="3" name="Footer Placeholder 2">
            <a:extLst>
              <a:ext uri="{FF2B5EF4-FFF2-40B4-BE49-F238E27FC236}">
                <a16:creationId xmlns:a16="http://schemas.microsoft.com/office/drawing/2014/main" id="{B8C70285-33B1-D196-749B-31DDC979BBF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3D3E1CB-8CB0-BBC2-8739-D9D30A6ABE54}"/>
              </a:ext>
            </a:extLst>
          </p:cNvPr>
          <p:cNvSpPr>
            <a:spLocks noGrp="1"/>
          </p:cNvSpPr>
          <p:nvPr>
            <p:ph type="sldNum" sz="quarter" idx="12"/>
          </p:nvPr>
        </p:nvSpPr>
        <p:spPr/>
        <p:txBody>
          <a:bodyPr/>
          <a:lstStyle/>
          <a:p>
            <a:fld id="{6EAEDD4E-A360-415A-BD24-1532F9C934D0}" type="slidenum">
              <a:rPr lang="en-US" smtClean="0"/>
              <a:t>‹#›</a:t>
            </a:fld>
            <a:endParaRPr lang="en-US"/>
          </a:p>
        </p:txBody>
      </p:sp>
    </p:spTree>
    <p:extLst>
      <p:ext uri="{BB962C8B-B14F-4D97-AF65-F5344CB8AC3E}">
        <p14:creationId xmlns:p14="http://schemas.microsoft.com/office/powerpoint/2010/main" val="3176367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16D09-73FB-8CBB-D2A3-A5F8A0E47A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7199165-DD0C-114F-ED3C-28A7A9E973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BBF4D51-C00E-C5D4-C230-046843913E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99B66A-7C58-E384-3B5F-9534418BD3E3}"/>
              </a:ext>
            </a:extLst>
          </p:cNvPr>
          <p:cNvSpPr>
            <a:spLocks noGrp="1"/>
          </p:cNvSpPr>
          <p:nvPr>
            <p:ph type="dt" sz="half" idx="10"/>
          </p:nvPr>
        </p:nvSpPr>
        <p:spPr/>
        <p:txBody>
          <a:bodyPr/>
          <a:lstStyle/>
          <a:p>
            <a:fld id="{07F7C1C5-2B25-475A-8FFD-378930511B3E}" type="datetimeFigureOut">
              <a:rPr lang="en-US" smtClean="0"/>
              <a:t>8/6/2025</a:t>
            </a:fld>
            <a:endParaRPr lang="en-US"/>
          </a:p>
        </p:txBody>
      </p:sp>
      <p:sp>
        <p:nvSpPr>
          <p:cNvPr id="6" name="Footer Placeholder 5">
            <a:extLst>
              <a:ext uri="{FF2B5EF4-FFF2-40B4-BE49-F238E27FC236}">
                <a16:creationId xmlns:a16="http://schemas.microsoft.com/office/drawing/2014/main" id="{348A507C-2B1D-9691-F387-68DCBC492E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709F08-FFAA-AAAD-0C4F-0CBEE27A4E35}"/>
              </a:ext>
            </a:extLst>
          </p:cNvPr>
          <p:cNvSpPr>
            <a:spLocks noGrp="1"/>
          </p:cNvSpPr>
          <p:nvPr>
            <p:ph type="sldNum" sz="quarter" idx="12"/>
          </p:nvPr>
        </p:nvSpPr>
        <p:spPr/>
        <p:txBody>
          <a:bodyPr/>
          <a:lstStyle/>
          <a:p>
            <a:fld id="{6EAEDD4E-A360-415A-BD24-1532F9C934D0}" type="slidenum">
              <a:rPr lang="en-US" smtClean="0"/>
              <a:t>‹#›</a:t>
            </a:fld>
            <a:endParaRPr lang="en-US"/>
          </a:p>
        </p:txBody>
      </p:sp>
    </p:spTree>
    <p:extLst>
      <p:ext uri="{BB962C8B-B14F-4D97-AF65-F5344CB8AC3E}">
        <p14:creationId xmlns:p14="http://schemas.microsoft.com/office/powerpoint/2010/main" val="22173777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7A684-A3A2-6FFD-3977-969535D42B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CC0130D-E79A-FE64-C83D-EC89BEDD08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19F21B9-5041-AC50-456E-37907CE5D8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577F6B-59D6-9265-904D-4553B27E5B28}"/>
              </a:ext>
            </a:extLst>
          </p:cNvPr>
          <p:cNvSpPr>
            <a:spLocks noGrp="1"/>
          </p:cNvSpPr>
          <p:nvPr>
            <p:ph type="dt" sz="half" idx="10"/>
          </p:nvPr>
        </p:nvSpPr>
        <p:spPr/>
        <p:txBody>
          <a:bodyPr/>
          <a:lstStyle/>
          <a:p>
            <a:fld id="{07F7C1C5-2B25-475A-8FFD-378930511B3E}" type="datetimeFigureOut">
              <a:rPr lang="en-US" smtClean="0"/>
              <a:t>8/6/2025</a:t>
            </a:fld>
            <a:endParaRPr lang="en-US"/>
          </a:p>
        </p:txBody>
      </p:sp>
      <p:sp>
        <p:nvSpPr>
          <p:cNvPr id="6" name="Footer Placeholder 5">
            <a:extLst>
              <a:ext uri="{FF2B5EF4-FFF2-40B4-BE49-F238E27FC236}">
                <a16:creationId xmlns:a16="http://schemas.microsoft.com/office/drawing/2014/main" id="{4A54E094-3637-2F6F-31EB-8613EB7FB3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E7CAB2-8653-C646-7A6D-5CF8641654E1}"/>
              </a:ext>
            </a:extLst>
          </p:cNvPr>
          <p:cNvSpPr>
            <a:spLocks noGrp="1"/>
          </p:cNvSpPr>
          <p:nvPr>
            <p:ph type="sldNum" sz="quarter" idx="12"/>
          </p:nvPr>
        </p:nvSpPr>
        <p:spPr/>
        <p:txBody>
          <a:bodyPr/>
          <a:lstStyle/>
          <a:p>
            <a:fld id="{6EAEDD4E-A360-415A-BD24-1532F9C934D0}" type="slidenum">
              <a:rPr lang="en-US" smtClean="0"/>
              <a:t>‹#›</a:t>
            </a:fld>
            <a:endParaRPr lang="en-US"/>
          </a:p>
        </p:txBody>
      </p:sp>
    </p:spTree>
    <p:extLst>
      <p:ext uri="{BB962C8B-B14F-4D97-AF65-F5344CB8AC3E}">
        <p14:creationId xmlns:p14="http://schemas.microsoft.com/office/powerpoint/2010/main" val="40070362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727E4-1FC4-B2E8-F973-C09556E917C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5FB15E4-E06F-4015-0BD9-FCD2D3AEF9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2BDF46-1A4E-6542-0366-EE9C9948B1FD}"/>
              </a:ext>
            </a:extLst>
          </p:cNvPr>
          <p:cNvSpPr>
            <a:spLocks noGrp="1"/>
          </p:cNvSpPr>
          <p:nvPr>
            <p:ph type="dt" sz="half" idx="10"/>
          </p:nvPr>
        </p:nvSpPr>
        <p:spPr/>
        <p:txBody>
          <a:bodyPr/>
          <a:lstStyle/>
          <a:p>
            <a:fld id="{07F7C1C5-2B25-475A-8FFD-378930511B3E}" type="datetimeFigureOut">
              <a:rPr lang="en-US" smtClean="0"/>
              <a:t>8/6/2025</a:t>
            </a:fld>
            <a:endParaRPr lang="en-US"/>
          </a:p>
        </p:txBody>
      </p:sp>
      <p:sp>
        <p:nvSpPr>
          <p:cNvPr id="5" name="Footer Placeholder 4">
            <a:extLst>
              <a:ext uri="{FF2B5EF4-FFF2-40B4-BE49-F238E27FC236}">
                <a16:creationId xmlns:a16="http://schemas.microsoft.com/office/drawing/2014/main" id="{23DF2226-C6DC-F038-7F38-C17217894A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1A631B-DC50-F506-5B18-93EDD937E5D4}"/>
              </a:ext>
            </a:extLst>
          </p:cNvPr>
          <p:cNvSpPr>
            <a:spLocks noGrp="1"/>
          </p:cNvSpPr>
          <p:nvPr>
            <p:ph type="sldNum" sz="quarter" idx="12"/>
          </p:nvPr>
        </p:nvSpPr>
        <p:spPr/>
        <p:txBody>
          <a:bodyPr/>
          <a:lstStyle/>
          <a:p>
            <a:fld id="{6EAEDD4E-A360-415A-BD24-1532F9C934D0}" type="slidenum">
              <a:rPr lang="en-US" smtClean="0"/>
              <a:t>‹#›</a:t>
            </a:fld>
            <a:endParaRPr lang="en-US"/>
          </a:p>
        </p:txBody>
      </p:sp>
    </p:spTree>
    <p:extLst>
      <p:ext uri="{BB962C8B-B14F-4D97-AF65-F5344CB8AC3E}">
        <p14:creationId xmlns:p14="http://schemas.microsoft.com/office/powerpoint/2010/main" val="477599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105F01-5005-92FB-FE31-D140E72839E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5150FFA-7F39-84DC-2D42-58998DE5B7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AD50EE-A48F-2526-0746-3BA5EA8E9F14}"/>
              </a:ext>
            </a:extLst>
          </p:cNvPr>
          <p:cNvSpPr>
            <a:spLocks noGrp="1"/>
          </p:cNvSpPr>
          <p:nvPr>
            <p:ph type="dt" sz="half" idx="10"/>
          </p:nvPr>
        </p:nvSpPr>
        <p:spPr/>
        <p:txBody>
          <a:bodyPr/>
          <a:lstStyle/>
          <a:p>
            <a:fld id="{07F7C1C5-2B25-475A-8FFD-378930511B3E}" type="datetimeFigureOut">
              <a:rPr lang="en-US" smtClean="0"/>
              <a:t>8/6/2025</a:t>
            </a:fld>
            <a:endParaRPr lang="en-US"/>
          </a:p>
        </p:txBody>
      </p:sp>
      <p:sp>
        <p:nvSpPr>
          <p:cNvPr id="5" name="Footer Placeholder 4">
            <a:extLst>
              <a:ext uri="{FF2B5EF4-FFF2-40B4-BE49-F238E27FC236}">
                <a16:creationId xmlns:a16="http://schemas.microsoft.com/office/drawing/2014/main" id="{E3FD16EB-9688-29B1-070E-F02F8CA472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CFC3DB-1AB4-58A6-07C6-A6D984281802}"/>
              </a:ext>
            </a:extLst>
          </p:cNvPr>
          <p:cNvSpPr>
            <a:spLocks noGrp="1"/>
          </p:cNvSpPr>
          <p:nvPr>
            <p:ph type="sldNum" sz="quarter" idx="12"/>
          </p:nvPr>
        </p:nvSpPr>
        <p:spPr/>
        <p:txBody>
          <a:bodyPr/>
          <a:lstStyle/>
          <a:p>
            <a:fld id="{6EAEDD4E-A360-415A-BD24-1532F9C934D0}" type="slidenum">
              <a:rPr lang="en-US" smtClean="0"/>
              <a:t>‹#›</a:t>
            </a:fld>
            <a:endParaRPr lang="en-US"/>
          </a:p>
        </p:txBody>
      </p:sp>
    </p:spTree>
    <p:extLst>
      <p:ext uri="{BB962C8B-B14F-4D97-AF65-F5344CB8AC3E}">
        <p14:creationId xmlns:p14="http://schemas.microsoft.com/office/powerpoint/2010/main" val="4055085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6AF518-45B1-BF92-84F9-E5611079D2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C4F6CA0-997E-1531-296D-F763878B39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1C2A68-9ABE-2D7E-B580-B4EF7173C6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7F7C1C5-2B25-475A-8FFD-378930511B3E}" type="datetimeFigureOut">
              <a:rPr lang="en-US" smtClean="0"/>
              <a:t>8/6/2025</a:t>
            </a:fld>
            <a:endParaRPr lang="en-US"/>
          </a:p>
        </p:txBody>
      </p:sp>
      <p:sp>
        <p:nvSpPr>
          <p:cNvPr id="5" name="Footer Placeholder 4">
            <a:extLst>
              <a:ext uri="{FF2B5EF4-FFF2-40B4-BE49-F238E27FC236}">
                <a16:creationId xmlns:a16="http://schemas.microsoft.com/office/drawing/2014/main" id="{C0ADA864-63D4-452C-AD02-01544A062A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C5034E6-3652-E2AF-4BAF-35215F3E01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AEDD4E-A360-415A-BD24-1532F9C934D0}" type="slidenum">
              <a:rPr lang="en-US" smtClean="0"/>
              <a:t>‹#›</a:t>
            </a:fld>
            <a:endParaRPr lang="en-US"/>
          </a:p>
        </p:txBody>
      </p:sp>
    </p:spTree>
    <p:extLst>
      <p:ext uri="{BB962C8B-B14F-4D97-AF65-F5344CB8AC3E}">
        <p14:creationId xmlns:p14="http://schemas.microsoft.com/office/powerpoint/2010/main" val="22196036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jpg"/><Relationship Id="rId7" Type="http://schemas.openxmlformats.org/officeDocument/2006/relationships/image" Target="../media/image5.jpg"/><Relationship Id="rId12" Type="http://schemas.openxmlformats.org/officeDocument/2006/relationships/image" Target="../media/image10.jp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jpg"/><Relationship Id="rId11" Type="http://schemas.openxmlformats.org/officeDocument/2006/relationships/image" Target="../media/image9.jpg"/><Relationship Id="rId5" Type="http://schemas.openxmlformats.org/officeDocument/2006/relationships/image" Target="../media/image3.jpg"/><Relationship Id="rId10" Type="http://schemas.openxmlformats.org/officeDocument/2006/relationships/image" Target="../media/image8.jpg"/><Relationship Id="rId4" Type="http://schemas.openxmlformats.org/officeDocument/2006/relationships/image" Target="../media/image2.jpg"/><Relationship Id="rId9" Type="http://schemas.openxmlformats.org/officeDocument/2006/relationships/image" Target="../media/image7.jpg"/></Relationships>
</file>

<file path=ppt/slides/_rels/slide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7.jpg"/></Relationships>
</file>

<file path=ppt/slides/_rels/slide1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7.jpg"/></Relationships>
</file>

<file path=ppt/slides/_rels/slide1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3" Type="http://schemas.openxmlformats.org/officeDocument/2006/relationships/image" Target="../media/image29.jpg"/><Relationship Id="rId18" Type="http://schemas.openxmlformats.org/officeDocument/2006/relationships/image" Target="../media/image34.jpg"/><Relationship Id="rId26" Type="http://schemas.openxmlformats.org/officeDocument/2006/relationships/image" Target="../media/image42.jpg"/><Relationship Id="rId39" Type="http://schemas.openxmlformats.org/officeDocument/2006/relationships/image" Target="../media/image55.jpg"/><Relationship Id="rId21" Type="http://schemas.openxmlformats.org/officeDocument/2006/relationships/image" Target="../media/image37.jpg"/><Relationship Id="rId34" Type="http://schemas.openxmlformats.org/officeDocument/2006/relationships/image" Target="../media/image50.jpg"/><Relationship Id="rId42" Type="http://schemas.openxmlformats.org/officeDocument/2006/relationships/image" Target="../media/image58.jpg"/><Relationship Id="rId47" Type="http://schemas.openxmlformats.org/officeDocument/2006/relationships/image" Target="../media/image63.jpg"/><Relationship Id="rId7" Type="http://schemas.openxmlformats.org/officeDocument/2006/relationships/image" Target="../media/image23.jpg"/><Relationship Id="rId2" Type="http://schemas.openxmlformats.org/officeDocument/2006/relationships/notesSlide" Target="../notesSlides/notesSlide14.xml"/><Relationship Id="rId16" Type="http://schemas.openxmlformats.org/officeDocument/2006/relationships/image" Target="../media/image32.jpg"/><Relationship Id="rId29" Type="http://schemas.openxmlformats.org/officeDocument/2006/relationships/image" Target="../media/image45.jpg"/><Relationship Id="rId1" Type="http://schemas.openxmlformats.org/officeDocument/2006/relationships/slideLayout" Target="../slideLayouts/slideLayout2.xml"/><Relationship Id="rId6" Type="http://schemas.openxmlformats.org/officeDocument/2006/relationships/image" Target="../media/image22.jpg"/><Relationship Id="rId11" Type="http://schemas.openxmlformats.org/officeDocument/2006/relationships/image" Target="../media/image27.jpg"/><Relationship Id="rId24" Type="http://schemas.openxmlformats.org/officeDocument/2006/relationships/image" Target="../media/image40.jpg"/><Relationship Id="rId32" Type="http://schemas.openxmlformats.org/officeDocument/2006/relationships/image" Target="../media/image48.jpg"/><Relationship Id="rId37" Type="http://schemas.openxmlformats.org/officeDocument/2006/relationships/image" Target="../media/image53.jpg"/><Relationship Id="rId40" Type="http://schemas.openxmlformats.org/officeDocument/2006/relationships/image" Target="../media/image56.jpg"/><Relationship Id="rId45" Type="http://schemas.openxmlformats.org/officeDocument/2006/relationships/image" Target="../media/image61.jpg"/><Relationship Id="rId5" Type="http://schemas.openxmlformats.org/officeDocument/2006/relationships/image" Target="../media/image21.jpg"/><Relationship Id="rId15" Type="http://schemas.openxmlformats.org/officeDocument/2006/relationships/image" Target="../media/image31.jpg"/><Relationship Id="rId23" Type="http://schemas.openxmlformats.org/officeDocument/2006/relationships/image" Target="../media/image39.jpg"/><Relationship Id="rId28" Type="http://schemas.openxmlformats.org/officeDocument/2006/relationships/image" Target="../media/image44.jpg"/><Relationship Id="rId36" Type="http://schemas.openxmlformats.org/officeDocument/2006/relationships/image" Target="../media/image52.jpg"/><Relationship Id="rId10" Type="http://schemas.openxmlformats.org/officeDocument/2006/relationships/image" Target="../media/image26.jpg"/><Relationship Id="rId19" Type="http://schemas.openxmlformats.org/officeDocument/2006/relationships/image" Target="../media/image35.jpg"/><Relationship Id="rId31" Type="http://schemas.openxmlformats.org/officeDocument/2006/relationships/image" Target="../media/image47.jpg"/><Relationship Id="rId44" Type="http://schemas.openxmlformats.org/officeDocument/2006/relationships/image" Target="../media/image60.jpg"/><Relationship Id="rId4" Type="http://schemas.openxmlformats.org/officeDocument/2006/relationships/image" Target="../media/image20.jpg"/><Relationship Id="rId9" Type="http://schemas.openxmlformats.org/officeDocument/2006/relationships/image" Target="../media/image25.jpg"/><Relationship Id="rId14" Type="http://schemas.openxmlformats.org/officeDocument/2006/relationships/image" Target="../media/image30.jpg"/><Relationship Id="rId22" Type="http://schemas.openxmlformats.org/officeDocument/2006/relationships/image" Target="../media/image38.jpg"/><Relationship Id="rId27" Type="http://schemas.openxmlformats.org/officeDocument/2006/relationships/image" Target="../media/image43.jpg"/><Relationship Id="rId30" Type="http://schemas.openxmlformats.org/officeDocument/2006/relationships/image" Target="../media/image46.jpg"/><Relationship Id="rId35" Type="http://schemas.openxmlformats.org/officeDocument/2006/relationships/image" Target="../media/image51.jpg"/><Relationship Id="rId43" Type="http://schemas.openxmlformats.org/officeDocument/2006/relationships/image" Target="../media/image59.jpg"/><Relationship Id="rId48" Type="http://schemas.openxmlformats.org/officeDocument/2006/relationships/image" Target="../media/image64.jpg"/><Relationship Id="rId8" Type="http://schemas.openxmlformats.org/officeDocument/2006/relationships/image" Target="../media/image24.jpg"/><Relationship Id="rId3" Type="http://schemas.openxmlformats.org/officeDocument/2006/relationships/image" Target="../media/image19.jpg"/><Relationship Id="rId12" Type="http://schemas.openxmlformats.org/officeDocument/2006/relationships/image" Target="../media/image28.jpg"/><Relationship Id="rId17" Type="http://schemas.openxmlformats.org/officeDocument/2006/relationships/image" Target="../media/image33.jpg"/><Relationship Id="rId25" Type="http://schemas.openxmlformats.org/officeDocument/2006/relationships/image" Target="../media/image41.jpg"/><Relationship Id="rId33" Type="http://schemas.openxmlformats.org/officeDocument/2006/relationships/image" Target="../media/image49.jpg"/><Relationship Id="rId38" Type="http://schemas.openxmlformats.org/officeDocument/2006/relationships/image" Target="../media/image54.jpg"/><Relationship Id="rId46" Type="http://schemas.openxmlformats.org/officeDocument/2006/relationships/image" Target="../media/image62.jpg"/><Relationship Id="rId20" Type="http://schemas.openxmlformats.org/officeDocument/2006/relationships/image" Target="../media/image36.jpg"/><Relationship Id="rId41" Type="http://schemas.openxmlformats.org/officeDocument/2006/relationships/image" Target="../media/image57.jpg"/></Relationships>
</file>

<file path=ppt/slides/_rels/slide1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6.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Title 1"/>
          <p:cNvSpPr txBox="1">
            <a:spLocks noGrp="1"/>
          </p:cNvSpPr>
          <p:nvPr>
            <p:ph type="title"/>
          </p:nvPr>
        </p:nvSpPr>
        <p:spPr>
          <a:xfrm>
            <a:off x="453190" y="231877"/>
            <a:ext cx="8013405" cy="729784"/>
          </a:xfrm>
          <a:prstGeom prst="rect">
            <a:avLst/>
          </a:prstGeom>
        </p:spPr>
        <p:txBody>
          <a:bodyPr/>
          <a:lstStyle>
            <a:lvl1pPr defTabSz="905255">
              <a:defRPr sz="3564" spc="-99"/>
            </a:lvl1pPr>
          </a:lstStyle>
          <a:p>
            <a:r>
              <a:rPr lang="en-US" b="1" dirty="0">
                <a:solidFill>
                  <a:schemeClr val="accent2"/>
                </a:solidFill>
                <a:latin typeface="+mn-lt"/>
              </a:rPr>
              <a:t>Azure Virtual networks (</a:t>
            </a:r>
            <a:r>
              <a:rPr lang="en-US" b="1" dirty="0" err="1">
                <a:solidFill>
                  <a:schemeClr val="accent2"/>
                </a:solidFill>
                <a:latin typeface="+mn-lt"/>
              </a:rPr>
              <a:t>Vnet</a:t>
            </a:r>
            <a:r>
              <a:rPr lang="en-US" b="1" dirty="0">
                <a:solidFill>
                  <a:schemeClr val="accent2"/>
                </a:solidFill>
                <a:latin typeface="+mn-lt"/>
              </a:rPr>
              <a:t>)</a:t>
            </a:r>
            <a:endParaRPr b="1" dirty="0">
              <a:solidFill>
                <a:schemeClr val="accent2"/>
              </a:solidFill>
              <a:latin typeface="+mn-lt"/>
            </a:endParaRPr>
          </a:p>
        </p:txBody>
      </p:sp>
      <p:sp>
        <p:nvSpPr>
          <p:cNvPr id="415" name="Slide Number Placeholder 4"/>
          <p:cNvSpPr txBox="1">
            <a:spLocks noGrp="1"/>
          </p:cNvSpPr>
          <p:nvPr>
            <p:ph type="sldNum" sz="quarter" idx="12"/>
          </p:nvPr>
        </p:nvSpPr>
        <p:spPr>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D1282E"/>
                </a:solidFill>
                <a:effectLst/>
                <a:uFillTx/>
                <a:latin typeface="Arial"/>
                <a:ea typeface="Arial"/>
                <a:cs typeface="Arial"/>
                <a:sym typeface="Arial"/>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n-US" smtClean="0"/>
              <a:pPr/>
              <a:t>1</a:t>
            </a:fld>
            <a:endParaRPr/>
          </a:p>
        </p:txBody>
      </p:sp>
      <p:sp>
        <p:nvSpPr>
          <p:cNvPr id="5" name="object 3">
            <a:extLst>
              <a:ext uri="{FF2B5EF4-FFF2-40B4-BE49-F238E27FC236}">
                <a16:creationId xmlns:a16="http://schemas.microsoft.com/office/drawing/2014/main" id="{C4730CAC-EF6F-524B-B5BE-40982E6F15C2}"/>
              </a:ext>
            </a:extLst>
          </p:cNvPr>
          <p:cNvSpPr txBox="1"/>
          <p:nvPr/>
        </p:nvSpPr>
        <p:spPr>
          <a:xfrm>
            <a:off x="609600" y="1193566"/>
            <a:ext cx="10112375" cy="1876411"/>
          </a:xfrm>
          <a:prstGeom prst="rect">
            <a:avLst/>
          </a:prstGeom>
        </p:spPr>
        <p:txBody>
          <a:bodyPr vert="horz" wrap="square" lIns="0" tIns="55880" rIns="0" bIns="0" rtlCol="0">
            <a:spAutoFit/>
          </a:bodyPr>
          <a:lstStyle/>
          <a:p>
            <a:pPr marL="12700" marR="5080">
              <a:lnSpc>
                <a:spcPct val="89800"/>
              </a:lnSpc>
              <a:spcBef>
                <a:spcPts val="440"/>
              </a:spcBef>
              <a:tabLst>
                <a:tab pos="241300" algn="l"/>
              </a:tabLst>
            </a:pPr>
            <a:r>
              <a:rPr lang="en-US" sz="2800" b="1" dirty="0">
                <a:ea typeface="Nirmala UI Semilight" panose="020B0402040204020203" pitchFamily="34" charset="0"/>
                <a:cs typeface="Nirmala UI Semilight" panose="020B0402040204020203" pitchFamily="34" charset="0"/>
              </a:rPr>
              <a:t>What is a </a:t>
            </a:r>
            <a:r>
              <a:rPr lang="en-US" sz="2800" b="1" dirty="0" err="1">
                <a:ea typeface="Nirmala UI Semilight" panose="020B0402040204020203" pitchFamily="34" charset="0"/>
                <a:cs typeface="Nirmala UI Semilight" panose="020B0402040204020203" pitchFamily="34" charset="0"/>
              </a:rPr>
              <a:t>VNet</a:t>
            </a:r>
            <a:r>
              <a:rPr lang="en-US" sz="2800" b="1" dirty="0">
                <a:ea typeface="Nirmala UI Semilight" panose="020B0402040204020203" pitchFamily="34" charset="0"/>
                <a:cs typeface="Nirmala UI Semilight" panose="020B0402040204020203" pitchFamily="34" charset="0"/>
              </a:rPr>
              <a:t>?</a:t>
            </a:r>
          </a:p>
          <a:p>
            <a:pPr marL="469900" marR="5080" indent="-457200">
              <a:lnSpc>
                <a:spcPct val="89800"/>
              </a:lnSpc>
              <a:spcBef>
                <a:spcPts val="440"/>
              </a:spcBef>
              <a:buFont typeface="Arial" panose="020B0604020202020204" pitchFamily="34" charset="0"/>
              <a:buChar char="•"/>
              <a:tabLst>
                <a:tab pos="241300" algn="l"/>
              </a:tabLst>
            </a:pPr>
            <a:r>
              <a:rPr lang="en-US" sz="2400" dirty="0">
                <a:ea typeface="Nirmala UI Semilight" panose="020B0402040204020203" pitchFamily="34" charset="0"/>
                <a:cs typeface="Nirmala UI Semilight" panose="020B0402040204020203" pitchFamily="34" charset="0"/>
              </a:rPr>
              <a:t>An Azure Virtual Network (</a:t>
            </a:r>
            <a:r>
              <a:rPr lang="en-US" sz="2400" dirty="0" err="1">
                <a:ea typeface="Nirmala UI Semilight" panose="020B0402040204020203" pitchFamily="34" charset="0"/>
                <a:cs typeface="Nirmala UI Semilight" panose="020B0402040204020203" pitchFamily="34" charset="0"/>
              </a:rPr>
              <a:t>VNet</a:t>
            </a:r>
            <a:r>
              <a:rPr lang="en-US" sz="2400" dirty="0">
                <a:ea typeface="Nirmala UI Semilight" panose="020B0402040204020203" pitchFamily="34" charset="0"/>
                <a:cs typeface="Nirmala UI Semilight" panose="020B0402040204020203" pitchFamily="34" charset="0"/>
              </a:rPr>
              <a:t>) is a representation of your own network—in the cloud.</a:t>
            </a:r>
          </a:p>
          <a:p>
            <a:pPr marL="469900" marR="5080" indent="-457200">
              <a:lnSpc>
                <a:spcPct val="89800"/>
              </a:lnSpc>
              <a:spcBef>
                <a:spcPts val="440"/>
              </a:spcBef>
              <a:buFont typeface="Arial" panose="020B0604020202020204" pitchFamily="34" charset="0"/>
              <a:buChar char="•"/>
              <a:tabLst>
                <a:tab pos="241300" algn="l"/>
              </a:tabLst>
            </a:pPr>
            <a:r>
              <a:rPr lang="en-US" sz="2400" dirty="0">
                <a:ea typeface="Nirmala UI Semilight" panose="020B0402040204020203" pitchFamily="34" charset="0"/>
                <a:cs typeface="Nirmala UI Semilight" panose="020B0402040204020203" pitchFamily="34" charset="0"/>
              </a:rPr>
              <a:t>It is a logically isolated segment of the Azure cloud that is dedicated to your subscription.</a:t>
            </a:r>
          </a:p>
        </p:txBody>
      </p:sp>
      <p:sp>
        <p:nvSpPr>
          <p:cNvPr id="4" name="object 3">
            <a:extLst>
              <a:ext uri="{FF2B5EF4-FFF2-40B4-BE49-F238E27FC236}">
                <a16:creationId xmlns:a16="http://schemas.microsoft.com/office/drawing/2014/main" id="{CEF10492-049D-2E18-C293-222AE9D5909C}"/>
              </a:ext>
            </a:extLst>
          </p:cNvPr>
          <p:cNvSpPr txBox="1"/>
          <p:nvPr/>
        </p:nvSpPr>
        <p:spPr>
          <a:xfrm>
            <a:off x="609600" y="3533788"/>
            <a:ext cx="10112375" cy="2592505"/>
          </a:xfrm>
          <a:prstGeom prst="rect">
            <a:avLst/>
          </a:prstGeom>
        </p:spPr>
        <p:txBody>
          <a:bodyPr vert="horz" wrap="square" lIns="0" tIns="55880" rIns="0" bIns="0" rtlCol="0">
            <a:spAutoFit/>
          </a:bodyPr>
          <a:lstStyle/>
          <a:p>
            <a:pPr marL="12700" marR="5080">
              <a:lnSpc>
                <a:spcPct val="89800"/>
              </a:lnSpc>
              <a:spcBef>
                <a:spcPts val="440"/>
              </a:spcBef>
              <a:tabLst>
                <a:tab pos="241300" algn="l"/>
              </a:tabLst>
            </a:pPr>
            <a:r>
              <a:rPr lang="en-US" sz="2800" b="1" dirty="0">
                <a:ea typeface="Nirmala UI Semilight" panose="020B0402040204020203" pitchFamily="34" charset="0"/>
                <a:cs typeface="Nirmala UI Semilight" panose="020B0402040204020203" pitchFamily="34" charset="0"/>
              </a:rPr>
              <a:t>Key Benefits</a:t>
            </a:r>
          </a:p>
          <a:p>
            <a:pPr marL="355600" marR="5080" indent="-342900">
              <a:lnSpc>
                <a:spcPct val="89800"/>
              </a:lnSpc>
              <a:spcBef>
                <a:spcPts val="440"/>
              </a:spcBef>
              <a:buFont typeface="Arial" panose="020B0604020202020204" pitchFamily="34" charset="0"/>
              <a:buChar char="•"/>
              <a:tabLst>
                <a:tab pos="241300" algn="l"/>
              </a:tabLst>
            </a:pPr>
            <a:r>
              <a:rPr lang="en-US" sz="2400" dirty="0">
                <a:ea typeface="Nirmala UI Semilight" panose="020B0402040204020203" pitchFamily="34" charset="0"/>
                <a:cs typeface="Nirmala UI Semilight" panose="020B0402040204020203" pitchFamily="34" charset="0"/>
              </a:rPr>
              <a:t>Enables secure communication between Azure resources (e.g., VMs, databases, containers).</a:t>
            </a:r>
          </a:p>
          <a:p>
            <a:pPr marL="355600" marR="5080" indent="-342900">
              <a:lnSpc>
                <a:spcPct val="89800"/>
              </a:lnSpc>
              <a:spcBef>
                <a:spcPts val="440"/>
              </a:spcBef>
              <a:buFont typeface="Arial" panose="020B0604020202020204" pitchFamily="34" charset="0"/>
              <a:buChar char="•"/>
              <a:tabLst>
                <a:tab pos="241300" algn="l"/>
              </a:tabLst>
            </a:pPr>
            <a:r>
              <a:rPr lang="en-US" sz="2400" dirty="0">
                <a:ea typeface="Nirmala UI Semilight" panose="020B0402040204020203" pitchFamily="34" charset="0"/>
                <a:cs typeface="Nirmala UI Semilight" panose="020B0402040204020203" pitchFamily="34" charset="0"/>
              </a:rPr>
              <a:t>Functions as a private network, not exposed to the public internet unless you explicitly configure access.</a:t>
            </a:r>
          </a:p>
          <a:p>
            <a:pPr marL="355600" marR="5080" indent="-342900">
              <a:lnSpc>
                <a:spcPct val="89800"/>
              </a:lnSpc>
              <a:spcBef>
                <a:spcPts val="440"/>
              </a:spcBef>
              <a:buFont typeface="Arial" panose="020B0604020202020204" pitchFamily="34" charset="0"/>
              <a:buChar char="•"/>
              <a:tabLst>
                <a:tab pos="241300" algn="l"/>
              </a:tabLst>
            </a:pPr>
            <a:r>
              <a:rPr lang="en-US" sz="2400" dirty="0">
                <a:ea typeface="Nirmala UI Semilight" panose="020B0402040204020203" pitchFamily="34" charset="0"/>
                <a:cs typeface="Nirmala UI Semilight" panose="020B0402040204020203" pitchFamily="34" charset="0"/>
              </a:rPr>
              <a:t>Supports features like subnets, network security groups (NSGs), routing, and peering for advanced configurations.</a:t>
            </a:r>
          </a:p>
        </p:txBody>
      </p:sp>
    </p:spTree>
    <p:extLst>
      <p:ext uri="{BB962C8B-B14F-4D97-AF65-F5344CB8AC3E}">
        <p14:creationId xmlns:p14="http://schemas.microsoft.com/office/powerpoint/2010/main" val="41473610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Title 1"/>
          <p:cNvSpPr txBox="1">
            <a:spLocks noGrp="1"/>
          </p:cNvSpPr>
          <p:nvPr>
            <p:ph type="title"/>
          </p:nvPr>
        </p:nvSpPr>
        <p:spPr>
          <a:prstGeom prst="rect">
            <a:avLst/>
          </a:prstGeom>
        </p:spPr>
        <p:txBody>
          <a:bodyPr/>
          <a:lstStyle>
            <a:lvl1pPr defTabSz="905255">
              <a:defRPr sz="3564" spc="-99"/>
            </a:lvl1pPr>
          </a:lstStyle>
          <a:p>
            <a:r>
              <a:rPr lang="en-US" dirty="0" err="1"/>
              <a:t>Vnet</a:t>
            </a:r>
            <a:r>
              <a:rPr lang="en-US" dirty="0"/>
              <a:t> diagrams</a:t>
            </a:r>
            <a:endParaRPr dirty="0"/>
          </a:p>
        </p:txBody>
      </p:sp>
      <p:sp>
        <p:nvSpPr>
          <p:cNvPr id="415" name="Slide Number Placeholder 4"/>
          <p:cNvSpPr txBox="1">
            <a:spLocks noGrp="1"/>
          </p:cNvSpPr>
          <p:nvPr>
            <p:ph type="sldNum" sz="quarter" idx="12"/>
          </p:nvPr>
        </p:nvSpPr>
        <p:spPr>
          <a:xfrm rot="16200000">
            <a:off x="11642121" y="5837228"/>
            <a:ext cx="409726" cy="4616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D1282E"/>
                </a:solidFill>
                <a:effectLst/>
                <a:uFillTx/>
                <a:latin typeface="Arial"/>
                <a:ea typeface="Arial"/>
                <a:cs typeface="Arial"/>
                <a:sym typeface="Arial"/>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n-US" smtClean="0">
                <a:latin typeface="Nirmala UI Semilight" panose="020B0402040204020203" pitchFamily="34" charset="0"/>
                <a:ea typeface="Nirmala UI Semilight" panose="020B0402040204020203" pitchFamily="34" charset="0"/>
                <a:cs typeface="Nirmala UI Semilight" panose="020B0402040204020203" pitchFamily="34" charset="0"/>
              </a:rPr>
              <a:pPr/>
              <a:t>2</a:t>
            </a:fld>
            <a:endParaRPr>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5" name="Path72">
            <a:extLst>
              <a:ext uri="{FF2B5EF4-FFF2-40B4-BE49-F238E27FC236}">
                <a16:creationId xmlns:a16="http://schemas.microsoft.com/office/drawing/2014/main" id="{4B30C7DB-C8AC-2145-9861-353091EE435D}"/>
              </a:ext>
            </a:extLst>
          </p:cNvPr>
          <p:cNvSpPr/>
          <p:nvPr/>
        </p:nvSpPr>
        <p:spPr>
          <a:xfrm>
            <a:off x="0" y="0"/>
            <a:ext cx="0" cy="0"/>
          </a:xfrm>
          <a:custGeom>
            <a:avLst/>
            <a:gdLst/>
            <a:ahLst/>
            <a:cxnLst/>
            <a:rect l="l" t="t" r="r" b="b"/>
            <a:pathLst>
              <a:path/>
            </a:pathLst>
          </a:custGeom>
          <a:solidFill/>
          <a:ln>
            <a:solidFill/>
            <a:prstDash/>
          </a:ln>
        </p:spPr>
        <p:txBody>
          <a:bodyPr rtlCol="0" anchor="ctr"/>
          <a:lstStyle/>
          <a:p>
            <a:pPr algn="ctr"/>
            <a:endParaRPr lang="en-US" altLang="zh-CN">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7" name="Path75">
            <a:extLst>
              <a:ext uri="{FF2B5EF4-FFF2-40B4-BE49-F238E27FC236}">
                <a16:creationId xmlns:a16="http://schemas.microsoft.com/office/drawing/2014/main" id="{ACC19B13-4FB7-6045-A41B-1E1A61709463}"/>
              </a:ext>
            </a:extLst>
          </p:cNvPr>
          <p:cNvSpPr/>
          <p:nvPr/>
        </p:nvSpPr>
        <p:spPr>
          <a:xfrm>
            <a:off x="776478" y="1562862"/>
            <a:ext cx="10846308" cy="4527804"/>
          </a:xfrm>
          <a:custGeom>
            <a:avLst/>
            <a:gdLst/>
            <a:ahLst/>
            <a:cxnLst/>
            <a:rect l="l" t="t" r="r" b="b"/>
            <a:pathLst>
              <a:path w="10846308" h="4527804">
                <a:moveTo>
                  <a:pt x="25908" y="4501896"/>
                </a:moveTo>
                <a:lnTo>
                  <a:pt x="10820400" y="4501896"/>
                </a:lnTo>
                <a:lnTo>
                  <a:pt x="10820400" y="25908"/>
                </a:lnTo>
                <a:lnTo>
                  <a:pt x="25908" y="25908"/>
                </a:lnTo>
                <a:lnTo>
                  <a:pt x="25908" y="4501896"/>
                </a:lnTo>
                <a:close/>
              </a:path>
            </a:pathLst>
          </a:custGeom>
          <a:solidFill>
            <a:srgbClr val="000000">
              <a:alpha val="0"/>
            </a:srgbClr>
          </a:solidFill>
          <a:ln w="25908" cap="sq">
            <a:solidFill>
              <a:srgbClr val="F05A28"/>
            </a:solidFill>
            <a:prstDash val="solid"/>
          </a:ln>
        </p:spPr>
        <p:txBody>
          <a:bodyPr rtlCol="0" anchor="ctr"/>
          <a:lstStyle/>
          <a:p>
            <a:pPr algn="ctr"/>
            <a:endParaRPr lang="en-US" altLang="zh-CN">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9" name="Path77">
            <a:extLst>
              <a:ext uri="{FF2B5EF4-FFF2-40B4-BE49-F238E27FC236}">
                <a16:creationId xmlns:a16="http://schemas.microsoft.com/office/drawing/2014/main" id="{ADE8DCDE-1D57-0C47-8424-F4BC41939FF6}"/>
              </a:ext>
            </a:extLst>
          </p:cNvPr>
          <p:cNvSpPr/>
          <p:nvPr/>
        </p:nvSpPr>
        <p:spPr>
          <a:xfrm>
            <a:off x="5026152" y="5832348"/>
            <a:ext cx="2139696" cy="461772"/>
          </a:xfrm>
          <a:custGeom>
            <a:avLst/>
            <a:gdLst/>
            <a:ahLst/>
            <a:cxnLst/>
            <a:rect l="l" t="t" r="r" b="b"/>
            <a:pathLst>
              <a:path w="2139696" h="461772">
                <a:moveTo>
                  <a:pt x="0" y="461772"/>
                </a:moveTo>
                <a:lnTo>
                  <a:pt x="2139696" y="461772"/>
                </a:lnTo>
                <a:lnTo>
                  <a:pt x="2139696" y="0"/>
                </a:lnTo>
                <a:lnTo>
                  <a:pt x="0" y="0"/>
                </a:lnTo>
                <a:lnTo>
                  <a:pt x="0" y="461772"/>
                </a:lnTo>
                <a:close/>
              </a:path>
            </a:pathLst>
          </a:custGeom>
          <a:solidFill>
            <a:srgbClr val="FFFFFF">
              <a:alpha val="100000"/>
            </a:srgbClr>
          </a:solidFill>
          <a:ln w="0" cap="sq">
            <a:solidFill>
              <a:srgbClr val="FFFFFF"/>
            </a:solidFill>
            <a:prstDash val="solid"/>
          </a:ln>
        </p:spPr>
        <p:txBody>
          <a:bodyPr rtlCol="0" anchor="ctr"/>
          <a:lstStyle/>
          <a:p>
            <a:pPr algn="ctr"/>
            <a:endParaRPr lang="en-US" altLang="zh-CN">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pic>
        <p:nvPicPr>
          <p:cNvPr id="10" name="Image78">
            <a:extLst>
              <a:ext uri="{FF2B5EF4-FFF2-40B4-BE49-F238E27FC236}">
                <a16:creationId xmlns:a16="http://schemas.microsoft.com/office/drawing/2014/main" id="{786AB69E-5569-8448-B186-A57657AED6A4}"/>
              </a:ext>
            </a:extLst>
          </p:cNvPr>
          <p:cNvPicPr>
            <a:picLocks noChangeAspect="1"/>
          </p:cNvPicPr>
          <p:nvPr/>
        </p:nvPicPr>
        <p:blipFill>
          <a:blip r:embed="rId3"/>
          <a:stretch>
            <a:fillRect/>
          </a:stretch>
        </p:blipFill>
        <p:spPr>
          <a:xfrm>
            <a:off x="5129530" y="5879897"/>
            <a:ext cx="2093849" cy="366065"/>
          </a:xfrm>
          <a:prstGeom prst="rect">
            <a:avLst/>
          </a:prstGeom>
          <a:noFill/>
        </p:spPr>
      </p:pic>
      <p:sp>
        <p:nvSpPr>
          <p:cNvPr id="11" name="Path79">
            <a:extLst>
              <a:ext uri="{FF2B5EF4-FFF2-40B4-BE49-F238E27FC236}">
                <a16:creationId xmlns:a16="http://schemas.microsoft.com/office/drawing/2014/main" id="{29DA515D-7DE4-614B-983E-A2ABC662D27E}"/>
              </a:ext>
            </a:extLst>
          </p:cNvPr>
          <p:cNvSpPr/>
          <p:nvPr/>
        </p:nvSpPr>
        <p:spPr>
          <a:xfrm>
            <a:off x="1105662" y="1805178"/>
            <a:ext cx="10187942" cy="3848100"/>
          </a:xfrm>
          <a:custGeom>
            <a:avLst/>
            <a:gdLst/>
            <a:ahLst/>
            <a:cxnLst/>
            <a:rect l="l" t="t" r="r" b="b"/>
            <a:pathLst>
              <a:path w="10187942" h="3848100">
                <a:moveTo>
                  <a:pt x="50292" y="3797808"/>
                </a:moveTo>
                <a:lnTo>
                  <a:pt x="10137650" y="3797808"/>
                </a:lnTo>
                <a:lnTo>
                  <a:pt x="10137650" y="50292"/>
                </a:lnTo>
                <a:lnTo>
                  <a:pt x="50292" y="50292"/>
                </a:lnTo>
                <a:lnTo>
                  <a:pt x="50292" y="3797808"/>
                </a:lnTo>
                <a:close/>
              </a:path>
            </a:pathLst>
          </a:custGeom>
          <a:solidFill>
            <a:srgbClr val="FFFFFF">
              <a:alpha val="0"/>
            </a:srgbClr>
          </a:solidFill>
          <a:ln w="30480" cap="sq">
            <a:solidFill>
              <a:srgbClr val="9BC850"/>
            </a:solidFill>
            <a:prstDash val="solid"/>
          </a:ln>
        </p:spPr>
        <p:txBody>
          <a:bodyPr rtlCol="0" anchor="ctr"/>
          <a:lstStyle/>
          <a:p>
            <a:pPr algn="ctr"/>
            <a:endParaRPr lang="en-US" altLang="zh-CN">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12" name="Path80">
            <a:extLst>
              <a:ext uri="{FF2B5EF4-FFF2-40B4-BE49-F238E27FC236}">
                <a16:creationId xmlns:a16="http://schemas.microsoft.com/office/drawing/2014/main" id="{121043B0-DD61-6640-81F3-94C7B5C1A658}"/>
              </a:ext>
            </a:extLst>
          </p:cNvPr>
          <p:cNvSpPr/>
          <p:nvPr/>
        </p:nvSpPr>
        <p:spPr>
          <a:xfrm>
            <a:off x="5457444" y="5355336"/>
            <a:ext cx="1277113" cy="461772"/>
          </a:xfrm>
          <a:custGeom>
            <a:avLst/>
            <a:gdLst/>
            <a:ahLst/>
            <a:cxnLst/>
            <a:rect l="l" t="t" r="r" b="b"/>
            <a:pathLst>
              <a:path w="1277113" h="461772">
                <a:moveTo>
                  <a:pt x="0" y="461772"/>
                </a:moveTo>
                <a:lnTo>
                  <a:pt x="1277112" y="461772"/>
                </a:lnTo>
                <a:lnTo>
                  <a:pt x="1277112" y="0"/>
                </a:lnTo>
                <a:lnTo>
                  <a:pt x="0" y="0"/>
                </a:lnTo>
                <a:lnTo>
                  <a:pt x="0" y="461772"/>
                </a:lnTo>
                <a:close/>
              </a:path>
            </a:pathLst>
          </a:custGeom>
          <a:solidFill>
            <a:srgbClr val="FFFFFF">
              <a:alpha val="100000"/>
            </a:srgbClr>
          </a:solidFill>
          <a:ln w="0" cap="sq">
            <a:solidFill>
              <a:srgbClr val="FFFFFF"/>
            </a:solidFill>
            <a:prstDash val="solid"/>
          </a:ln>
        </p:spPr>
        <p:txBody>
          <a:bodyPr rtlCol="0" anchor="ctr"/>
          <a:lstStyle/>
          <a:p>
            <a:pPr algn="ctr"/>
            <a:endParaRPr lang="en-US" altLang="zh-CN">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pic>
        <p:nvPicPr>
          <p:cNvPr id="13" name="Image81">
            <a:extLst>
              <a:ext uri="{FF2B5EF4-FFF2-40B4-BE49-F238E27FC236}">
                <a16:creationId xmlns:a16="http://schemas.microsoft.com/office/drawing/2014/main" id="{C845C418-6E8E-E141-ABD9-D962E3A942FE}"/>
              </a:ext>
            </a:extLst>
          </p:cNvPr>
          <p:cNvPicPr>
            <a:picLocks noChangeAspect="1"/>
          </p:cNvPicPr>
          <p:nvPr/>
        </p:nvPicPr>
        <p:blipFill>
          <a:blip r:embed="rId4"/>
          <a:stretch>
            <a:fillRect/>
          </a:stretch>
        </p:blipFill>
        <p:spPr>
          <a:xfrm>
            <a:off x="5555869" y="5401971"/>
            <a:ext cx="1262736" cy="365759"/>
          </a:xfrm>
          <a:prstGeom prst="rect">
            <a:avLst/>
          </a:prstGeom>
          <a:noFill/>
        </p:spPr>
      </p:pic>
      <p:sp>
        <p:nvSpPr>
          <p:cNvPr id="14" name="Path82">
            <a:extLst>
              <a:ext uri="{FF2B5EF4-FFF2-40B4-BE49-F238E27FC236}">
                <a16:creationId xmlns:a16="http://schemas.microsoft.com/office/drawing/2014/main" id="{D5CFD647-842E-CC44-B786-2BDCC9C48D85}"/>
              </a:ext>
            </a:extLst>
          </p:cNvPr>
          <p:cNvSpPr/>
          <p:nvPr/>
        </p:nvSpPr>
        <p:spPr>
          <a:xfrm>
            <a:off x="1410462" y="2020062"/>
            <a:ext cx="9579864" cy="3227832"/>
          </a:xfrm>
          <a:custGeom>
            <a:avLst/>
            <a:gdLst/>
            <a:ahLst/>
            <a:cxnLst/>
            <a:rect l="l" t="t" r="r" b="b"/>
            <a:pathLst>
              <a:path w="9579864" h="3227832">
                <a:moveTo>
                  <a:pt x="102108" y="3125724"/>
                </a:moveTo>
                <a:lnTo>
                  <a:pt x="9477756" y="3125724"/>
                </a:lnTo>
                <a:lnTo>
                  <a:pt x="9477756" y="102108"/>
                </a:lnTo>
                <a:lnTo>
                  <a:pt x="102108" y="102108"/>
                </a:lnTo>
                <a:lnTo>
                  <a:pt x="102108" y="3125724"/>
                </a:lnTo>
                <a:close/>
              </a:path>
            </a:pathLst>
          </a:custGeom>
          <a:solidFill>
            <a:srgbClr val="FFFFFF">
              <a:alpha val="0"/>
            </a:srgbClr>
          </a:solidFill>
          <a:ln w="30480" cap="sq">
            <a:solidFill>
              <a:srgbClr val="2A9FBC"/>
            </a:solidFill>
            <a:prstDash val="solid"/>
          </a:ln>
        </p:spPr>
        <p:txBody>
          <a:bodyPr rtlCol="0" anchor="ctr"/>
          <a:lstStyle/>
          <a:p>
            <a:pPr algn="ctr"/>
            <a:endParaRPr lang="en-US" altLang="zh-CN">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15" name="Path83">
            <a:extLst>
              <a:ext uri="{FF2B5EF4-FFF2-40B4-BE49-F238E27FC236}">
                <a16:creationId xmlns:a16="http://schemas.microsoft.com/office/drawing/2014/main" id="{F4442F7B-7D0A-294C-B298-04A9BCD4D487}"/>
              </a:ext>
            </a:extLst>
          </p:cNvPr>
          <p:cNvSpPr/>
          <p:nvPr/>
        </p:nvSpPr>
        <p:spPr>
          <a:xfrm>
            <a:off x="4783836" y="4898136"/>
            <a:ext cx="2624328" cy="461772"/>
          </a:xfrm>
          <a:custGeom>
            <a:avLst/>
            <a:gdLst/>
            <a:ahLst/>
            <a:cxnLst/>
            <a:rect l="l" t="t" r="r" b="b"/>
            <a:pathLst>
              <a:path w="2624328" h="461772">
                <a:moveTo>
                  <a:pt x="0" y="461772"/>
                </a:moveTo>
                <a:lnTo>
                  <a:pt x="2624328" y="461772"/>
                </a:lnTo>
                <a:lnTo>
                  <a:pt x="2624328" y="0"/>
                </a:lnTo>
                <a:lnTo>
                  <a:pt x="0" y="0"/>
                </a:lnTo>
                <a:lnTo>
                  <a:pt x="0" y="461772"/>
                </a:lnTo>
                <a:close/>
              </a:path>
            </a:pathLst>
          </a:custGeom>
          <a:solidFill>
            <a:srgbClr val="FFFFFF">
              <a:alpha val="100000"/>
            </a:srgbClr>
          </a:solidFill>
          <a:ln w="0" cap="sq">
            <a:solidFill>
              <a:srgbClr val="FFFFFF"/>
            </a:solidFill>
            <a:prstDash val="solid"/>
          </a:ln>
        </p:spPr>
        <p:txBody>
          <a:bodyPr rtlCol="0" anchor="ctr"/>
          <a:lstStyle/>
          <a:p>
            <a:pPr algn="ctr"/>
            <a:endParaRPr lang="en-US" altLang="zh-CN">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pic>
        <p:nvPicPr>
          <p:cNvPr id="16" name="Image84">
            <a:extLst>
              <a:ext uri="{FF2B5EF4-FFF2-40B4-BE49-F238E27FC236}">
                <a16:creationId xmlns:a16="http://schemas.microsoft.com/office/drawing/2014/main" id="{8A98A54C-D8FF-C94C-9ADB-FD37AFA8A7AF}"/>
              </a:ext>
            </a:extLst>
          </p:cNvPr>
          <p:cNvPicPr>
            <a:picLocks noChangeAspect="1"/>
          </p:cNvPicPr>
          <p:nvPr/>
        </p:nvPicPr>
        <p:blipFill>
          <a:blip r:embed="rId5"/>
          <a:stretch>
            <a:fillRect/>
          </a:stretch>
        </p:blipFill>
        <p:spPr>
          <a:xfrm>
            <a:off x="4888103" y="4944186"/>
            <a:ext cx="2576957" cy="366065"/>
          </a:xfrm>
          <a:prstGeom prst="rect">
            <a:avLst/>
          </a:prstGeom>
          <a:noFill/>
        </p:spPr>
      </p:pic>
      <p:sp>
        <p:nvSpPr>
          <p:cNvPr id="17" name="Path85">
            <a:extLst>
              <a:ext uri="{FF2B5EF4-FFF2-40B4-BE49-F238E27FC236}">
                <a16:creationId xmlns:a16="http://schemas.microsoft.com/office/drawing/2014/main" id="{3732A7D1-F67A-654C-8D95-404B9B177781}"/>
              </a:ext>
            </a:extLst>
          </p:cNvPr>
          <p:cNvSpPr/>
          <p:nvPr/>
        </p:nvSpPr>
        <p:spPr>
          <a:xfrm>
            <a:off x="1851660" y="2546604"/>
            <a:ext cx="2548128" cy="1920240"/>
          </a:xfrm>
          <a:custGeom>
            <a:avLst/>
            <a:gdLst/>
            <a:ahLst/>
            <a:cxnLst/>
            <a:rect l="l" t="t" r="r" b="b"/>
            <a:pathLst>
              <a:path w="2548128" h="1920240">
                <a:moveTo>
                  <a:pt x="0" y="1920240"/>
                </a:moveTo>
                <a:lnTo>
                  <a:pt x="2548128" y="1920240"/>
                </a:lnTo>
                <a:lnTo>
                  <a:pt x="2548128" y="0"/>
                </a:lnTo>
                <a:lnTo>
                  <a:pt x="0" y="0"/>
                </a:lnTo>
                <a:lnTo>
                  <a:pt x="0" y="1920240"/>
                </a:lnTo>
                <a:close/>
              </a:path>
            </a:pathLst>
          </a:custGeom>
          <a:solidFill>
            <a:srgbClr val="2A9FBC">
              <a:alpha val="100000"/>
            </a:srgbClr>
          </a:solidFill>
          <a:ln w="0" cap="sq">
            <a:solidFill>
              <a:srgbClr val="2A9FBC"/>
            </a:solidFill>
            <a:prstDash val="solid"/>
          </a:ln>
        </p:spPr>
        <p:txBody>
          <a:bodyPr rtlCol="0" anchor="ctr"/>
          <a:lstStyle/>
          <a:p>
            <a:pPr algn="ctr"/>
            <a:endParaRPr lang="en-US" altLang="zh-CN">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pic>
        <p:nvPicPr>
          <p:cNvPr id="18" name="Image86">
            <a:extLst>
              <a:ext uri="{FF2B5EF4-FFF2-40B4-BE49-F238E27FC236}">
                <a16:creationId xmlns:a16="http://schemas.microsoft.com/office/drawing/2014/main" id="{F3A71639-D4C5-A141-B2B1-64B249CF16EB}"/>
              </a:ext>
            </a:extLst>
          </p:cNvPr>
          <p:cNvPicPr>
            <a:picLocks noChangeAspect="1"/>
          </p:cNvPicPr>
          <p:nvPr/>
        </p:nvPicPr>
        <p:blipFill>
          <a:blip r:embed="rId6"/>
          <a:stretch>
            <a:fillRect/>
          </a:stretch>
        </p:blipFill>
        <p:spPr>
          <a:xfrm>
            <a:off x="2583815" y="3980434"/>
            <a:ext cx="1217295" cy="304800"/>
          </a:xfrm>
          <a:prstGeom prst="rect">
            <a:avLst/>
          </a:prstGeom>
          <a:noFill/>
        </p:spPr>
      </p:pic>
      <p:sp>
        <p:nvSpPr>
          <p:cNvPr id="19" name="Path87">
            <a:extLst>
              <a:ext uri="{FF2B5EF4-FFF2-40B4-BE49-F238E27FC236}">
                <a16:creationId xmlns:a16="http://schemas.microsoft.com/office/drawing/2014/main" id="{6BFED404-AA0C-A044-A173-F38FEBCEE8D4}"/>
              </a:ext>
            </a:extLst>
          </p:cNvPr>
          <p:cNvSpPr/>
          <p:nvPr/>
        </p:nvSpPr>
        <p:spPr>
          <a:xfrm>
            <a:off x="4782312" y="2546604"/>
            <a:ext cx="2548128" cy="1920240"/>
          </a:xfrm>
          <a:custGeom>
            <a:avLst/>
            <a:gdLst/>
            <a:ahLst/>
            <a:cxnLst/>
            <a:rect l="l" t="t" r="r" b="b"/>
            <a:pathLst>
              <a:path w="2548128" h="1920240">
                <a:moveTo>
                  <a:pt x="0" y="1920240"/>
                </a:moveTo>
                <a:lnTo>
                  <a:pt x="2548128" y="1920240"/>
                </a:lnTo>
                <a:lnTo>
                  <a:pt x="2548128" y="0"/>
                </a:lnTo>
                <a:lnTo>
                  <a:pt x="0" y="0"/>
                </a:lnTo>
                <a:lnTo>
                  <a:pt x="0" y="1920240"/>
                </a:lnTo>
                <a:close/>
              </a:path>
            </a:pathLst>
          </a:custGeom>
          <a:solidFill>
            <a:srgbClr val="2A9FBC">
              <a:alpha val="100000"/>
            </a:srgbClr>
          </a:solidFill>
          <a:ln w="0" cap="sq">
            <a:solidFill>
              <a:srgbClr val="2A9FBC"/>
            </a:solidFill>
            <a:prstDash val="solid"/>
          </a:ln>
        </p:spPr>
        <p:txBody>
          <a:bodyPr rtlCol="0" anchor="ctr"/>
          <a:lstStyle/>
          <a:p>
            <a:pPr algn="ctr"/>
            <a:endParaRPr lang="en-US" altLang="zh-CN">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pic>
        <p:nvPicPr>
          <p:cNvPr id="20" name="Image88">
            <a:extLst>
              <a:ext uri="{FF2B5EF4-FFF2-40B4-BE49-F238E27FC236}">
                <a16:creationId xmlns:a16="http://schemas.microsoft.com/office/drawing/2014/main" id="{7ABCAEE0-51B1-3A4C-8606-E186748C4FA6}"/>
              </a:ext>
            </a:extLst>
          </p:cNvPr>
          <p:cNvPicPr>
            <a:picLocks noChangeAspect="1"/>
          </p:cNvPicPr>
          <p:nvPr/>
        </p:nvPicPr>
        <p:blipFill>
          <a:blip r:embed="rId7"/>
          <a:stretch>
            <a:fillRect/>
          </a:stretch>
        </p:blipFill>
        <p:spPr>
          <a:xfrm>
            <a:off x="5487670" y="3980434"/>
            <a:ext cx="1279399" cy="304800"/>
          </a:xfrm>
          <a:prstGeom prst="rect">
            <a:avLst/>
          </a:prstGeom>
          <a:noFill/>
        </p:spPr>
      </p:pic>
      <p:sp>
        <p:nvSpPr>
          <p:cNvPr id="21" name="Path89">
            <a:extLst>
              <a:ext uri="{FF2B5EF4-FFF2-40B4-BE49-F238E27FC236}">
                <a16:creationId xmlns:a16="http://schemas.microsoft.com/office/drawing/2014/main" id="{22232992-6DF2-9840-B5FE-F6354CA80578}"/>
              </a:ext>
            </a:extLst>
          </p:cNvPr>
          <p:cNvSpPr/>
          <p:nvPr/>
        </p:nvSpPr>
        <p:spPr>
          <a:xfrm>
            <a:off x="7712964" y="2546604"/>
            <a:ext cx="2548128" cy="1920240"/>
          </a:xfrm>
          <a:custGeom>
            <a:avLst/>
            <a:gdLst/>
            <a:ahLst/>
            <a:cxnLst/>
            <a:rect l="l" t="t" r="r" b="b"/>
            <a:pathLst>
              <a:path w="2548128" h="1920240">
                <a:moveTo>
                  <a:pt x="0" y="1920240"/>
                </a:moveTo>
                <a:lnTo>
                  <a:pt x="2548128" y="1920240"/>
                </a:lnTo>
                <a:lnTo>
                  <a:pt x="2548128" y="0"/>
                </a:lnTo>
                <a:lnTo>
                  <a:pt x="0" y="0"/>
                </a:lnTo>
                <a:lnTo>
                  <a:pt x="0" y="1920240"/>
                </a:lnTo>
                <a:close/>
              </a:path>
            </a:pathLst>
          </a:custGeom>
          <a:solidFill>
            <a:srgbClr val="2A9FBC">
              <a:alpha val="100000"/>
            </a:srgbClr>
          </a:solidFill>
          <a:ln w="0" cap="sq">
            <a:solidFill>
              <a:srgbClr val="2A9FBC"/>
            </a:solidFill>
            <a:prstDash val="solid"/>
          </a:ln>
        </p:spPr>
        <p:txBody>
          <a:bodyPr rtlCol="0" anchor="ctr"/>
          <a:lstStyle/>
          <a:p>
            <a:pPr algn="ctr"/>
            <a:endParaRPr lang="en-US" altLang="zh-CN">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pic>
        <p:nvPicPr>
          <p:cNvPr id="22" name="Image90">
            <a:extLst>
              <a:ext uri="{FF2B5EF4-FFF2-40B4-BE49-F238E27FC236}">
                <a16:creationId xmlns:a16="http://schemas.microsoft.com/office/drawing/2014/main" id="{CF737CF5-B549-6341-88C3-0C8E2FFB1CE2}"/>
              </a:ext>
            </a:extLst>
          </p:cNvPr>
          <p:cNvPicPr>
            <a:picLocks noChangeAspect="1"/>
          </p:cNvPicPr>
          <p:nvPr/>
        </p:nvPicPr>
        <p:blipFill>
          <a:blip r:embed="rId8"/>
          <a:stretch>
            <a:fillRect/>
          </a:stretch>
        </p:blipFill>
        <p:spPr>
          <a:xfrm>
            <a:off x="8419212" y="3980434"/>
            <a:ext cx="1280794" cy="304800"/>
          </a:xfrm>
          <a:prstGeom prst="rect">
            <a:avLst/>
          </a:prstGeom>
          <a:noFill/>
        </p:spPr>
      </p:pic>
      <p:pic>
        <p:nvPicPr>
          <p:cNvPr id="23" name="Image91">
            <a:extLst>
              <a:ext uri="{FF2B5EF4-FFF2-40B4-BE49-F238E27FC236}">
                <a16:creationId xmlns:a16="http://schemas.microsoft.com/office/drawing/2014/main" id="{3AA887D5-DE74-B743-9A44-ACBEB5BD3E7E}"/>
              </a:ext>
            </a:extLst>
          </p:cNvPr>
          <p:cNvPicPr>
            <a:picLocks noChangeAspect="1"/>
          </p:cNvPicPr>
          <p:nvPr/>
        </p:nvPicPr>
        <p:blipFill>
          <a:blip r:embed="rId9"/>
          <a:stretch>
            <a:fillRect/>
          </a:stretch>
        </p:blipFill>
        <p:spPr>
          <a:xfrm>
            <a:off x="2546604" y="2912364"/>
            <a:ext cx="384048" cy="781812"/>
          </a:xfrm>
          <a:prstGeom prst="rect">
            <a:avLst/>
          </a:prstGeom>
          <a:noFill/>
        </p:spPr>
      </p:pic>
      <p:pic>
        <p:nvPicPr>
          <p:cNvPr id="24" name="Image92">
            <a:extLst>
              <a:ext uri="{FF2B5EF4-FFF2-40B4-BE49-F238E27FC236}">
                <a16:creationId xmlns:a16="http://schemas.microsoft.com/office/drawing/2014/main" id="{DFD03710-64D1-C44D-9009-505A75E94E4E}"/>
              </a:ext>
            </a:extLst>
          </p:cNvPr>
          <p:cNvPicPr>
            <a:picLocks noChangeAspect="1"/>
          </p:cNvPicPr>
          <p:nvPr/>
        </p:nvPicPr>
        <p:blipFill>
          <a:blip r:embed="rId10"/>
          <a:stretch>
            <a:fillRect/>
          </a:stretch>
        </p:blipFill>
        <p:spPr>
          <a:xfrm>
            <a:off x="3229356" y="2912364"/>
            <a:ext cx="384048" cy="781812"/>
          </a:xfrm>
          <a:prstGeom prst="rect">
            <a:avLst/>
          </a:prstGeom>
          <a:noFill/>
        </p:spPr>
      </p:pic>
      <p:pic>
        <p:nvPicPr>
          <p:cNvPr id="25" name="Image93">
            <a:extLst>
              <a:ext uri="{FF2B5EF4-FFF2-40B4-BE49-F238E27FC236}">
                <a16:creationId xmlns:a16="http://schemas.microsoft.com/office/drawing/2014/main" id="{26CFC4E9-9D3B-B646-BDEF-8500B302C9A4}"/>
              </a:ext>
            </a:extLst>
          </p:cNvPr>
          <p:cNvPicPr>
            <a:picLocks noChangeAspect="1"/>
          </p:cNvPicPr>
          <p:nvPr/>
        </p:nvPicPr>
        <p:blipFill>
          <a:blip r:embed="rId11"/>
          <a:stretch>
            <a:fillRect/>
          </a:stretch>
        </p:blipFill>
        <p:spPr>
          <a:xfrm>
            <a:off x="5853684" y="2907792"/>
            <a:ext cx="384048" cy="780288"/>
          </a:xfrm>
          <a:prstGeom prst="rect">
            <a:avLst/>
          </a:prstGeom>
          <a:noFill/>
        </p:spPr>
      </p:pic>
      <p:pic>
        <p:nvPicPr>
          <p:cNvPr id="26" name="Image94">
            <a:extLst>
              <a:ext uri="{FF2B5EF4-FFF2-40B4-BE49-F238E27FC236}">
                <a16:creationId xmlns:a16="http://schemas.microsoft.com/office/drawing/2014/main" id="{CA6449C1-CF34-604F-BFCB-1533C6B657AA}"/>
              </a:ext>
            </a:extLst>
          </p:cNvPr>
          <p:cNvPicPr>
            <a:picLocks noChangeAspect="1"/>
          </p:cNvPicPr>
          <p:nvPr/>
        </p:nvPicPr>
        <p:blipFill>
          <a:blip r:embed="rId12"/>
          <a:stretch>
            <a:fillRect/>
          </a:stretch>
        </p:blipFill>
        <p:spPr>
          <a:xfrm>
            <a:off x="8795004" y="2907792"/>
            <a:ext cx="384048" cy="780288"/>
          </a:xfrm>
          <a:prstGeom prst="rect">
            <a:avLst/>
          </a:prstGeom>
          <a:noFill/>
        </p:spPr>
      </p:pic>
      <p:sp>
        <p:nvSpPr>
          <p:cNvPr id="27" name="Path95">
            <a:extLst>
              <a:ext uri="{FF2B5EF4-FFF2-40B4-BE49-F238E27FC236}">
                <a16:creationId xmlns:a16="http://schemas.microsoft.com/office/drawing/2014/main" id="{3B602328-F257-2A4F-9CDA-E142F4A0F677}"/>
              </a:ext>
            </a:extLst>
          </p:cNvPr>
          <p:cNvSpPr/>
          <p:nvPr/>
        </p:nvSpPr>
        <p:spPr>
          <a:xfrm>
            <a:off x="2904939" y="3269175"/>
            <a:ext cx="391025" cy="60444"/>
          </a:xfrm>
          <a:custGeom>
            <a:avLst/>
            <a:gdLst/>
            <a:ahLst/>
            <a:cxnLst/>
            <a:rect l="l" t="t" r="r" b="b"/>
            <a:pathLst>
              <a:path w="391025" h="60444">
                <a:moveTo>
                  <a:pt x="26476" y="26476"/>
                </a:moveTo>
                <a:lnTo>
                  <a:pt x="364550" y="33968"/>
                </a:lnTo>
              </a:path>
            </a:pathLst>
          </a:custGeom>
          <a:solidFill>
            <a:srgbClr val="2A9FBC">
              <a:alpha val="0"/>
            </a:srgbClr>
          </a:solidFill>
          <a:ln w="25908" cap="sq">
            <a:solidFill>
              <a:srgbClr val="404040"/>
            </a:solidFill>
            <a:prstDash val="sysDot"/>
          </a:ln>
        </p:spPr>
        <p:txBody>
          <a:bodyPr rtlCol="0" anchor="ctr"/>
          <a:lstStyle/>
          <a:p>
            <a:pPr algn="ctr"/>
            <a:endParaRPr lang="en-US" altLang="zh-CN">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28" name="Path96">
            <a:extLst>
              <a:ext uri="{FF2B5EF4-FFF2-40B4-BE49-F238E27FC236}">
                <a16:creationId xmlns:a16="http://schemas.microsoft.com/office/drawing/2014/main" id="{7383690A-C196-644D-983E-06588B971A62}"/>
              </a:ext>
            </a:extLst>
          </p:cNvPr>
          <p:cNvSpPr/>
          <p:nvPr/>
        </p:nvSpPr>
        <p:spPr>
          <a:xfrm>
            <a:off x="3621698" y="3269654"/>
            <a:ext cx="2258617" cy="59485"/>
          </a:xfrm>
          <a:custGeom>
            <a:avLst/>
            <a:gdLst/>
            <a:ahLst/>
            <a:cxnLst/>
            <a:rect l="l" t="t" r="r" b="b"/>
            <a:pathLst>
              <a:path w="2258617" h="59485">
                <a:moveTo>
                  <a:pt x="25996" y="33489"/>
                </a:moveTo>
                <a:lnTo>
                  <a:pt x="2232621" y="25996"/>
                </a:lnTo>
              </a:path>
            </a:pathLst>
          </a:custGeom>
          <a:solidFill>
            <a:srgbClr val="2A9FBC">
              <a:alpha val="0"/>
            </a:srgbClr>
          </a:solidFill>
          <a:ln w="25908" cap="sq">
            <a:solidFill>
              <a:srgbClr val="404040"/>
            </a:solidFill>
            <a:prstDash val="sysDot"/>
          </a:ln>
        </p:spPr>
        <p:txBody>
          <a:bodyPr rtlCol="0" anchor="ctr"/>
          <a:lstStyle/>
          <a:p>
            <a:pPr algn="ctr"/>
            <a:endParaRPr lang="en-US" altLang="zh-CN">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29" name="Path97">
            <a:extLst>
              <a:ext uri="{FF2B5EF4-FFF2-40B4-BE49-F238E27FC236}">
                <a16:creationId xmlns:a16="http://schemas.microsoft.com/office/drawing/2014/main" id="{48A5953F-77C5-BE49-994B-A0DE1B63E3EA}"/>
              </a:ext>
            </a:extLst>
          </p:cNvPr>
          <p:cNvSpPr/>
          <p:nvPr/>
        </p:nvSpPr>
        <p:spPr>
          <a:xfrm>
            <a:off x="3518154" y="3015234"/>
            <a:ext cx="5304156" cy="51816"/>
          </a:xfrm>
          <a:custGeom>
            <a:avLst/>
            <a:gdLst/>
            <a:ahLst/>
            <a:cxnLst/>
            <a:rect l="l" t="t" r="r" b="b"/>
            <a:pathLst>
              <a:path w="5304156" h="51816">
                <a:moveTo>
                  <a:pt x="25908" y="25908"/>
                </a:moveTo>
                <a:lnTo>
                  <a:pt x="5278247" y="25908"/>
                </a:lnTo>
              </a:path>
            </a:pathLst>
          </a:custGeom>
          <a:solidFill>
            <a:srgbClr val="2A9FBC">
              <a:alpha val="0"/>
            </a:srgbClr>
          </a:solidFill>
          <a:ln w="25908" cap="sq">
            <a:solidFill>
              <a:srgbClr val="404040"/>
            </a:solidFill>
            <a:prstDash val="sysDot"/>
          </a:ln>
        </p:spPr>
        <p:txBody>
          <a:bodyPr rtlCol="0" anchor="ctr"/>
          <a:lstStyle/>
          <a:p>
            <a:pPr algn="ctr"/>
            <a:endParaRPr lang="en-US" altLang="zh-CN">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30" name="Path98">
            <a:extLst>
              <a:ext uri="{FF2B5EF4-FFF2-40B4-BE49-F238E27FC236}">
                <a16:creationId xmlns:a16="http://schemas.microsoft.com/office/drawing/2014/main" id="{235C9EFA-085A-2C43-9DB1-D3686B05BFB7}"/>
              </a:ext>
            </a:extLst>
          </p:cNvPr>
          <p:cNvSpPr/>
          <p:nvPr/>
        </p:nvSpPr>
        <p:spPr>
          <a:xfrm>
            <a:off x="6162294" y="3269742"/>
            <a:ext cx="2615438" cy="51816"/>
          </a:xfrm>
          <a:custGeom>
            <a:avLst/>
            <a:gdLst/>
            <a:ahLst/>
            <a:cxnLst/>
            <a:rect l="l" t="t" r="r" b="b"/>
            <a:pathLst>
              <a:path w="2615438" h="51816">
                <a:moveTo>
                  <a:pt x="2589530" y="25908"/>
                </a:moveTo>
                <a:lnTo>
                  <a:pt x="25908" y="25908"/>
                </a:lnTo>
              </a:path>
            </a:pathLst>
          </a:custGeom>
          <a:solidFill>
            <a:srgbClr val="2A9FBC">
              <a:alpha val="0"/>
            </a:srgbClr>
          </a:solidFill>
          <a:ln w="25908" cap="sq">
            <a:solidFill>
              <a:srgbClr val="404040"/>
            </a:solidFill>
            <a:prstDash val="sysDot"/>
          </a:ln>
        </p:spPr>
        <p:txBody>
          <a:bodyPr rtlCol="0" anchor="ctr"/>
          <a:lstStyle/>
          <a:p>
            <a:pPr algn="ctr"/>
            <a:endParaRPr lang="en-US" altLang="zh-CN">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31" name="Path99">
            <a:extLst>
              <a:ext uri="{FF2B5EF4-FFF2-40B4-BE49-F238E27FC236}">
                <a16:creationId xmlns:a16="http://schemas.microsoft.com/office/drawing/2014/main" id="{E668B94B-9D28-AC45-A8FE-8840DBE48DD2}"/>
              </a:ext>
            </a:extLst>
          </p:cNvPr>
          <p:cNvSpPr/>
          <p:nvPr/>
        </p:nvSpPr>
        <p:spPr>
          <a:xfrm>
            <a:off x="2918460" y="3540252"/>
            <a:ext cx="5890260" cy="43815"/>
          </a:xfrm>
          <a:custGeom>
            <a:avLst/>
            <a:gdLst/>
            <a:ahLst/>
            <a:cxnLst/>
            <a:rect l="l" t="t" r="r" b="b"/>
            <a:pathLst>
              <a:path w="5890260" h="43815">
                <a:moveTo>
                  <a:pt x="5877307" y="30861"/>
                </a:moveTo>
                <a:lnTo>
                  <a:pt x="12954" y="12954"/>
                </a:lnTo>
              </a:path>
            </a:pathLst>
          </a:custGeom>
          <a:solidFill>
            <a:srgbClr val="2A9FBC">
              <a:alpha val="0"/>
            </a:srgbClr>
          </a:solidFill>
          <a:ln w="25908" cap="sq">
            <a:solidFill>
              <a:srgbClr val="404040"/>
            </a:solidFill>
            <a:prstDash val="sysDot"/>
          </a:ln>
        </p:spPr>
        <p:txBody>
          <a:bodyPr rtlCol="0" anchor="ctr"/>
          <a:lstStyle/>
          <a:p>
            <a:pPr algn="ctr"/>
            <a:endParaRPr lang="en-US" altLang="zh-CN">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32" name="Path100">
            <a:extLst>
              <a:ext uri="{FF2B5EF4-FFF2-40B4-BE49-F238E27FC236}">
                <a16:creationId xmlns:a16="http://schemas.microsoft.com/office/drawing/2014/main" id="{378E7149-1DB0-CE4C-B85C-D7A299EEC8A5}"/>
              </a:ext>
            </a:extLst>
          </p:cNvPr>
          <p:cNvSpPr/>
          <p:nvPr/>
        </p:nvSpPr>
        <p:spPr>
          <a:xfrm>
            <a:off x="2905048" y="3068116"/>
            <a:ext cx="5922672" cy="157507"/>
          </a:xfrm>
          <a:custGeom>
            <a:avLst/>
            <a:gdLst/>
            <a:ahLst/>
            <a:cxnLst/>
            <a:rect l="l" t="t" r="r" b="b"/>
            <a:pathLst>
              <a:path w="5922672" h="157507">
                <a:moveTo>
                  <a:pt x="26366" y="26366"/>
                </a:moveTo>
                <a:lnTo>
                  <a:pt x="5896307" y="131141"/>
                </a:lnTo>
              </a:path>
            </a:pathLst>
          </a:custGeom>
          <a:solidFill>
            <a:srgbClr val="2A9FBC">
              <a:alpha val="0"/>
            </a:srgbClr>
          </a:solidFill>
          <a:ln w="25908" cap="sq">
            <a:solidFill>
              <a:srgbClr val="404040"/>
            </a:solidFill>
            <a:prstDash val="sysDot"/>
          </a:ln>
        </p:spPr>
        <p:txBody>
          <a:bodyPr rtlCol="0" anchor="ctr"/>
          <a:lstStyle/>
          <a:p>
            <a:pPr algn="ctr"/>
            <a:endParaRPr lang="en-US" altLang="zh-CN">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Tree>
    <p:extLst>
      <p:ext uri="{BB962C8B-B14F-4D97-AF65-F5344CB8AC3E}">
        <p14:creationId xmlns:p14="http://schemas.microsoft.com/office/powerpoint/2010/main" val="1174983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Title 1"/>
          <p:cNvSpPr txBox="1">
            <a:spLocks noGrp="1"/>
          </p:cNvSpPr>
          <p:nvPr>
            <p:ph type="title"/>
          </p:nvPr>
        </p:nvSpPr>
        <p:spPr>
          <a:xfrm>
            <a:off x="669758" y="136525"/>
            <a:ext cx="10515600" cy="1325563"/>
          </a:xfrm>
          <a:prstGeom prst="rect">
            <a:avLst/>
          </a:prstGeom>
        </p:spPr>
        <p:txBody>
          <a:bodyPr/>
          <a:lstStyle>
            <a:lvl1pPr defTabSz="905255">
              <a:defRPr sz="3564" spc="-99"/>
            </a:lvl1pPr>
          </a:lstStyle>
          <a:p>
            <a:r>
              <a:rPr lang="en-US" dirty="0" err="1"/>
              <a:t>Vnet</a:t>
            </a:r>
            <a:r>
              <a:rPr lang="en-US" dirty="0"/>
              <a:t> diagrams</a:t>
            </a:r>
            <a:endParaRPr dirty="0"/>
          </a:p>
        </p:txBody>
      </p:sp>
      <p:sp>
        <p:nvSpPr>
          <p:cNvPr id="415" name="Slide Number Placeholder 4"/>
          <p:cNvSpPr txBox="1">
            <a:spLocks noGrp="1"/>
          </p:cNvSpPr>
          <p:nvPr>
            <p:ph type="sldNum" sz="quarter" idx="12"/>
          </p:nvPr>
        </p:nvSpPr>
        <p:spPr>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D1282E"/>
                </a:solidFill>
                <a:effectLst/>
                <a:uFillTx/>
                <a:latin typeface="Arial"/>
                <a:ea typeface="Arial"/>
                <a:cs typeface="Arial"/>
                <a:sym typeface="Arial"/>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n-US" smtClean="0"/>
              <a:pPr/>
              <a:t>3</a:t>
            </a:fld>
            <a:endParaRPr/>
          </a:p>
        </p:txBody>
      </p:sp>
      <p:sp>
        <p:nvSpPr>
          <p:cNvPr id="6" name="object 3">
            <a:extLst>
              <a:ext uri="{FF2B5EF4-FFF2-40B4-BE49-F238E27FC236}">
                <a16:creationId xmlns:a16="http://schemas.microsoft.com/office/drawing/2014/main" id="{7C628F62-BE7C-7E42-8271-519FAA52EC7B}"/>
              </a:ext>
            </a:extLst>
          </p:cNvPr>
          <p:cNvSpPr/>
          <p:nvPr/>
        </p:nvSpPr>
        <p:spPr>
          <a:xfrm>
            <a:off x="2159540" y="1184849"/>
            <a:ext cx="7850221" cy="4525288"/>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2949712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Title 1"/>
          <p:cNvSpPr txBox="1">
            <a:spLocks noGrp="1"/>
          </p:cNvSpPr>
          <p:nvPr>
            <p:ph type="title"/>
          </p:nvPr>
        </p:nvSpPr>
        <p:spPr>
          <a:xfrm>
            <a:off x="609599" y="200402"/>
            <a:ext cx="10515600" cy="1325563"/>
          </a:xfrm>
          <a:prstGeom prst="rect">
            <a:avLst/>
          </a:prstGeom>
        </p:spPr>
        <p:txBody>
          <a:bodyPr/>
          <a:lstStyle>
            <a:lvl1pPr defTabSz="905255">
              <a:defRPr sz="3564" spc="-99"/>
            </a:lvl1pPr>
          </a:lstStyle>
          <a:p>
            <a:r>
              <a:rPr lang="en-US" dirty="0" err="1"/>
              <a:t>Vnet</a:t>
            </a:r>
            <a:r>
              <a:rPr lang="en-US" dirty="0"/>
              <a:t> Capabilities</a:t>
            </a:r>
            <a:endParaRPr dirty="0"/>
          </a:p>
        </p:txBody>
      </p:sp>
      <p:sp>
        <p:nvSpPr>
          <p:cNvPr id="415" name="Slide Number Placeholder 4"/>
          <p:cNvSpPr txBox="1">
            <a:spLocks noGrp="1"/>
          </p:cNvSpPr>
          <p:nvPr>
            <p:ph type="sldNum" sz="quarter" idx="12"/>
          </p:nvPr>
        </p:nvSpPr>
        <p:spPr>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D1282E"/>
                </a:solidFill>
                <a:effectLst/>
                <a:uFillTx/>
                <a:latin typeface="Arial"/>
                <a:ea typeface="Arial"/>
                <a:cs typeface="Arial"/>
                <a:sym typeface="Arial"/>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n-US" smtClean="0"/>
              <a:pPr/>
              <a:t>4</a:t>
            </a:fld>
            <a:endParaRPr/>
          </a:p>
        </p:txBody>
      </p:sp>
      <p:sp>
        <p:nvSpPr>
          <p:cNvPr id="5" name="Path72">
            <a:extLst>
              <a:ext uri="{FF2B5EF4-FFF2-40B4-BE49-F238E27FC236}">
                <a16:creationId xmlns:a16="http://schemas.microsoft.com/office/drawing/2014/main" id="{4B30C7DB-C8AC-2145-9861-353091EE435D}"/>
              </a:ext>
            </a:extLst>
          </p:cNvPr>
          <p:cNvSpPr/>
          <p:nvPr/>
        </p:nvSpPr>
        <p:spPr>
          <a:xfrm>
            <a:off x="0" y="0"/>
            <a:ext cx="0" cy="0"/>
          </a:xfrm>
          <a:custGeom>
            <a:avLst/>
            <a:gdLst/>
            <a:ahLst/>
            <a:cxnLst/>
            <a:rect l="l" t="t" r="r" b="b"/>
            <a:pathLst>
              <a:path/>
            </a:pathLst>
          </a:custGeom>
          <a:solidFill/>
          <a:ln>
            <a:solidFill/>
            <a:prstDash/>
          </a:ln>
        </p:spPr>
        <p:txBody>
          <a:bodyPr rtlCol="0" anchor="ctr"/>
          <a:lstStyle/>
          <a:p>
            <a:pPr algn="ctr"/>
            <a:endParaRPr lang="en-US" altLang="zh-CN"/>
          </a:p>
        </p:txBody>
      </p:sp>
      <p:sp>
        <p:nvSpPr>
          <p:cNvPr id="2" name="object 3">
            <a:extLst>
              <a:ext uri="{FF2B5EF4-FFF2-40B4-BE49-F238E27FC236}">
                <a16:creationId xmlns:a16="http://schemas.microsoft.com/office/drawing/2014/main" id="{6EC10747-D437-8DB3-EE0C-12FCDA6E5016}"/>
              </a:ext>
            </a:extLst>
          </p:cNvPr>
          <p:cNvSpPr txBox="1"/>
          <p:nvPr/>
        </p:nvSpPr>
        <p:spPr>
          <a:xfrm>
            <a:off x="609600" y="1193566"/>
            <a:ext cx="10112375" cy="1654812"/>
          </a:xfrm>
          <a:prstGeom prst="rect">
            <a:avLst/>
          </a:prstGeom>
        </p:spPr>
        <p:txBody>
          <a:bodyPr vert="horz" wrap="square" lIns="0" tIns="55880" rIns="0" bIns="0" rtlCol="0">
            <a:spAutoFit/>
          </a:bodyPr>
          <a:lstStyle/>
          <a:p>
            <a:pPr marL="12700" marR="5080">
              <a:lnSpc>
                <a:spcPct val="89800"/>
              </a:lnSpc>
              <a:spcBef>
                <a:spcPts val="440"/>
              </a:spcBef>
              <a:tabLst>
                <a:tab pos="241300" algn="l"/>
              </a:tabLst>
            </a:pPr>
            <a:r>
              <a:rPr lang="en-US" sz="2400" dirty="0"/>
              <a:t>Isolation</a:t>
            </a:r>
            <a:endParaRPr lang="en-US" sz="2400" dirty="0">
              <a:latin typeface="+mj-lt"/>
              <a:ea typeface="Nirmala UI Semilight" panose="020B0402040204020203" pitchFamily="34" charset="0"/>
              <a:cs typeface="Nirmala UI Semilight" panose="020B0402040204020203" pitchFamily="34" charset="0"/>
            </a:endParaRPr>
          </a:p>
          <a:p>
            <a:pPr marL="469900" marR="5080" indent="-457200">
              <a:lnSpc>
                <a:spcPct val="89800"/>
              </a:lnSpc>
              <a:spcBef>
                <a:spcPts val="440"/>
              </a:spcBef>
              <a:buFont typeface="Arial" panose="020B0604020202020204" pitchFamily="34" charset="0"/>
              <a:buChar char="•"/>
              <a:tabLst>
                <a:tab pos="241300" algn="l"/>
              </a:tabLst>
            </a:pPr>
            <a:r>
              <a:rPr lang="en-US" sz="2000" dirty="0">
                <a:ea typeface="Nirmala UI Semilight" panose="020B0402040204020203" pitchFamily="34" charset="0"/>
                <a:cs typeface="Nirmala UI Semilight" panose="020B0402040204020203" pitchFamily="34" charset="0"/>
              </a:rPr>
              <a:t>Each Virtual Network (</a:t>
            </a:r>
            <a:r>
              <a:rPr lang="en-US" sz="2000" dirty="0" err="1">
                <a:ea typeface="Nirmala UI Semilight" panose="020B0402040204020203" pitchFamily="34" charset="0"/>
                <a:cs typeface="Nirmala UI Semilight" panose="020B0402040204020203" pitchFamily="34" charset="0"/>
              </a:rPr>
              <a:t>VNet</a:t>
            </a:r>
            <a:r>
              <a:rPr lang="en-US" sz="2000" dirty="0">
                <a:ea typeface="Nirmala UI Semilight" panose="020B0402040204020203" pitchFamily="34" charset="0"/>
                <a:cs typeface="Nirmala UI Semilight" panose="020B0402040204020203" pitchFamily="34" charset="0"/>
              </a:rPr>
              <a:t>) is logically isolated from other </a:t>
            </a:r>
            <a:r>
              <a:rPr lang="en-US" sz="2000" dirty="0" err="1">
                <a:ea typeface="Nirmala UI Semilight" panose="020B0402040204020203" pitchFamily="34" charset="0"/>
                <a:cs typeface="Nirmala UI Semilight" panose="020B0402040204020203" pitchFamily="34" charset="0"/>
              </a:rPr>
              <a:t>VNets</a:t>
            </a:r>
            <a:r>
              <a:rPr lang="en-US" sz="2000" dirty="0">
                <a:ea typeface="Nirmala UI Semilight" panose="020B0402040204020203" pitchFamily="34" charset="0"/>
                <a:cs typeface="Nirmala UI Semilight" panose="020B0402040204020203" pitchFamily="34" charset="0"/>
              </a:rPr>
              <a:t>—even within the same region or subscription.</a:t>
            </a:r>
          </a:p>
          <a:p>
            <a:pPr marL="469900" marR="5080" indent="-457200">
              <a:lnSpc>
                <a:spcPct val="89800"/>
              </a:lnSpc>
              <a:spcBef>
                <a:spcPts val="440"/>
              </a:spcBef>
              <a:buFont typeface="Arial" panose="020B0604020202020204" pitchFamily="34" charset="0"/>
              <a:buChar char="•"/>
              <a:tabLst>
                <a:tab pos="241300" algn="l"/>
              </a:tabLst>
            </a:pPr>
            <a:r>
              <a:rPr lang="en-US" sz="2000" dirty="0">
                <a:ea typeface="Nirmala UI Semilight" panose="020B0402040204020203" pitchFamily="34" charset="0"/>
                <a:cs typeface="Nirmala UI Semilight" panose="020B0402040204020203" pitchFamily="34" charset="0"/>
              </a:rPr>
              <a:t>No cross-</a:t>
            </a:r>
            <a:r>
              <a:rPr lang="en-US" sz="2000" dirty="0" err="1">
                <a:ea typeface="Nirmala UI Semilight" panose="020B0402040204020203" pitchFamily="34" charset="0"/>
                <a:cs typeface="Nirmala UI Semilight" panose="020B0402040204020203" pitchFamily="34" charset="0"/>
              </a:rPr>
              <a:t>VNet</a:t>
            </a:r>
            <a:r>
              <a:rPr lang="en-US" sz="2000" dirty="0">
                <a:ea typeface="Nirmala UI Semilight" panose="020B0402040204020203" pitchFamily="34" charset="0"/>
                <a:cs typeface="Nirmala UI Semilight" panose="020B0402040204020203" pitchFamily="34" charset="0"/>
              </a:rPr>
              <a:t> communication occurs unless you explicitly configure it (e.g., </a:t>
            </a:r>
            <a:r>
              <a:rPr lang="en-US" sz="2000" dirty="0" err="1">
                <a:ea typeface="Nirmala UI Semilight" panose="020B0402040204020203" pitchFamily="34" charset="0"/>
                <a:cs typeface="Nirmala UI Semilight" panose="020B0402040204020203" pitchFamily="34" charset="0"/>
              </a:rPr>
              <a:t>VNet</a:t>
            </a:r>
            <a:r>
              <a:rPr lang="en-US" sz="2000" dirty="0">
                <a:ea typeface="Nirmala UI Semilight" panose="020B0402040204020203" pitchFamily="34" charset="0"/>
                <a:cs typeface="Nirmala UI Semilight" panose="020B0402040204020203" pitchFamily="34" charset="0"/>
              </a:rPr>
              <a:t> Peering or VPN Gateway).</a:t>
            </a:r>
          </a:p>
        </p:txBody>
      </p:sp>
      <p:sp>
        <p:nvSpPr>
          <p:cNvPr id="4" name="object 3">
            <a:extLst>
              <a:ext uri="{FF2B5EF4-FFF2-40B4-BE49-F238E27FC236}">
                <a16:creationId xmlns:a16="http://schemas.microsoft.com/office/drawing/2014/main" id="{F78B3FAD-4063-0412-BAF1-F3C07C878131}"/>
              </a:ext>
            </a:extLst>
          </p:cNvPr>
          <p:cNvSpPr txBox="1"/>
          <p:nvPr/>
        </p:nvSpPr>
        <p:spPr>
          <a:xfrm>
            <a:off x="609600" y="2848378"/>
            <a:ext cx="10112375" cy="1927707"/>
          </a:xfrm>
          <a:prstGeom prst="rect">
            <a:avLst/>
          </a:prstGeom>
        </p:spPr>
        <p:txBody>
          <a:bodyPr vert="horz" wrap="square" lIns="0" tIns="55880" rIns="0" bIns="0" rtlCol="0">
            <a:spAutoFit/>
          </a:bodyPr>
          <a:lstStyle/>
          <a:p>
            <a:pPr marL="12700" marR="5080">
              <a:lnSpc>
                <a:spcPct val="89800"/>
              </a:lnSpc>
              <a:spcBef>
                <a:spcPts val="440"/>
              </a:spcBef>
              <a:tabLst>
                <a:tab pos="241300" algn="l"/>
              </a:tabLst>
            </a:pPr>
            <a:r>
              <a:rPr lang="en-US" sz="2400" dirty="0"/>
              <a:t>Customizability</a:t>
            </a:r>
            <a:endParaRPr lang="en-US" sz="2400" dirty="0">
              <a:latin typeface="+mj-lt"/>
              <a:ea typeface="Nirmala UI Semilight" panose="020B0402040204020203" pitchFamily="34" charset="0"/>
              <a:cs typeface="Nirmala UI Semilight" panose="020B0402040204020203" pitchFamily="34" charset="0"/>
            </a:endParaRPr>
          </a:p>
          <a:p>
            <a:pPr marL="469900" marR="5080" indent="-457200">
              <a:lnSpc>
                <a:spcPct val="89800"/>
              </a:lnSpc>
              <a:spcBef>
                <a:spcPts val="440"/>
              </a:spcBef>
              <a:buFont typeface="Arial" panose="020B0604020202020204" pitchFamily="34" charset="0"/>
              <a:buChar char="•"/>
              <a:tabLst>
                <a:tab pos="241300" algn="l"/>
              </a:tabLst>
            </a:pPr>
            <a:r>
              <a:rPr lang="en-US" sz="2000" dirty="0">
                <a:ea typeface="Nirmala UI Semilight" panose="020B0402040204020203" pitchFamily="34" charset="0"/>
                <a:cs typeface="Nirmala UI Semilight" panose="020B0402040204020203" pitchFamily="34" charset="0"/>
              </a:rPr>
              <a:t>Define your own IP address ranges (CIDRs), subnets, and networking rules.</a:t>
            </a:r>
          </a:p>
          <a:p>
            <a:pPr marL="469900" marR="5080" indent="-457200">
              <a:lnSpc>
                <a:spcPct val="89800"/>
              </a:lnSpc>
              <a:spcBef>
                <a:spcPts val="440"/>
              </a:spcBef>
              <a:buFont typeface="Arial" panose="020B0604020202020204" pitchFamily="34" charset="0"/>
              <a:buChar char="•"/>
              <a:tabLst>
                <a:tab pos="241300" algn="l"/>
              </a:tabLst>
            </a:pPr>
            <a:r>
              <a:rPr lang="en-US" sz="2000" dirty="0">
                <a:ea typeface="Nirmala UI Semilight" panose="020B0402040204020203" pitchFamily="34" charset="0"/>
                <a:cs typeface="Nirmala UI Semilight" panose="020B0402040204020203" pitchFamily="34" charset="0"/>
              </a:rPr>
              <a:t>Create separate </a:t>
            </a:r>
            <a:r>
              <a:rPr lang="en-US" sz="2000" dirty="0" err="1">
                <a:ea typeface="Nirmala UI Semilight" panose="020B0402040204020203" pitchFamily="34" charset="0"/>
                <a:cs typeface="Nirmala UI Semilight" panose="020B0402040204020203" pitchFamily="34" charset="0"/>
              </a:rPr>
              <a:t>VNets</a:t>
            </a:r>
            <a:r>
              <a:rPr lang="en-US" sz="2000" dirty="0">
                <a:ea typeface="Nirmala UI Semilight" panose="020B0402040204020203" pitchFamily="34" charset="0"/>
                <a:cs typeface="Nirmala UI Semilight" panose="020B0402040204020203" pitchFamily="34" charset="0"/>
              </a:rPr>
              <a:t> for Dev, Test, and Prod—even reusing the same CIDR blocks if isolated by region or subscription.</a:t>
            </a:r>
          </a:p>
          <a:p>
            <a:pPr marL="469900" marR="5080" indent="-457200">
              <a:lnSpc>
                <a:spcPct val="89800"/>
              </a:lnSpc>
              <a:spcBef>
                <a:spcPts val="440"/>
              </a:spcBef>
              <a:buFont typeface="Arial" panose="020B0604020202020204" pitchFamily="34" charset="0"/>
              <a:buChar char="•"/>
              <a:tabLst>
                <a:tab pos="241300" algn="l"/>
              </a:tabLst>
            </a:pPr>
            <a:r>
              <a:rPr lang="en-US" sz="2000" dirty="0">
                <a:ea typeface="Nirmala UI Semilight" panose="020B0402040204020203" pitchFamily="34" charset="0"/>
                <a:cs typeface="Nirmala UI Semilight" panose="020B0402040204020203" pitchFamily="34" charset="0"/>
              </a:rPr>
              <a:t>Connect </a:t>
            </a:r>
            <a:r>
              <a:rPr lang="en-US" sz="2000" dirty="0" err="1">
                <a:ea typeface="Nirmala UI Semilight" panose="020B0402040204020203" pitchFamily="34" charset="0"/>
                <a:cs typeface="Nirmala UI Semilight" panose="020B0402040204020203" pitchFamily="34" charset="0"/>
              </a:rPr>
              <a:t>VNets</a:t>
            </a:r>
            <a:r>
              <a:rPr lang="en-US" sz="2000" dirty="0">
                <a:ea typeface="Nirmala UI Semilight" panose="020B0402040204020203" pitchFamily="34" charset="0"/>
                <a:cs typeface="Nirmala UI Semilight" panose="020B0402040204020203" pitchFamily="34" charset="0"/>
              </a:rPr>
              <a:t> with different CIDRs to enable secure, controlled communication between environments.</a:t>
            </a:r>
          </a:p>
        </p:txBody>
      </p:sp>
      <p:sp>
        <p:nvSpPr>
          <p:cNvPr id="6" name="object 3">
            <a:extLst>
              <a:ext uri="{FF2B5EF4-FFF2-40B4-BE49-F238E27FC236}">
                <a16:creationId xmlns:a16="http://schemas.microsoft.com/office/drawing/2014/main" id="{D0B352CB-E2E4-BDBB-AB9F-9C83CD1162CD}"/>
              </a:ext>
            </a:extLst>
          </p:cNvPr>
          <p:cNvSpPr txBox="1"/>
          <p:nvPr/>
        </p:nvSpPr>
        <p:spPr>
          <a:xfrm>
            <a:off x="609599" y="4776085"/>
            <a:ext cx="10112375" cy="1322413"/>
          </a:xfrm>
          <a:prstGeom prst="rect">
            <a:avLst/>
          </a:prstGeom>
        </p:spPr>
        <p:txBody>
          <a:bodyPr vert="horz" wrap="square" lIns="0" tIns="55880" rIns="0" bIns="0" rtlCol="0">
            <a:spAutoFit/>
          </a:bodyPr>
          <a:lstStyle/>
          <a:p>
            <a:pPr marL="12700" marR="5080">
              <a:lnSpc>
                <a:spcPct val="89800"/>
              </a:lnSpc>
              <a:spcBef>
                <a:spcPts val="440"/>
              </a:spcBef>
              <a:tabLst>
                <a:tab pos="241300" algn="l"/>
              </a:tabLst>
            </a:pPr>
            <a:r>
              <a:rPr lang="en-US" sz="2400" dirty="0"/>
              <a:t>Name Resolution</a:t>
            </a:r>
            <a:endParaRPr lang="en-US" sz="2400" dirty="0">
              <a:latin typeface="+mj-lt"/>
              <a:ea typeface="Nirmala UI Semilight" panose="020B0402040204020203" pitchFamily="34" charset="0"/>
              <a:cs typeface="Nirmala UI Semilight" panose="020B0402040204020203" pitchFamily="34" charset="0"/>
            </a:endParaRPr>
          </a:p>
          <a:p>
            <a:pPr marL="469900" marR="5080" indent="-457200">
              <a:lnSpc>
                <a:spcPct val="89800"/>
              </a:lnSpc>
              <a:spcBef>
                <a:spcPts val="440"/>
              </a:spcBef>
              <a:buFont typeface="Arial" panose="020B0604020202020204" pitchFamily="34" charset="0"/>
              <a:buChar char="•"/>
              <a:tabLst>
                <a:tab pos="241300" algn="l"/>
              </a:tabLst>
            </a:pPr>
            <a:r>
              <a:rPr lang="en-US" sz="2000" dirty="0">
                <a:ea typeface="Nirmala UI Semilight" panose="020B0402040204020203" pitchFamily="34" charset="0"/>
                <a:cs typeface="Nirmala UI Semilight" panose="020B0402040204020203" pitchFamily="34" charset="0"/>
              </a:rPr>
              <a:t>Azure </a:t>
            </a:r>
            <a:r>
              <a:rPr lang="en-US" sz="2000" dirty="0" err="1">
                <a:ea typeface="Nirmala UI Semilight" panose="020B0402040204020203" pitchFamily="34" charset="0"/>
                <a:cs typeface="Nirmala UI Semilight" panose="020B0402040204020203" pitchFamily="34" charset="0"/>
              </a:rPr>
              <a:t>VNets</a:t>
            </a:r>
            <a:r>
              <a:rPr lang="en-US" sz="2000" dirty="0">
                <a:ea typeface="Nirmala UI Semilight" panose="020B0402040204020203" pitchFamily="34" charset="0"/>
                <a:cs typeface="Nirmala UI Semilight" panose="020B0402040204020203" pitchFamily="34" charset="0"/>
              </a:rPr>
              <a:t> support internal DNS resolution using Azure-provided DNS servers.</a:t>
            </a:r>
          </a:p>
          <a:p>
            <a:pPr marL="469900" marR="5080" indent="-457200">
              <a:lnSpc>
                <a:spcPct val="89800"/>
              </a:lnSpc>
              <a:spcBef>
                <a:spcPts val="440"/>
              </a:spcBef>
              <a:buFont typeface="Arial" panose="020B0604020202020204" pitchFamily="34" charset="0"/>
              <a:buChar char="•"/>
              <a:tabLst>
                <a:tab pos="241300" algn="l"/>
              </a:tabLst>
            </a:pPr>
            <a:r>
              <a:rPr lang="en-US" sz="2000" b="1" dirty="0"/>
              <a:t>Optionally, you can configure: </a:t>
            </a:r>
            <a:r>
              <a:rPr lang="en-US" sz="2000" dirty="0"/>
              <a:t>Custom DNS Servers, DNS Forwarding, Private DNS Zones for enhanced flexibility.</a:t>
            </a:r>
            <a:endParaRPr lang="en-US" sz="2000" b="1" dirty="0">
              <a:ea typeface="Nirmala UI Semilight" panose="020B0402040204020203" pitchFamily="34" charset="0"/>
              <a:cs typeface="Nirmala UI Semilight" panose="020B0402040204020203" pitchFamily="34" charset="0"/>
            </a:endParaRPr>
          </a:p>
        </p:txBody>
      </p:sp>
    </p:spTree>
    <p:extLst>
      <p:ext uri="{BB962C8B-B14F-4D97-AF65-F5344CB8AC3E}">
        <p14:creationId xmlns:p14="http://schemas.microsoft.com/office/powerpoint/2010/main" val="15382875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Title 1"/>
          <p:cNvSpPr txBox="1">
            <a:spLocks noGrp="1"/>
          </p:cNvSpPr>
          <p:nvPr>
            <p:ph type="title"/>
          </p:nvPr>
        </p:nvSpPr>
        <p:spPr>
          <a:prstGeom prst="rect">
            <a:avLst/>
          </a:prstGeom>
        </p:spPr>
        <p:txBody>
          <a:bodyPr/>
          <a:lstStyle>
            <a:lvl1pPr defTabSz="905255">
              <a:defRPr sz="3564" spc="-99"/>
            </a:lvl1pPr>
          </a:lstStyle>
          <a:p>
            <a:r>
              <a:rPr lang="en-US" dirty="0" err="1"/>
              <a:t>Vnet</a:t>
            </a:r>
            <a:r>
              <a:rPr lang="en-US" dirty="0"/>
              <a:t> Capabilities</a:t>
            </a:r>
            <a:endParaRPr dirty="0"/>
          </a:p>
        </p:txBody>
      </p:sp>
      <p:sp>
        <p:nvSpPr>
          <p:cNvPr id="415" name="Slide Number Placeholder 4"/>
          <p:cNvSpPr txBox="1">
            <a:spLocks noGrp="1"/>
          </p:cNvSpPr>
          <p:nvPr>
            <p:ph type="sldNum" sz="quarter" idx="12"/>
          </p:nvPr>
        </p:nvSpPr>
        <p:spPr>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D1282E"/>
                </a:solidFill>
                <a:effectLst/>
                <a:uFillTx/>
                <a:latin typeface="Arial"/>
                <a:ea typeface="Arial"/>
                <a:cs typeface="Arial"/>
                <a:sym typeface="Arial"/>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n-US" smtClean="0"/>
              <a:pPr/>
              <a:t>5</a:t>
            </a:fld>
            <a:endParaRPr/>
          </a:p>
        </p:txBody>
      </p:sp>
      <p:sp>
        <p:nvSpPr>
          <p:cNvPr id="5" name="Path72">
            <a:extLst>
              <a:ext uri="{FF2B5EF4-FFF2-40B4-BE49-F238E27FC236}">
                <a16:creationId xmlns:a16="http://schemas.microsoft.com/office/drawing/2014/main" id="{4B30C7DB-C8AC-2145-9861-353091EE435D}"/>
              </a:ext>
            </a:extLst>
          </p:cNvPr>
          <p:cNvSpPr/>
          <p:nvPr/>
        </p:nvSpPr>
        <p:spPr>
          <a:xfrm>
            <a:off x="0" y="0"/>
            <a:ext cx="0" cy="0"/>
          </a:xfrm>
          <a:custGeom>
            <a:avLst/>
            <a:gdLst/>
            <a:ahLst/>
            <a:cxnLst/>
            <a:rect l="l" t="t" r="r" b="b"/>
            <a:pathLst>
              <a:path/>
            </a:pathLst>
          </a:custGeom>
          <a:solidFill/>
          <a:ln>
            <a:solidFill/>
            <a:prstDash/>
          </a:ln>
        </p:spPr>
        <p:txBody>
          <a:bodyPr rtlCol="0" anchor="ctr"/>
          <a:lstStyle/>
          <a:p>
            <a:pPr algn="ctr"/>
            <a:endParaRPr lang="en-US" altLang="zh-CN"/>
          </a:p>
        </p:txBody>
      </p:sp>
      <p:sp>
        <p:nvSpPr>
          <p:cNvPr id="6" name="object 3">
            <a:extLst>
              <a:ext uri="{FF2B5EF4-FFF2-40B4-BE49-F238E27FC236}">
                <a16:creationId xmlns:a16="http://schemas.microsoft.com/office/drawing/2014/main" id="{57D84A46-1FD9-8344-926B-F4845F1994F5}"/>
              </a:ext>
            </a:extLst>
          </p:cNvPr>
          <p:cNvSpPr txBox="1"/>
          <p:nvPr/>
        </p:nvSpPr>
        <p:spPr>
          <a:xfrm>
            <a:off x="6781799" y="1543868"/>
            <a:ext cx="4618989" cy="3770263"/>
          </a:xfrm>
          <a:prstGeom prst="rect">
            <a:avLst/>
          </a:prstGeom>
        </p:spPr>
        <p:txBody>
          <a:bodyPr vert="horz" wrap="square" lIns="0" tIns="43180" rIns="0" bIns="0" rtlCol="0">
            <a:spAutoFit/>
          </a:bodyPr>
          <a:lstStyle/>
          <a:p>
            <a:pPr marL="12700">
              <a:lnSpc>
                <a:spcPct val="100000"/>
              </a:lnSpc>
              <a:spcBef>
                <a:spcPts val="340"/>
              </a:spcBef>
              <a:tabLst>
                <a:tab pos="241300" algn="l"/>
              </a:tabLst>
            </a:pPr>
            <a:r>
              <a:rPr sz="2800" spc="-10" dirty="0">
                <a:latin typeface="Nirmala UI Semilight" panose="020B0402040204020203" pitchFamily="34" charset="0"/>
                <a:ea typeface="Nirmala UI Semilight" panose="020B0402040204020203" pitchFamily="34" charset="0"/>
                <a:cs typeface="Nirmala UI Semilight" panose="020B0402040204020203" pitchFamily="34" charset="0"/>
              </a:rPr>
              <a:t>VNet</a:t>
            </a:r>
            <a:r>
              <a:rPr sz="2800" dirty="0">
                <a:latin typeface="Nirmala UI Semilight" panose="020B0402040204020203" pitchFamily="34" charset="0"/>
                <a:ea typeface="Nirmala UI Semilight" panose="020B0402040204020203" pitchFamily="34" charset="0"/>
                <a:cs typeface="Nirmala UI Semilight" panose="020B0402040204020203" pitchFamily="34" charset="0"/>
              </a:rPr>
              <a:t> </a:t>
            </a:r>
            <a:r>
              <a:rPr sz="2800" spc="-5" dirty="0">
                <a:latin typeface="Nirmala UI Semilight" panose="020B0402040204020203" pitchFamily="34" charset="0"/>
                <a:ea typeface="Nirmala UI Semilight" panose="020B0402040204020203" pitchFamily="34" charset="0"/>
                <a:cs typeface="Nirmala UI Semilight" panose="020B0402040204020203" pitchFamily="34" charset="0"/>
              </a:rPr>
              <a:t>connectivity</a:t>
            </a:r>
            <a:endParaRPr sz="2800"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698500" lvl="1" indent="-228600">
              <a:lnSpc>
                <a:spcPct val="100000"/>
              </a:lnSpc>
              <a:spcBef>
                <a:spcPts val="204"/>
              </a:spcBef>
              <a:buFont typeface="Arial"/>
              <a:buChar char="•"/>
              <a:tabLst>
                <a:tab pos="698500" algn="l"/>
              </a:tabLst>
            </a:pPr>
            <a:r>
              <a:rPr sz="2400" spc="-5" dirty="0">
                <a:latin typeface="Nirmala UI Semilight" panose="020B0402040204020203" pitchFamily="34" charset="0"/>
                <a:ea typeface="Nirmala UI Semilight" panose="020B0402040204020203" pitchFamily="34" charset="0"/>
                <a:cs typeface="Nirmala UI Semilight" panose="020B0402040204020203" pitchFamily="34" charset="0"/>
              </a:rPr>
              <a:t>VNets </a:t>
            </a:r>
            <a:r>
              <a:rPr sz="2400" spc="-10" dirty="0">
                <a:latin typeface="Nirmala UI Semilight" panose="020B0402040204020203" pitchFamily="34" charset="0"/>
                <a:ea typeface="Nirmala UI Semilight" panose="020B0402040204020203" pitchFamily="34" charset="0"/>
                <a:cs typeface="Nirmala UI Semilight" panose="020B0402040204020203" pitchFamily="34" charset="0"/>
              </a:rPr>
              <a:t>can </a:t>
            </a:r>
            <a:r>
              <a:rPr sz="2400" dirty="0">
                <a:latin typeface="Nirmala UI Semilight" panose="020B0402040204020203" pitchFamily="34" charset="0"/>
                <a:ea typeface="Nirmala UI Semilight" panose="020B0402040204020203" pitchFamily="34" charset="0"/>
                <a:cs typeface="Nirmala UI Semilight" panose="020B0402040204020203" pitchFamily="34" charset="0"/>
              </a:rPr>
              <a:t>be </a:t>
            </a:r>
            <a:r>
              <a:rPr sz="2400" spc="-10" dirty="0">
                <a:latin typeface="Nirmala UI Semilight" panose="020B0402040204020203" pitchFamily="34" charset="0"/>
                <a:ea typeface="Nirmala UI Semilight" panose="020B0402040204020203" pitchFamily="34" charset="0"/>
                <a:cs typeface="Nirmala UI Semilight" panose="020B0402040204020203" pitchFamily="34" charset="0"/>
              </a:rPr>
              <a:t>connected </a:t>
            </a:r>
            <a:r>
              <a:rPr sz="2400" spc="-15" dirty="0">
                <a:latin typeface="Nirmala UI Semilight" panose="020B0402040204020203" pitchFamily="34" charset="0"/>
                <a:ea typeface="Nirmala UI Semilight" panose="020B0402040204020203" pitchFamily="34" charset="0"/>
                <a:cs typeface="Nirmala UI Semilight" panose="020B0402040204020203" pitchFamily="34" charset="0"/>
              </a:rPr>
              <a:t>to </a:t>
            </a:r>
            <a:r>
              <a:rPr sz="2400" spc="-5" dirty="0">
                <a:latin typeface="Nirmala UI Semilight" panose="020B0402040204020203" pitchFamily="34" charset="0"/>
                <a:ea typeface="Nirmala UI Semilight" panose="020B0402040204020203" pitchFamily="34" charset="0"/>
                <a:cs typeface="Nirmala UI Semilight" panose="020B0402040204020203" pitchFamily="34" charset="0"/>
              </a:rPr>
              <a:t>each</a:t>
            </a:r>
            <a:r>
              <a:rPr sz="2400" spc="0" dirty="0">
                <a:latin typeface="Nirmala UI Semilight" panose="020B0402040204020203" pitchFamily="34" charset="0"/>
                <a:ea typeface="Nirmala UI Semilight" panose="020B0402040204020203" pitchFamily="34" charset="0"/>
                <a:cs typeface="Nirmala UI Semilight" panose="020B0402040204020203" pitchFamily="34" charset="0"/>
              </a:rPr>
              <a:t> </a:t>
            </a:r>
            <a:r>
              <a:rPr sz="2400" spc="-45" dirty="0">
                <a:latin typeface="Nirmala UI Semilight" panose="020B0402040204020203" pitchFamily="34" charset="0"/>
                <a:ea typeface="Nirmala UI Semilight" panose="020B0402040204020203" pitchFamily="34" charset="0"/>
                <a:cs typeface="Nirmala UI Semilight" panose="020B0402040204020203" pitchFamily="34" charset="0"/>
              </a:rPr>
              <a:t>other.</a:t>
            </a:r>
            <a:endParaRPr sz="2400"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698500" marR="5080" lvl="1" indent="-228600">
              <a:lnSpc>
                <a:spcPts val="2600"/>
              </a:lnSpc>
              <a:spcBef>
                <a:spcPts val="540"/>
              </a:spcBef>
              <a:buFont typeface="Arial"/>
              <a:buChar char="•"/>
              <a:tabLst>
                <a:tab pos="698500" algn="l"/>
              </a:tabLst>
            </a:pPr>
            <a:r>
              <a:rPr sz="2400" spc="-20" dirty="0">
                <a:latin typeface="Nirmala UI Semilight" panose="020B0402040204020203" pitchFamily="34" charset="0"/>
                <a:ea typeface="Nirmala UI Semilight" panose="020B0402040204020203" pitchFamily="34" charset="0"/>
                <a:cs typeface="Nirmala UI Semilight" panose="020B0402040204020203" pitchFamily="34" charset="0"/>
              </a:rPr>
              <a:t>Any </a:t>
            </a:r>
            <a:r>
              <a:rPr sz="2400" spc="-15" dirty="0">
                <a:latin typeface="Nirmala UI Semilight" panose="020B0402040204020203" pitchFamily="34" charset="0"/>
                <a:ea typeface="Nirmala UI Semilight" panose="020B0402040204020203" pitchFamily="34" charset="0"/>
                <a:cs typeface="Nirmala UI Semilight" panose="020B0402040204020203" pitchFamily="34" charset="0"/>
              </a:rPr>
              <a:t>resource </a:t>
            </a:r>
            <a:r>
              <a:rPr sz="2400" spc="-10" dirty="0">
                <a:latin typeface="Nirmala UI Semilight" panose="020B0402040204020203" pitchFamily="34" charset="0"/>
                <a:ea typeface="Nirmala UI Semilight" panose="020B0402040204020203" pitchFamily="34" charset="0"/>
                <a:cs typeface="Nirmala UI Semilight" panose="020B0402040204020203" pitchFamily="34" charset="0"/>
              </a:rPr>
              <a:t>can </a:t>
            </a:r>
            <a:r>
              <a:rPr sz="2400" spc="-15" dirty="0">
                <a:latin typeface="Nirmala UI Semilight" panose="020B0402040204020203" pitchFamily="34" charset="0"/>
                <a:ea typeface="Nirmala UI Semilight" panose="020B0402040204020203" pitchFamily="34" charset="0"/>
                <a:cs typeface="Nirmala UI Semilight" panose="020B0402040204020203" pitchFamily="34" charset="0"/>
              </a:rPr>
              <a:t>communicate </a:t>
            </a:r>
            <a:r>
              <a:rPr sz="2400" spc="-5" dirty="0">
                <a:latin typeface="Nirmala UI Semilight" panose="020B0402040204020203" pitchFamily="34" charset="0"/>
                <a:ea typeface="Nirmala UI Semilight" panose="020B0402040204020203" pitchFamily="34" charset="0"/>
                <a:cs typeface="Nirmala UI Semilight" panose="020B0402040204020203" pitchFamily="34" charset="0"/>
              </a:rPr>
              <a:t>with </a:t>
            </a:r>
            <a:r>
              <a:rPr sz="2400" spc="-15" dirty="0">
                <a:latin typeface="Nirmala UI Semilight" panose="020B0402040204020203" pitchFamily="34" charset="0"/>
                <a:ea typeface="Nirmala UI Semilight" panose="020B0402040204020203" pitchFamily="34" charset="0"/>
                <a:cs typeface="Nirmala UI Semilight" panose="020B0402040204020203" pitchFamily="34" charset="0"/>
              </a:rPr>
              <a:t>any </a:t>
            </a:r>
            <a:r>
              <a:rPr sz="2400" spc="-5" dirty="0">
                <a:latin typeface="Nirmala UI Semilight" panose="020B0402040204020203" pitchFamily="34" charset="0"/>
                <a:ea typeface="Nirmala UI Semilight" panose="020B0402040204020203" pitchFamily="34" charset="0"/>
                <a:cs typeface="Nirmala UI Semilight" panose="020B0402040204020203" pitchFamily="34" charset="0"/>
              </a:rPr>
              <a:t>other </a:t>
            </a:r>
            <a:r>
              <a:rPr sz="2400" spc="-15" dirty="0">
                <a:latin typeface="Nirmala UI Semilight" panose="020B0402040204020203" pitchFamily="34" charset="0"/>
                <a:ea typeface="Nirmala UI Semilight" panose="020B0402040204020203" pitchFamily="34" charset="0"/>
                <a:cs typeface="Nirmala UI Semilight" panose="020B0402040204020203" pitchFamily="34" charset="0"/>
              </a:rPr>
              <a:t>resource </a:t>
            </a:r>
            <a:r>
              <a:rPr sz="2400" spc="-10" dirty="0">
                <a:latin typeface="Nirmala UI Semilight" panose="020B0402040204020203" pitchFamily="34" charset="0"/>
                <a:ea typeface="Nirmala UI Semilight" panose="020B0402040204020203" pitchFamily="34" charset="0"/>
                <a:cs typeface="Nirmala UI Semilight" panose="020B0402040204020203" pitchFamily="34" charset="0"/>
              </a:rPr>
              <a:t>even </a:t>
            </a:r>
            <a:r>
              <a:rPr sz="2400" spc="-5" dirty="0">
                <a:latin typeface="Nirmala UI Semilight" panose="020B0402040204020203" pitchFamily="34" charset="0"/>
                <a:ea typeface="Nirmala UI Semilight" panose="020B0402040204020203" pitchFamily="34" charset="0"/>
                <a:cs typeface="Nirmala UI Semilight" panose="020B0402040204020203" pitchFamily="34" charset="0"/>
              </a:rPr>
              <a:t>on </a:t>
            </a:r>
            <a:r>
              <a:rPr sz="2400" spc="-15" dirty="0">
                <a:latin typeface="Nirmala UI Semilight" panose="020B0402040204020203" pitchFamily="34" charset="0"/>
                <a:ea typeface="Nirmala UI Semilight" panose="020B0402040204020203" pitchFamily="34" charset="0"/>
                <a:cs typeface="Nirmala UI Semilight" panose="020B0402040204020203" pitchFamily="34" charset="0"/>
              </a:rPr>
              <a:t>different  </a:t>
            </a:r>
            <a:r>
              <a:rPr lang="en-US" sz="2400" spc="-5" dirty="0">
                <a:latin typeface="Nirmala UI Semilight" panose="020B0402040204020203" pitchFamily="34" charset="0"/>
                <a:ea typeface="Nirmala UI Semilight" panose="020B0402040204020203" pitchFamily="34" charset="0"/>
                <a:cs typeface="Nirmala UI Semilight" panose="020B0402040204020203" pitchFamily="34" charset="0"/>
              </a:rPr>
              <a:t>Subnets.</a:t>
            </a:r>
            <a:endParaRPr sz="2400"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698500" lvl="1" indent="-228600">
              <a:lnSpc>
                <a:spcPct val="100000"/>
              </a:lnSpc>
              <a:spcBef>
                <a:spcPts val="180"/>
              </a:spcBef>
              <a:buFont typeface="Arial"/>
              <a:buChar char="•"/>
              <a:tabLst>
                <a:tab pos="698500" algn="l"/>
              </a:tabLst>
            </a:pPr>
            <a:r>
              <a:rPr sz="2400" spc="-5" dirty="0">
                <a:latin typeface="Nirmala UI Semilight" panose="020B0402040204020203" pitchFamily="34" charset="0"/>
                <a:ea typeface="Nirmala UI Semilight" panose="020B0402040204020203" pitchFamily="34" charset="0"/>
                <a:cs typeface="Nirmala UI Semilight" panose="020B0402040204020203" pitchFamily="34" charset="0"/>
              </a:rPr>
              <a:t>App server </a:t>
            </a:r>
            <a:r>
              <a:rPr sz="2400" spc="-10" dirty="0">
                <a:latin typeface="Nirmala UI Semilight" panose="020B0402040204020203" pitchFamily="34" charset="0"/>
                <a:ea typeface="Nirmala UI Semilight" panose="020B0402040204020203" pitchFamily="34" charset="0"/>
                <a:cs typeface="Nirmala UI Semilight" panose="020B0402040204020203" pitchFamily="34" charset="0"/>
              </a:rPr>
              <a:t>can </a:t>
            </a:r>
            <a:r>
              <a:rPr sz="2400" spc="-5" dirty="0">
                <a:latin typeface="Nirmala UI Semilight" panose="020B0402040204020203" pitchFamily="34" charset="0"/>
                <a:ea typeface="Nirmala UI Semilight" panose="020B0402040204020203" pitchFamily="34" charset="0"/>
                <a:cs typeface="Nirmala UI Semilight" panose="020B0402040204020203" pitchFamily="34" charset="0"/>
              </a:rPr>
              <a:t>connect </a:t>
            </a:r>
            <a:r>
              <a:rPr sz="2400" spc="-15" dirty="0">
                <a:latin typeface="Nirmala UI Semilight" panose="020B0402040204020203" pitchFamily="34" charset="0"/>
                <a:ea typeface="Nirmala UI Semilight" panose="020B0402040204020203" pitchFamily="34" charset="0"/>
                <a:cs typeface="Nirmala UI Semilight" panose="020B0402040204020203" pitchFamily="34" charset="0"/>
              </a:rPr>
              <a:t>to </a:t>
            </a:r>
            <a:r>
              <a:rPr sz="2400" spc="-10" dirty="0">
                <a:latin typeface="Nirmala UI Semilight" panose="020B0402040204020203" pitchFamily="34" charset="0"/>
                <a:ea typeface="Nirmala UI Semilight" panose="020B0402040204020203" pitchFamily="34" charset="0"/>
                <a:cs typeface="Nirmala UI Semilight" panose="020B0402040204020203" pitchFamily="34" charset="0"/>
              </a:rPr>
              <a:t>database </a:t>
            </a:r>
            <a:r>
              <a:rPr sz="2400" spc="-5" dirty="0">
                <a:latin typeface="Nirmala UI Semilight" panose="020B0402040204020203" pitchFamily="34" charset="0"/>
                <a:ea typeface="Nirmala UI Semilight" panose="020B0402040204020203" pitchFamily="34" charset="0"/>
                <a:cs typeface="Nirmala UI Semilight" panose="020B0402040204020203" pitchFamily="34" charset="0"/>
              </a:rPr>
              <a:t>server on </a:t>
            </a:r>
            <a:r>
              <a:rPr sz="2400" spc="-15" dirty="0">
                <a:latin typeface="Nirmala UI Semilight" panose="020B0402040204020203" pitchFamily="34" charset="0"/>
                <a:ea typeface="Nirmala UI Semilight" panose="020B0402040204020203" pitchFamily="34" charset="0"/>
                <a:cs typeface="Nirmala UI Semilight" panose="020B0402040204020203" pitchFamily="34" charset="0"/>
              </a:rPr>
              <a:t>different</a:t>
            </a:r>
            <a:r>
              <a:rPr sz="2400" spc="0" dirty="0">
                <a:latin typeface="Nirmala UI Semilight" panose="020B0402040204020203" pitchFamily="34" charset="0"/>
                <a:ea typeface="Nirmala UI Semilight" panose="020B0402040204020203" pitchFamily="34" charset="0"/>
                <a:cs typeface="Nirmala UI Semilight" panose="020B0402040204020203" pitchFamily="34" charset="0"/>
              </a:rPr>
              <a:t> </a:t>
            </a:r>
            <a:r>
              <a:rPr lang="en-US" sz="2400" spc="-5" dirty="0">
                <a:latin typeface="Nirmala UI Semilight" panose="020B0402040204020203" pitchFamily="34" charset="0"/>
                <a:ea typeface="Nirmala UI Semilight" panose="020B0402040204020203" pitchFamily="34" charset="0"/>
                <a:cs typeface="Nirmala UI Semilight" panose="020B0402040204020203" pitchFamily="34" charset="0"/>
              </a:rPr>
              <a:t>Subnet</a:t>
            </a:r>
            <a:endParaRPr sz="2400" dirty="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grpSp>
        <p:nvGrpSpPr>
          <p:cNvPr id="17" name="Group 16">
            <a:extLst>
              <a:ext uri="{FF2B5EF4-FFF2-40B4-BE49-F238E27FC236}">
                <a16:creationId xmlns:a16="http://schemas.microsoft.com/office/drawing/2014/main" id="{E0D77167-A642-E2FD-9E47-C714A32B800F}"/>
              </a:ext>
            </a:extLst>
          </p:cNvPr>
          <p:cNvGrpSpPr/>
          <p:nvPr/>
        </p:nvGrpSpPr>
        <p:grpSpPr>
          <a:xfrm>
            <a:off x="202836" y="1455075"/>
            <a:ext cx="6850174" cy="4425744"/>
            <a:chOff x="1142139" y="1280779"/>
            <a:chExt cx="6850174" cy="4425744"/>
          </a:xfrm>
        </p:grpSpPr>
        <p:sp>
          <p:nvSpPr>
            <p:cNvPr id="2" name="Rounded Rectangle 1">
              <a:extLst>
                <a:ext uri="{FF2B5EF4-FFF2-40B4-BE49-F238E27FC236}">
                  <a16:creationId xmlns:a16="http://schemas.microsoft.com/office/drawing/2014/main" id="{3F1E9616-CA9F-D1E6-05A7-39FC091BBA6A}"/>
                </a:ext>
              </a:extLst>
            </p:cNvPr>
            <p:cNvSpPr/>
            <p:nvPr/>
          </p:nvSpPr>
          <p:spPr>
            <a:xfrm>
              <a:off x="4456604" y="1851041"/>
              <a:ext cx="132397" cy="734568"/>
            </a:xfrm>
            <a:custGeom>
              <a:avLst/>
              <a:gdLst/>
              <a:ahLst/>
              <a:cxnLst/>
              <a:rect l="0" t="0" r="0" b="0"/>
              <a:pathLst>
                <a:path w="132397" h="734568">
                  <a:moveTo>
                    <a:pt x="65912" y="377285"/>
                  </a:moveTo>
                  <a:lnTo>
                    <a:pt x="66198" y="668369"/>
                  </a:lnTo>
                  <a:moveTo>
                    <a:pt x="65626" y="92773"/>
                  </a:moveTo>
                  <a:lnTo>
                    <a:pt x="65626" y="164782"/>
                  </a:lnTo>
                  <a:moveTo>
                    <a:pt x="65722" y="326707"/>
                  </a:moveTo>
                  <a:lnTo>
                    <a:pt x="65722" y="197548"/>
                  </a:lnTo>
                  <a:moveTo>
                    <a:pt x="65531" y="43338"/>
                  </a:moveTo>
                  <a:lnTo>
                    <a:pt x="65531" y="0"/>
                  </a:lnTo>
                  <a:moveTo>
                    <a:pt x="0" y="668274"/>
                  </a:moveTo>
                  <a:lnTo>
                    <a:pt x="132397" y="668274"/>
                  </a:lnTo>
                  <a:lnTo>
                    <a:pt x="66293" y="734568"/>
                  </a:lnTo>
                  <a:lnTo>
                    <a:pt x="0" y="668464"/>
                  </a:lnTo>
                  <a:close/>
                </a:path>
              </a:pathLst>
            </a:custGeom>
            <a:noFill/>
            <a:ln w="14287">
              <a:solidFill>
                <a:srgbClr val="44E095"/>
              </a:solidFill>
            </a:ln>
          </p:spPr>
          <p:txBody>
            <a:bodyPr rtlCol="0" anchor="ctr"/>
            <a:lstStyle/>
            <a:p>
              <a:pPr algn="ctr"/>
              <a:endParaRPr sz="12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3" name="Rounded Rectangle 2">
              <a:extLst>
                <a:ext uri="{FF2B5EF4-FFF2-40B4-BE49-F238E27FC236}">
                  <a16:creationId xmlns:a16="http://schemas.microsoft.com/office/drawing/2014/main" id="{3101D8EA-EE9F-7CFA-0E15-C65C105D7B44}"/>
                </a:ext>
              </a:extLst>
            </p:cNvPr>
            <p:cNvSpPr/>
            <p:nvPr/>
          </p:nvSpPr>
          <p:spPr>
            <a:xfrm>
              <a:off x="5322713" y="3317416"/>
              <a:ext cx="734568" cy="132397"/>
            </a:xfrm>
            <a:custGeom>
              <a:avLst/>
              <a:gdLst/>
              <a:ahLst/>
              <a:cxnLst/>
              <a:rect l="0" t="0" r="0" b="0"/>
              <a:pathLst>
                <a:path w="734568" h="132397">
                  <a:moveTo>
                    <a:pt x="66198" y="66198"/>
                  </a:moveTo>
                  <a:lnTo>
                    <a:pt x="357282" y="65912"/>
                  </a:lnTo>
                  <a:moveTo>
                    <a:pt x="641794" y="65627"/>
                  </a:moveTo>
                  <a:lnTo>
                    <a:pt x="569785" y="65627"/>
                  </a:lnTo>
                  <a:moveTo>
                    <a:pt x="537019" y="65722"/>
                  </a:moveTo>
                  <a:lnTo>
                    <a:pt x="407860" y="65722"/>
                  </a:lnTo>
                  <a:moveTo>
                    <a:pt x="734568" y="65531"/>
                  </a:moveTo>
                  <a:lnTo>
                    <a:pt x="691229" y="65531"/>
                  </a:lnTo>
                  <a:moveTo>
                    <a:pt x="66293" y="0"/>
                  </a:moveTo>
                  <a:lnTo>
                    <a:pt x="66293" y="132397"/>
                  </a:lnTo>
                  <a:lnTo>
                    <a:pt x="0" y="66293"/>
                  </a:lnTo>
                  <a:lnTo>
                    <a:pt x="66103" y="0"/>
                  </a:lnTo>
                  <a:close/>
                </a:path>
              </a:pathLst>
            </a:custGeom>
            <a:noFill/>
            <a:ln w="14287">
              <a:solidFill>
                <a:srgbClr val="A8DD38"/>
              </a:solidFill>
            </a:ln>
          </p:spPr>
          <p:txBody>
            <a:bodyPr rtlCol="0" anchor="ctr"/>
            <a:lstStyle/>
            <a:p>
              <a:pPr algn="ctr"/>
              <a:endParaRPr sz="12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4" name="Rounded Rectangle 3">
              <a:extLst>
                <a:ext uri="{FF2B5EF4-FFF2-40B4-BE49-F238E27FC236}">
                  <a16:creationId xmlns:a16="http://schemas.microsoft.com/office/drawing/2014/main" id="{F5E2E5D6-4F19-48FE-28E6-8CCB2452302E}"/>
                </a:ext>
              </a:extLst>
            </p:cNvPr>
            <p:cNvSpPr/>
            <p:nvPr/>
          </p:nvSpPr>
          <p:spPr>
            <a:xfrm>
              <a:off x="4458509" y="4183521"/>
              <a:ext cx="132397" cy="734568"/>
            </a:xfrm>
            <a:custGeom>
              <a:avLst/>
              <a:gdLst/>
              <a:ahLst/>
              <a:cxnLst/>
              <a:rect l="0" t="0" r="0" b="0"/>
              <a:pathLst>
                <a:path w="132397" h="734568">
                  <a:moveTo>
                    <a:pt x="66484" y="357282"/>
                  </a:moveTo>
                  <a:lnTo>
                    <a:pt x="66198" y="66198"/>
                  </a:lnTo>
                  <a:moveTo>
                    <a:pt x="66770" y="641794"/>
                  </a:moveTo>
                  <a:lnTo>
                    <a:pt x="66770" y="569785"/>
                  </a:lnTo>
                  <a:moveTo>
                    <a:pt x="66675" y="407860"/>
                  </a:moveTo>
                  <a:lnTo>
                    <a:pt x="66675" y="537019"/>
                  </a:lnTo>
                  <a:moveTo>
                    <a:pt x="66865" y="691229"/>
                  </a:moveTo>
                  <a:lnTo>
                    <a:pt x="66865" y="734568"/>
                  </a:lnTo>
                  <a:moveTo>
                    <a:pt x="132397" y="66293"/>
                  </a:moveTo>
                  <a:lnTo>
                    <a:pt x="0" y="66293"/>
                  </a:lnTo>
                  <a:lnTo>
                    <a:pt x="66103" y="0"/>
                  </a:lnTo>
                  <a:lnTo>
                    <a:pt x="132397" y="66103"/>
                  </a:lnTo>
                  <a:close/>
                </a:path>
              </a:pathLst>
            </a:custGeom>
            <a:noFill/>
            <a:ln w="14287">
              <a:solidFill>
                <a:srgbClr val="1AC6FF"/>
              </a:solidFill>
            </a:ln>
          </p:spPr>
          <p:txBody>
            <a:bodyPr rtlCol="0" anchor="ctr"/>
            <a:lstStyle/>
            <a:p>
              <a:pPr algn="ctr"/>
              <a:endParaRPr sz="12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7" name="Rounded Rectangle 4">
              <a:extLst>
                <a:ext uri="{FF2B5EF4-FFF2-40B4-BE49-F238E27FC236}">
                  <a16:creationId xmlns:a16="http://schemas.microsoft.com/office/drawing/2014/main" id="{1522E77B-C731-45F8-5344-2CEA8FE1B46F}"/>
                </a:ext>
              </a:extLst>
            </p:cNvPr>
            <p:cNvSpPr/>
            <p:nvPr/>
          </p:nvSpPr>
          <p:spPr>
            <a:xfrm>
              <a:off x="2990231" y="3319318"/>
              <a:ext cx="734568" cy="132397"/>
            </a:xfrm>
            <a:custGeom>
              <a:avLst/>
              <a:gdLst/>
              <a:ahLst/>
              <a:cxnLst/>
              <a:rect l="0" t="0" r="0" b="0"/>
              <a:pathLst>
                <a:path w="734568" h="132397">
                  <a:moveTo>
                    <a:pt x="377285" y="66484"/>
                  </a:moveTo>
                  <a:lnTo>
                    <a:pt x="668369" y="66198"/>
                  </a:lnTo>
                  <a:moveTo>
                    <a:pt x="92773" y="66770"/>
                  </a:moveTo>
                  <a:lnTo>
                    <a:pt x="164782" y="66770"/>
                  </a:lnTo>
                  <a:moveTo>
                    <a:pt x="197548" y="66675"/>
                  </a:moveTo>
                  <a:lnTo>
                    <a:pt x="326707" y="66675"/>
                  </a:lnTo>
                  <a:moveTo>
                    <a:pt x="0" y="66865"/>
                  </a:moveTo>
                  <a:lnTo>
                    <a:pt x="43338" y="66865"/>
                  </a:lnTo>
                  <a:moveTo>
                    <a:pt x="668274" y="132397"/>
                  </a:moveTo>
                  <a:lnTo>
                    <a:pt x="668274" y="0"/>
                  </a:lnTo>
                  <a:lnTo>
                    <a:pt x="734568" y="66103"/>
                  </a:lnTo>
                  <a:lnTo>
                    <a:pt x="668464" y="132397"/>
                  </a:lnTo>
                  <a:close/>
                </a:path>
              </a:pathLst>
            </a:custGeom>
            <a:noFill/>
            <a:ln w="14287">
              <a:solidFill>
                <a:srgbClr val="FD6A65"/>
              </a:solidFill>
            </a:ln>
          </p:spPr>
          <p:txBody>
            <a:bodyPr rtlCol="0" anchor="ctr"/>
            <a:lstStyle/>
            <a:p>
              <a:pPr algn="ctr"/>
              <a:endParaRPr sz="12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8" name="Rounded Rectangle 5">
              <a:extLst>
                <a:ext uri="{FF2B5EF4-FFF2-40B4-BE49-F238E27FC236}">
                  <a16:creationId xmlns:a16="http://schemas.microsoft.com/office/drawing/2014/main" id="{DDC72290-B4F9-6CFD-CBE5-1B2D0D34F73D}"/>
                </a:ext>
              </a:extLst>
            </p:cNvPr>
            <p:cNvSpPr/>
            <p:nvPr/>
          </p:nvSpPr>
          <p:spPr>
            <a:xfrm>
              <a:off x="4180073" y="3035379"/>
              <a:ext cx="689013" cy="692895"/>
            </a:xfrm>
            <a:custGeom>
              <a:avLst/>
              <a:gdLst/>
              <a:ahLst/>
              <a:cxnLst/>
              <a:rect l="0" t="0" r="0" b="0"/>
              <a:pathLst>
                <a:path w="689013" h="692895">
                  <a:moveTo>
                    <a:pt x="782" y="6286"/>
                  </a:moveTo>
                  <a:moveTo>
                    <a:pt x="685527" y="686418"/>
                  </a:moveTo>
                  <a:cubicBezTo>
                    <a:pt x="682449" y="690704"/>
                    <a:pt x="677223" y="692895"/>
                    <a:pt x="672008" y="692086"/>
                  </a:cubicBezTo>
                  <a:lnTo>
                    <a:pt x="586283" y="692086"/>
                  </a:lnTo>
                  <a:cubicBezTo>
                    <a:pt x="579699" y="692045"/>
                    <a:pt x="573960" y="687594"/>
                    <a:pt x="572282" y="681227"/>
                  </a:cubicBezTo>
                  <a:lnTo>
                    <a:pt x="550565" y="586644"/>
                  </a:lnTo>
                  <a:cubicBezTo>
                    <a:pt x="550027" y="584476"/>
                    <a:pt x="550536" y="582181"/>
                    <a:pt x="551938" y="580442"/>
                  </a:cubicBezTo>
                  <a:cubicBezTo>
                    <a:pt x="553340" y="578703"/>
                    <a:pt x="555475" y="577720"/>
                    <a:pt x="557708" y="577786"/>
                  </a:cubicBezTo>
                  <a:cubicBezTo>
                    <a:pt x="581313" y="578129"/>
                    <a:pt x="604282" y="570135"/>
                    <a:pt x="622574" y="555211"/>
                  </a:cubicBezTo>
                  <a:cubicBezTo>
                    <a:pt x="624254" y="553741"/>
                    <a:pt x="626525" y="553141"/>
                    <a:pt x="628713" y="553590"/>
                  </a:cubicBezTo>
                  <a:cubicBezTo>
                    <a:pt x="630900" y="554039"/>
                    <a:pt x="632752" y="555484"/>
                    <a:pt x="633718" y="557497"/>
                  </a:cubicBezTo>
                  <a:lnTo>
                    <a:pt x="686582" y="671797"/>
                  </a:lnTo>
                  <a:cubicBezTo>
                    <a:pt x="689013" y="676480"/>
                    <a:pt x="688605" y="682133"/>
                    <a:pt x="685527" y="686418"/>
                  </a:cubicBezTo>
                  <a:close/>
                  <a:moveTo>
                    <a:pt x="131084" y="577786"/>
                  </a:moveTo>
                  <a:cubicBezTo>
                    <a:pt x="133413" y="577526"/>
                    <a:pt x="135722" y="578426"/>
                    <a:pt x="137262" y="580194"/>
                  </a:cubicBezTo>
                  <a:cubicBezTo>
                    <a:pt x="138802" y="581961"/>
                    <a:pt x="139376" y="584372"/>
                    <a:pt x="138799" y="586644"/>
                  </a:cubicBezTo>
                  <a:lnTo>
                    <a:pt x="115082" y="681227"/>
                  </a:lnTo>
                  <a:cubicBezTo>
                    <a:pt x="113569" y="687824"/>
                    <a:pt x="107555" y="692395"/>
                    <a:pt x="100794" y="692086"/>
                  </a:cubicBezTo>
                  <a:lnTo>
                    <a:pt x="15069" y="692086"/>
                  </a:lnTo>
                  <a:cubicBezTo>
                    <a:pt x="10150" y="692209"/>
                    <a:pt x="5527" y="689740"/>
                    <a:pt x="2893" y="685584"/>
                  </a:cubicBezTo>
                  <a:cubicBezTo>
                    <a:pt x="259" y="681428"/>
                    <a:pt x="0" y="676194"/>
                    <a:pt x="2210" y="671797"/>
                  </a:cubicBezTo>
                  <a:lnTo>
                    <a:pt x="55074" y="557497"/>
                  </a:lnTo>
                  <a:cubicBezTo>
                    <a:pt x="56040" y="555484"/>
                    <a:pt x="57892" y="554039"/>
                    <a:pt x="60079" y="553590"/>
                  </a:cubicBezTo>
                  <a:cubicBezTo>
                    <a:pt x="62267" y="553141"/>
                    <a:pt x="64538" y="553741"/>
                    <a:pt x="66218" y="555211"/>
                  </a:cubicBezTo>
                  <a:cubicBezTo>
                    <a:pt x="84485" y="570179"/>
                    <a:pt x="107471" y="578179"/>
                    <a:pt x="131084" y="577786"/>
                  </a:cubicBezTo>
                  <a:close/>
                  <a:moveTo>
                    <a:pt x="516846" y="533209"/>
                  </a:moveTo>
                  <a:cubicBezTo>
                    <a:pt x="514584" y="531751"/>
                    <a:pt x="511679" y="531751"/>
                    <a:pt x="509417" y="533209"/>
                  </a:cubicBezTo>
                  <a:lnTo>
                    <a:pt x="452267" y="559783"/>
                  </a:lnTo>
                  <a:cubicBezTo>
                    <a:pt x="450243" y="560840"/>
                    <a:pt x="447827" y="560820"/>
                    <a:pt x="445821" y="559731"/>
                  </a:cubicBezTo>
                  <a:cubicBezTo>
                    <a:pt x="443814" y="558642"/>
                    <a:pt x="442482" y="556626"/>
                    <a:pt x="442265" y="554354"/>
                  </a:cubicBezTo>
                  <a:lnTo>
                    <a:pt x="435979" y="509777"/>
                  </a:lnTo>
                  <a:cubicBezTo>
                    <a:pt x="435689" y="506643"/>
                    <a:pt x="437407" y="503666"/>
                    <a:pt x="440265" y="502348"/>
                  </a:cubicBezTo>
                  <a:lnTo>
                    <a:pt x="487414" y="480345"/>
                  </a:lnTo>
                  <a:cubicBezTo>
                    <a:pt x="488440" y="479897"/>
                    <a:pt x="489110" y="478892"/>
                    <a:pt x="489128" y="477773"/>
                  </a:cubicBezTo>
                  <a:cubicBezTo>
                    <a:pt x="488834" y="474255"/>
                    <a:pt x="488834" y="470719"/>
                    <a:pt x="489128" y="467201"/>
                  </a:cubicBezTo>
                  <a:cubicBezTo>
                    <a:pt x="489442" y="464798"/>
                    <a:pt x="488464" y="462408"/>
                    <a:pt x="486557" y="460914"/>
                  </a:cubicBezTo>
                  <a:lnTo>
                    <a:pt x="395974" y="381476"/>
                  </a:lnTo>
                  <a:cubicBezTo>
                    <a:pt x="393468" y="379792"/>
                    <a:pt x="390193" y="379792"/>
                    <a:pt x="387687" y="381476"/>
                  </a:cubicBezTo>
                  <a:cubicBezTo>
                    <a:pt x="361164" y="396789"/>
                    <a:pt x="328486" y="396789"/>
                    <a:pt x="301962" y="381476"/>
                  </a:cubicBezTo>
                  <a:cubicBezTo>
                    <a:pt x="299571" y="379759"/>
                    <a:pt x="296352" y="379759"/>
                    <a:pt x="293961" y="381476"/>
                  </a:cubicBezTo>
                  <a:lnTo>
                    <a:pt x="203378" y="460914"/>
                  </a:lnTo>
                  <a:cubicBezTo>
                    <a:pt x="201471" y="462408"/>
                    <a:pt x="200493" y="464798"/>
                    <a:pt x="200807" y="467201"/>
                  </a:cubicBezTo>
                  <a:cubicBezTo>
                    <a:pt x="201101" y="470719"/>
                    <a:pt x="201101" y="474255"/>
                    <a:pt x="200807" y="477773"/>
                  </a:cubicBezTo>
                  <a:cubicBezTo>
                    <a:pt x="200266" y="478977"/>
                    <a:pt x="200621" y="480394"/>
                    <a:pt x="201664" y="481202"/>
                  </a:cubicBezTo>
                  <a:lnTo>
                    <a:pt x="248813" y="503205"/>
                  </a:lnTo>
                  <a:cubicBezTo>
                    <a:pt x="251671" y="504524"/>
                    <a:pt x="253388" y="507500"/>
                    <a:pt x="253099" y="510635"/>
                  </a:cubicBezTo>
                  <a:lnTo>
                    <a:pt x="246812" y="555212"/>
                  </a:lnTo>
                  <a:cubicBezTo>
                    <a:pt x="246596" y="557484"/>
                    <a:pt x="245263" y="559500"/>
                    <a:pt x="243257" y="560589"/>
                  </a:cubicBezTo>
                  <a:cubicBezTo>
                    <a:pt x="241251" y="561678"/>
                    <a:pt x="238834" y="561697"/>
                    <a:pt x="236811" y="560641"/>
                  </a:cubicBezTo>
                  <a:lnTo>
                    <a:pt x="179661" y="534066"/>
                  </a:lnTo>
                  <a:cubicBezTo>
                    <a:pt x="177399" y="532609"/>
                    <a:pt x="174494" y="532609"/>
                    <a:pt x="172232" y="534066"/>
                  </a:cubicBezTo>
                  <a:cubicBezTo>
                    <a:pt x="159985" y="543666"/>
                    <a:pt x="144928" y="548986"/>
                    <a:pt x="129369" y="549211"/>
                  </a:cubicBezTo>
                  <a:cubicBezTo>
                    <a:pt x="97548" y="549441"/>
                    <a:pt x="69443" y="528513"/>
                    <a:pt x="60543" y="497961"/>
                  </a:cubicBezTo>
                  <a:cubicBezTo>
                    <a:pt x="51643" y="467408"/>
                    <a:pt x="64112" y="434661"/>
                    <a:pt x="91079" y="417766"/>
                  </a:cubicBezTo>
                  <a:cubicBezTo>
                    <a:pt x="93300" y="416359"/>
                    <a:pt x="94521" y="413806"/>
                    <a:pt x="94222" y="411194"/>
                  </a:cubicBezTo>
                  <a:lnTo>
                    <a:pt x="83363" y="295179"/>
                  </a:lnTo>
                  <a:cubicBezTo>
                    <a:pt x="83003" y="292173"/>
                    <a:pt x="80856" y="289686"/>
                    <a:pt x="77934" y="288893"/>
                  </a:cubicBezTo>
                  <a:cubicBezTo>
                    <a:pt x="36672" y="277401"/>
                    <a:pt x="10224" y="237216"/>
                    <a:pt x="15989" y="194773"/>
                  </a:cubicBezTo>
                  <a:cubicBezTo>
                    <a:pt x="21754" y="152331"/>
                    <a:pt x="57962" y="120656"/>
                    <a:pt x="100794" y="120586"/>
                  </a:cubicBezTo>
                  <a:cubicBezTo>
                    <a:pt x="113697" y="120606"/>
                    <a:pt x="126418" y="123640"/>
                    <a:pt x="137942" y="129444"/>
                  </a:cubicBezTo>
                  <a:cubicBezTo>
                    <a:pt x="139782" y="130148"/>
                    <a:pt x="141817" y="130148"/>
                    <a:pt x="143657" y="129444"/>
                  </a:cubicBezTo>
                  <a:lnTo>
                    <a:pt x="267672" y="77724"/>
                  </a:lnTo>
                  <a:cubicBezTo>
                    <a:pt x="270239" y="76685"/>
                    <a:pt x="271930" y="74206"/>
                    <a:pt x="271958" y="71437"/>
                  </a:cubicBezTo>
                  <a:cubicBezTo>
                    <a:pt x="271958" y="31983"/>
                    <a:pt x="303942" y="0"/>
                    <a:pt x="343396" y="0"/>
                  </a:cubicBezTo>
                  <a:cubicBezTo>
                    <a:pt x="382850" y="0"/>
                    <a:pt x="414833" y="31983"/>
                    <a:pt x="414833" y="71437"/>
                  </a:cubicBezTo>
                  <a:cubicBezTo>
                    <a:pt x="414862" y="74206"/>
                    <a:pt x="416553" y="76685"/>
                    <a:pt x="419120" y="77724"/>
                  </a:cubicBezTo>
                  <a:lnTo>
                    <a:pt x="544278" y="129159"/>
                  </a:lnTo>
                  <a:cubicBezTo>
                    <a:pt x="546118" y="129862"/>
                    <a:pt x="548153" y="129862"/>
                    <a:pt x="549993" y="129159"/>
                  </a:cubicBezTo>
                  <a:cubicBezTo>
                    <a:pt x="561368" y="123539"/>
                    <a:pt x="573882" y="120606"/>
                    <a:pt x="586569" y="120586"/>
                  </a:cubicBezTo>
                  <a:cubicBezTo>
                    <a:pt x="629402" y="120656"/>
                    <a:pt x="665609" y="152331"/>
                    <a:pt x="671374" y="194773"/>
                  </a:cubicBezTo>
                  <a:cubicBezTo>
                    <a:pt x="677139" y="237216"/>
                    <a:pt x="650691" y="277401"/>
                    <a:pt x="609429" y="288893"/>
                  </a:cubicBezTo>
                  <a:cubicBezTo>
                    <a:pt x="606508" y="289686"/>
                    <a:pt x="604360" y="292173"/>
                    <a:pt x="604000" y="295179"/>
                  </a:cubicBezTo>
                  <a:lnTo>
                    <a:pt x="593142" y="411194"/>
                  </a:lnTo>
                  <a:cubicBezTo>
                    <a:pt x="592843" y="413806"/>
                    <a:pt x="594064" y="416359"/>
                    <a:pt x="596285" y="417766"/>
                  </a:cubicBezTo>
                  <a:cubicBezTo>
                    <a:pt x="623251" y="434661"/>
                    <a:pt x="635721" y="467408"/>
                    <a:pt x="626821" y="497961"/>
                  </a:cubicBezTo>
                  <a:cubicBezTo>
                    <a:pt x="617921" y="528513"/>
                    <a:pt x="589816" y="549441"/>
                    <a:pt x="557994" y="549211"/>
                  </a:cubicBezTo>
                  <a:cubicBezTo>
                    <a:pt x="542929" y="548375"/>
                    <a:pt x="528519" y="542771"/>
                    <a:pt x="516846" y="533209"/>
                  </a:cubicBezTo>
                  <a:close/>
                  <a:moveTo>
                    <a:pt x="161659" y="413479"/>
                  </a:moveTo>
                  <a:cubicBezTo>
                    <a:pt x="164050" y="415196"/>
                    <a:pt x="167269" y="415196"/>
                    <a:pt x="169660" y="413479"/>
                  </a:cubicBezTo>
                  <a:lnTo>
                    <a:pt x="258814" y="335470"/>
                  </a:lnTo>
                  <a:cubicBezTo>
                    <a:pt x="261041" y="333706"/>
                    <a:pt x="261950" y="330751"/>
                    <a:pt x="261100" y="328040"/>
                  </a:cubicBezTo>
                  <a:cubicBezTo>
                    <a:pt x="259038" y="320985"/>
                    <a:pt x="257980" y="313674"/>
                    <a:pt x="257957" y="306323"/>
                  </a:cubicBezTo>
                  <a:cubicBezTo>
                    <a:pt x="257501" y="304913"/>
                    <a:pt x="256460" y="303767"/>
                    <a:pt x="255099" y="303180"/>
                  </a:cubicBezTo>
                  <a:lnTo>
                    <a:pt x="166802" y="268890"/>
                  </a:lnTo>
                  <a:cubicBezTo>
                    <a:pt x="164521" y="267501"/>
                    <a:pt x="161655" y="267501"/>
                    <a:pt x="159373" y="268890"/>
                  </a:cubicBezTo>
                  <a:cubicBezTo>
                    <a:pt x="154551" y="273242"/>
                    <a:pt x="149283" y="277074"/>
                    <a:pt x="143657" y="280320"/>
                  </a:cubicBezTo>
                  <a:cubicBezTo>
                    <a:pt x="141170" y="281669"/>
                    <a:pt x="139713" y="284358"/>
                    <a:pt x="139942" y="287178"/>
                  </a:cubicBezTo>
                  <a:lnTo>
                    <a:pt x="151086" y="406336"/>
                  </a:lnTo>
                  <a:cubicBezTo>
                    <a:pt x="151591" y="408804"/>
                    <a:pt x="153312" y="410847"/>
                    <a:pt x="155658" y="411765"/>
                  </a:cubicBezTo>
                  <a:close/>
                  <a:moveTo>
                    <a:pt x="311392" y="227456"/>
                  </a:moveTo>
                  <a:cubicBezTo>
                    <a:pt x="313787" y="226305"/>
                    <a:pt x="315253" y="223824"/>
                    <a:pt x="315107" y="221170"/>
                  </a:cubicBezTo>
                  <a:lnTo>
                    <a:pt x="315107" y="149161"/>
                  </a:lnTo>
                  <a:cubicBezTo>
                    <a:pt x="316476" y="145532"/>
                    <a:pt x="314701" y="141473"/>
                    <a:pt x="311106" y="140017"/>
                  </a:cubicBezTo>
                  <a:cubicBezTo>
                    <a:pt x="306258" y="137405"/>
                    <a:pt x="301666" y="134343"/>
                    <a:pt x="297390" y="130873"/>
                  </a:cubicBezTo>
                  <a:cubicBezTo>
                    <a:pt x="295108" y="129484"/>
                    <a:pt x="292242" y="129484"/>
                    <a:pt x="289961" y="130873"/>
                  </a:cubicBezTo>
                  <a:lnTo>
                    <a:pt x="186805" y="173164"/>
                  </a:lnTo>
                  <a:cubicBezTo>
                    <a:pt x="183359" y="174614"/>
                    <a:pt x="181614" y="178477"/>
                    <a:pt x="182804" y="182022"/>
                  </a:cubicBezTo>
                  <a:cubicBezTo>
                    <a:pt x="185202" y="189898"/>
                    <a:pt x="186454" y="198078"/>
                    <a:pt x="186519" y="206311"/>
                  </a:cubicBezTo>
                  <a:lnTo>
                    <a:pt x="186519" y="208311"/>
                  </a:lnTo>
                  <a:cubicBezTo>
                    <a:pt x="186178" y="211539"/>
                    <a:pt x="188056" y="214590"/>
                    <a:pt x="191091" y="215740"/>
                  </a:cubicBezTo>
                  <a:lnTo>
                    <a:pt x="275102" y="248316"/>
                  </a:lnTo>
                  <a:cubicBezTo>
                    <a:pt x="277793" y="249205"/>
                    <a:pt x="280755" y="248547"/>
                    <a:pt x="282817" y="246601"/>
                  </a:cubicBezTo>
                  <a:cubicBezTo>
                    <a:pt x="290864" y="238251"/>
                    <a:pt x="300608" y="231723"/>
                    <a:pt x="311392" y="227456"/>
                  </a:cubicBezTo>
                  <a:close/>
                  <a:moveTo>
                    <a:pt x="372257" y="221170"/>
                  </a:moveTo>
                  <a:cubicBezTo>
                    <a:pt x="372110" y="223824"/>
                    <a:pt x="373576" y="226305"/>
                    <a:pt x="375971" y="227456"/>
                  </a:cubicBezTo>
                  <a:cubicBezTo>
                    <a:pt x="386755" y="231723"/>
                    <a:pt x="396499" y="238251"/>
                    <a:pt x="404546" y="246601"/>
                  </a:cubicBezTo>
                  <a:cubicBezTo>
                    <a:pt x="406608" y="248547"/>
                    <a:pt x="409570" y="249205"/>
                    <a:pt x="412262" y="248316"/>
                  </a:cubicBezTo>
                  <a:lnTo>
                    <a:pt x="496272" y="215740"/>
                  </a:lnTo>
                  <a:cubicBezTo>
                    <a:pt x="499307" y="214590"/>
                    <a:pt x="501185" y="211539"/>
                    <a:pt x="500844" y="208311"/>
                  </a:cubicBezTo>
                  <a:lnTo>
                    <a:pt x="500844" y="206311"/>
                  </a:lnTo>
                  <a:cubicBezTo>
                    <a:pt x="501143" y="198942"/>
                    <a:pt x="502392" y="191643"/>
                    <a:pt x="504559" y="184594"/>
                  </a:cubicBezTo>
                  <a:cubicBezTo>
                    <a:pt x="505749" y="181049"/>
                    <a:pt x="504005" y="177186"/>
                    <a:pt x="500558" y="175735"/>
                  </a:cubicBezTo>
                  <a:lnTo>
                    <a:pt x="397403" y="133444"/>
                  </a:lnTo>
                  <a:cubicBezTo>
                    <a:pt x="395121" y="132055"/>
                    <a:pt x="392255" y="132055"/>
                    <a:pt x="389973" y="133444"/>
                  </a:cubicBezTo>
                  <a:cubicBezTo>
                    <a:pt x="385697" y="136915"/>
                    <a:pt x="381105" y="139976"/>
                    <a:pt x="376257" y="142588"/>
                  </a:cubicBezTo>
                  <a:cubicBezTo>
                    <a:pt x="373757" y="143813"/>
                    <a:pt x="372196" y="146378"/>
                    <a:pt x="372257" y="149161"/>
                  </a:cubicBezTo>
                  <a:lnTo>
                    <a:pt x="372257" y="220598"/>
                  </a:lnTo>
                  <a:close/>
                  <a:moveTo>
                    <a:pt x="427121" y="328040"/>
                  </a:moveTo>
                  <a:cubicBezTo>
                    <a:pt x="426270" y="330751"/>
                    <a:pt x="427179" y="333706"/>
                    <a:pt x="429407" y="335470"/>
                  </a:cubicBezTo>
                  <a:lnTo>
                    <a:pt x="517703" y="414908"/>
                  </a:lnTo>
                  <a:cubicBezTo>
                    <a:pt x="520094" y="416625"/>
                    <a:pt x="523314" y="416625"/>
                    <a:pt x="525704" y="414908"/>
                  </a:cubicBezTo>
                  <a:lnTo>
                    <a:pt x="531705" y="412336"/>
                  </a:lnTo>
                  <a:cubicBezTo>
                    <a:pt x="534207" y="411316"/>
                    <a:pt x="535958" y="409019"/>
                    <a:pt x="536277" y="406336"/>
                  </a:cubicBezTo>
                  <a:lnTo>
                    <a:pt x="547421" y="285749"/>
                  </a:lnTo>
                  <a:cubicBezTo>
                    <a:pt x="547706" y="282992"/>
                    <a:pt x="546369" y="280318"/>
                    <a:pt x="543992" y="278891"/>
                  </a:cubicBezTo>
                  <a:cubicBezTo>
                    <a:pt x="538366" y="275645"/>
                    <a:pt x="533098" y="271814"/>
                    <a:pt x="528276" y="267461"/>
                  </a:cubicBezTo>
                  <a:cubicBezTo>
                    <a:pt x="525994" y="266072"/>
                    <a:pt x="523128" y="266072"/>
                    <a:pt x="520847" y="267461"/>
                  </a:cubicBezTo>
                  <a:lnTo>
                    <a:pt x="432550" y="301751"/>
                  </a:lnTo>
                  <a:cubicBezTo>
                    <a:pt x="430591" y="302393"/>
                    <a:pt x="429304" y="304265"/>
                    <a:pt x="429407" y="306323"/>
                  </a:cubicBezTo>
                  <a:cubicBezTo>
                    <a:pt x="429663" y="313633"/>
                    <a:pt x="428893" y="320944"/>
                    <a:pt x="427121" y="328040"/>
                  </a:cubicBezTo>
                  <a:close/>
                  <a:moveTo>
                    <a:pt x="315107" y="431196"/>
                  </a:moveTo>
                  <a:cubicBezTo>
                    <a:pt x="333640" y="436155"/>
                    <a:pt x="353152" y="436155"/>
                    <a:pt x="371685" y="431196"/>
                  </a:cubicBezTo>
                  <a:cubicBezTo>
                    <a:pt x="373626" y="430780"/>
                    <a:pt x="375653" y="431190"/>
                    <a:pt x="377279" y="432329"/>
                  </a:cubicBezTo>
                  <a:cubicBezTo>
                    <a:pt x="378905" y="433467"/>
                    <a:pt x="379984" y="435231"/>
                    <a:pt x="380258" y="437197"/>
                  </a:cubicBezTo>
                  <a:lnTo>
                    <a:pt x="412833" y="675798"/>
                  </a:lnTo>
                  <a:cubicBezTo>
                    <a:pt x="413409" y="679870"/>
                    <a:pt x="412202" y="683994"/>
                    <a:pt x="409521" y="687113"/>
                  </a:cubicBezTo>
                  <a:cubicBezTo>
                    <a:pt x="406840" y="690232"/>
                    <a:pt x="402944" y="692044"/>
                    <a:pt x="398831" y="692086"/>
                  </a:cubicBezTo>
                  <a:lnTo>
                    <a:pt x="288532" y="692086"/>
                  </a:lnTo>
                  <a:cubicBezTo>
                    <a:pt x="284419" y="692044"/>
                    <a:pt x="280524" y="690232"/>
                    <a:pt x="277842" y="687113"/>
                  </a:cubicBezTo>
                  <a:cubicBezTo>
                    <a:pt x="275161" y="683994"/>
                    <a:pt x="273954" y="679870"/>
                    <a:pt x="274530" y="675798"/>
                  </a:cubicBezTo>
                  <a:lnTo>
                    <a:pt x="306534" y="437197"/>
                  </a:lnTo>
                  <a:cubicBezTo>
                    <a:pt x="306808" y="435231"/>
                    <a:pt x="307887" y="433467"/>
                    <a:pt x="309513" y="432329"/>
                  </a:cubicBezTo>
                  <a:cubicBezTo>
                    <a:pt x="311139" y="431190"/>
                    <a:pt x="313166" y="430780"/>
                    <a:pt x="315107" y="431196"/>
                  </a:cubicBezTo>
                  <a:close/>
                </a:path>
              </a:pathLst>
            </a:custGeom>
            <a:solidFill>
              <a:srgbClr val="4F92FF"/>
            </a:solidFill>
            <a:ln>
              <a:noFill/>
            </a:ln>
          </p:spPr>
          <p:txBody>
            <a:bodyPr rtlCol="0" anchor="ctr"/>
            <a:lstStyle/>
            <a:p>
              <a:pPr algn="ctr"/>
              <a:endParaRPr sz="1200" dirty="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9" name="TextBox 8">
              <a:extLst>
                <a:ext uri="{FF2B5EF4-FFF2-40B4-BE49-F238E27FC236}">
                  <a16:creationId xmlns:a16="http://schemas.microsoft.com/office/drawing/2014/main" id="{1530A2FD-56AE-C1B0-7FA6-5058D0D8E997}"/>
                </a:ext>
              </a:extLst>
            </p:cNvPr>
            <p:cNvSpPr txBox="1"/>
            <p:nvPr/>
          </p:nvSpPr>
          <p:spPr>
            <a:xfrm>
              <a:off x="4070259" y="1280779"/>
              <a:ext cx="862417" cy="184666"/>
            </a:xfrm>
            <a:prstGeom prst="rect">
              <a:avLst/>
            </a:prstGeom>
            <a:noFill/>
            <a:ln>
              <a:noFill/>
            </a:ln>
          </p:spPr>
          <p:txBody>
            <a:bodyPr wrap="none" lIns="0" tIns="0" rIns="0" bIns="0" anchor="t">
              <a:spAutoFit/>
            </a:bodyPr>
            <a:lstStyle/>
            <a:p>
              <a:pPr algn="ctr"/>
              <a:r>
                <a:rPr sz="1200" b="1">
                  <a:solidFill>
                    <a:srgbClr val="3CC583"/>
                  </a:solidFill>
                  <a:latin typeface="Nirmala UI Semilight" panose="020B0402040204020203" pitchFamily="34" charset="0"/>
                  <a:ea typeface="Nirmala UI Semilight" panose="020B0402040204020203" pitchFamily="34" charset="0"/>
                  <a:cs typeface="Nirmala UI Semilight" panose="020B0402040204020203" pitchFamily="34" charset="0"/>
                </a:rPr>
                <a:t>VNet Peering</a:t>
              </a:r>
            </a:p>
          </p:txBody>
        </p:sp>
        <p:sp>
          <p:nvSpPr>
            <p:cNvPr id="10" name="TextBox 9">
              <a:extLst>
                <a:ext uri="{FF2B5EF4-FFF2-40B4-BE49-F238E27FC236}">
                  <a16:creationId xmlns:a16="http://schemas.microsoft.com/office/drawing/2014/main" id="{60CCBD69-017F-F4A3-ED98-CC14D28807E3}"/>
                </a:ext>
              </a:extLst>
            </p:cNvPr>
            <p:cNvSpPr txBox="1"/>
            <p:nvPr/>
          </p:nvSpPr>
          <p:spPr>
            <a:xfrm>
              <a:off x="3492284" y="1508141"/>
              <a:ext cx="2037417" cy="369332"/>
            </a:xfrm>
            <a:prstGeom prst="rect">
              <a:avLst/>
            </a:prstGeom>
            <a:noFill/>
            <a:ln>
              <a:noFill/>
            </a:ln>
          </p:spPr>
          <p:txBody>
            <a:bodyPr wrap="none" lIns="0" tIns="0" rIns="0" bIns="0" anchor="t">
              <a:spAutoFit/>
            </a:bodyPr>
            <a:lstStyle/>
            <a:p>
              <a:pPr algn="ctr"/>
              <a:r>
                <a:rPr sz="1200" b="0">
                  <a:solidFill>
                    <a:srgbClr val="484848"/>
                  </a:solidFill>
                  <a:latin typeface="Nirmala UI Semilight" panose="020B0402040204020203" pitchFamily="34" charset="0"/>
                  <a:ea typeface="Nirmala UI Semilight" panose="020B0402040204020203" pitchFamily="34" charset="0"/>
                  <a:cs typeface="Nirmala UI Semilight" panose="020B0402040204020203" pitchFamily="34" charset="0"/>
                </a:rPr>
                <a:t>Connects VNets across regions
for secure communication</a:t>
              </a:r>
            </a:p>
          </p:txBody>
        </p:sp>
        <p:sp>
          <p:nvSpPr>
            <p:cNvPr id="11" name="TextBox 10">
              <a:extLst>
                <a:ext uri="{FF2B5EF4-FFF2-40B4-BE49-F238E27FC236}">
                  <a16:creationId xmlns:a16="http://schemas.microsoft.com/office/drawing/2014/main" id="{C1984DF3-DD13-4432-5401-EED1FE7FD4F0}"/>
                </a:ext>
              </a:extLst>
            </p:cNvPr>
            <p:cNvSpPr txBox="1"/>
            <p:nvPr/>
          </p:nvSpPr>
          <p:spPr>
            <a:xfrm>
              <a:off x="1634642" y="3071479"/>
              <a:ext cx="1105367" cy="369332"/>
            </a:xfrm>
            <a:prstGeom prst="rect">
              <a:avLst/>
            </a:prstGeom>
            <a:noFill/>
            <a:ln>
              <a:noFill/>
            </a:ln>
          </p:spPr>
          <p:txBody>
            <a:bodyPr wrap="none" lIns="0" tIns="0" rIns="0" bIns="0" anchor="t">
              <a:spAutoFit/>
            </a:bodyPr>
            <a:lstStyle/>
            <a:p>
              <a:pPr algn="r"/>
              <a:r>
                <a:rPr sz="1200" b="1">
                  <a:solidFill>
                    <a:srgbClr val="E55753"/>
                  </a:solidFill>
                  <a:latin typeface="Nirmala UI Semilight" panose="020B0402040204020203" pitchFamily="34" charset="0"/>
                  <a:ea typeface="Nirmala UI Semilight" panose="020B0402040204020203" pitchFamily="34" charset="0"/>
                  <a:cs typeface="Nirmala UI Semilight" panose="020B0402040204020203" pitchFamily="34" charset="0"/>
                </a:rPr>
                <a:t>Network Security
Groups</a:t>
              </a:r>
            </a:p>
          </p:txBody>
        </p:sp>
        <p:sp>
          <p:nvSpPr>
            <p:cNvPr id="12" name="TextBox 11">
              <a:extLst>
                <a:ext uri="{FF2B5EF4-FFF2-40B4-BE49-F238E27FC236}">
                  <a16:creationId xmlns:a16="http://schemas.microsoft.com/office/drawing/2014/main" id="{6C9E1C04-6B8D-BDFE-D519-5191BF41CFF2}"/>
                </a:ext>
              </a:extLst>
            </p:cNvPr>
            <p:cNvSpPr txBox="1"/>
            <p:nvPr/>
          </p:nvSpPr>
          <p:spPr>
            <a:xfrm>
              <a:off x="6200156" y="3138154"/>
              <a:ext cx="1037592" cy="184666"/>
            </a:xfrm>
            <a:prstGeom prst="rect">
              <a:avLst/>
            </a:prstGeom>
            <a:noFill/>
            <a:ln>
              <a:noFill/>
            </a:ln>
          </p:spPr>
          <p:txBody>
            <a:bodyPr wrap="none" lIns="0" tIns="0" rIns="0" bIns="0" anchor="t">
              <a:spAutoFit/>
            </a:bodyPr>
            <a:lstStyle/>
            <a:p>
              <a:pPr algn="l"/>
              <a:r>
                <a:rPr sz="1200" b="1">
                  <a:solidFill>
                    <a:srgbClr val="92BD39"/>
                  </a:solidFill>
                  <a:latin typeface="Nirmala UI Semilight" panose="020B0402040204020203" pitchFamily="34" charset="0"/>
                  <a:ea typeface="Nirmala UI Semilight" panose="020B0402040204020203" pitchFamily="34" charset="0"/>
                  <a:cs typeface="Nirmala UI Semilight" panose="020B0402040204020203" pitchFamily="34" charset="0"/>
                </a:rPr>
                <a:t>Internal Routing</a:t>
              </a:r>
            </a:p>
          </p:txBody>
        </p:sp>
        <p:sp>
          <p:nvSpPr>
            <p:cNvPr id="13" name="TextBox 12">
              <a:extLst>
                <a:ext uri="{FF2B5EF4-FFF2-40B4-BE49-F238E27FC236}">
                  <a16:creationId xmlns:a16="http://schemas.microsoft.com/office/drawing/2014/main" id="{EB472721-58C6-3605-BD52-63599B41E3D2}"/>
                </a:ext>
              </a:extLst>
            </p:cNvPr>
            <p:cNvSpPr txBox="1"/>
            <p:nvPr/>
          </p:nvSpPr>
          <p:spPr>
            <a:xfrm>
              <a:off x="1142139" y="3422666"/>
              <a:ext cx="1630254" cy="553998"/>
            </a:xfrm>
            <a:prstGeom prst="rect">
              <a:avLst/>
            </a:prstGeom>
            <a:noFill/>
            <a:ln>
              <a:noFill/>
            </a:ln>
          </p:spPr>
          <p:txBody>
            <a:bodyPr wrap="none" lIns="0" tIns="0" rIns="0" bIns="0" anchor="t">
              <a:spAutoFit/>
            </a:bodyPr>
            <a:lstStyle/>
            <a:p>
              <a:pPr algn="r"/>
              <a:r>
                <a:rPr sz="1200" b="0">
                  <a:solidFill>
                    <a:srgbClr val="484848"/>
                  </a:solidFill>
                  <a:latin typeface="Nirmala UI Semilight" panose="020B0402040204020203" pitchFamily="34" charset="0"/>
                  <a:ea typeface="Nirmala UI Semilight" panose="020B0402040204020203" pitchFamily="34" charset="0"/>
                  <a:cs typeface="Nirmala UI Semilight" panose="020B0402040204020203" pitchFamily="34" charset="0"/>
                </a:rPr>
                <a:t>Ensures secure
communication between
resources</a:t>
              </a:r>
            </a:p>
          </p:txBody>
        </p:sp>
        <p:sp>
          <p:nvSpPr>
            <p:cNvPr id="14" name="TextBox 13">
              <a:extLst>
                <a:ext uri="{FF2B5EF4-FFF2-40B4-BE49-F238E27FC236}">
                  <a16:creationId xmlns:a16="http://schemas.microsoft.com/office/drawing/2014/main" id="{01F8CEFA-0C79-6167-6CD6-AE139F588825}"/>
                </a:ext>
              </a:extLst>
            </p:cNvPr>
            <p:cNvSpPr txBox="1"/>
            <p:nvPr/>
          </p:nvSpPr>
          <p:spPr>
            <a:xfrm>
              <a:off x="6200156" y="3365516"/>
              <a:ext cx="1792157" cy="553998"/>
            </a:xfrm>
            <a:prstGeom prst="rect">
              <a:avLst/>
            </a:prstGeom>
            <a:noFill/>
            <a:ln>
              <a:noFill/>
            </a:ln>
          </p:spPr>
          <p:txBody>
            <a:bodyPr wrap="none" lIns="0" tIns="0" rIns="0" bIns="0" anchor="t">
              <a:spAutoFit/>
            </a:bodyPr>
            <a:lstStyle/>
            <a:p>
              <a:pPr algn="l"/>
              <a:r>
                <a:rPr sz="1200" b="0">
                  <a:solidFill>
                    <a:srgbClr val="484848"/>
                  </a:solidFill>
                  <a:latin typeface="Nirmala UI Semilight" panose="020B0402040204020203" pitchFamily="34" charset="0"/>
                  <a:ea typeface="Nirmala UI Semilight" panose="020B0402040204020203" pitchFamily="34" charset="0"/>
                  <a:cs typeface="Nirmala UI Semilight" panose="020B0402040204020203" pitchFamily="34" charset="0"/>
                </a:rPr>
                <a:t>Enables communication
between resources within a
VNet</a:t>
              </a:r>
            </a:p>
          </p:txBody>
        </p:sp>
        <p:sp>
          <p:nvSpPr>
            <p:cNvPr id="15" name="TextBox 14">
              <a:extLst>
                <a:ext uri="{FF2B5EF4-FFF2-40B4-BE49-F238E27FC236}">
                  <a16:creationId xmlns:a16="http://schemas.microsoft.com/office/drawing/2014/main" id="{0942D35D-2A6D-B76E-0368-8106FAE48E65}"/>
                </a:ext>
              </a:extLst>
            </p:cNvPr>
            <p:cNvSpPr txBox="1"/>
            <p:nvPr/>
          </p:nvSpPr>
          <p:spPr>
            <a:xfrm>
              <a:off x="3673476" y="5109829"/>
              <a:ext cx="1526060" cy="184666"/>
            </a:xfrm>
            <a:prstGeom prst="rect">
              <a:avLst/>
            </a:prstGeom>
            <a:noFill/>
            <a:ln>
              <a:noFill/>
            </a:ln>
          </p:spPr>
          <p:txBody>
            <a:bodyPr wrap="none" lIns="0" tIns="0" rIns="0" bIns="0" anchor="t">
              <a:spAutoFit/>
            </a:bodyPr>
            <a:lstStyle/>
            <a:p>
              <a:pPr algn="ctr"/>
              <a:r>
                <a:rPr sz="1200" b="1" dirty="0">
                  <a:solidFill>
                    <a:srgbClr val="1EABDA"/>
                  </a:solidFill>
                  <a:latin typeface="Nirmala UI Semilight" panose="020B0402040204020203" pitchFamily="34" charset="0"/>
                  <a:ea typeface="Nirmala UI Semilight" panose="020B0402040204020203" pitchFamily="34" charset="0"/>
                  <a:cs typeface="Nirmala UI Semilight" panose="020B0402040204020203" pitchFamily="34" charset="0"/>
                </a:rPr>
                <a:t>Subnet Communication</a:t>
              </a:r>
            </a:p>
          </p:txBody>
        </p:sp>
        <p:sp>
          <p:nvSpPr>
            <p:cNvPr id="16" name="TextBox 15">
              <a:extLst>
                <a:ext uri="{FF2B5EF4-FFF2-40B4-BE49-F238E27FC236}">
                  <a16:creationId xmlns:a16="http://schemas.microsoft.com/office/drawing/2014/main" id="{1211F6EC-50F1-E54D-EA4D-0B5560300140}"/>
                </a:ext>
              </a:extLst>
            </p:cNvPr>
            <p:cNvSpPr txBox="1"/>
            <p:nvPr/>
          </p:nvSpPr>
          <p:spPr>
            <a:xfrm>
              <a:off x="3554549" y="5337191"/>
              <a:ext cx="1853072" cy="369332"/>
            </a:xfrm>
            <a:prstGeom prst="rect">
              <a:avLst/>
            </a:prstGeom>
            <a:noFill/>
            <a:ln>
              <a:noFill/>
            </a:ln>
          </p:spPr>
          <p:txBody>
            <a:bodyPr wrap="none" lIns="0" tIns="0" rIns="0" bIns="0" anchor="t">
              <a:spAutoFit/>
            </a:bodyPr>
            <a:lstStyle/>
            <a:p>
              <a:pPr algn="ctr"/>
              <a:r>
                <a:rPr sz="1200" b="0">
                  <a:solidFill>
                    <a:srgbClr val="484848"/>
                  </a:solidFill>
                  <a:latin typeface="Nirmala UI Semilight" panose="020B0402040204020203" pitchFamily="34" charset="0"/>
                  <a:ea typeface="Nirmala UI Semilight" panose="020B0402040204020203" pitchFamily="34" charset="0"/>
                  <a:cs typeface="Nirmala UI Semilight" panose="020B0402040204020203" pitchFamily="34" charset="0"/>
                </a:rPr>
                <a:t>Allows resources in different
subnets to communicate</a:t>
              </a:r>
            </a:p>
          </p:txBody>
        </p:sp>
      </p:grpSp>
    </p:spTree>
    <p:extLst>
      <p:ext uri="{BB962C8B-B14F-4D97-AF65-F5344CB8AC3E}">
        <p14:creationId xmlns:p14="http://schemas.microsoft.com/office/powerpoint/2010/main" val="31148684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Title 1"/>
          <p:cNvSpPr txBox="1">
            <a:spLocks noGrp="1"/>
          </p:cNvSpPr>
          <p:nvPr>
            <p:ph type="title"/>
          </p:nvPr>
        </p:nvSpPr>
        <p:spPr>
          <a:prstGeom prst="rect">
            <a:avLst/>
          </a:prstGeom>
        </p:spPr>
        <p:txBody>
          <a:bodyPr/>
          <a:lstStyle>
            <a:lvl1pPr defTabSz="905255">
              <a:defRPr sz="3564" spc="-99"/>
            </a:lvl1pPr>
          </a:lstStyle>
          <a:p>
            <a:r>
              <a:rPr lang="en-US" dirty="0" err="1"/>
              <a:t>Vnet</a:t>
            </a:r>
            <a:r>
              <a:rPr lang="en-US" dirty="0"/>
              <a:t> diagrams</a:t>
            </a:r>
            <a:endParaRPr dirty="0"/>
          </a:p>
        </p:txBody>
      </p:sp>
      <p:sp>
        <p:nvSpPr>
          <p:cNvPr id="415" name="Slide Number Placeholder 4"/>
          <p:cNvSpPr txBox="1">
            <a:spLocks noGrp="1"/>
          </p:cNvSpPr>
          <p:nvPr>
            <p:ph type="sldNum" sz="quarter" idx="12"/>
          </p:nvPr>
        </p:nvSpPr>
        <p:spPr>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D1282E"/>
                </a:solidFill>
                <a:effectLst/>
                <a:uFillTx/>
                <a:latin typeface="Arial"/>
                <a:ea typeface="Arial"/>
                <a:cs typeface="Arial"/>
                <a:sym typeface="Arial"/>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n-US" smtClean="0"/>
              <a:pPr/>
              <a:t>6</a:t>
            </a:fld>
            <a:endParaRPr/>
          </a:p>
        </p:txBody>
      </p:sp>
      <p:sp>
        <p:nvSpPr>
          <p:cNvPr id="5" name="Path72">
            <a:extLst>
              <a:ext uri="{FF2B5EF4-FFF2-40B4-BE49-F238E27FC236}">
                <a16:creationId xmlns:a16="http://schemas.microsoft.com/office/drawing/2014/main" id="{4B30C7DB-C8AC-2145-9861-353091EE435D}"/>
              </a:ext>
            </a:extLst>
          </p:cNvPr>
          <p:cNvSpPr/>
          <p:nvPr/>
        </p:nvSpPr>
        <p:spPr>
          <a:xfrm>
            <a:off x="0" y="0"/>
            <a:ext cx="0" cy="0"/>
          </a:xfrm>
          <a:custGeom>
            <a:avLst/>
            <a:gdLst/>
            <a:ahLst/>
            <a:cxnLst/>
            <a:rect l="l" t="t" r="r" b="b"/>
            <a:pathLst>
              <a:path/>
            </a:pathLst>
          </a:custGeom>
          <a:solidFill/>
          <a:ln>
            <a:solidFill/>
            <a:prstDash/>
          </a:ln>
        </p:spPr>
        <p:txBody>
          <a:bodyPr rtlCol="0" anchor="ctr"/>
          <a:lstStyle/>
          <a:p>
            <a:pPr algn="ctr"/>
            <a:endParaRPr lang="en-US" altLang="zh-CN"/>
          </a:p>
        </p:txBody>
      </p:sp>
      <p:sp>
        <p:nvSpPr>
          <p:cNvPr id="6" name="object 3">
            <a:extLst>
              <a:ext uri="{FF2B5EF4-FFF2-40B4-BE49-F238E27FC236}">
                <a16:creationId xmlns:a16="http://schemas.microsoft.com/office/drawing/2014/main" id="{70E9F094-CC59-424F-995A-2E0DE46ECC35}"/>
              </a:ext>
            </a:extLst>
          </p:cNvPr>
          <p:cNvSpPr/>
          <p:nvPr/>
        </p:nvSpPr>
        <p:spPr>
          <a:xfrm>
            <a:off x="1309815" y="1452651"/>
            <a:ext cx="8920829" cy="5008516"/>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9456243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Title 1"/>
          <p:cNvSpPr txBox="1">
            <a:spLocks noGrp="1"/>
          </p:cNvSpPr>
          <p:nvPr>
            <p:ph type="title"/>
          </p:nvPr>
        </p:nvSpPr>
        <p:spPr>
          <a:prstGeom prst="rect">
            <a:avLst/>
          </a:prstGeom>
        </p:spPr>
        <p:txBody>
          <a:bodyPr/>
          <a:lstStyle>
            <a:lvl1pPr defTabSz="905255">
              <a:defRPr sz="3564" spc="-99"/>
            </a:lvl1pPr>
          </a:lstStyle>
          <a:p>
            <a:r>
              <a:rPr lang="en-US" dirty="0" err="1"/>
              <a:t>Vnet</a:t>
            </a:r>
            <a:r>
              <a:rPr lang="en-US" dirty="0"/>
              <a:t> Reserved IPs</a:t>
            </a:r>
            <a:endParaRPr dirty="0"/>
          </a:p>
        </p:txBody>
      </p:sp>
      <p:sp>
        <p:nvSpPr>
          <p:cNvPr id="415" name="Slide Number Placeholder 4"/>
          <p:cNvSpPr txBox="1">
            <a:spLocks noGrp="1"/>
          </p:cNvSpPr>
          <p:nvPr>
            <p:ph type="sldNum" sz="quarter" idx="12"/>
          </p:nvPr>
        </p:nvSpPr>
        <p:spPr>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D1282E"/>
                </a:solidFill>
                <a:effectLst/>
                <a:uFillTx/>
                <a:latin typeface="Arial"/>
                <a:ea typeface="Arial"/>
                <a:cs typeface="Arial"/>
                <a:sym typeface="Arial"/>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n-US" smtClean="0"/>
              <a:pPr/>
              <a:t>7</a:t>
            </a:fld>
            <a:endParaRPr/>
          </a:p>
        </p:txBody>
      </p:sp>
      <p:sp>
        <p:nvSpPr>
          <p:cNvPr id="5" name="Path72">
            <a:extLst>
              <a:ext uri="{FF2B5EF4-FFF2-40B4-BE49-F238E27FC236}">
                <a16:creationId xmlns:a16="http://schemas.microsoft.com/office/drawing/2014/main" id="{4B30C7DB-C8AC-2145-9861-353091EE435D}"/>
              </a:ext>
            </a:extLst>
          </p:cNvPr>
          <p:cNvSpPr/>
          <p:nvPr/>
        </p:nvSpPr>
        <p:spPr>
          <a:xfrm>
            <a:off x="0" y="0"/>
            <a:ext cx="0" cy="0"/>
          </a:xfrm>
          <a:custGeom>
            <a:avLst/>
            <a:gdLst/>
            <a:ahLst/>
            <a:cxnLst/>
            <a:rect l="l" t="t" r="r" b="b"/>
            <a:pathLst>
              <a:path/>
            </a:pathLst>
          </a:custGeom>
          <a:solidFill/>
          <a:ln>
            <a:solidFill/>
            <a:prstDash/>
          </a:ln>
        </p:spPr>
        <p:txBody>
          <a:bodyPr rtlCol="0" anchor="ctr"/>
          <a:lstStyle/>
          <a:p>
            <a:pPr algn="ctr"/>
            <a:endParaRPr lang="en-US" altLang="zh-CN"/>
          </a:p>
        </p:txBody>
      </p:sp>
      <p:sp>
        <p:nvSpPr>
          <p:cNvPr id="6" name="object 3">
            <a:extLst>
              <a:ext uri="{FF2B5EF4-FFF2-40B4-BE49-F238E27FC236}">
                <a16:creationId xmlns:a16="http://schemas.microsoft.com/office/drawing/2014/main" id="{57D84A46-1FD9-8344-926B-F4845F1994F5}"/>
              </a:ext>
            </a:extLst>
          </p:cNvPr>
          <p:cNvSpPr txBox="1"/>
          <p:nvPr/>
        </p:nvSpPr>
        <p:spPr>
          <a:xfrm>
            <a:off x="5208785" y="2425309"/>
            <a:ext cx="6767154" cy="1597873"/>
          </a:xfrm>
          <a:prstGeom prst="rect">
            <a:avLst/>
          </a:prstGeom>
        </p:spPr>
        <p:txBody>
          <a:bodyPr vert="horz" wrap="square" lIns="0" tIns="43180" rIns="0" bIns="0" rtlCol="0">
            <a:spAutoFit/>
          </a:bodyPr>
          <a:lstStyle/>
          <a:p>
            <a:pPr marL="469900" indent="-457200">
              <a:lnSpc>
                <a:spcPct val="100000"/>
              </a:lnSpc>
              <a:spcBef>
                <a:spcPts val="340"/>
              </a:spcBef>
              <a:buFont typeface="Wingdings" panose="05000000000000000000" pitchFamily="2" charset="2"/>
              <a:buChar char="§"/>
              <a:tabLst>
                <a:tab pos="241300" algn="l"/>
              </a:tabLst>
            </a:pPr>
            <a:r>
              <a:rPr lang="en-US" sz="2400" spc="-10" dirty="0">
                <a:latin typeface="Nirmala UI Semilight" panose="020B0402040204020203" pitchFamily="34" charset="0"/>
                <a:ea typeface="Nirmala UI Semilight" panose="020B0402040204020203" pitchFamily="34" charset="0"/>
                <a:cs typeface="Nirmala UI Semilight" panose="020B0402040204020203" pitchFamily="34" charset="0"/>
              </a:rPr>
              <a:t>Certain IPs reserved for Azure's internal use</a:t>
            </a:r>
          </a:p>
          <a:p>
            <a:pPr marL="469900" indent="-457200">
              <a:lnSpc>
                <a:spcPct val="100000"/>
              </a:lnSpc>
              <a:spcBef>
                <a:spcPts val="340"/>
              </a:spcBef>
              <a:buFont typeface="Wingdings" panose="05000000000000000000" pitchFamily="2" charset="2"/>
              <a:buChar char="§"/>
              <a:tabLst>
                <a:tab pos="241300" algn="l"/>
              </a:tabLst>
            </a:pPr>
            <a:r>
              <a:rPr lang="en-US" sz="2400" dirty="0">
                <a:latin typeface="Nirmala UI Semilight" panose="020B0402040204020203" pitchFamily="34" charset="0"/>
                <a:ea typeface="Nirmala UI Semilight" panose="020B0402040204020203" pitchFamily="34" charset="0"/>
                <a:cs typeface="Nirmala UI Semilight" panose="020B0402040204020203" pitchFamily="34" charset="0"/>
              </a:rPr>
              <a:t>First and last reserved per protocol for host ID and broadcast</a:t>
            </a:r>
          </a:p>
          <a:p>
            <a:pPr marL="469900" indent="-457200">
              <a:lnSpc>
                <a:spcPct val="100000"/>
              </a:lnSpc>
              <a:spcBef>
                <a:spcPts val="340"/>
              </a:spcBef>
              <a:buFont typeface="Wingdings" panose="05000000000000000000" pitchFamily="2" charset="2"/>
              <a:buChar char="§"/>
              <a:tabLst>
                <a:tab pos="241300" algn="l"/>
              </a:tabLst>
            </a:pPr>
            <a:r>
              <a:rPr lang="en-US" sz="2400" dirty="0">
                <a:latin typeface="Nirmala UI Semilight" panose="020B0402040204020203" pitchFamily="34" charset="0"/>
                <a:ea typeface="Nirmala UI Semilight" panose="020B0402040204020203" pitchFamily="34" charset="0"/>
                <a:cs typeface="Nirmala UI Semilight" panose="020B0402040204020203" pitchFamily="34" charset="0"/>
              </a:rPr>
              <a:t>The first 3 IP addresses are reserved</a:t>
            </a:r>
            <a:endParaRPr sz="2400" dirty="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pic>
        <p:nvPicPr>
          <p:cNvPr id="7" name="Image174">
            <a:extLst>
              <a:ext uri="{FF2B5EF4-FFF2-40B4-BE49-F238E27FC236}">
                <a16:creationId xmlns:a16="http://schemas.microsoft.com/office/drawing/2014/main" id="{6BD8C5C4-6EC9-B144-8293-96AA79244FD2}"/>
              </a:ext>
            </a:extLst>
          </p:cNvPr>
          <p:cNvPicPr>
            <a:picLocks noChangeAspect="1"/>
          </p:cNvPicPr>
          <p:nvPr/>
        </p:nvPicPr>
        <p:blipFill>
          <a:blip r:embed="rId3"/>
          <a:stretch>
            <a:fillRect/>
          </a:stretch>
        </p:blipFill>
        <p:spPr>
          <a:xfrm>
            <a:off x="609600" y="1783159"/>
            <a:ext cx="4226814" cy="3809238"/>
          </a:xfrm>
          <a:prstGeom prst="rect">
            <a:avLst/>
          </a:prstGeom>
          <a:noFill/>
        </p:spPr>
      </p:pic>
    </p:spTree>
    <p:extLst>
      <p:ext uri="{BB962C8B-B14F-4D97-AF65-F5344CB8AC3E}">
        <p14:creationId xmlns:p14="http://schemas.microsoft.com/office/powerpoint/2010/main" val="25987547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Title 1"/>
          <p:cNvSpPr txBox="1">
            <a:spLocks noGrp="1"/>
          </p:cNvSpPr>
          <p:nvPr>
            <p:ph type="title"/>
          </p:nvPr>
        </p:nvSpPr>
        <p:spPr>
          <a:xfrm>
            <a:off x="610937" y="292664"/>
            <a:ext cx="8013405" cy="729784"/>
          </a:xfrm>
          <a:prstGeom prst="rect">
            <a:avLst/>
          </a:prstGeom>
        </p:spPr>
        <p:txBody>
          <a:bodyPr>
            <a:normAutofit/>
          </a:bodyPr>
          <a:lstStyle>
            <a:lvl1pPr defTabSz="905255">
              <a:defRPr sz="3564" spc="-99"/>
            </a:lvl1pPr>
          </a:lstStyle>
          <a:p>
            <a:r>
              <a:rPr lang="en-US" dirty="0" err="1"/>
              <a:t>Vnet</a:t>
            </a:r>
            <a:r>
              <a:rPr lang="en-US" dirty="0"/>
              <a:t> protocol support and limitations</a:t>
            </a:r>
            <a:endParaRPr dirty="0"/>
          </a:p>
        </p:txBody>
      </p:sp>
      <p:sp>
        <p:nvSpPr>
          <p:cNvPr id="415" name="Slide Number Placeholder 4"/>
          <p:cNvSpPr txBox="1">
            <a:spLocks noGrp="1"/>
          </p:cNvSpPr>
          <p:nvPr>
            <p:ph type="sldNum" sz="quarter" idx="12"/>
          </p:nvPr>
        </p:nvSpPr>
        <p:spPr>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D1282E"/>
                </a:solidFill>
                <a:effectLst/>
                <a:uFillTx/>
                <a:latin typeface="Arial"/>
                <a:ea typeface="Arial"/>
                <a:cs typeface="Arial"/>
                <a:sym typeface="Arial"/>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n-US" smtClean="0"/>
              <a:pPr/>
              <a:t>8</a:t>
            </a:fld>
            <a:endParaRPr/>
          </a:p>
        </p:txBody>
      </p:sp>
      <p:sp>
        <p:nvSpPr>
          <p:cNvPr id="5" name="Path72">
            <a:extLst>
              <a:ext uri="{FF2B5EF4-FFF2-40B4-BE49-F238E27FC236}">
                <a16:creationId xmlns:a16="http://schemas.microsoft.com/office/drawing/2014/main" id="{4B30C7DB-C8AC-2145-9861-353091EE435D}"/>
              </a:ext>
            </a:extLst>
          </p:cNvPr>
          <p:cNvSpPr/>
          <p:nvPr/>
        </p:nvSpPr>
        <p:spPr>
          <a:xfrm>
            <a:off x="0" y="0"/>
            <a:ext cx="0" cy="0"/>
          </a:xfrm>
          <a:custGeom>
            <a:avLst/>
            <a:gdLst/>
            <a:ahLst/>
            <a:cxnLst/>
            <a:rect l="l" t="t" r="r" b="b"/>
            <a:pathLst>
              <a:path/>
            </a:pathLst>
          </a:custGeom>
          <a:solidFill/>
          <a:ln>
            <a:solidFill/>
            <a:prstDash/>
          </a:ln>
        </p:spPr>
        <p:txBody>
          <a:bodyPr rtlCol="0" anchor="ctr"/>
          <a:lstStyle/>
          <a:p>
            <a:pPr algn="ctr"/>
            <a:endParaRPr lang="en-US" altLang="zh-CN"/>
          </a:p>
        </p:txBody>
      </p:sp>
      <p:grpSp>
        <p:nvGrpSpPr>
          <p:cNvPr id="50" name="Group 49">
            <a:extLst>
              <a:ext uri="{FF2B5EF4-FFF2-40B4-BE49-F238E27FC236}">
                <a16:creationId xmlns:a16="http://schemas.microsoft.com/office/drawing/2014/main" id="{AD9171DE-CD49-0FA4-581D-7B1D3458DB40}"/>
              </a:ext>
            </a:extLst>
          </p:cNvPr>
          <p:cNvGrpSpPr/>
          <p:nvPr/>
        </p:nvGrpSpPr>
        <p:grpSpPr>
          <a:xfrm>
            <a:off x="1828801" y="1836828"/>
            <a:ext cx="9103454" cy="3573371"/>
            <a:chOff x="2125159" y="1962015"/>
            <a:chExt cx="7941681" cy="2933969"/>
          </a:xfrm>
        </p:grpSpPr>
        <p:grpSp>
          <p:nvGrpSpPr>
            <p:cNvPr id="2" name="Group 1">
              <a:extLst>
                <a:ext uri="{FF2B5EF4-FFF2-40B4-BE49-F238E27FC236}">
                  <a16:creationId xmlns:a16="http://schemas.microsoft.com/office/drawing/2014/main" id="{6321837C-8568-D0EA-1770-E03C8B575B18}"/>
                </a:ext>
              </a:extLst>
            </p:cNvPr>
            <p:cNvGrpSpPr/>
            <p:nvPr/>
          </p:nvGrpSpPr>
          <p:grpSpPr>
            <a:xfrm>
              <a:off x="2284801" y="3546327"/>
              <a:ext cx="969917" cy="969917"/>
              <a:chOff x="440871" y="2466054"/>
              <a:chExt cx="969917" cy="969917"/>
            </a:xfrm>
          </p:grpSpPr>
          <p:sp>
            <p:nvSpPr>
              <p:cNvPr id="48" name="Rounded Rectangle 1">
                <a:extLst>
                  <a:ext uri="{FF2B5EF4-FFF2-40B4-BE49-F238E27FC236}">
                    <a16:creationId xmlns:a16="http://schemas.microsoft.com/office/drawing/2014/main" id="{7A157A29-4DF1-7F8B-7AE7-4BD8E77BA2ED}"/>
                  </a:ext>
                </a:extLst>
              </p:cNvPr>
              <p:cNvSpPr/>
              <p:nvPr/>
            </p:nvSpPr>
            <p:spPr>
              <a:xfrm>
                <a:off x="440871" y="2466054"/>
                <a:ext cx="969917" cy="969917"/>
              </a:xfrm>
              <a:custGeom>
                <a:avLst/>
                <a:gdLst/>
                <a:ahLst/>
                <a:cxnLst/>
                <a:rect l="0" t="0" r="0" b="0"/>
                <a:pathLst>
                  <a:path w="969917" h="969917">
                    <a:moveTo>
                      <a:pt x="0" y="484958"/>
                    </a:moveTo>
                    <a:cubicBezTo>
                      <a:pt x="0" y="217123"/>
                      <a:pt x="217123" y="0"/>
                      <a:pt x="484958" y="0"/>
                    </a:cubicBezTo>
                    <a:cubicBezTo>
                      <a:pt x="752793" y="0"/>
                      <a:pt x="969917" y="217123"/>
                      <a:pt x="969917" y="484958"/>
                    </a:cubicBezTo>
                    <a:cubicBezTo>
                      <a:pt x="969917" y="752793"/>
                      <a:pt x="752793" y="969917"/>
                      <a:pt x="484958" y="969917"/>
                    </a:cubicBezTo>
                    <a:cubicBezTo>
                      <a:pt x="217123" y="969917"/>
                      <a:pt x="0" y="752793"/>
                      <a:pt x="0" y="484958"/>
                    </a:cubicBezTo>
                    <a:close/>
                    <a:moveTo>
                      <a:pt x="537184" y="176885"/>
                    </a:moveTo>
                    <a:cubicBezTo>
                      <a:pt x="537184" y="147869"/>
                      <a:pt x="513802" y="124348"/>
                      <a:pt x="484958" y="124348"/>
                    </a:cubicBezTo>
                    <a:cubicBezTo>
                      <a:pt x="456114" y="124348"/>
                      <a:pt x="432732" y="147869"/>
                      <a:pt x="432732" y="176885"/>
                    </a:cubicBezTo>
                    <a:cubicBezTo>
                      <a:pt x="432732" y="187351"/>
                      <a:pt x="435774" y="197101"/>
                      <a:pt x="441016" y="205292"/>
                    </a:cubicBezTo>
                    <a:cubicBezTo>
                      <a:pt x="444516" y="210758"/>
                      <a:pt x="440933" y="220666"/>
                      <a:pt x="434469" y="220666"/>
                    </a:cubicBezTo>
                    <a:lnTo>
                      <a:pt x="230355" y="220666"/>
                    </a:lnTo>
                    <a:cubicBezTo>
                      <a:pt x="226749" y="220666"/>
                      <a:pt x="223826" y="223607"/>
                      <a:pt x="223826" y="227233"/>
                    </a:cubicBezTo>
                    <a:lnTo>
                      <a:pt x="223826" y="448728"/>
                    </a:lnTo>
                    <a:cubicBezTo>
                      <a:pt x="223826" y="455229"/>
                      <a:pt x="233676" y="458834"/>
                      <a:pt x="239110" y="455315"/>
                    </a:cubicBezTo>
                    <a:cubicBezTo>
                      <a:pt x="247252" y="450040"/>
                      <a:pt x="256945" y="446980"/>
                      <a:pt x="267348" y="446980"/>
                    </a:cubicBezTo>
                    <a:cubicBezTo>
                      <a:pt x="296192" y="446980"/>
                      <a:pt x="319575" y="470502"/>
                      <a:pt x="319575" y="499517"/>
                    </a:cubicBezTo>
                    <a:cubicBezTo>
                      <a:pt x="319575" y="528533"/>
                      <a:pt x="296192" y="552054"/>
                      <a:pt x="267348" y="552054"/>
                    </a:cubicBezTo>
                    <a:cubicBezTo>
                      <a:pt x="256945" y="552054"/>
                      <a:pt x="247252" y="548995"/>
                      <a:pt x="239110" y="543720"/>
                    </a:cubicBezTo>
                    <a:cubicBezTo>
                      <a:pt x="233676" y="540200"/>
                      <a:pt x="223826" y="543805"/>
                      <a:pt x="223826" y="550307"/>
                    </a:cubicBezTo>
                    <a:lnTo>
                      <a:pt x="223826" y="764392"/>
                    </a:lnTo>
                    <a:cubicBezTo>
                      <a:pt x="223826" y="768019"/>
                      <a:pt x="226749" y="770959"/>
                      <a:pt x="230355" y="770959"/>
                    </a:cubicBezTo>
                    <a:lnTo>
                      <a:pt x="434469" y="770959"/>
                    </a:lnTo>
                    <a:cubicBezTo>
                      <a:pt x="440933" y="770959"/>
                      <a:pt x="444516" y="761052"/>
                      <a:pt x="441016" y="755585"/>
                    </a:cubicBezTo>
                    <a:cubicBezTo>
                      <a:pt x="435774" y="747395"/>
                      <a:pt x="432732" y="737644"/>
                      <a:pt x="432732" y="727178"/>
                    </a:cubicBezTo>
                    <a:cubicBezTo>
                      <a:pt x="432732" y="698163"/>
                      <a:pt x="456114" y="674641"/>
                      <a:pt x="484958" y="674641"/>
                    </a:cubicBezTo>
                    <a:cubicBezTo>
                      <a:pt x="513802" y="674641"/>
                      <a:pt x="537184" y="698163"/>
                      <a:pt x="537184" y="727178"/>
                    </a:cubicBezTo>
                    <a:cubicBezTo>
                      <a:pt x="537184" y="737644"/>
                      <a:pt x="534142" y="747395"/>
                      <a:pt x="528900" y="755585"/>
                    </a:cubicBezTo>
                    <a:cubicBezTo>
                      <a:pt x="525400" y="761052"/>
                      <a:pt x="528983" y="770959"/>
                      <a:pt x="535447" y="770959"/>
                    </a:cubicBezTo>
                    <a:lnTo>
                      <a:pt x="739561" y="770959"/>
                    </a:lnTo>
                    <a:cubicBezTo>
                      <a:pt x="743167" y="770959"/>
                      <a:pt x="746090" y="768019"/>
                      <a:pt x="746090" y="764392"/>
                    </a:cubicBezTo>
                    <a:lnTo>
                      <a:pt x="746090" y="550307"/>
                    </a:lnTo>
                    <a:cubicBezTo>
                      <a:pt x="746090" y="543806"/>
                      <a:pt x="736240" y="540200"/>
                      <a:pt x="730806" y="543720"/>
                    </a:cubicBezTo>
                    <a:cubicBezTo>
                      <a:pt x="722664" y="548995"/>
                      <a:pt x="712971" y="552054"/>
                      <a:pt x="702568" y="552054"/>
                    </a:cubicBezTo>
                    <a:cubicBezTo>
                      <a:pt x="673724" y="552054"/>
                      <a:pt x="650341" y="528533"/>
                      <a:pt x="650341" y="499517"/>
                    </a:cubicBezTo>
                    <a:cubicBezTo>
                      <a:pt x="650341" y="470502"/>
                      <a:pt x="673724" y="446980"/>
                      <a:pt x="702568" y="446980"/>
                    </a:cubicBezTo>
                    <a:cubicBezTo>
                      <a:pt x="712971" y="446980"/>
                      <a:pt x="722664" y="450040"/>
                      <a:pt x="730806" y="455314"/>
                    </a:cubicBezTo>
                    <a:cubicBezTo>
                      <a:pt x="736240" y="458834"/>
                      <a:pt x="746090" y="455229"/>
                      <a:pt x="746090" y="448727"/>
                    </a:cubicBezTo>
                    <a:lnTo>
                      <a:pt x="746090" y="227233"/>
                    </a:lnTo>
                    <a:cubicBezTo>
                      <a:pt x="746090" y="223607"/>
                      <a:pt x="743167" y="220666"/>
                      <a:pt x="739561" y="220666"/>
                    </a:cubicBezTo>
                    <a:lnTo>
                      <a:pt x="535447" y="220666"/>
                    </a:lnTo>
                    <a:cubicBezTo>
                      <a:pt x="528983" y="220666"/>
                      <a:pt x="525400" y="210758"/>
                      <a:pt x="528900" y="205292"/>
                    </a:cubicBezTo>
                    <a:cubicBezTo>
                      <a:pt x="534142" y="197101"/>
                      <a:pt x="537184" y="187351"/>
                      <a:pt x="537184" y="176885"/>
                    </a:cubicBezTo>
                    <a:close/>
                  </a:path>
                </a:pathLst>
              </a:custGeom>
              <a:solidFill>
                <a:srgbClr val="E0CB1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sz="10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49" name="Rounded Rectangle 2">
                <a:extLst>
                  <a:ext uri="{FF2B5EF4-FFF2-40B4-BE49-F238E27FC236}">
                    <a16:creationId xmlns:a16="http://schemas.microsoft.com/office/drawing/2014/main" id="{405144EA-F641-0A10-A4A3-F8F35D61DBB2}"/>
                  </a:ext>
                </a:extLst>
              </p:cNvPr>
              <p:cNvSpPr/>
              <p:nvPr/>
            </p:nvSpPr>
            <p:spPr>
              <a:xfrm>
                <a:off x="440871" y="2466054"/>
                <a:ext cx="969917" cy="969917"/>
              </a:xfrm>
              <a:custGeom>
                <a:avLst/>
                <a:gdLst/>
                <a:ahLst/>
                <a:cxnLst/>
                <a:rect l="0" t="0" r="0" b="0"/>
                <a:pathLst>
                  <a:path w="969917" h="969917">
                    <a:moveTo>
                      <a:pt x="0" y="484958"/>
                    </a:moveTo>
                    <a:cubicBezTo>
                      <a:pt x="0" y="217123"/>
                      <a:pt x="217123" y="0"/>
                      <a:pt x="484958" y="0"/>
                    </a:cubicBezTo>
                    <a:cubicBezTo>
                      <a:pt x="752793" y="0"/>
                      <a:pt x="969917" y="217123"/>
                      <a:pt x="969917" y="484958"/>
                    </a:cubicBezTo>
                    <a:cubicBezTo>
                      <a:pt x="969917" y="752793"/>
                      <a:pt x="752793" y="969917"/>
                      <a:pt x="484958" y="969917"/>
                    </a:cubicBezTo>
                    <a:cubicBezTo>
                      <a:pt x="217123" y="969917"/>
                      <a:pt x="0" y="752793"/>
                      <a:pt x="0" y="484958"/>
                    </a:cubicBezTo>
                    <a:close/>
                    <a:moveTo>
                      <a:pt x="537184" y="176885"/>
                    </a:moveTo>
                    <a:cubicBezTo>
                      <a:pt x="537184" y="147869"/>
                      <a:pt x="513802" y="124348"/>
                      <a:pt x="484958" y="124348"/>
                    </a:cubicBezTo>
                    <a:cubicBezTo>
                      <a:pt x="456114" y="124348"/>
                      <a:pt x="432732" y="147869"/>
                      <a:pt x="432732" y="176885"/>
                    </a:cubicBezTo>
                    <a:cubicBezTo>
                      <a:pt x="432732" y="187351"/>
                      <a:pt x="435774" y="197101"/>
                      <a:pt x="441016" y="205292"/>
                    </a:cubicBezTo>
                    <a:cubicBezTo>
                      <a:pt x="444516" y="210758"/>
                      <a:pt x="440933" y="220666"/>
                      <a:pt x="434469" y="220666"/>
                    </a:cubicBezTo>
                    <a:lnTo>
                      <a:pt x="230355" y="220666"/>
                    </a:lnTo>
                    <a:cubicBezTo>
                      <a:pt x="226749" y="220666"/>
                      <a:pt x="223826" y="223607"/>
                      <a:pt x="223826" y="227233"/>
                    </a:cubicBezTo>
                    <a:lnTo>
                      <a:pt x="223826" y="448728"/>
                    </a:lnTo>
                    <a:cubicBezTo>
                      <a:pt x="223826" y="455229"/>
                      <a:pt x="233676" y="458834"/>
                      <a:pt x="239110" y="455315"/>
                    </a:cubicBezTo>
                    <a:cubicBezTo>
                      <a:pt x="247252" y="450040"/>
                      <a:pt x="256945" y="446980"/>
                      <a:pt x="267348" y="446980"/>
                    </a:cubicBezTo>
                    <a:cubicBezTo>
                      <a:pt x="296192" y="446980"/>
                      <a:pt x="319575" y="470502"/>
                      <a:pt x="319575" y="499517"/>
                    </a:cubicBezTo>
                    <a:cubicBezTo>
                      <a:pt x="319575" y="528533"/>
                      <a:pt x="296192" y="552054"/>
                      <a:pt x="267348" y="552054"/>
                    </a:cubicBezTo>
                    <a:cubicBezTo>
                      <a:pt x="256945" y="552054"/>
                      <a:pt x="247252" y="548995"/>
                      <a:pt x="239110" y="543720"/>
                    </a:cubicBezTo>
                    <a:cubicBezTo>
                      <a:pt x="233676" y="540200"/>
                      <a:pt x="223826" y="543805"/>
                      <a:pt x="223826" y="550307"/>
                    </a:cubicBezTo>
                    <a:lnTo>
                      <a:pt x="223826" y="764392"/>
                    </a:lnTo>
                    <a:cubicBezTo>
                      <a:pt x="223826" y="768019"/>
                      <a:pt x="226749" y="770959"/>
                      <a:pt x="230355" y="770959"/>
                    </a:cubicBezTo>
                    <a:lnTo>
                      <a:pt x="434469" y="770959"/>
                    </a:lnTo>
                    <a:cubicBezTo>
                      <a:pt x="440933" y="770959"/>
                      <a:pt x="444516" y="761052"/>
                      <a:pt x="441016" y="755585"/>
                    </a:cubicBezTo>
                    <a:cubicBezTo>
                      <a:pt x="435774" y="747395"/>
                      <a:pt x="432732" y="737644"/>
                      <a:pt x="432732" y="727178"/>
                    </a:cubicBezTo>
                    <a:cubicBezTo>
                      <a:pt x="432732" y="698163"/>
                      <a:pt x="456114" y="674641"/>
                      <a:pt x="484958" y="674641"/>
                    </a:cubicBezTo>
                    <a:cubicBezTo>
                      <a:pt x="513802" y="674641"/>
                      <a:pt x="537184" y="698163"/>
                      <a:pt x="537184" y="727178"/>
                    </a:cubicBezTo>
                    <a:cubicBezTo>
                      <a:pt x="537184" y="737644"/>
                      <a:pt x="534142" y="747395"/>
                      <a:pt x="528900" y="755585"/>
                    </a:cubicBezTo>
                    <a:cubicBezTo>
                      <a:pt x="525400" y="761052"/>
                      <a:pt x="528983" y="770959"/>
                      <a:pt x="535447" y="770959"/>
                    </a:cubicBezTo>
                    <a:lnTo>
                      <a:pt x="739561" y="770959"/>
                    </a:lnTo>
                    <a:cubicBezTo>
                      <a:pt x="743167" y="770959"/>
                      <a:pt x="746090" y="768019"/>
                      <a:pt x="746090" y="764392"/>
                    </a:cubicBezTo>
                    <a:lnTo>
                      <a:pt x="746090" y="550307"/>
                    </a:lnTo>
                    <a:cubicBezTo>
                      <a:pt x="746090" y="543806"/>
                      <a:pt x="736240" y="540200"/>
                      <a:pt x="730806" y="543720"/>
                    </a:cubicBezTo>
                    <a:cubicBezTo>
                      <a:pt x="722664" y="548995"/>
                      <a:pt x="712971" y="552054"/>
                      <a:pt x="702568" y="552054"/>
                    </a:cubicBezTo>
                    <a:cubicBezTo>
                      <a:pt x="673724" y="552054"/>
                      <a:pt x="650341" y="528533"/>
                      <a:pt x="650341" y="499517"/>
                    </a:cubicBezTo>
                    <a:cubicBezTo>
                      <a:pt x="650341" y="470502"/>
                      <a:pt x="673724" y="446980"/>
                      <a:pt x="702568" y="446980"/>
                    </a:cubicBezTo>
                    <a:cubicBezTo>
                      <a:pt x="712971" y="446980"/>
                      <a:pt x="722664" y="450040"/>
                      <a:pt x="730806" y="455314"/>
                    </a:cubicBezTo>
                    <a:cubicBezTo>
                      <a:pt x="736240" y="458834"/>
                      <a:pt x="746090" y="455229"/>
                      <a:pt x="746090" y="448727"/>
                    </a:cubicBezTo>
                    <a:lnTo>
                      <a:pt x="746090" y="227233"/>
                    </a:lnTo>
                    <a:cubicBezTo>
                      <a:pt x="746090" y="223607"/>
                      <a:pt x="743167" y="220666"/>
                      <a:pt x="739561" y="220666"/>
                    </a:cubicBezTo>
                    <a:lnTo>
                      <a:pt x="535447" y="220666"/>
                    </a:lnTo>
                    <a:cubicBezTo>
                      <a:pt x="528983" y="220666"/>
                      <a:pt x="525400" y="210758"/>
                      <a:pt x="528900" y="205292"/>
                    </a:cubicBezTo>
                    <a:cubicBezTo>
                      <a:pt x="534142" y="197101"/>
                      <a:pt x="537184" y="187351"/>
                      <a:pt x="537184" y="176885"/>
                    </a:cubicBezTo>
                    <a:close/>
                  </a:path>
                </a:pathLst>
              </a:custGeom>
              <a:noFill/>
              <a:ln w="1102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sz="10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grpSp>
        <p:sp>
          <p:nvSpPr>
            <p:cNvPr id="3" name="Rounded Rectangle 4">
              <a:extLst>
                <a:ext uri="{FF2B5EF4-FFF2-40B4-BE49-F238E27FC236}">
                  <a16:creationId xmlns:a16="http://schemas.microsoft.com/office/drawing/2014/main" id="{081F1277-3670-AA6B-5415-D8333FB6A4E5}"/>
                </a:ext>
              </a:extLst>
            </p:cNvPr>
            <p:cNvSpPr/>
            <p:nvPr/>
          </p:nvSpPr>
          <p:spPr>
            <a:xfrm>
              <a:off x="2125159" y="3391278"/>
              <a:ext cx="7347" cy="660785"/>
            </a:xfrm>
            <a:custGeom>
              <a:avLst/>
              <a:gdLst/>
              <a:ahLst/>
              <a:cxnLst/>
              <a:rect l="0" t="0" r="0" b="0"/>
              <a:pathLst>
                <a:path w="7347" h="660785">
                  <a:moveTo>
                    <a:pt x="0" y="0"/>
                  </a:moveTo>
                  <a:lnTo>
                    <a:pt x="0" y="660785"/>
                  </a:lnTo>
                </a:path>
              </a:pathLst>
            </a:custGeom>
            <a:noFill/>
            <a:ln w="11021">
              <a:solidFill>
                <a:srgbClr val="E0CB15"/>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sz="10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grpSp>
          <p:nvGrpSpPr>
            <p:cNvPr id="4" name="Group 3">
              <a:extLst>
                <a:ext uri="{FF2B5EF4-FFF2-40B4-BE49-F238E27FC236}">
                  <a16:creationId xmlns:a16="http://schemas.microsoft.com/office/drawing/2014/main" id="{87E6FDB7-6BD1-1B7D-9BF2-1FF1E7A2058A}"/>
                </a:ext>
              </a:extLst>
            </p:cNvPr>
            <p:cNvGrpSpPr/>
            <p:nvPr/>
          </p:nvGrpSpPr>
          <p:grpSpPr>
            <a:xfrm>
              <a:off x="2753565" y="2849606"/>
              <a:ext cx="35089" cy="35089"/>
              <a:chOff x="909635" y="1769333"/>
              <a:chExt cx="35089" cy="35089"/>
            </a:xfrm>
          </p:grpSpPr>
          <p:sp>
            <p:nvSpPr>
              <p:cNvPr id="46" name="Rounded Rectangle 5">
                <a:extLst>
                  <a:ext uri="{FF2B5EF4-FFF2-40B4-BE49-F238E27FC236}">
                    <a16:creationId xmlns:a16="http://schemas.microsoft.com/office/drawing/2014/main" id="{E6FA1B4D-DD45-787B-8D21-48C43FF5273A}"/>
                  </a:ext>
                </a:extLst>
              </p:cNvPr>
              <p:cNvSpPr/>
              <p:nvPr/>
            </p:nvSpPr>
            <p:spPr>
              <a:xfrm>
                <a:off x="909635" y="1769333"/>
                <a:ext cx="35089" cy="35089"/>
              </a:xfrm>
              <a:custGeom>
                <a:avLst/>
                <a:gdLst/>
                <a:ahLst/>
                <a:cxnLst/>
                <a:rect l="0" t="0" r="0" b="0"/>
                <a:pathLst>
                  <a:path w="35089" h="35089">
                    <a:moveTo>
                      <a:pt x="17545" y="0"/>
                    </a:moveTo>
                    <a:cubicBezTo>
                      <a:pt x="27228" y="0"/>
                      <a:pt x="35089" y="7861"/>
                      <a:pt x="35089" y="17545"/>
                    </a:cubicBezTo>
                    <a:cubicBezTo>
                      <a:pt x="35089" y="27228"/>
                      <a:pt x="27228" y="35089"/>
                      <a:pt x="17545" y="35089"/>
                    </a:cubicBezTo>
                    <a:cubicBezTo>
                      <a:pt x="7861" y="35089"/>
                      <a:pt x="0" y="27228"/>
                      <a:pt x="0" y="17545"/>
                    </a:cubicBezTo>
                    <a:cubicBezTo>
                      <a:pt x="0" y="7861"/>
                      <a:pt x="7861" y="0"/>
                      <a:pt x="17545" y="0"/>
                    </a:cubicBezTo>
                    <a:close/>
                  </a:path>
                </a:pathLst>
              </a:custGeom>
              <a:solidFill>
                <a:srgbClr val="FFFF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sz="10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47" name="Rounded Rectangle 6">
                <a:extLst>
                  <a:ext uri="{FF2B5EF4-FFF2-40B4-BE49-F238E27FC236}">
                    <a16:creationId xmlns:a16="http://schemas.microsoft.com/office/drawing/2014/main" id="{BB6AC378-26BA-A7C2-217B-3CF411373975}"/>
                  </a:ext>
                </a:extLst>
              </p:cNvPr>
              <p:cNvSpPr/>
              <p:nvPr/>
            </p:nvSpPr>
            <p:spPr>
              <a:xfrm>
                <a:off x="909635" y="1769333"/>
                <a:ext cx="35089" cy="35089"/>
              </a:xfrm>
              <a:custGeom>
                <a:avLst/>
                <a:gdLst/>
                <a:ahLst/>
                <a:cxnLst/>
                <a:rect l="0" t="0" r="0" b="0"/>
                <a:pathLst>
                  <a:path w="35089" h="35089">
                    <a:moveTo>
                      <a:pt x="17545" y="0"/>
                    </a:moveTo>
                    <a:cubicBezTo>
                      <a:pt x="27228" y="0"/>
                      <a:pt x="35089" y="7861"/>
                      <a:pt x="35089" y="17545"/>
                    </a:cubicBezTo>
                    <a:cubicBezTo>
                      <a:pt x="35089" y="27228"/>
                      <a:pt x="27228" y="35089"/>
                      <a:pt x="17545" y="35089"/>
                    </a:cubicBezTo>
                    <a:cubicBezTo>
                      <a:pt x="7861" y="35089"/>
                      <a:pt x="0" y="27228"/>
                      <a:pt x="0" y="17545"/>
                    </a:cubicBezTo>
                    <a:cubicBezTo>
                      <a:pt x="0" y="7861"/>
                      <a:pt x="7861" y="0"/>
                      <a:pt x="17545" y="0"/>
                    </a:cubicBezTo>
                    <a:close/>
                  </a:path>
                </a:pathLst>
              </a:custGeom>
              <a:noFill/>
              <a:ln w="1102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sz="10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grpSp>
        <p:grpSp>
          <p:nvGrpSpPr>
            <p:cNvPr id="7" name="Group 6">
              <a:extLst>
                <a:ext uri="{FF2B5EF4-FFF2-40B4-BE49-F238E27FC236}">
                  <a16:creationId xmlns:a16="http://schemas.microsoft.com/office/drawing/2014/main" id="{EFC1244F-DC2B-297C-9957-DB51FCB76210}"/>
                </a:ext>
              </a:extLst>
            </p:cNvPr>
            <p:cNvGrpSpPr/>
            <p:nvPr/>
          </p:nvGrpSpPr>
          <p:grpSpPr>
            <a:xfrm>
              <a:off x="3519241" y="1962015"/>
              <a:ext cx="969916" cy="969916"/>
              <a:chOff x="1675311" y="881742"/>
              <a:chExt cx="969916" cy="969916"/>
            </a:xfrm>
          </p:grpSpPr>
          <p:sp>
            <p:nvSpPr>
              <p:cNvPr id="44" name="Rounded Rectangle 8">
                <a:extLst>
                  <a:ext uri="{FF2B5EF4-FFF2-40B4-BE49-F238E27FC236}">
                    <a16:creationId xmlns:a16="http://schemas.microsoft.com/office/drawing/2014/main" id="{CE0CA740-C3CC-0007-7B3F-2D9946CD0C04}"/>
                  </a:ext>
                </a:extLst>
              </p:cNvPr>
              <p:cNvSpPr/>
              <p:nvPr/>
            </p:nvSpPr>
            <p:spPr>
              <a:xfrm>
                <a:off x="1675311" y="881742"/>
                <a:ext cx="969916" cy="969916"/>
              </a:xfrm>
              <a:custGeom>
                <a:avLst/>
                <a:gdLst/>
                <a:ahLst/>
                <a:cxnLst/>
                <a:rect l="0" t="0" r="0" b="0"/>
                <a:pathLst>
                  <a:path w="969916" h="969916">
                    <a:moveTo>
                      <a:pt x="0" y="484957"/>
                    </a:moveTo>
                    <a:cubicBezTo>
                      <a:pt x="0" y="217123"/>
                      <a:pt x="217123" y="0"/>
                      <a:pt x="484957" y="0"/>
                    </a:cubicBezTo>
                    <a:cubicBezTo>
                      <a:pt x="752793" y="0"/>
                      <a:pt x="969916" y="217123"/>
                      <a:pt x="969916" y="484957"/>
                    </a:cubicBezTo>
                    <a:cubicBezTo>
                      <a:pt x="969916" y="752793"/>
                      <a:pt x="752793" y="969916"/>
                      <a:pt x="484957" y="969916"/>
                    </a:cubicBezTo>
                    <a:cubicBezTo>
                      <a:pt x="217123" y="969916"/>
                      <a:pt x="0" y="752793"/>
                      <a:pt x="0" y="484957"/>
                    </a:cubicBezTo>
                    <a:close/>
                    <a:moveTo>
                      <a:pt x="537184" y="176885"/>
                    </a:moveTo>
                    <a:cubicBezTo>
                      <a:pt x="537184" y="147869"/>
                      <a:pt x="513801" y="124348"/>
                      <a:pt x="484957" y="124348"/>
                    </a:cubicBezTo>
                    <a:cubicBezTo>
                      <a:pt x="456114" y="124348"/>
                      <a:pt x="432731" y="147869"/>
                      <a:pt x="432731" y="176885"/>
                    </a:cubicBezTo>
                    <a:cubicBezTo>
                      <a:pt x="432731" y="187351"/>
                      <a:pt x="435773" y="197101"/>
                      <a:pt x="441016" y="205291"/>
                    </a:cubicBezTo>
                    <a:cubicBezTo>
                      <a:pt x="444515" y="210758"/>
                      <a:pt x="440932" y="220666"/>
                      <a:pt x="434469" y="220666"/>
                    </a:cubicBezTo>
                    <a:lnTo>
                      <a:pt x="230355" y="220666"/>
                    </a:lnTo>
                    <a:cubicBezTo>
                      <a:pt x="226749" y="220666"/>
                      <a:pt x="223826" y="223606"/>
                      <a:pt x="223826" y="227233"/>
                    </a:cubicBezTo>
                    <a:lnTo>
                      <a:pt x="223826" y="448727"/>
                    </a:lnTo>
                    <a:cubicBezTo>
                      <a:pt x="223826" y="455229"/>
                      <a:pt x="233675" y="458834"/>
                      <a:pt x="239110" y="455314"/>
                    </a:cubicBezTo>
                    <a:cubicBezTo>
                      <a:pt x="247251" y="450040"/>
                      <a:pt x="256945" y="446979"/>
                      <a:pt x="267348" y="446979"/>
                    </a:cubicBezTo>
                    <a:cubicBezTo>
                      <a:pt x="296192" y="446979"/>
                      <a:pt x="319575" y="470501"/>
                      <a:pt x="319575" y="499516"/>
                    </a:cubicBezTo>
                    <a:cubicBezTo>
                      <a:pt x="319575" y="528532"/>
                      <a:pt x="296192" y="552054"/>
                      <a:pt x="267348" y="552054"/>
                    </a:cubicBezTo>
                    <a:cubicBezTo>
                      <a:pt x="256945" y="552054"/>
                      <a:pt x="247251" y="548994"/>
                      <a:pt x="239110" y="543720"/>
                    </a:cubicBezTo>
                    <a:cubicBezTo>
                      <a:pt x="233675" y="540199"/>
                      <a:pt x="223826" y="543804"/>
                      <a:pt x="223826" y="550306"/>
                    </a:cubicBezTo>
                    <a:lnTo>
                      <a:pt x="223826" y="764391"/>
                    </a:lnTo>
                    <a:cubicBezTo>
                      <a:pt x="223826" y="768018"/>
                      <a:pt x="226749" y="770959"/>
                      <a:pt x="230355" y="770959"/>
                    </a:cubicBezTo>
                    <a:lnTo>
                      <a:pt x="434469" y="770959"/>
                    </a:lnTo>
                    <a:cubicBezTo>
                      <a:pt x="440932" y="770959"/>
                      <a:pt x="444515" y="761051"/>
                      <a:pt x="441016" y="755584"/>
                    </a:cubicBezTo>
                    <a:cubicBezTo>
                      <a:pt x="435773" y="747394"/>
                      <a:pt x="432731" y="737643"/>
                      <a:pt x="432731" y="727177"/>
                    </a:cubicBezTo>
                    <a:cubicBezTo>
                      <a:pt x="432731" y="698162"/>
                      <a:pt x="456114" y="674640"/>
                      <a:pt x="484957" y="674640"/>
                    </a:cubicBezTo>
                    <a:cubicBezTo>
                      <a:pt x="513801" y="674640"/>
                      <a:pt x="537184" y="698162"/>
                      <a:pt x="537184" y="727177"/>
                    </a:cubicBezTo>
                    <a:cubicBezTo>
                      <a:pt x="537184" y="737643"/>
                      <a:pt x="534142" y="747394"/>
                      <a:pt x="528899" y="755584"/>
                    </a:cubicBezTo>
                    <a:cubicBezTo>
                      <a:pt x="525399" y="761051"/>
                      <a:pt x="528983" y="770959"/>
                      <a:pt x="535447" y="770959"/>
                    </a:cubicBezTo>
                    <a:lnTo>
                      <a:pt x="739561" y="770959"/>
                    </a:lnTo>
                    <a:cubicBezTo>
                      <a:pt x="743166" y="770959"/>
                      <a:pt x="746089" y="768018"/>
                      <a:pt x="746089" y="764391"/>
                    </a:cubicBezTo>
                    <a:lnTo>
                      <a:pt x="746089" y="550307"/>
                    </a:lnTo>
                    <a:cubicBezTo>
                      <a:pt x="746089" y="543805"/>
                      <a:pt x="736239" y="540200"/>
                      <a:pt x="730805" y="543720"/>
                    </a:cubicBezTo>
                    <a:cubicBezTo>
                      <a:pt x="722663" y="548994"/>
                      <a:pt x="712970" y="552054"/>
                      <a:pt x="702567" y="552054"/>
                    </a:cubicBezTo>
                    <a:cubicBezTo>
                      <a:pt x="673723" y="552054"/>
                      <a:pt x="650341" y="528532"/>
                      <a:pt x="650341" y="499516"/>
                    </a:cubicBezTo>
                    <a:cubicBezTo>
                      <a:pt x="650341" y="470501"/>
                      <a:pt x="673723" y="446979"/>
                      <a:pt x="702567" y="446979"/>
                    </a:cubicBezTo>
                    <a:cubicBezTo>
                      <a:pt x="712970" y="446979"/>
                      <a:pt x="722663" y="450040"/>
                      <a:pt x="730805" y="455313"/>
                    </a:cubicBezTo>
                    <a:cubicBezTo>
                      <a:pt x="736239" y="458834"/>
                      <a:pt x="746089" y="455229"/>
                      <a:pt x="746089" y="448727"/>
                    </a:cubicBezTo>
                    <a:lnTo>
                      <a:pt x="746089" y="227233"/>
                    </a:lnTo>
                    <a:cubicBezTo>
                      <a:pt x="746089" y="223606"/>
                      <a:pt x="743166" y="220666"/>
                      <a:pt x="739561" y="220666"/>
                    </a:cubicBezTo>
                    <a:lnTo>
                      <a:pt x="535447" y="220666"/>
                    </a:lnTo>
                    <a:cubicBezTo>
                      <a:pt x="528983" y="220666"/>
                      <a:pt x="525399" y="210758"/>
                      <a:pt x="528899" y="205291"/>
                    </a:cubicBezTo>
                    <a:cubicBezTo>
                      <a:pt x="534142" y="197101"/>
                      <a:pt x="537184" y="187351"/>
                      <a:pt x="537184" y="176885"/>
                    </a:cubicBezTo>
                    <a:close/>
                  </a:path>
                </a:pathLst>
              </a:custGeom>
              <a:solidFill>
                <a:srgbClr val="DE843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sz="10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45" name="Rounded Rectangle 9">
                <a:extLst>
                  <a:ext uri="{FF2B5EF4-FFF2-40B4-BE49-F238E27FC236}">
                    <a16:creationId xmlns:a16="http://schemas.microsoft.com/office/drawing/2014/main" id="{5CDE4B12-CC31-0C41-C6CF-60E77C8B1BDB}"/>
                  </a:ext>
                </a:extLst>
              </p:cNvPr>
              <p:cNvSpPr/>
              <p:nvPr/>
            </p:nvSpPr>
            <p:spPr>
              <a:xfrm>
                <a:off x="1675311" y="881742"/>
                <a:ext cx="969916" cy="969916"/>
              </a:xfrm>
              <a:custGeom>
                <a:avLst/>
                <a:gdLst/>
                <a:ahLst/>
                <a:cxnLst/>
                <a:rect l="0" t="0" r="0" b="0"/>
                <a:pathLst>
                  <a:path w="969916" h="969916">
                    <a:moveTo>
                      <a:pt x="0" y="484957"/>
                    </a:moveTo>
                    <a:cubicBezTo>
                      <a:pt x="0" y="217123"/>
                      <a:pt x="217123" y="0"/>
                      <a:pt x="484957" y="0"/>
                    </a:cubicBezTo>
                    <a:cubicBezTo>
                      <a:pt x="752793" y="0"/>
                      <a:pt x="969916" y="217123"/>
                      <a:pt x="969916" y="484957"/>
                    </a:cubicBezTo>
                    <a:cubicBezTo>
                      <a:pt x="969916" y="752793"/>
                      <a:pt x="752793" y="969916"/>
                      <a:pt x="484957" y="969916"/>
                    </a:cubicBezTo>
                    <a:cubicBezTo>
                      <a:pt x="217123" y="969916"/>
                      <a:pt x="0" y="752793"/>
                      <a:pt x="0" y="484957"/>
                    </a:cubicBezTo>
                    <a:close/>
                    <a:moveTo>
                      <a:pt x="537184" y="176885"/>
                    </a:moveTo>
                    <a:cubicBezTo>
                      <a:pt x="537184" y="147869"/>
                      <a:pt x="513801" y="124348"/>
                      <a:pt x="484957" y="124348"/>
                    </a:cubicBezTo>
                    <a:cubicBezTo>
                      <a:pt x="456114" y="124348"/>
                      <a:pt x="432731" y="147869"/>
                      <a:pt x="432731" y="176885"/>
                    </a:cubicBezTo>
                    <a:cubicBezTo>
                      <a:pt x="432731" y="187351"/>
                      <a:pt x="435773" y="197101"/>
                      <a:pt x="441016" y="205291"/>
                    </a:cubicBezTo>
                    <a:cubicBezTo>
                      <a:pt x="444515" y="210758"/>
                      <a:pt x="440932" y="220666"/>
                      <a:pt x="434469" y="220666"/>
                    </a:cubicBezTo>
                    <a:lnTo>
                      <a:pt x="230355" y="220666"/>
                    </a:lnTo>
                    <a:cubicBezTo>
                      <a:pt x="226749" y="220666"/>
                      <a:pt x="223826" y="223606"/>
                      <a:pt x="223826" y="227233"/>
                    </a:cubicBezTo>
                    <a:lnTo>
                      <a:pt x="223826" y="448727"/>
                    </a:lnTo>
                    <a:cubicBezTo>
                      <a:pt x="223826" y="455229"/>
                      <a:pt x="233675" y="458834"/>
                      <a:pt x="239110" y="455314"/>
                    </a:cubicBezTo>
                    <a:cubicBezTo>
                      <a:pt x="247251" y="450040"/>
                      <a:pt x="256945" y="446979"/>
                      <a:pt x="267348" y="446979"/>
                    </a:cubicBezTo>
                    <a:cubicBezTo>
                      <a:pt x="296192" y="446979"/>
                      <a:pt x="319575" y="470501"/>
                      <a:pt x="319575" y="499516"/>
                    </a:cubicBezTo>
                    <a:cubicBezTo>
                      <a:pt x="319575" y="528532"/>
                      <a:pt x="296192" y="552054"/>
                      <a:pt x="267348" y="552054"/>
                    </a:cubicBezTo>
                    <a:cubicBezTo>
                      <a:pt x="256945" y="552054"/>
                      <a:pt x="247251" y="548994"/>
                      <a:pt x="239110" y="543720"/>
                    </a:cubicBezTo>
                    <a:cubicBezTo>
                      <a:pt x="233675" y="540199"/>
                      <a:pt x="223826" y="543804"/>
                      <a:pt x="223826" y="550306"/>
                    </a:cubicBezTo>
                    <a:lnTo>
                      <a:pt x="223826" y="764391"/>
                    </a:lnTo>
                    <a:cubicBezTo>
                      <a:pt x="223826" y="768018"/>
                      <a:pt x="226749" y="770959"/>
                      <a:pt x="230355" y="770959"/>
                    </a:cubicBezTo>
                    <a:lnTo>
                      <a:pt x="434469" y="770959"/>
                    </a:lnTo>
                    <a:cubicBezTo>
                      <a:pt x="440932" y="770959"/>
                      <a:pt x="444515" y="761051"/>
                      <a:pt x="441016" y="755584"/>
                    </a:cubicBezTo>
                    <a:cubicBezTo>
                      <a:pt x="435773" y="747394"/>
                      <a:pt x="432731" y="737643"/>
                      <a:pt x="432731" y="727177"/>
                    </a:cubicBezTo>
                    <a:cubicBezTo>
                      <a:pt x="432731" y="698162"/>
                      <a:pt x="456114" y="674640"/>
                      <a:pt x="484957" y="674640"/>
                    </a:cubicBezTo>
                    <a:cubicBezTo>
                      <a:pt x="513801" y="674640"/>
                      <a:pt x="537184" y="698162"/>
                      <a:pt x="537184" y="727177"/>
                    </a:cubicBezTo>
                    <a:cubicBezTo>
                      <a:pt x="537184" y="737643"/>
                      <a:pt x="534142" y="747394"/>
                      <a:pt x="528899" y="755584"/>
                    </a:cubicBezTo>
                    <a:cubicBezTo>
                      <a:pt x="525399" y="761051"/>
                      <a:pt x="528983" y="770959"/>
                      <a:pt x="535447" y="770959"/>
                    </a:cubicBezTo>
                    <a:lnTo>
                      <a:pt x="739561" y="770959"/>
                    </a:lnTo>
                    <a:cubicBezTo>
                      <a:pt x="743166" y="770959"/>
                      <a:pt x="746089" y="768018"/>
                      <a:pt x="746089" y="764391"/>
                    </a:cubicBezTo>
                    <a:lnTo>
                      <a:pt x="746089" y="550307"/>
                    </a:lnTo>
                    <a:cubicBezTo>
                      <a:pt x="746089" y="543805"/>
                      <a:pt x="736239" y="540200"/>
                      <a:pt x="730805" y="543720"/>
                    </a:cubicBezTo>
                    <a:cubicBezTo>
                      <a:pt x="722663" y="548994"/>
                      <a:pt x="712970" y="552054"/>
                      <a:pt x="702567" y="552054"/>
                    </a:cubicBezTo>
                    <a:cubicBezTo>
                      <a:pt x="673723" y="552054"/>
                      <a:pt x="650341" y="528532"/>
                      <a:pt x="650341" y="499516"/>
                    </a:cubicBezTo>
                    <a:cubicBezTo>
                      <a:pt x="650341" y="470501"/>
                      <a:pt x="673723" y="446979"/>
                      <a:pt x="702567" y="446979"/>
                    </a:cubicBezTo>
                    <a:cubicBezTo>
                      <a:pt x="712970" y="446979"/>
                      <a:pt x="722663" y="450040"/>
                      <a:pt x="730805" y="455313"/>
                    </a:cubicBezTo>
                    <a:cubicBezTo>
                      <a:pt x="736239" y="458834"/>
                      <a:pt x="746089" y="455229"/>
                      <a:pt x="746089" y="448727"/>
                    </a:cubicBezTo>
                    <a:lnTo>
                      <a:pt x="746089" y="227233"/>
                    </a:lnTo>
                    <a:cubicBezTo>
                      <a:pt x="746089" y="223606"/>
                      <a:pt x="743166" y="220666"/>
                      <a:pt x="739561" y="220666"/>
                    </a:cubicBezTo>
                    <a:lnTo>
                      <a:pt x="535447" y="220666"/>
                    </a:lnTo>
                    <a:cubicBezTo>
                      <a:pt x="528983" y="220666"/>
                      <a:pt x="525399" y="210758"/>
                      <a:pt x="528899" y="205291"/>
                    </a:cubicBezTo>
                    <a:cubicBezTo>
                      <a:pt x="534142" y="197101"/>
                      <a:pt x="537184" y="187351"/>
                      <a:pt x="537184" y="176885"/>
                    </a:cubicBezTo>
                    <a:close/>
                  </a:path>
                </a:pathLst>
              </a:custGeom>
              <a:noFill/>
              <a:ln w="1102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sz="10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grpSp>
        <p:sp>
          <p:nvSpPr>
            <p:cNvPr id="8" name="Rounded Rectangle 11">
              <a:extLst>
                <a:ext uri="{FF2B5EF4-FFF2-40B4-BE49-F238E27FC236}">
                  <a16:creationId xmlns:a16="http://schemas.microsoft.com/office/drawing/2014/main" id="{98243585-DDFE-B9E6-88E6-93395A79E560}"/>
                </a:ext>
              </a:extLst>
            </p:cNvPr>
            <p:cNvSpPr/>
            <p:nvPr/>
          </p:nvSpPr>
          <p:spPr>
            <a:xfrm>
              <a:off x="4005581" y="3084286"/>
              <a:ext cx="7347" cy="846495"/>
            </a:xfrm>
            <a:custGeom>
              <a:avLst/>
              <a:gdLst/>
              <a:ahLst/>
              <a:cxnLst/>
              <a:rect l="0" t="0" r="0" b="0"/>
              <a:pathLst>
                <a:path w="7347" h="846495">
                  <a:moveTo>
                    <a:pt x="0" y="846495"/>
                  </a:moveTo>
                  <a:lnTo>
                    <a:pt x="0" y="0"/>
                  </a:lnTo>
                </a:path>
              </a:pathLst>
            </a:custGeom>
            <a:noFill/>
            <a:ln w="11021">
              <a:solidFill>
                <a:srgbClr val="DE8431"/>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sz="10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9" name="Rounded Rectangle 12">
              <a:extLst>
                <a:ext uri="{FF2B5EF4-FFF2-40B4-BE49-F238E27FC236}">
                  <a16:creationId xmlns:a16="http://schemas.microsoft.com/office/drawing/2014/main" id="{1A5CBA45-B757-BA50-24BE-CA5075C12E4B}"/>
                </a:ext>
              </a:extLst>
            </p:cNvPr>
            <p:cNvSpPr/>
            <p:nvPr/>
          </p:nvSpPr>
          <p:spPr>
            <a:xfrm>
              <a:off x="3988012" y="3776940"/>
              <a:ext cx="35134" cy="35134"/>
            </a:xfrm>
            <a:custGeom>
              <a:avLst/>
              <a:gdLst/>
              <a:ahLst/>
              <a:cxnLst/>
              <a:rect l="0" t="0" r="0" b="0"/>
              <a:pathLst>
                <a:path w="35134" h="35134">
                  <a:moveTo>
                    <a:pt x="17567" y="0"/>
                  </a:moveTo>
                  <a:cubicBezTo>
                    <a:pt x="27262" y="0"/>
                    <a:pt x="35134" y="7871"/>
                    <a:pt x="35134" y="17567"/>
                  </a:cubicBezTo>
                  <a:cubicBezTo>
                    <a:pt x="35134" y="27262"/>
                    <a:pt x="27262" y="35134"/>
                    <a:pt x="17567" y="35134"/>
                  </a:cubicBezTo>
                  <a:cubicBezTo>
                    <a:pt x="7871" y="35134"/>
                    <a:pt x="0" y="27262"/>
                    <a:pt x="0" y="17567"/>
                  </a:cubicBezTo>
                  <a:cubicBezTo>
                    <a:pt x="0" y="7871"/>
                    <a:pt x="7871" y="0"/>
                    <a:pt x="17567" y="0"/>
                  </a:cubicBezTo>
                  <a:close/>
                </a:path>
              </a:pathLst>
            </a:custGeom>
            <a:noFill/>
            <a:ln w="11021">
              <a:solidFill>
                <a:srgbClr val="DE8431"/>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sz="10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grpSp>
          <p:nvGrpSpPr>
            <p:cNvPr id="10" name="Group 9">
              <a:extLst>
                <a:ext uri="{FF2B5EF4-FFF2-40B4-BE49-F238E27FC236}">
                  <a16:creationId xmlns:a16="http://schemas.microsoft.com/office/drawing/2014/main" id="{B06B1247-6D29-9EC4-252D-0B2A1167E6BE}"/>
                </a:ext>
              </a:extLst>
            </p:cNvPr>
            <p:cNvGrpSpPr/>
            <p:nvPr/>
          </p:nvGrpSpPr>
          <p:grpSpPr>
            <a:xfrm>
              <a:off x="4753681" y="3546323"/>
              <a:ext cx="969917" cy="969917"/>
              <a:chOff x="2909751" y="2466050"/>
              <a:chExt cx="969917" cy="969917"/>
            </a:xfrm>
          </p:grpSpPr>
          <p:sp>
            <p:nvSpPr>
              <p:cNvPr id="42" name="Rounded Rectangle 13">
                <a:extLst>
                  <a:ext uri="{FF2B5EF4-FFF2-40B4-BE49-F238E27FC236}">
                    <a16:creationId xmlns:a16="http://schemas.microsoft.com/office/drawing/2014/main" id="{A698F0C9-80B8-A75E-00B4-DADA6D04C91F}"/>
                  </a:ext>
                </a:extLst>
              </p:cNvPr>
              <p:cNvSpPr/>
              <p:nvPr/>
            </p:nvSpPr>
            <p:spPr>
              <a:xfrm>
                <a:off x="2909751" y="2466050"/>
                <a:ext cx="969917" cy="969917"/>
              </a:xfrm>
              <a:custGeom>
                <a:avLst/>
                <a:gdLst/>
                <a:ahLst/>
                <a:cxnLst/>
                <a:rect l="0" t="0" r="0" b="0"/>
                <a:pathLst>
                  <a:path w="969917" h="969917">
                    <a:moveTo>
                      <a:pt x="0" y="484959"/>
                    </a:moveTo>
                    <a:cubicBezTo>
                      <a:pt x="0" y="217123"/>
                      <a:pt x="217123" y="0"/>
                      <a:pt x="484959" y="0"/>
                    </a:cubicBezTo>
                    <a:cubicBezTo>
                      <a:pt x="752794" y="0"/>
                      <a:pt x="969917" y="217123"/>
                      <a:pt x="969917" y="484959"/>
                    </a:cubicBezTo>
                    <a:cubicBezTo>
                      <a:pt x="969917" y="752794"/>
                      <a:pt x="752794" y="969917"/>
                      <a:pt x="484959" y="969917"/>
                    </a:cubicBezTo>
                    <a:cubicBezTo>
                      <a:pt x="217123" y="969917"/>
                      <a:pt x="0" y="752794"/>
                      <a:pt x="0" y="484959"/>
                    </a:cubicBezTo>
                    <a:close/>
                    <a:moveTo>
                      <a:pt x="537185" y="176885"/>
                    </a:moveTo>
                    <a:cubicBezTo>
                      <a:pt x="537185" y="147869"/>
                      <a:pt x="513802" y="124348"/>
                      <a:pt x="484959" y="124348"/>
                    </a:cubicBezTo>
                    <a:cubicBezTo>
                      <a:pt x="456115" y="124348"/>
                      <a:pt x="432732" y="147869"/>
                      <a:pt x="432732" y="176885"/>
                    </a:cubicBezTo>
                    <a:cubicBezTo>
                      <a:pt x="432732" y="187351"/>
                      <a:pt x="435774" y="197101"/>
                      <a:pt x="441017" y="205292"/>
                    </a:cubicBezTo>
                    <a:cubicBezTo>
                      <a:pt x="444516" y="210758"/>
                      <a:pt x="440933" y="220666"/>
                      <a:pt x="434469" y="220666"/>
                    </a:cubicBezTo>
                    <a:lnTo>
                      <a:pt x="230355" y="220666"/>
                    </a:lnTo>
                    <a:cubicBezTo>
                      <a:pt x="226749" y="220666"/>
                      <a:pt x="223827" y="223607"/>
                      <a:pt x="223827" y="227233"/>
                    </a:cubicBezTo>
                    <a:lnTo>
                      <a:pt x="223827" y="448728"/>
                    </a:lnTo>
                    <a:cubicBezTo>
                      <a:pt x="223827" y="455230"/>
                      <a:pt x="233676" y="458835"/>
                      <a:pt x="239110" y="455315"/>
                    </a:cubicBezTo>
                    <a:cubicBezTo>
                      <a:pt x="247252" y="450040"/>
                      <a:pt x="256945" y="446981"/>
                      <a:pt x="267348" y="446981"/>
                    </a:cubicBezTo>
                    <a:cubicBezTo>
                      <a:pt x="296192" y="446981"/>
                      <a:pt x="319575" y="470502"/>
                      <a:pt x="319575" y="499518"/>
                    </a:cubicBezTo>
                    <a:cubicBezTo>
                      <a:pt x="319575" y="528533"/>
                      <a:pt x="296192" y="552055"/>
                      <a:pt x="267348" y="552055"/>
                    </a:cubicBezTo>
                    <a:cubicBezTo>
                      <a:pt x="256945" y="552055"/>
                      <a:pt x="247252" y="548995"/>
                      <a:pt x="239110" y="543720"/>
                    </a:cubicBezTo>
                    <a:cubicBezTo>
                      <a:pt x="233676" y="540201"/>
                      <a:pt x="223827" y="543806"/>
                      <a:pt x="223827" y="550307"/>
                    </a:cubicBezTo>
                    <a:lnTo>
                      <a:pt x="223827" y="764393"/>
                    </a:lnTo>
                    <a:cubicBezTo>
                      <a:pt x="223827" y="768020"/>
                      <a:pt x="226749" y="770960"/>
                      <a:pt x="230355" y="770960"/>
                    </a:cubicBezTo>
                    <a:lnTo>
                      <a:pt x="434469" y="770960"/>
                    </a:lnTo>
                    <a:cubicBezTo>
                      <a:pt x="440933" y="770960"/>
                      <a:pt x="444516" y="761052"/>
                      <a:pt x="441017" y="755586"/>
                    </a:cubicBezTo>
                    <a:cubicBezTo>
                      <a:pt x="435774" y="747396"/>
                      <a:pt x="432732" y="737644"/>
                      <a:pt x="432732" y="727179"/>
                    </a:cubicBezTo>
                    <a:cubicBezTo>
                      <a:pt x="432732" y="698163"/>
                      <a:pt x="456115" y="674642"/>
                      <a:pt x="484959" y="674642"/>
                    </a:cubicBezTo>
                    <a:cubicBezTo>
                      <a:pt x="513802" y="674642"/>
                      <a:pt x="537185" y="698163"/>
                      <a:pt x="537185" y="727179"/>
                    </a:cubicBezTo>
                    <a:cubicBezTo>
                      <a:pt x="537185" y="737644"/>
                      <a:pt x="534143" y="747396"/>
                      <a:pt x="528900" y="755586"/>
                    </a:cubicBezTo>
                    <a:cubicBezTo>
                      <a:pt x="525401" y="761052"/>
                      <a:pt x="528984" y="770960"/>
                      <a:pt x="535447" y="770960"/>
                    </a:cubicBezTo>
                    <a:lnTo>
                      <a:pt x="739562" y="770960"/>
                    </a:lnTo>
                    <a:cubicBezTo>
                      <a:pt x="743168" y="770960"/>
                      <a:pt x="746091" y="768020"/>
                      <a:pt x="746091" y="764393"/>
                    </a:cubicBezTo>
                    <a:lnTo>
                      <a:pt x="746091" y="550308"/>
                    </a:lnTo>
                    <a:cubicBezTo>
                      <a:pt x="746091" y="543806"/>
                      <a:pt x="736241" y="540201"/>
                      <a:pt x="730806" y="543721"/>
                    </a:cubicBezTo>
                    <a:cubicBezTo>
                      <a:pt x="722665" y="548995"/>
                      <a:pt x="712972" y="552055"/>
                      <a:pt x="702569" y="552055"/>
                    </a:cubicBezTo>
                    <a:cubicBezTo>
                      <a:pt x="673725" y="552055"/>
                      <a:pt x="650342" y="528533"/>
                      <a:pt x="650342" y="499518"/>
                    </a:cubicBezTo>
                    <a:cubicBezTo>
                      <a:pt x="650342" y="470502"/>
                      <a:pt x="673725" y="446981"/>
                      <a:pt x="702569" y="446981"/>
                    </a:cubicBezTo>
                    <a:cubicBezTo>
                      <a:pt x="712972" y="446981"/>
                      <a:pt x="722665" y="450040"/>
                      <a:pt x="730806" y="455315"/>
                    </a:cubicBezTo>
                    <a:cubicBezTo>
                      <a:pt x="736241" y="458834"/>
                      <a:pt x="746091" y="455229"/>
                      <a:pt x="746091" y="448727"/>
                    </a:cubicBezTo>
                    <a:lnTo>
                      <a:pt x="746091" y="227233"/>
                    </a:lnTo>
                    <a:cubicBezTo>
                      <a:pt x="746091" y="223607"/>
                      <a:pt x="743168" y="220666"/>
                      <a:pt x="739562" y="220666"/>
                    </a:cubicBezTo>
                    <a:lnTo>
                      <a:pt x="535447" y="220666"/>
                    </a:lnTo>
                    <a:cubicBezTo>
                      <a:pt x="528984" y="220666"/>
                      <a:pt x="525401" y="210758"/>
                      <a:pt x="528900" y="205292"/>
                    </a:cubicBezTo>
                    <a:cubicBezTo>
                      <a:pt x="534143" y="197101"/>
                      <a:pt x="537185" y="187351"/>
                      <a:pt x="537185" y="176885"/>
                    </a:cubicBezTo>
                    <a:close/>
                  </a:path>
                </a:pathLst>
              </a:custGeom>
              <a:solidFill>
                <a:srgbClr val="E5575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sz="10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43" name="Rounded Rectangle 14">
                <a:extLst>
                  <a:ext uri="{FF2B5EF4-FFF2-40B4-BE49-F238E27FC236}">
                    <a16:creationId xmlns:a16="http://schemas.microsoft.com/office/drawing/2014/main" id="{E2FDD474-61B7-EF26-05DF-4728C547BF2A}"/>
                  </a:ext>
                </a:extLst>
              </p:cNvPr>
              <p:cNvSpPr/>
              <p:nvPr/>
            </p:nvSpPr>
            <p:spPr>
              <a:xfrm>
                <a:off x="2909751" y="2466050"/>
                <a:ext cx="969917" cy="969917"/>
              </a:xfrm>
              <a:custGeom>
                <a:avLst/>
                <a:gdLst/>
                <a:ahLst/>
                <a:cxnLst/>
                <a:rect l="0" t="0" r="0" b="0"/>
                <a:pathLst>
                  <a:path w="969917" h="969917">
                    <a:moveTo>
                      <a:pt x="0" y="484959"/>
                    </a:moveTo>
                    <a:cubicBezTo>
                      <a:pt x="0" y="217123"/>
                      <a:pt x="217123" y="0"/>
                      <a:pt x="484959" y="0"/>
                    </a:cubicBezTo>
                    <a:cubicBezTo>
                      <a:pt x="752794" y="0"/>
                      <a:pt x="969917" y="217123"/>
                      <a:pt x="969917" y="484959"/>
                    </a:cubicBezTo>
                    <a:cubicBezTo>
                      <a:pt x="969917" y="752794"/>
                      <a:pt x="752794" y="969917"/>
                      <a:pt x="484959" y="969917"/>
                    </a:cubicBezTo>
                    <a:cubicBezTo>
                      <a:pt x="217123" y="969917"/>
                      <a:pt x="0" y="752794"/>
                      <a:pt x="0" y="484959"/>
                    </a:cubicBezTo>
                    <a:close/>
                    <a:moveTo>
                      <a:pt x="537185" y="176885"/>
                    </a:moveTo>
                    <a:cubicBezTo>
                      <a:pt x="537185" y="147869"/>
                      <a:pt x="513802" y="124348"/>
                      <a:pt x="484959" y="124348"/>
                    </a:cubicBezTo>
                    <a:cubicBezTo>
                      <a:pt x="456115" y="124348"/>
                      <a:pt x="432732" y="147869"/>
                      <a:pt x="432732" y="176885"/>
                    </a:cubicBezTo>
                    <a:cubicBezTo>
                      <a:pt x="432732" y="187351"/>
                      <a:pt x="435774" y="197101"/>
                      <a:pt x="441017" y="205292"/>
                    </a:cubicBezTo>
                    <a:cubicBezTo>
                      <a:pt x="444516" y="210758"/>
                      <a:pt x="440933" y="220666"/>
                      <a:pt x="434469" y="220666"/>
                    </a:cubicBezTo>
                    <a:lnTo>
                      <a:pt x="230355" y="220666"/>
                    </a:lnTo>
                    <a:cubicBezTo>
                      <a:pt x="226749" y="220666"/>
                      <a:pt x="223827" y="223607"/>
                      <a:pt x="223827" y="227233"/>
                    </a:cubicBezTo>
                    <a:lnTo>
                      <a:pt x="223827" y="448728"/>
                    </a:lnTo>
                    <a:cubicBezTo>
                      <a:pt x="223827" y="455230"/>
                      <a:pt x="233676" y="458835"/>
                      <a:pt x="239110" y="455315"/>
                    </a:cubicBezTo>
                    <a:cubicBezTo>
                      <a:pt x="247252" y="450040"/>
                      <a:pt x="256945" y="446981"/>
                      <a:pt x="267348" y="446981"/>
                    </a:cubicBezTo>
                    <a:cubicBezTo>
                      <a:pt x="296192" y="446981"/>
                      <a:pt x="319575" y="470502"/>
                      <a:pt x="319575" y="499518"/>
                    </a:cubicBezTo>
                    <a:cubicBezTo>
                      <a:pt x="319575" y="528533"/>
                      <a:pt x="296192" y="552055"/>
                      <a:pt x="267348" y="552055"/>
                    </a:cubicBezTo>
                    <a:cubicBezTo>
                      <a:pt x="256945" y="552055"/>
                      <a:pt x="247252" y="548995"/>
                      <a:pt x="239110" y="543720"/>
                    </a:cubicBezTo>
                    <a:cubicBezTo>
                      <a:pt x="233676" y="540201"/>
                      <a:pt x="223827" y="543806"/>
                      <a:pt x="223827" y="550307"/>
                    </a:cubicBezTo>
                    <a:lnTo>
                      <a:pt x="223827" y="764393"/>
                    </a:lnTo>
                    <a:cubicBezTo>
                      <a:pt x="223827" y="768020"/>
                      <a:pt x="226749" y="770960"/>
                      <a:pt x="230355" y="770960"/>
                    </a:cubicBezTo>
                    <a:lnTo>
                      <a:pt x="434469" y="770960"/>
                    </a:lnTo>
                    <a:cubicBezTo>
                      <a:pt x="440933" y="770960"/>
                      <a:pt x="444516" y="761052"/>
                      <a:pt x="441017" y="755586"/>
                    </a:cubicBezTo>
                    <a:cubicBezTo>
                      <a:pt x="435774" y="747396"/>
                      <a:pt x="432732" y="737644"/>
                      <a:pt x="432732" y="727179"/>
                    </a:cubicBezTo>
                    <a:cubicBezTo>
                      <a:pt x="432732" y="698163"/>
                      <a:pt x="456115" y="674642"/>
                      <a:pt x="484959" y="674642"/>
                    </a:cubicBezTo>
                    <a:cubicBezTo>
                      <a:pt x="513802" y="674642"/>
                      <a:pt x="537185" y="698163"/>
                      <a:pt x="537185" y="727179"/>
                    </a:cubicBezTo>
                    <a:cubicBezTo>
                      <a:pt x="537185" y="737644"/>
                      <a:pt x="534143" y="747396"/>
                      <a:pt x="528900" y="755586"/>
                    </a:cubicBezTo>
                    <a:cubicBezTo>
                      <a:pt x="525401" y="761052"/>
                      <a:pt x="528984" y="770960"/>
                      <a:pt x="535447" y="770960"/>
                    </a:cubicBezTo>
                    <a:lnTo>
                      <a:pt x="739562" y="770960"/>
                    </a:lnTo>
                    <a:cubicBezTo>
                      <a:pt x="743168" y="770960"/>
                      <a:pt x="746091" y="768020"/>
                      <a:pt x="746091" y="764393"/>
                    </a:cubicBezTo>
                    <a:lnTo>
                      <a:pt x="746091" y="550308"/>
                    </a:lnTo>
                    <a:cubicBezTo>
                      <a:pt x="746091" y="543806"/>
                      <a:pt x="736241" y="540201"/>
                      <a:pt x="730806" y="543721"/>
                    </a:cubicBezTo>
                    <a:cubicBezTo>
                      <a:pt x="722665" y="548995"/>
                      <a:pt x="712972" y="552055"/>
                      <a:pt x="702569" y="552055"/>
                    </a:cubicBezTo>
                    <a:cubicBezTo>
                      <a:pt x="673725" y="552055"/>
                      <a:pt x="650342" y="528533"/>
                      <a:pt x="650342" y="499518"/>
                    </a:cubicBezTo>
                    <a:cubicBezTo>
                      <a:pt x="650342" y="470502"/>
                      <a:pt x="673725" y="446981"/>
                      <a:pt x="702569" y="446981"/>
                    </a:cubicBezTo>
                    <a:cubicBezTo>
                      <a:pt x="712972" y="446981"/>
                      <a:pt x="722665" y="450040"/>
                      <a:pt x="730806" y="455315"/>
                    </a:cubicBezTo>
                    <a:cubicBezTo>
                      <a:pt x="736241" y="458834"/>
                      <a:pt x="746091" y="455229"/>
                      <a:pt x="746091" y="448727"/>
                    </a:cubicBezTo>
                    <a:lnTo>
                      <a:pt x="746091" y="227233"/>
                    </a:lnTo>
                    <a:cubicBezTo>
                      <a:pt x="746091" y="223607"/>
                      <a:pt x="743168" y="220666"/>
                      <a:pt x="739562" y="220666"/>
                    </a:cubicBezTo>
                    <a:lnTo>
                      <a:pt x="535447" y="220666"/>
                    </a:lnTo>
                    <a:cubicBezTo>
                      <a:pt x="528984" y="220666"/>
                      <a:pt x="525401" y="210758"/>
                      <a:pt x="528900" y="205292"/>
                    </a:cubicBezTo>
                    <a:cubicBezTo>
                      <a:pt x="534143" y="197101"/>
                      <a:pt x="537185" y="187351"/>
                      <a:pt x="537185" y="176885"/>
                    </a:cubicBezTo>
                    <a:close/>
                  </a:path>
                </a:pathLst>
              </a:custGeom>
              <a:noFill/>
              <a:ln w="1102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sz="10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grpSp>
        <p:sp>
          <p:nvSpPr>
            <p:cNvPr id="11" name="Rounded Rectangle 16">
              <a:extLst>
                <a:ext uri="{FF2B5EF4-FFF2-40B4-BE49-F238E27FC236}">
                  <a16:creationId xmlns:a16="http://schemas.microsoft.com/office/drawing/2014/main" id="{12208E5F-7CFD-E3E9-ECD8-C2E810AF8926}"/>
                </a:ext>
              </a:extLst>
            </p:cNvPr>
            <p:cNvSpPr/>
            <p:nvPr/>
          </p:nvSpPr>
          <p:spPr>
            <a:xfrm>
              <a:off x="6284506" y="4499200"/>
              <a:ext cx="7347" cy="396784"/>
            </a:xfrm>
            <a:custGeom>
              <a:avLst/>
              <a:gdLst/>
              <a:ahLst/>
              <a:cxnLst/>
              <a:rect l="0" t="0" r="0" b="0"/>
              <a:pathLst>
                <a:path w="7347" h="396784">
                  <a:moveTo>
                    <a:pt x="0" y="0"/>
                  </a:moveTo>
                  <a:lnTo>
                    <a:pt x="0" y="396784"/>
                  </a:lnTo>
                </a:path>
              </a:pathLst>
            </a:custGeom>
            <a:noFill/>
            <a:ln w="11021">
              <a:solidFill>
                <a:srgbClr val="E55753"/>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sz="10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grpSp>
          <p:nvGrpSpPr>
            <p:cNvPr id="12" name="Group 11">
              <a:extLst>
                <a:ext uri="{FF2B5EF4-FFF2-40B4-BE49-F238E27FC236}">
                  <a16:creationId xmlns:a16="http://schemas.microsoft.com/office/drawing/2014/main" id="{E81F448F-B1FD-9030-4C91-BCE2DCB0D269}"/>
                </a:ext>
              </a:extLst>
            </p:cNvPr>
            <p:cNvGrpSpPr/>
            <p:nvPr/>
          </p:nvGrpSpPr>
          <p:grpSpPr>
            <a:xfrm>
              <a:off x="5222452" y="3114136"/>
              <a:ext cx="35132" cy="35132"/>
              <a:chOff x="3378522" y="2033863"/>
              <a:chExt cx="35132" cy="35132"/>
            </a:xfrm>
          </p:grpSpPr>
          <p:sp>
            <p:nvSpPr>
              <p:cNvPr id="40" name="Rounded Rectangle 17">
                <a:extLst>
                  <a:ext uri="{FF2B5EF4-FFF2-40B4-BE49-F238E27FC236}">
                    <a16:creationId xmlns:a16="http://schemas.microsoft.com/office/drawing/2014/main" id="{AAABD159-9844-C63E-C527-CB366B14A715}"/>
                  </a:ext>
                </a:extLst>
              </p:cNvPr>
              <p:cNvSpPr/>
              <p:nvPr/>
            </p:nvSpPr>
            <p:spPr>
              <a:xfrm>
                <a:off x="3378522" y="2033863"/>
                <a:ext cx="35132" cy="35132"/>
              </a:xfrm>
              <a:custGeom>
                <a:avLst/>
                <a:gdLst/>
                <a:ahLst/>
                <a:cxnLst/>
                <a:rect l="0" t="0" r="0" b="0"/>
                <a:pathLst>
                  <a:path w="35132" h="35132">
                    <a:moveTo>
                      <a:pt x="17565" y="0"/>
                    </a:moveTo>
                    <a:cubicBezTo>
                      <a:pt x="27261" y="0"/>
                      <a:pt x="35132" y="7871"/>
                      <a:pt x="35132" y="17565"/>
                    </a:cubicBezTo>
                    <a:cubicBezTo>
                      <a:pt x="35132" y="27261"/>
                      <a:pt x="27261" y="35132"/>
                      <a:pt x="17565" y="35132"/>
                    </a:cubicBezTo>
                    <a:cubicBezTo>
                      <a:pt x="7871" y="35132"/>
                      <a:pt x="0" y="27261"/>
                      <a:pt x="0" y="17565"/>
                    </a:cubicBezTo>
                    <a:cubicBezTo>
                      <a:pt x="0" y="7871"/>
                      <a:pt x="7871" y="0"/>
                      <a:pt x="17565" y="0"/>
                    </a:cubicBezTo>
                    <a:close/>
                  </a:path>
                </a:pathLst>
              </a:custGeom>
              <a:solidFill>
                <a:srgbClr val="FFFF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sz="10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41" name="Rounded Rectangle 18">
                <a:extLst>
                  <a:ext uri="{FF2B5EF4-FFF2-40B4-BE49-F238E27FC236}">
                    <a16:creationId xmlns:a16="http://schemas.microsoft.com/office/drawing/2014/main" id="{5EDF30D0-3A6D-9C0E-5FC5-F1411EB4C1F7}"/>
                  </a:ext>
                </a:extLst>
              </p:cNvPr>
              <p:cNvSpPr/>
              <p:nvPr/>
            </p:nvSpPr>
            <p:spPr>
              <a:xfrm>
                <a:off x="3378522" y="2033863"/>
                <a:ext cx="35132" cy="35132"/>
              </a:xfrm>
              <a:custGeom>
                <a:avLst/>
                <a:gdLst/>
                <a:ahLst/>
                <a:cxnLst/>
                <a:rect l="0" t="0" r="0" b="0"/>
                <a:pathLst>
                  <a:path w="35132" h="35132">
                    <a:moveTo>
                      <a:pt x="17565" y="0"/>
                    </a:moveTo>
                    <a:cubicBezTo>
                      <a:pt x="27261" y="0"/>
                      <a:pt x="35132" y="7871"/>
                      <a:pt x="35132" y="17565"/>
                    </a:cubicBezTo>
                    <a:cubicBezTo>
                      <a:pt x="35132" y="27261"/>
                      <a:pt x="27261" y="35132"/>
                      <a:pt x="17565" y="35132"/>
                    </a:cubicBezTo>
                    <a:cubicBezTo>
                      <a:pt x="7871" y="35132"/>
                      <a:pt x="0" y="27261"/>
                      <a:pt x="0" y="17565"/>
                    </a:cubicBezTo>
                    <a:cubicBezTo>
                      <a:pt x="0" y="7871"/>
                      <a:pt x="7871" y="0"/>
                      <a:pt x="17565" y="0"/>
                    </a:cubicBezTo>
                    <a:close/>
                  </a:path>
                </a:pathLst>
              </a:custGeom>
              <a:noFill/>
              <a:ln w="1102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sz="10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grpSp>
        <p:grpSp>
          <p:nvGrpSpPr>
            <p:cNvPr id="13" name="Group 12">
              <a:extLst>
                <a:ext uri="{FF2B5EF4-FFF2-40B4-BE49-F238E27FC236}">
                  <a16:creationId xmlns:a16="http://schemas.microsoft.com/office/drawing/2014/main" id="{8FE5F48C-00A9-85CC-9966-CF72E4C47597}"/>
                </a:ext>
              </a:extLst>
            </p:cNvPr>
            <p:cNvGrpSpPr/>
            <p:nvPr/>
          </p:nvGrpSpPr>
          <p:grpSpPr>
            <a:xfrm>
              <a:off x="5988121" y="1962015"/>
              <a:ext cx="969917" cy="969917"/>
              <a:chOff x="4144191" y="881742"/>
              <a:chExt cx="969917" cy="969917"/>
            </a:xfrm>
          </p:grpSpPr>
          <p:sp>
            <p:nvSpPr>
              <p:cNvPr id="38" name="Rounded Rectangle 20">
                <a:extLst>
                  <a:ext uri="{FF2B5EF4-FFF2-40B4-BE49-F238E27FC236}">
                    <a16:creationId xmlns:a16="http://schemas.microsoft.com/office/drawing/2014/main" id="{FFBA93FB-AF35-50EF-7113-E161161A41CD}"/>
                  </a:ext>
                </a:extLst>
              </p:cNvPr>
              <p:cNvSpPr/>
              <p:nvPr/>
            </p:nvSpPr>
            <p:spPr>
              <a:xfrm>
                <a:off x="4144191" y="881742"/>
                <a:ext cx="969917" cy="969917"/>
              </a:xfrm>
              <a:custGeom>
                <a:avLst/>
                <a:gdLst/>
                <a:ahLst/>
                <a:cxnLst/>
                <a:rect l="0" t="0" r="0" b="0"/>
                <a:pathLst>
                  <a:path w="969917" h="969917">
                    <a:moveTo>
                      <a:pt x="0" y="484958"/>
                    </a:moveTo>
                    <a:cubicBezTo>
                      <a:pt x="0" y="217123"/>
                      <a:pt x="217123" y="0"/>
                      <a:pt x="484958" y="0"/>
                    </a:cubicBezTo>
                    <a:cubicBezTo>
                      <a:pt x="752793" y="0"/>
                      <a:pt x="969917" y="217123"/>
                      <a:pt x="969917" y="484958"/>
                    </a:cubicBezTo>
                    <a:cubicBezTo>
                      <a:pt x="969917" y="752793"/>
                      <a:pt x="752793" y="969917"/>
                      <a:pt x="484958" y="969917"/>
                    </a:cubicBezTo>
                    <a:cubicBezTo>
                      <a:pt x="217123" y="969917"/>
                      <a:pt x="0" y="752793"/>
                      <a:pt x="0" y="484958"/>
                    </a:cubicBezTo>
                    <a:close/>
                    <a:moveTo>
                      <a:pt x="537184" y="176885"/>
                    </a:moveTo>
                    <a:cubicBezTo>
                      <a:pt x="537184" y="147869"/>
                      <a:pt x="513802" y="124348"/>
                      <a:pt x="484958" y="124348"/>
                    </a:cubicBezTo>
                    <a:cubicBezTo>
                      <a:pt x="456114" y="124348"/>
                      <a:pt x="432732" y="147869"/>
                      <a:pt x="432732" y="176885"/>
                    </a:cubicBezTo>
                    <a:cubicBezTo>
                      <a:pt x="432732" y="187351"/>
                      <a:pt x="435774" y="197101"/>
                      <a:pt x="441017" y="205292"/>
                    </a:cubicBezTo>
                    <a:cubicBezTo>
                      <a:pt x="444516" y="210758"/>
                      <a:pt x="440933" y="220666"/>
                      <a:pt x="434469" y="220666"/>
                    </a:cubicBezTo>
                    <a:lnTo>
                      <a:pt x="230355" y="220666"/>
                    </a:lnTo>
                    <a:cubicBezTo>
                      <a:pt x="226749" y="220666"/>
                      <a:pt x="223827" y="223607"/>
                      <a:pt x="223827" y="227233"/>
                    </a:cubicBezTo>
                    <a:lnTo>
                      <a:pt x="223827" y="448728"/>
                    </a:lnTo>
                    <a:cubicBezTo>
                      <a:pt x="223827" y="455229"/>
                      <a:pt x="233676" y="458835"/>
                      <a:pt x="239110" y="455315"/>
                    </a:cubicBezTo>
                    <a:cubicBezTo>
                      <a:pt x="247252" y="450040"/>
                      <a:pt x="256945" y="446980"/>
                      <a:pt x="267348" y="446980"/>
                    </a:cubicBezTo>
                    <a:cubicBezTo>
                      <a:pt x="296192" y="446980"/>
                      <a:pt x="319575" y="470502"/>
                      <a:pt x="319575" y="499517"/>
                    </a:cubicBezTo>
                    <a:cubicBezTo>
                      <a:pt x="319575" y="528533"/>
                      <a:pt x="296192" y="552054"/>
                      <a:pt x="267348" y="552054"/>
                    </a:cubicBezTo>
                    <a:cubicBezTo>
                      <a:pt x="256945" y="552054"/>
                      <a:pt x="247252" y="548995"/>
                      <a:pt x="239110" y="543720"/>
                    </a:cubicBezTo>
                    <a:cubicBezTo>
                      <a:pt x="233676" y="540200"/>
                      <a:pt x="223827" y="543806"/>
                      <a:pt x="223827" y="550307"/>
                    </a:cubicBezTo>
                    <a:lnTo>
                      <a:pt x="223827" y="764393"/>
                    </a:lnTo>
                    <a:cubicBezTo>
                      <a:pt x="223827" y="768020"/>
                      <a:pt x="226749" y="770959"/>
                      <a:pt x="230355" y="770959"/>
                    </a:cubicBezTo>
                    <a:lnTo>
                      <a:pt x="434469" y="770959"/>
                    </a:lnTo>
                    <a:cubicBezTo>
                      <a:pt x="440933" y="770959"/>
                      <a:pt x="444516" y="761052"/>
                      <a:pt x="441017" y="755586"/>
                    </a:cubicBezTo>
                    <a:cubicBezTo>
                      <a:pt x="435774" y="747395"/>
                      <a:pt x="432732" y="737644"/>
                      <a:pt x="432732" y="727179"/>
                    </a:cubicBezTo>
                    <a:cubicBezTo>
                      <a:pt x="432732" y="698163"/>
                      <a:pt x="456114" y="674642"/>
                      <a:pt x="484958" y="674642"/>
                    </a:cubicBezTo>
                    <a:cubicBezTo>
                      <a:pt x="513802" y="674642"/>
                      <a:pt x="537184" y="698163"/>
                      <a:pt x="537184" y="727179"/>
                    </a:cubicBezTo>
                    <a:cubicBezTo>
                      <a:pt x="537184" y="737644"/>
                      <a:pt x="534142" y="747395"/>
                      <a:pt x="528900" y="755586"/>
                    </a:cubicBezTo>
                    <a:cubicBezTo>
                      <a:pt x="525400" y="761052"/>
                      <a:pt x="528984" y="770959"/>
                      <a:pt x="535447" y="770959"/>
                    </a:cubicBezTo>
                    <a:lnTo>
                      <a:pt x="739561" y="770959"/>
                    </a:lnTo>
                    <a:cubicBezTo>
                      <a:pt x="743167" y="770959"/>
                      <a:pt x="746090" y="768020"/>
                      <a:pt x="746090" y="764393"/>
                    </a:cubicBezTo>
                    <a:lnTo>
                      <a:pt x="746090" y="550308"/>
                    </a:lnTo>
                    <a:cubicBezTo>
                      <a:pt x="746090" y="543806"/>
                      <a:pt x="736240" y="540201"/>
                      <a:pt x="730806" y="543720"/>
                    </a:cubicBezTo>
                    <a:cubicBezTo>
                      <a:pt x="722665" y="548995"/>
                      <a:pt x="712972" y="552054"/>
                      <a:pt x="702568" y="552054"/>
                    </a:cubicBezTo>
                    <a:cubicBezTo>
                      <a:pt x="673724" y="552054"/>
                      <a:pt x="650341" y="528533"/>
                      <a:pt x="650341" y="499517"/>
                    </a:cubicBezTo>
                    <a:cubicBezTo>
                      <a:pt x="650341" y="470502"/>
                      <a:pt x="673724" y="446980"/>
                      <a:pt x="702568" y="446980"/>
                    </a:cubicBezTo>
                    <a:cubicBezTo>
                      <a:pt x="712972" y="446980"/>
                      <a:pt x="722665" y="450040"/>
                      <a:pt x="730806" y="455314"/>
                    </a:cubicBezTo>
                    <a:cubicBezTo>
                      <a:pt x="736240" y="458834"/>
                      <a:pt x="746090" y="455229"/>
                      <a:pt x="746090" y="448727"/>
                    </a:cubicBezTo>
                    <a:lnTo>
                      <a:pt x="746090" y="227233"/>
                    </a:lnTo>
                    <a:cubicBezTo>
                      <a:pt x="746090" y="223607"/>
                      <a:pt x="743167" y="220666"/>
                      <a:pt x="739561" y="220666"/>
                    </a:cubicBezTo>
                    <a:lnTo>
                      <a:pt x="535447" y="220666"/>
                    </a:lnTo>
                    <a:cubicBezTo>
                      <a:pt x="528984" y="220666"/>
                      <a:pt x="525400" y="210758"/>
                      <a:pt x="528900" y="205292"/>
                    </a:cubicBezTo>
                    <a:cubicBezTo>
                      <a:pt x="534142" y="197101"/>
                      <a:pt x="537184" y="187351"/>
                      <a:pt x="537184" y="176885"/>
                    </a:cubicBezTo>
                    <a:close/>
                  </a:path>
                </a:pathLst>
              </a:custGeom>
              <a:solidFill>
                <a:srgbClr val="DE58A9"/>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sz="10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39" name="Rounded Rectangle 21">
                <a:extLst>
                  <a:ext uri="{FF2B5EF4-FFF2-40B4-BE49-F238E27FC236}">
                    <a16:creationId xmlns:a16="http://schemas.microsoft.com/office/drawing/2014/main" id="{1784E0C7-6C4F-6F16-5E68-8A4BF5C0F8CD}"/>
                  </a:ext>
                </a:extLst>
              </p:cNvPr>
              <p:cNvSpPr/>
              <p:nvPr/>
            </p:nvSpPr>
            <p:spPr>
              <a:xfrm>
                <a:off x="4144191" y="881742"/>
                <a:ext cx="969917" cy="969917"/>
              </a:xfrm>
              <a:custGeom>
                <a:avLst/>
                <a:gdLst/>
                <a:ahLst/>
                <a:cxnLst/>
                <a:rect l="0" t="0" r="0" b="0"/>
                <a:pathLst>
                  <a:path w="969917" h="969917">
                    <a:moveTo>
                      <a:pt x="0" y="484958"/>
                    </a:moveTo>
                    <a:cubicBezTo>
                      <a:pt x="0" y="217123"/>
                      <a:pt x="217123" y="0"/>
                      <a:pt x="484958" y="0"/>
                    </a:cubicBezTo>
                    <a:cubicBezTo>
                      <a:pt x="752793" y="0"/>
                      <a:pt x="969917" y="217123"/>
                      <a:pt x="969917" y="484958"/>
                    </a:cubicBezTo>
                    <a:cubicBezTo>
                      <a:pt x="969917" y="752793"/>
                      <a:pt x="752793" y="969917"/>
                      <a:pt x="484958" y="969917"/>
                    </a:cubicBezTo>
                    <a:cubicBezTo>
                      <a:pt x="217123" y="969917"/>
                      <a:pt x="0" y="752793"/>
                      <a:pt x="0" y="484958"/>
                    </a:cubicBezTo>
                    <a:close/>
                    <a:moveTo>
                      <a:pt x="537184" y="176885"/>
                    </a:moveTo>
                    <a:cubicBezTo>
                      <a:pt x="537184" y="147869"/>
                      <a:pt x="513802" y="124348"/>
                      <a:pt x="484958" y="124348"/>
                    </a:cubicBezTo>
                    <a:cubicBezTo>
                      <a:pt x="456114" y="124348"/>
                      <a:pt x="432732" y="147869"/>
                      <a:pt x="432732" y="176885"/>
                    </a:cubicBezTo>
                    <a:cubicBezTo>
                      <a:pt x="432732" y="187351"/>
                      <a:pt x="435774" y="197101"/>
                      <a:pt x="441017" y="205292"/>
                    </a:cubicBezTo>
                    <a:cubicBezTo>
                      <a:pt x="444516" y="210758"/>
                      <a:pt x="440933" y="220666"/>
                      <a:pt x="434469" y="220666"/>
                    </a:cubicBezTo>
                    <a:lnTo>
                      <a:pt x="230355" y="220666"/>
                    </a:lnTo>
                    <a:cubicBezTo>
                      <a:pt x="226749" y="220666"/>
                      <a:pt x="223827" y="223607"/>
                      <a:pt x="223827" y="227233"/>
                    </a:cubicBezTo>
                    <a:lnTo>
                      <a:pt x="223827" y="448728"/>
                    </a:lnTo>
                    <a:cubicBezTo>
                      <a:pt x="223827" y="455229"/>
                      <a:pt x="233676" y="458835"/>
                      <a:pt x="239110" y="455315"/>
                    </a:cubicBezTo>
                    <a:cubicBezTo>
                      <a:pt x="247252" y="450040"/>
                      <a:pt x="256945" y="446980"/>
                      <a:pt x="267348" y="446980"/>
                    </a:cubicBezTo>
                    <a:cubicBezTo>
                      <a:pt x="296192" y="446980"/>
                      <a:pt x="319575" y="470502"/>
                      <a:pt x="319575" y="499517"/>
                    </a:cubicBezTo>
                    <a:cubicBezTo>
                      <a:pt x="319575" y="528533"/>
                      <a:pt x="296192" y="552054"/>
                      <a:pt x="267348" y="552054"/>
                    </a:cubicBezTo>
                    <a:cubicBezTo>
                      <a:pt x="256945" y="552054"/>
                      <a:pt x="247252" y="548995"/>
                      <a:pt x="239110" y="543720"/>
                    </a:cubicBezTo>
                    <a:cubicBezTo>
                      <a:pt x="233676" y="540200"/>
                      <a:pt x="223827" y="543806"/>
                      <a:pt x="223827" y="550307"/>
                    </a:cubicBezTo>
                    <a:lnTo>
                      <a:pt x="223827" y="764393"/>
                    </a:lnTo>
                    <a:cubicBezTo>
                      <a:pt x="223827" y="768020"/>
                      <a:pt x="226749" y="770959"/>
                      <a:pt x="230355" y="770959"/>
                    </a:cubicBezTo>
                    <a:lnTo>
                      <a:pt x="434469" y="770959"/>
                    </a:lnTo>
                    <a:cubicBezTo>
                      <a:pt x="440933" y="770959"/>
                      <a:pt x="444516" y="761052"/>
                      <a:pt x="441017" y="755586"/>
                    </a:cubicBezTo>
                    <a:cubicBezTo>
                      <a:pt x="435774" y="747395"/>
                      <a:pt x="432732" y="737644"/>
                      <a:pt x="432732" y="727179"/>
                    </a:cubicBezTo>
                    <a:cubicBezTo>
                      <a:pt x="432732" y="698163"/>
                      <a:pt x="456114" y="674642"/>
                      <a:pt x="484958" y="674642"/>
                    </a:cubicBezTo>
                    <a:cubicBezTo>
                      <a:pt x="513802" y="674642"/>
                      <a:pt x="537184" y="698163"/>
                      <a:pt x="537184" y="727179"/>
                    </a:cubicBezTo>
                    <a:cubicBezTo>
                      <a:pt x="537184" y="737644"/>
                      <a:pt x="534142" y="747395"/>
                      <a:pt x="528900" y="755586"/>
                    </a:cubicBezTo>
                    <a:cubicBezTo>
                      <a:pt x="525400" y="761052"/>
                      <a:pt x="528984" y="770959"/>
                      <a:pt x="535447" y="770959"/>
                    </a:cubicBezTo>
                    <a:lnTo>
                      <a:pt x="739561" y="770959"/>
                    </a:lnTo>
                    <a:cubicBezTo>
                      <a:pt x="743167" y="770959"/>
                      <a:pt x="746090" y="768020"/>
                      <a:pt x="746090" y="764393"/>
                    </a:cubicBezTo>
                    <a:lnTo>
                      <a:pt x="746090" y="550308"/>
                    </a:lnTo>
                    <a:cubicBezTo>
                      <a:pt x="746090" y="543806"/>
                      <a:pt x="736240" y="540201"/>
                      <a:pt x="730806" y="543720"/>
                    </a:cubicBezTo>
                    <a:cubicBezTo>
                      <a:pt x="722665" y="548995"/>
                      <a:pt x="712972" y="552054"/>
                      <a:pt x="702568" y="552054"/>
                    </a:cubicBezTo>
                    <a:cubicBezTo>
                      <a:pt x="673724" y="552054"/>
                      <a:pt x="650341" y="528533"/>
                      <a:pt x="650341" y="499517"/>
                    </a:cubicBezTo>
                    <a:cubicBezTo>
                      <a:pt x="650341" y="470502"/>
                      <a:pt x="673724" y="446980"/>
                      <a:pt x="702568" y="446980"/>
                    </a:cubicBezTo>
                    <a:cubicBezTo>
                      <a:pt x="712972" y="446980"/>
                      <a:pt x="722665" y="450040"/>
                      <a:pt x="730806" y="455314"/>
                    </a:cubicBezTo>
                    <a:cubicBezTo>
                      <a:pt x="736240" y="458834"/>
                      <a:pt x="746090" y="455229"/>
                      <a:pt x="746090" y="448727"/>
                    </a:cubicBezTo>
                    <a:lnTo>
                      <a:pt x="746090" y="227233"/>
                    </a:lnTo>
                    <a:cubicBezTo>
                      <a:pt x="746090" y="223607"/>
                      <a:pt x="743167" y="220666"/>
                      <a:pt x="739561" y="220666"/>
                    </a:cubicBezTo>
                    <a:lnTo>
                      <a:pt x="535447" y="220666"/>
                    </a:lnTo>
                    <a:cubicBezTo>
                      <a:pt x="528984" y="220666"/>
                      <a:pt x="525400" y="210758"/>
                      <a:pt x="528900" y="205292"/>
                    </a:cubicBezTo>
                    <a:cubicBezTo>
                      <a:pt x="534142" y="197101"/>
                      <a:pt x="537184" y="187351"/>
                      <a:pt x="537184" y="176885"/>
                    </a:cubicBezTo>
                    <a:close/>
                  </a:path>
                </a:pathLst>
              </a:custGeom>
              <a:noFill/>
              <a:ln w="1102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sz="10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grpSp>
        <p:sp>
          <p:nvSpPr>
            <p:cNvPr id="14" name="Rounded Rectangle 23">
              <a:extLst>
                <a:ext uri="{FF2B5EF4-FFF2-40B4-BE49-F238E27FC236}">
                  <a16:creationId xmlns:a16="http://schemas.microsoft.com/office/drawing/2014/main" id="{B07063E0-A4D5-108D-CF52-F2B00577F4D1}"/>
                </a:ext>
              </a:extLst>
            </p:cNvPr>
            <p:cNvSpPr/>
            <p:nvPr/>
          </p:nvSpPr>
          <p:spPr>
            <a:xfrm>
              <a:off x="6474461" y="3471638"/>
              <a:ext cx="7347" cy="670146"/>
            </a:xfrm>
            <a:custGeom>
              <a:avLst/>
              <a:gdLst/>
              <a:ahLst/>
              <a:cxnLst/>
              <a:rect l="0" t="0" r="0" b="0"/>
              <a:pathLst>
                <a:path w="7347" h="670146">
                  <a:moveTo>
                    <a:pt x="0" y="0"/>
                  </a:moveTo>
                  <a:lnTo>
                    <a:pt x="1" y="670146"/>
                  </a:lnTo>
                </a:path>
              </a:pathLst>
            </a:custGeom>
            <a:noFill/>
            <a:ln w="11021">
              <a:solidFill>
                <a:srgbClr val="DE58A9"/>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sz="10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15" name="Rounded Rectangle 24">
              <a:extLst>
                <a:ext uri="{FF2B5EF4-FFF2-40B4-BE49-F238E27FC236}">
                  <a16:creationId xmlns:a16="http://schemas.microsoft.com/office/drawing/2014/main" id="{1FDB4EAC-ECE3-558D-A8A7-923C9546760E}"/>
                </a:ext>
              </a:extLst>
            </p:cNvPr>
            <p:cNvSpPr/>
            <p:nvPr/>
          </p:nvSpPr>
          <p:spPr>
            <a:xfrm>
              <a:off x="6456892" y="3600591"/>
              <a:ext cx="35133" cy="35133"/>
            </a:xfrm>
            <a:custGeom>
              <a:avLst/>
              <a:gdLst/>
              <a:ahLst/>
              <a:cxnLst/>
              <a:rect l="0" t="0" r="0" b="0"/>
              <a:pathLst>
                <a:path w="35133" h="35133">
                  <a:moveTo>
                    <a:pt x="17567" y="0"/>
                  </a:moveTo>
                  <a:cubicBezTo>
                    <a:pt x="27262" y="0"/>
                    <a:pt x="35133" y="7871"/>
                    <a:pt x="35133" y="17567"/>
                  </a:cubicBezTo>
                  <a:cubicBezTo>
                    <a:pt x="35133" y="27262"/>
                    <a:pt x="27262" y="35133"/>
                    <a:pt x="17567" y="35133"/>
                  </a:cubicBezTo>
                  <a:cubicBezTo>
                    <a:pt x="7871" y="35133"/>
                    <a:pt x="0" y="27262"/>
                    <a:pt x="0" y="17567"/>
                  </a:cubicBezTo>
                  <a:cubicBezTo>
                    <a:pt x="0" y="7871"/>
                    <a:pt x="7871" y="0"/>
                    <a:pt x="17567" y="0"/>
                  </a:cubicBezTo>
                  <a:close/>
                </a:path>
              </a:pathLst>
            </a:custGeom>
            <a:noFill/>
            <a:ln w="11021">
              <a:solidFill>
                <a:srgbClr val="DE58A9"/>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sz="10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grpSp>
          <p:nvGrpSpPr>
            <p:cNvPr id="16" name="Group 15">
              <a:extLst>
                <a:ext uri="{FF2B5EF4-FFF2-40B4-BE49-F238E27FC236}">
                  <a16:creationId xmlns:a16="http://schemas.microsoft.com/office/drawing/2014/main" id="{F19EFAB1-EB06-6259-185E-F5F689F0E666}"/>
                </a:ext>
              </a:extLst>
            </p:cNvPr>
            <p:cNvGrpSpPr/>
            <p:nvPr/>
          </p:nvGrpSpPr>
          <p:grpSpPr>
            <a:xfrm>
              <a:off x="7222561" y="3546323"/>
              <a:ext cx="969917" cy="969917"/>
              <a:chOff x="5378631" y="2466050"/>
              <a:chExt cx="969917" cy="969917"/>
            </a:xfrm>
          </p:grpSpPr>
          <p:sp>
            <p:nvSpPr>
              <p:cNvPr id="36" name="Rounded Rectangle 25">
                <a:extLst>
                  <a:ext uri="{FF2B5EF4-FFF2-40B4-BE49-F238E27FC236}">
                    <a16:creationId xmlns:a16="http://schemas.microsoft.com/office/drawing/2014/main" id="{098C022D-CD21-4761-6171-3DC90959DCEE}"/>
                  </a:ext>
                </a:extLst>
              </p:cNvPr>
              <p:cNvSpPr/>
              <p:nvPr/>
            </p:nvSpPr>
            <p:spPr>
              <a:xfrm>
                <a:off x="5378631" y="2466050"/>
                <a:ext cx="969917" cy="969917"/>
              </a:xfrm>
              <a:custGeom>
                <a:avLst/>
                <a:gdLst/>
                <a:ahLst/>
                <a:cxnLst/>
                <a:rect l="0" t="0" r="0" b="0"/>
                <a:pathLst>
                  <a:path w="969917" h="969917">
                    <a:moveTo>
                      <a:pt x="0" y="484959"/>
                    </a:moveTo>
                    <a:cubicBezTo>
                      <a:pt x="0" y="217123"/>
                      <a:pt x="217123" y="0"/>
                      <a:pt x="484959" y="0"/>
                    </a:cubicBezTo>
                    <a:cubicBezTo>
                      <a:pt x="752794" y="0"/>
                      <a:pt x="969917" y="217123"/>
                      <a:pt x="969917" y="484959"/>
                    </a:cubicBezTo>
                    <a:cubicBezTo>
                      <a:pt x="969917" y="752794"/>
                      <a:pt x="752794" y="969917"/>
                      <a:pt x="484959" y="969917"/>
                    </a:cubicBezTo>
                    <a:cubicBezTo>
                      <a:pt x="217123" y="969917"/>
                      <a:pt x="0" y="752794"/>
                      <a:pt x="0" y="484959"/>
                    </a:cubicBezTo>
                    <a:close/>
                    <a:moveTo>
                      <a:pt x="537185" y="176885"/>
                    </a:moveTo>
                    <a:cubicBezTo>
                      <a:pt x="537185" y="147869"/>
                      <a:pt x="513802" y="124348"/>
                      <a:pt x="484959" y="124348"/>
                    </a:cubicBezTo>
                    <a:cubicBezTo>
                      <a:pt x="456115" y="124348"/>
                      <a:pt x="432732" y="147869"/>
                      <a:pt x="432732" y="176885"/>
                    </a:cubicBezTo>
                    <a:cubicBezTo>
                      <a:pt x="432732" y="187351"/>
                      <a:pt x="435774" y="197101"/>
                      <a:pt x="441017" y="205292"/>
                    </a:cubicBezTo>
                    <a:cubicBezTo>
                      <a:pt x="444516" y="210758"/>
                      <a:pt x="440933" y="220666"/>
                      <a:pt x="434469" y="220666"/>
                    </a:cubicBezTo>
                    <a:lnTo>
                      <a:pt x="230355" y="220666"/>
                    </a:lnTo>
                    <a:cubicBezTo>
                      <a:pt x="226749" y="220666"/>
                      <a:pt x="223827" y="223607"/>
                      <a:pt x="223827" y="227233"/>
                    </a:cubicBezTo>
                    <a:lnTo>
                      <a:pt x="223827" y="448728"/>
                    </a:lnTo>
                    <a:cubicBezTo>
                      <a:pt x="223827" y="455230"/>
                      <a:pt x="233676" y="458835"/>
                      <a:pt x="239110" y="455315"/>
                    </a:cubicBezTo>
                    <a:cubicBezTo>
                      <a:pt x="247252" y="450040"/>
                      <a:pt x="256945" y="446981"/>
                      <a:pt x="267348" y="446981"/>
                    </a:cubicBezTo>
                    <a:cubicBezTo>
                      <a:pt x="296192" y="446981"/>
                      <a:pt x="319575" y="470502"/>
                      <a:pt x="319575" y="499518"/>
                    </a:cubicBezTo>
                    <a:cubicBezTo>
                      <a:pt x="319575" y="528533"/>
                      <a:pt x="296192" y="552055"/>
                      <a:pt x="267348" y="552055"/>
                    </a:cubicBezTo>
                    <a:cubicBezTo>
                      <a:pt x="256945" y="552055"/>
                      <a:pt x="247252" y="548995"/>
                      <a:pt x="239110" y="543720"/>
                    </a:cubicBezTo>
                    <a:cubicBezTo>
                      <a:pt x="233676" y="540201"/>
                      <a:pt x="223827" y="543806"/>
                      <a:pt x="223827" y="550307"/>
                    </a:cubicBezTo>
                    <a:lnTo>
                      <a:pt x="223827" y="764393"/>
                    </a:lnTo>
                    <a:cubicBezTo>
                      <a:pt x="223827" y="768020"/>
                      <a:pt x="226749" y="770960"/>
                      <a:pt x="230355" y="770960"/>
                    </a:cubicBezTo>
                    <a:lnTo>
                      <a:pt x="434469" y="770960"/>
                    </a:lnTo>
                    <a:cubicBezTo>
                      <a:pt x="440933" y="770960"/>
                      <a:pt x="444516" y="761052"/>
                      <a:pt x="441017" y="755586"/>
                    </a:cubicBezTo>
                    <a:cubicBezTo>
                      <a:pt x="435774" y="747396"/>
                      <a:pt x="432732" y="737644"/>
                      <a:pt x="432732" y="727179"/>
                    </a:cubicBezTo>
                    <a:cubicBezTo>
                      <a:pt x="432732" y="698163"/>
                      <a:pt x="456115" y="674642"/>
                      <a:pt x="484959" y="674642"/>
                    </a:cubicBezTo>
                    <a:cubicBezTo>
                      <a:pt x="513802" y="674642"/>
                      <a:pt x="537185" y="698163"/>
                      <a:pt x="537185" y="727179"/>
                    </a:cubicBezTo>
                    <a:cubicBezTo>
                      <a:pt x="537185" y="737644"/>
                      <a:pt x="534143" y="747396"/>
                      <a:pt x="528900" y="755586"/>
                    </a:cubicBezTo>
                    <a:cubicBezTo>
                      <a:pt x="525401" y="761052"/>
                      <a:pt x="528984" y="770960"/>
                      <a:pt x="535447" y="770960"/>
                    </a:cubicBezTo>
                    <a:lnTo>
                      <a:pt x="739562" y="770960"/>
                    </a:lnTo>
                    <a:cubicBezTo>
                      <a:pt x="743168" y="770960"/>
                      <a:pt x="746091" y="768020"/>
                      <a:pt x="746091" y="764393"/>
                    </a:cubicBezTo>
                    <a:lnTo>
                      <a:pt x="746091" y="550308"/>
                    </a:lnTo>
                    <a:cubicBezTo>
                      <a:pt x="746091" y="543806"/>
                      <a:pt x="736241" y="540201"/>
                      <a:pt x="730806" y="543721"/>
                    </a:cubicBezTo>
                    <a:cubicBezTo>
                      <a:pt x="722665" y="548995"/>
                      <a:pt x="712972" y="552055"/>
                      <a:pt x="702569" y="552055"/>
                    </a:cubicBezTo>
                    <a:cubicBezTo>
                      <a:pt x="673725" y="552055"/>
                      <a:pt x="650342" y="528533"/>
                      <a:pt x="650342" y="499518"/>
                    </a:cubicBezTo>
                    <a:cubicBezTo>
                      <a:pt x="650342" y="470502"/>
                      <a:pt x="673725" y="446981"/>
                      <a:pt x="702569" y="446981"/>
                    </a:cubicBezTo>
                    <a:cubicBezTo>
                      <a:pt x="712972" y="446981"/>
                      <a:pt x="722665" y="450040"/>
                      <a:pt x="730806" y="455315"/>
                    </a:cubicBezTo>
                    <a:cubicBezTo>
                      <a:pt x="736241" y="458834"/>
                      <a:pt x="746091" y="455229"/>
                      <a:pt x="746091" y="448727"/>
                    </a:cubicBezTo>
                    <a:lnTo>
                      <a:pt x="746091" y="227233"/>
                    </a:lnTo>
                    <a:cubicBezTo>
                      <a:pt x="746091" y="223607"/>
                      <a:pt x="743168" y="220666"/>
                      <a:pt x="739562" y="220666"/>
                    </a:cubicBezTo>
                    <a:lnTo>
                      <a:pt x="535447" y="220666"/>
                    </a:lnTo>
                    <a:cubicBezTo>
                      <a:pt x="528984" y="220666"/>
                      <a:pt x="525401" y="210758"/>
                      <a:pt x="528900" y="205292"/>
                    </a:cubicBezTo>
                    <a:cubicBezTo>
                      <a:pt x="534143" y="197101"/>
                      <a:pt x="537185" y="187351"/>
                      <a:pt x="537185" y="176885"/>
                    </a:cubicBezTo>
                    <a:close/>
                  </a:path>
                </a:pathLst>
              </a:custGeom>
              <a:solidFill>
                <a:srgbClr val="BA5DE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sz="10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37" name="Rounded Rectangle 26">
                <a:extLst>
                  <a:ext uri="{FF2B5EF4-FFF2-40B4-BE49-F238E27FC236}">
                    <a16:creationId xmlns:a16="http://schemas.microsoft.com/office/drawing/2014/main" id="{4AB85E9C-B306-F79B-EBFC-7FDEFC011465}"/>
                  </a:ext>
                </a:extLst>
              </p:cNvPr>
              <p:cNvSpPr/>
              <p:nvPr/>
            </p:nvSpPr>
            <p:spPr>
              <a:xfrm>
                <a:off x="5378631" y="2466050"/>
                <a:ext cx="969917" cy="969917"/>
              </a:xfrm>
              <a:custGeom>
                <a:avLst/>
                <a:gdLst/>
                <a:ahLst/>
                <a:cxnLst/>
                <a:rect l="0" t="0" r="0" b="0"/>
                <a:pathLst>
                  <a:path w="969917" h="969917">
                    <a:moveTo>
                      <a:pt x="0" y="484959"/>
                    </a:moveTo>
                    <a:cubicBezTo>
                      <a:pt x="0" y="217123"/>
                      <a:pt x="217123" y="0"/>
                      <a:pt x="484959" y="0"/>
                    </a:cubicBezTo>
                    <a:cubicBezTo>
                      <a:pt x="752794" y="0"/>
                      <a:pt x="969917" y="217123"/>
                      <a:pt x="969917" y="484959"/>
                    </a:cubicBezTo>
                    <a:cubicBezTo>
                      <a:pt x="969917" y="752794"/>
                      <a:pt x="752794" y="969917"/>
                      <a:pt x="484959" y="969917"/>
                    </a:cubicBezTo>
                    <a:cubicBezTo>
                      <a:pt x="217123" y="969917"/>
                      <a:pt x="0" y="752794"/>
                      <a:pt x="0" y="484959"/>
                    </a:cubicBezTo>
                    <a:close/>
                    <a:moveTo>
                      <a:pt x="537185" y="176885"/>
                    </a:moveTo>
                    <a:cubicBezTo>
                      <a:pt x="537185" y="147869"/>
                      <a:pt x="513802" y="124348"/>
                      <a:pt x="484959" y="124348"/>
                    </a:cubicBezTo>
                    <a:cubicBezTo>
                      <a:pt x="456115" y="124348"/>
                      <a:pt x="432732" y="147869"/>
                      <a:pt x="432732" y="176885"/>
                    </a:cubicBezTo>
                    <a:cubicBezTo>
                      <a:pt x="432732" y="187351"/>
                      <a:pt x="435774" y="197101"/>
                      <a:pt x="441017" y="205292"/>
                    </a:cubicBezTo>
                    <a:cubicBezTo>
                      <a:pt x="444516" y="210758"/>
                      <a:pt x="440933" y="220666"/>
                      <a:pt x="434469" y="220666"/>
                    </a:cubicBezTo>
                    <a:lnTo>
                      <a:pt x="230355" y="220666"/>
                    </a:lnTo>
                    <a:cubicBezTo>
                      <a:pt x="226749" y="220666"/>
                      <a:pt x="223827" y="223607"/>
                      <a:pt x="223827" y="227233"/>
                    </a:cubicBezTo>
                    <a:lnTo>
                      <a:pt x="223827" y="448728"/>
                    </a:lnTo>
                    <a:cubicBezTo>
                      <a:pt x="223827" y="455230"/>
                      <a:pt x="233676" y="458835"/>
                      <a:pt x="239110" y="455315"/>
                    </a:cubicBezTo>
                    <a:cubicBezTo>
                      <a:pt x="247252" y="450040"/>
                      <a:pt x="256945" y="446981"/>
                      <a:pt x="267348" y="446981"/>
                    </a:cubicBezTo>
                    <a:cubicBezTo>
                      <a:pt x="296192" y="446981"/>
                      <a:pt x="319575" y="470502"/>
                      <a:pt x="319575" y="499518"/>
                    </a:cubicBezTo>
                    <a:cubicBezTo>
                      <a:pt x="319575" y="528533"/>
                      <a:pt x="296192" y="552055"/>
                      <a:pt x="267348" y="552055"/>
                    </a:cubicBezTo>
                    <a:cubicBezTo>
                      <a:pt x="256945" y="552055"/>
                      <a:pt x="247252" y="548995"/>
                      <a:pt x="239110" y="543720"/>
                    </a:cubicBezTo>
                    <a:cubicBezTo>
                      <a:pt x="233676" y="540201"/>
                      <a:pt x="223827" y="543806"/>
                      <a:pt x="223827" y="550307"/>
                    </a:cubicBezTo>
                    <a:lnTo>
                      <a:pt x="223827" y="764393"/>
                    </a:lnTo>
                    <a:cubicBezTo>
                      <a:pt x="223827" y="768020"/>
                      <a:pt x="226749" y="770960"/>
                      <a:pt x="230355" y="770960"/>
                    </a:cubicBezTo>
                    <a:lnTo>
                      <a:pt x="434469" y="770960"/>
                    </a:lnTo>
                    <a:cubicBezTo>
                      <a:pt x="440933" y="770960"/>
                      <a:pt x="444516" y="761052"/>
                      <a:pt x="441017" y="755586"/>
                    </a:cubicBezTo>
                    <a:cubicBezTo>
                      <a:pt x="435774" y="747396"/>
                      <a:pt x="432732" y="737644"/>
                      <a:pt x="432732" y="727179"/>
                    </a:cubicBezTo>
                    <a:cubicBezTo>
                      <a:pt x="432732" y="698163"/>
                      <a:pt x="456115" y="674642"/>
                      <a:pt x="484959" y="674642"/>
                    </a:cubicBezTo>
                    <a:cubicBezTo>
                      <a:pt x="513802" y="674642"/>
                      <a:pt x="537185" y="698163"/>
                      <a:pt x="537185" y="727179"/>
                    </a:cubicBezTo>
                    <a:cubicBezTo>
                      <a:pt x="537185" y="737644"/>
                      <a:pt x="534143" y="747396"/>
                      <a:pt x="528900" y="755586"/>
                    </a:cubicBezTo>
                    <a:cubicBezTo>
                      <a:pt x="525401" y="761052"/>
                      <a:pt x="528984" y="770960"/>
                      <a:pt x="535447" y="770960"/>
                    </a:cubicBezTo>
                    <a:lnTo>
                      <a:pt x="739562" y="770960"/>
                    </a:lnTo>
                    <a:cubicBezTo>
                      <a:pt x="743168" y="770960"/>
                      <a:pt x="746091" y="768020"/>
                      <a:pt x="746091" y="764393"/>
                    </a:cubicBezTo>
                    <a:lnTo>
                      <a:pt x="746091" y="550308"/>
                    </a:lnTo>
                    <a:cubicBezTo>
                      <a:pt x="746091" y="543806"/>
                      <a:pt x="736241" y="540201"/>
                      <a:pt x="730806" y="543721"/>
                    </a:cubicBezTo>
                    <a:cubicBezTo>
                      <a:pt x="722665" y="548995"/>
                      <a:pt x="712972" y="552055"/>
                      <a:pt x="702569" y="552055"/>
                    </a:cubicBezTo>
                    <a:cubicBezTo>
                      <a:pt x="673725" y="552055"/>
                      <a:pt x="650342" y="528533"/>
                      <a:pt x="650342" y="499518"/>
                    </a:cubicBezTo>
                    <a:cubicBezTo>
                      <a:pt x="650342" y="470502"/>
                      <a:pt x="673725" y="446981"/>
                      <a:pt x="702569" y="446981"/>
                    </a:cubicBezTo>
                    <a:cubicBezTo>
                      <a:pt x="712972" y="446981"/>
                      <a:pt x="722665" y="450040"/>
                      <a:pt x="730806" y="455315"/>
                    </a:cubicBezTo>
                    <a:cubicBezTo>
                      <a:pt x="736241" y="458834"/>
                      <a:pt x="746091" y="455229"/>
                      <a:pt x="746091" y="448727"/>
                    </a:cubicBezTo>
                    <a:lnTo>
                      <a:pt x="746091" y="227233"/>
                    </a:lnTo>
                    <a:cubicBezTo>
                      <a:pt x="746091" y="223607"/>
                      <a:pt x="743168" y="220666"/>
                      <a:pt x="739562" y="220666"/>
                    </a:cubicBezTo>
                    <a:lnTo>
                      <a:pt x="535447" y="220666"/>
                    </a:lnTo>
                    <a:cubicBezTo>
                      <a:pt x="528984" y="220666"/>
                      <a:pt x="525401" y="210758"/>
                      <a:pt x="528900" y="205292"/>
                    </a:cubicBezTo>
                    <a:cubicBezTo>
                      <a:pt x="534143" y="197101"/>
                      <a:pt x="537185" y="187351"/>
                      <a:pt x="537185" y="176885"/>
                    </a:cubicBezTo>
                    <a:close/>
                  </a:path>
                </a:pathLst>
              </a:custGeom>
              <a:noFill/>
              <a:ln w="1102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sz="10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grpSp>
        <p:sp>
          <p:nvSpPr>
            <p:cNvPr id="17" name="Rounded Rectangle 28">
              <a:extLst>
                <a:ext uri="{FF2B5EF4-FFF2-40B4-BE49-F238E27FC236}">
                  <a16:creationId xmlns:a16="http://schemas.microsoft.com/office/drawing/2014/main" id="{0C4EF521-E506-FF05-84CE-CA260E86C5FD}"/>
                </a:ext>
              </a:extLst>
            </p:cNvPr>
            <p:cNvSpPr/>
            <p:nvPr/>
          </p:nvSpPr>
          <p:spPr>
            <a:xfrm>
              <a:off x="10059493" y="4016624"/>
              <a:ext cx="7347" cy="513358"/>
            </a:xfrm>
            <a:custGeom>
              <a:avLst/>
              <a:gdLst/>
              <a:ahLst/>
              <a:cxnLst/>
              <a:rect l="0" t="0" r="0" b="0"/>
              <a:pathLst>
                <a:path w="7347" h="513358">
                  <a:moveTo>
                    <a:pt x="0" y="0"/>
                  </a:moveTo>
                  <a:lnTo>
                    <a:pt x="0" y="513358"/>
                  </a:lnTo>
                </a:path>
              </a:pathLst>
            </a:custGeom>
            <a:noFill/>
            <a:ln w="11021">
              <a:solidFill>
                <a:srgbClr val="BA5DE5"/>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sz="10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grpSp>
          <p:nvGrpSpPr>
            <p:cNvPr id="18" name="Group 17">
              <a:extLst>
                <a:ext uri="{FF2B5EF4-FFF2-40B4-BE49-F238E27FC236}">
                  <a16:creationId xmlns:a16="http://schemas.microsoft.com/office/drawing/2014/main" id="{AADD4816-B6ED-D337-A868-978C77375E08}"/>
                </a:ext>
              </a:extLst>
            </p:cNvPr>
            <p:cNvGrpSpPr/>
            <p:nvPr/>
          </p:nvGrpSpPr>
          <p:grpSpPr>
            <a:xfrm>
              <a:off x="7691332" y="3018614"/>
              <a:ext cx="35132" cy="35132"/>
              <a:chOff x="5847402" y="1938341"/>
              <a:chExt cx="35132" cy="35132"/>
            </a:xfrm>
          </p:grpSpPr>
          <p:sp>
            <p:nvSpPr>
              <p:cNvPr id="34" name="Rounded Rectangle 29">
                <a:extLst>
                  <a:ext uri="{FF2B5EF4-FFF2-40B4-BE49-F238E27FC236}">
                    <a16:creationId xmlns:a16="http://schemas.microsoft.com/office/drawing/2014/main" id="{5E9C63F7-DAFB-1D67-F20A-DB167890A658}"/>
                  </a:ext>
                </a:extLst>
              </p:cNvPr>
              <p:cNvSpPr/>
              <p:nvPr/>
            </p:nvSpPr>
            <p:spPr>
              <a:xfrm>
                <a:off x="5847402" y="1938341"/>
                <a:ext cx="35132" cy="35132"/>
              </a:xfrm>
              <a:custGeom>
                <a:avLst/>
                <a:gdLst/>
                <a:ahLst/>
                <a:cxnLst/>
                <a:rect l="0" t="0" r="0" b="0"/>
                <a:pathLst>
                  <a:path w="35132" h="35132">
                    <a:moveTo>
                      <a:pt x="17565" y="0"/>
                    </a:moveTo>
                    <a:cubicBezTo>
                      <a:pt x="27261" y="0"/>
                      <a:pt x="35132" y="7871"/>
                      <a:pt x="35132" y="17565"/>
                    </a:cubicBezTo>
                    <a:cubicBezTo>
                      <a:pt x="35132" y="27261"/>
                      <a:pt x="27261" y="35132"/>
                      <a:pt x="17565" y="35132"/>
                    </a:cubicBezTo>
                    <a:cubicBezTo>
                      <a:pt x="7871" y="35132"/>
                      <a:pt x="0" y="27261"/>
                      <a:pt x="0" y="17565"/>
                    </a:cubicBezTo>
                    <a:cubicBezTo>
                      <a:pt x="0" y="7871"/>
                      <a:pt x="7871" y="0"/>
                      <a:pt x="17565" y="0"/>
                    </a:cubicBezTo>
                    <a:close/>
                  </a:path>
                </a:pathLst>
              </a:custGeom>
              <a:solidFill>
                <a:srgbClr val="FFFF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sz="10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35" name="Rounded Rectangle 30">
                <a:extLst>
                  <a:ext uri="{FF2B5EF4-FFF2-40B4-BE49-F238E27FC236}">
                    <a16:creationId xmlns:a16="http://schemas.microsoft.com/office/drawing/2014/main" id="{DE57BEE4-4973-361B-4F87-D4B2CF9254C2}"/>
                  </a:ext>
                </a:extLst>
              </p:cNvPr>
              <p:cNvSpPr/>
              <p:nvPr/>
            </p:nvSpPr>
            <p:spPr>
              <a:xfrm>
                <a:off x="5847402" y="1938341"/>
                <a:ext cx="35132" cy="35132"/>
              </a:xfrm>
              <a:custGeom>
                <a:avLst/>
                <a:gdLst/>
                <a:ahLst/>
                <a:cxnLst/>
                <a:rect l="0" t="0" r="0" b="0"/>
                <a:pathLst>
                  <a:path w="35132" h="35132">
                    <a:moveTo>
                      <a:pt x="17565" y="0"/>
                    </a:moveTo>
                    <a:cubicBezTo>
                      <a:pt x="27261" y="0"/>
                      <a:pt x="35132" y="7871"/>
                      <a:pt x="35132" y="17565"/>
                    </a:cubicBezTo>
                    <a:cubicBezTo>
                      <a:pt x="35132" y="27261"/>
                      <a:pt x="27261" y="35132"/>
                      <a:pt x="17565" y="35132"/>
                    </a:cubicBezTo>
                    <a:cubicBezTo>
                      <a:pt x="7871" y="35132"/>
                      <a:pt x="0" y="27261"/>
                      <a:pt x="0" y="17565"/>
                    </a:cubicBezTo>
                    <a:cubicBezTo>
                      <a:pt x="0" y="7871"/>
                      <a:pt x="7871" y="0"/>
                      <a:pt x="17565" y="0"/>
                    </a:cubicBezTo>
                    <a:close/>
                  </a:path>
                </a:pathLst>
              </a:custGeom>
              <a:noFill/>
              <a:ln w="1102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sz="10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grpSp>
        <p:sp>
          <p:nvSpPr>
            <p:cNvPr id="19" name="Rounded Rectangle 32">
              <a:extLst>
                <a:ext uri="{FF2B5EF4-FFF2-40B4-BE49-F238E27FC236}">
                  <a16:creationId xmlns:a16="http://schemas.microsoft.com/office/drawing/2014/main" id="{31D4F231-D030-FDA0-4BF5-E471A299811F}"/>
                </a:ext>
              </a:extLst>
            </p:cNvPr>
            <p:cNvSpPr/>
            <p:nvPr/>
          </p:nvSpPr>
          <p:spPr>
            <a:xfrm>
              <a:off x="5107442" y="3902892"/>
              <a:ext cx="262314" cy="262226"/>
            </a:xfrm>
            <a:custGeom>
              <a:avLst/>
              <a:gdLst/>
              <a:ahLst/>
              <a:cxnLst/>
              <a:rect l="0" t="0" r="0" b="0"/>
              <a:pathLst>
                <a:path w="262314" h="262226">
                  <a:moveTo>
                    <a:pt x="129434" y="132652"/>
                  </a:moveTo>
                  <a:lnTo>
                    <a:pt x="22522" y="132652"/>
                  </a:lnTo>
                  <a:cubicBezTo>
                    <a:pt x="11870" y="132652"/>
                    <a:pt x="3234" y="124016"/>
                    <a:pt x="3234" y="113363"/>
                  </a:cubicBezTo>
                  <a:lnTo>
                    <a:pt x="3234" y="88564"/>
                  </a:lnTo>
                  <a:cubicBezTo>
                    <a:pt x="3190" y="79479"/>
                    <a:pt x="7238" y="70857"/>
                    <a:pt x="14256" y="65088"/>
                  </a:cubicBezTo>
                  <a:cubicBezTo>
                    <a:pt x="14867" y="64561"/>
                    <a:pt x="15227" y="63800"/>
                    <a:pt x="15248" y="62994"/>
                  </a:cubicBezTo>
                  <a:cubicBezTo>
                    <a:pt x="15231" y="62131"/>
                    <a:pt x="14826" y="61321"/>
                    <a:pt x="14146" y="60789"/>
                  </a:cubicBezTo>
                  <a:lnTo>
                    <a:pt x="4446" y="53074"/>
                  </a:lnTo>
                  <a:cubicBezTo>
                    <a:pt x="2143" y="51253"/>
                    <a:pt x="662" y="48588"/>
                    <a:pt x="331" y="45671"/>
                  </a:cubicBezTo>
                  <a:cubicBezTo>
                    <a:pt x="0" y="42753"/>
                    <a:pt x="846" y="39824"/>
                    <a:pt x="2683" y="37534"/>
                  </a:cubicBezTo>
                  <a:cubicBezTo>
                    <a:pt x="4527" y="35113"/>
                    <a:pt x="7290" y="33563"/>
                    <a:pt x="10316" y="33250"/>
                  </a:cubicBezTo>
                  <a:cubicBezTo>
                    <a:pt x="13343" y="32937"/>
                    <a:pt x="16364" y="33889"/>
                    <a:pt x="18665" y="35880"/>
                  </a:cubicBezTo>
                  <a:lnTo>
                    <a:pt x="26380" y="42052"/>
                  </a:lnTo>
                  <a:cubicBezTo>
                    <a:pt x="27187" y="42641"/>
                    <a:pt x="28242" y="42766"/>
                    <a:pt x="29165" y="42384"/>
                  </a:cubicBezTo>
                  <a:cubicBezTo>
                    <a:pt x="30088" y="42001"/>
                    <a:pt x="30745" y="41166"/>
                    <a:pt x="30899" y="40179"/>
                  </a:cubicBezTo>
                  <a:lnTo>
                    <a:pt x="32001" y="30369"/>
                  </a:lnTo>
                  <a:cubicBezTo>
                    <a:pt x="33414" y="13443"/>
                    <a:pt x="47422" y="340"/>
                    <a:pt x="64405" y="59"/>
                  </a:cubicBezTo>
                  <a:lnTo>
                    <a:pt x="167018" y="59"/>
                  </a:lnTo>
                  <a:cubicBezTo>
                    <a:pt x="184255" y="0"/>
                    <a:pt x="198647" y="13192"/>
                    <a:pt x="200083" y="30369"/>
                  </a:cubicBezTo>
                  <a:lnTo>
                    <a:pt x="201185" y="40069"/>
                  </a:lnTo>
                  <a:cubicBezTo>
                    <a:pt x="201280" y="41055"/>
                    <a:pt x="201918" y="41906"/>
                    <a:pt x="202839" y="42273"/>
                  </a:cubicBezTo>
                  <a:cubicBezTo>
                    <a:pt x="203691" y="42765"/>
                    <a:pt x="204742" y="42765"/>
                    <a:pt x="205594" y="42273"/>
                  </a:cubicBezTo>
                  <a:lnTo>
                    <a:pt x="213640" y="35880"/>
                  </a:lnTo>
                  <a:cubicBezTo>
                    <a:pt x="218366" y="32103"/>
                    <a:pt x="225252" y="32841"/>
                    <a:pt x="229070" y="37534"/>
                  </a:cubicBezTo>
                  <a:cubicBezTo>
                    <a:pt x="230920" y="39811"/>
                    <a:pt x="231785" y="42731"/>
                    <a:pt x="231474" y="45648"/>
                  </a:cubicBezTo>
                  <a:cubicBezTo>
                    <a:pt x="231164" y="48564"/>
                    <a:pt x="229704" y="51237"/>
                    <a:pt x="227417" y="53074"/>
                  </a:cubicBezTo>
                  <a:lnTo>
                    <a:pt x="217498" y="60900"/>
                  </a:lnTo>
                  <a:cubicBezTo>
                    <a:pt x="216845" y="61443"/>
                    <a:pt x="216479" y="62256"/>
                    <a:pt x="216506" y="63104"/>
                  </a:cubicBezTo>
                  <a:cubicBezTo>
                    <a:pt x="216512" y="63914"/>
                    <a:pt x="216875" y="64680"/>
                    <a:pt x="217498" y="65198"/>
                  </a:cubicBezTo>
                  <a:cubicBezTo>
                    <a:pt x="224461" y="70963"/>
                    <a:pt x="228500" y="79525"/>
                    <a:pt x="228519" y="88564"/>
                  </a:cubicBezTo>
                  <a:lnTo>
                    <a:pt x="228519" y="108844"/>
                  </a:lnTo>
                  <a:cubicBezTo>
                    <a:pt x="228511" y="109766"/>
                    <a:pt x="228060" y="110627"/>
                    <a:pt x="227307" y="111159"/>
                  </a:cubicBezTo>
                  <a:cubicBezTo>
                    <a:pt x="226508" y="111553"/>
                    <a:pt x="225571" y="111553"/>
                    <a:pt x="224772" y="111159"/>
                  </a:cubicBezTo>
                  <a:cubicBezTo>
                    <a:pt x="221188" y="109718"/>
                    <a:pt x="217505" y="108539"/>
                    <a:pt x="213750" y="107632"/>
                  </a:cubicBezTo>
                  <a:cubicBezTo>
                    <a:pt x="184005" y="100661"/>
                    <a:pt x="152770" y="109586"/>
                    <a:pt x="131197" y="131219"/>
                  </a:cubicBezTo>
                  <a:close/>
                  <a:moveTo>
                    <a:pt x="51950" y="54066"/>
                  </a:moveTo>
                  <a:cubicBezTo>
                    <a:pt x="52469" y="54689"/>
                    <a:pt x="53235" y="55051"/>
                    <a:pt x="54045" y="55058"/>
                  </a:cubicBezTo>
                  <a:lnTo>
                    <a:pt x="178260" y="55058"/>
                  </a:lnTo>
                  <a:cubicBezTo>
                    <a:pt x="179047" y="55087"/>
                    <a:pt x="179795" y="54713"/>
                    <a:pt x="180244" y="54066"/>
                  </a:cubicBezTo>
                  <a:cubicBezTo>
                    <a:pt x="180774" y="53501"/>
                    <a:pt x="181052" y="52746"/>
                    <a:pt x="181016" y="51972"/>
                  </a:cubicBezTo>
                  <a:lnTo>
                    <a:pt x="178811" y="32353"/>
                  </a:lnTo>
                  <a:cubicBezTo>
                    <a:pt x="178461" y="26526"/>
                    <a:pt x="173627" y="21982"/>
                    <a:pt x="167789" y="21993"/>
                  </a:cubicBezTo>
                  <a:lnTo>
                    <a:pt x="65066" y="21993"/>
                  </a:lnTo>
                  <a:cubicBezTo>
                    <a:pt x="59346" y="21970"/>
                    <a:pt x="54559" y="26326"/>
                    <a:pt x="54045" y="32023"/>
                  </a:cubicBezTo>
                  <a:lnTo>
                    <a:pt x="51289" y="52413"/>
                  </a:lnTo>
                  <a:cubicBezTo>
                    <a:pt x="51292" y="53028"/>
                    <a:pt x="51528" y="53619"/>
                    <a:pt x="51950" y="54066"/>
                  </a:cubicBezTo>
                  <a:close/>
                  <a:moveTo>
                    <a:pt x="60988" y="96831"/>
                  </a:moveTo>
                  <a:cubicBezTo>
                    <a:pt x="60988" y="87700"/>
                    <a:pt x="53586" y="80298"/>
                    <a:pt x="44456" y="80298"/>
                  </a:cubicBezTo>
                  <a:cubicBezTo>
                    <a:pt x="35325" y="80298"/>
                    <a:pt x="27923" y="87700"/>
                    <a:pt x="27923" y="96831"/>
                  </a:cubicBezTo>
                  <a:cubicBezTo>
                    <a:pt x="27923" y="105961"/>
                    <a:pt x="35325" y="113363"/>
                    <a:pt x="44456" y="113363"/>
                  </a:cubicBezTo>
                  <a:cubicBezTo>
                    <a:pt x="53586" y="113363"/>
                    <a:pt x="60988" y="105961"/>
                    <a:pt x="60988" y="96831"/>
                  </a:cubicBezTo>
                  <a:close/>
                  <a:moveTo>
                    <a:pt x="74765" y="146429"/>
                  </a:moveTo>
                  <a:lnTo>
                    <a:pt x="74765" y="149184"/>
                  </a:lnTo>
                  <a:cubicBezTo>
                    <a:pt x="74765" y="162880"/>
                    <a:pt x="63663" y="173983"/>
                    <a:pt x="49966" y="173983"/>
                  </a:cubicBezTo>
                  <a:cubicBezTo>
                    <a:pt x="36270" y="173983"/>
                    <a:pt x="25167" y="162880"/>
                    <a:pt x="25167" y="149184"/>
                  </a:cubicBezTo>
                  <a:lnTo>
                    <a:pt x="25167" y="146429"/>
                  </a:lnTo>
                  <a:cubicBezTo>
                    <a:pt x="25167" y="144907"/>
                    <a:pt x="26401" y="143673"/>
                    <a:pt x="27923" y="143673"/>
                  </a:cubicBezTo>
                  <a:lnTo>
                    <a:pt x="72010" y="143673"/>
                  </a:lnTo>
                  <a:cubicBezTo>
                    <a:pt x="73532" y="143673"/>
                    <a:pt x="74765" y="144907"/>
                    <a:pt x="74765" y="146429"/>
                  </a:cubicBezTo>
                  <a:close/>
                  <a:moveTo>
                    <a:pt x="262136" y="193051"/>
                  </a:moveTo>
                  <a:cubicBezTo>
                    <a:pt x="262314" y="211404"/>
                    <a:pt x="255102" y="229057"/>
                    <a:pt x="242124" y="242036"/>
                  </a:cubicBezTo>
                  <a:cubicBezTo>
                    <a:pt x="229146" y="255014"/>
                    <a:pt x="211493" y="262226"/>
                    <a:pt x="193139" y="262047"/>
                  </a:cubicBezTo>
                  <a:cubicBezTo>
                    <a:pt x="155123" y="261986"/>
                    <a:pt x="124343" y="231141"/>
                    <a:pt x="124364" y="193125"/>
                  </a:cubicBezTo>
                  <a:cubicBezTo>
                    <a:pt x="124384" y="155109"/>
                    <a:pt x="155197" y="124295"/>
                    <a:pt x="193213" y="124275"/>
                  </a:cubicBezTo>
                  <a:cubicBezTo>
                    <a:pt x="231229" y="124255"/>
                    <a:pt x="262075" y="155035"/>
                    <a:pt x="262136" y="193051"/>
                  </a:cubicBezTo>
                  <a:close/>
                  <a:moveTo>
                    <a:pt x="153241" y="215866"/>
                  </a:moveTo>
                  <a:cubicBezTo>
                    <a:pt x="154125" y="216001"/>
                    <a:pt x="155022" y="215716"/>
                    <a:pt x="155665" y="215094"/>
                  </a:cubicBezTo>
                  <a:lnTo>
                    <a:pt x="214963" y="155797"/>
                  </a:lnTo>
                  <a:cubicBezTo>
                    <a:pt x="215584" y="155154"/>
                    <a:pt x="215870" y="154257"/>
                    <a:pt x="215734" y="153372"/>
                  </a:cubicBezTo>
                  <a:cubicBezTo>
                    <a:pt x="215628" y="152509"/>
                    <a:pt x="215088" y="151760"/>
                    <a:pt x="214301" y="151389"/>
                  </a:cubicBezTo>
                  <a:cubicBezTo>
                    <a:pt x="196209" y="142288"/>
                    <a:pt x="174321" y="145812"/>
                    <a:pt x="160001" y="160133"/>
                  </a:cubicBezTo>
                  <a:cubicBezTo>
                    <a:pt x="145681" y="174453"/>
                    <a:pt x="142156" y="196341"/>
                    <a:pt x="151257" y="214433"/>
                  </a:cubicBezTo>
                  <a:cubicBezTo>
                    <a:pt x="151644" y="215206"/>
                    <a:pt x="152385" y="215741"/>
                    <a:pt x="153241" y="215866"/>
                  </a:cubicBezTo>
                  <a:close/>
                  <a:moveTo>
                    <a:pt x="226315" y="226337"/>
                  </a:moveTo>
                  <a:cubicBezTo>
                    <a:pt x="240565" y="211949"/>
                    <a:pt x="243986" y="190047"/>
                    <a:pt x="234802" y="171999"/>
                  </a:cubicBezTo>
                  <a:cubicBezTo>
                    <a:pt x="234365" y="171222"/>
                    <a:pt x="233591" y="170692"/>
                    <a:pt x="232708" y="170566"/>
                  </a:cubicBezTo>
                  <a:cubicBezTo>
                    <a:pt x="231855" y="170411"/>
                    <a:pt x="230982" y="170702"/>
                    <a:pt x="230393" y="171338"/>
                  </a:cubicBezTo>
                  <a:lnTo>
                    <a:pt x="171206" y="230635"/>
                  </a:lnTo>
                  <a:cubicBezTo>
                    <a:pt x="170624" y="231302"/>
                    <a:pt x="170345" y="232180"/>
                    <a:pt x="170435" y="233060"/>
                  </a:cubicBezTo>
                  <a:cubicBezTo>
                    <a:pt x="170539" y="233957"/>
                    <a:pt x="171134" y="234722"/>
                    <a:pt x="171978" y="235044"/>
                  </a:cubicBezTo>
                  <a:cubicBezTo>
                    <a:pt x="190026" y="244226"/>
                    <a:pt x="211938" y="240708"/>
                    <a:pt x="226205" y="226337"/>
                  </a:cubicBezTo>
                  <a:close/>
                </a:path>
              </a:pathLst>
            </a:custGeom>
            <a:solidFill>
              <a:srgbClr val="E5575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sz="10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20" name="Rounded Rectangle 33">
              <a:extLst>
                <a:ext uri="{FF2B5EF4-FFF2-40B4-BE49-F238E27FC236}">
                  <a16:creationId xmlns:a16="http://schemas.microsoft.com/office/drawing/2014/main" id="{153A4435-6D98-46CF-C490-BE9FD0F8180E}"/>
                </a:ext>
              </a:extLst>
            </p:cNvPr>
            <p:cNvSpPr/>
            <p:nvPr/>
          </p:nvSpPr>
          <p:spPr>
            <a:xfrm>
              <a:off x="6340818" y="2314713"/>
              <a:ext cx="265343" cy="259011"/>
            </a:xfrm>
            <a:custGeom>
              <a:avLst/>
              <a:gdLst/>
              <a:ahLst/>
              <a:cxnLst/>
              <a:rect l="0" t="0" r="0" b="0"/>
              <a:pathLst>
                <a:path w="265343" h="259011">
                  <a:moveTo>
                    <a:pt x="0" y="0"/>
                  </a:moveTo>
                  <a:moveTo>
                    <a:pt x="263861" y="110438"/>
                  </a:moveTo>
                  <a:cubicBezTo>
                    <a:pt x="265343" y="114074"/>
                    <a:pt x="264900" y="118211"/>
                    <a:pt x="262681" y="121450"/>
                  </a:cubicBezTo>
                  <a:cubicBezTo>
                    <a:pt x="260463" y="124690"/>
                    <a:pt x="256765" y="126598"/>
                    <a:pt x="252839" y="126530"/>
                  </a:cubicBezTo>
                  <a:lnTo>
                    <a:pt x="133253" y="126530"/>
                  </a:lnTo>
                  <a:cubicBezTo>
                    <a:pt x="129384" y="126568"/>
                    <a:pt x="125748" y="124689"/>
                    <a:pt x="123541" y="121511"/>
                  </a:cubicBezTo>
                  <a:cubicBezTo>
                    <a:pt x="121335" y="118334"/>
                    <a:pt x="120844" y="114270"/>
                    <a:pt x="122231" y="110658"/>
                  </a:cubicBezTo>
                  <a:lnTo>
                    <a:pt x="137772" y="74727"/>
                  </a:lnTo>
                  <a:lnTo>
                    <a:pt x="137772" y="27554"/>
                  </a:lnTo>
                  <a:cubicBezTo>
                    <a:pt x="137772" y="15380"/>
                    <a:pt x="147641" y="5510"/>
                    <a:pt x="159815" y="5510"/>
                  </a:cubicBezTo>
                  <a:lnTo>
                    <a:pt x="224403" y="5510"/>
                  </a:lnTo>
                  <a:cubicBezTo>
                    <a:pt x="236914" y="5422"/>
                    <a:pt x="247338" y="15074"/>
                    <a:pt x="248210" y="27554"/>
                  </a:cubicBezTo>
                  <a:lnTo>
                    <a:pt x="248210" y="74948"/>
                  </a:lnTo>
                  <a:lnTo>
                    <a:pt x="263641" y="110217"/>
                  </a:lnTo>
                  <a:close/>
                  <a:moveTo>
                    <a:pt x="225946" y="30309"/>
                  </a:moveTo>
                  <a:cubicBezTo>
                    <a:pt x="225946" y="28788"/>
                    <a:pt x="224712" y="27554"/>
                    <a:pt x="223191" y="27554"/>
                  </a:cubicBezTo>
                  <a:lnTo>
                    <a:pt x="162571" y="27554"/>
                  </a:lnTo>
                  <a:cubicBezTo>
                    <a:pt x="161049" y="27554"/>
                    <a:pt x="159815" y="28788"/>
                    <a:pt x="159815" y="30309"/>
                  </a:cubicBezTo>
                  <a:lnTo>
                    <a:pt x="159815" y="68886"/>
                  </a:lnTo>
                  <a:cubicBezTo>
                    <a:pt x="159815" y="70407"/>
                    <a:pt x="161049" y="71641"/>
                    <a:pt x="162571" y="71641"/>
                  </a:cubicBezTo>
                  <a:lnTo>
                    <a:pt x="223191" y="71641"/>
                  </a:lnTo>
                  <a:cubicBezTo>
                    <a:pt x="224712" y="71641"/>
                    <a:pt x="225946" y="70407"/>
                    <a:pt x="225946" y="68886"/>
                  </a:cubicBezTo>
                  <a:close/>
                  <a:moveTo>
                    <a:pt x="99196" y="99196"/>
                  </a:moveTo>
                  <a:cubicBezTo>
                    <a:pt x="102990" y="101564"/>
                    <a:pt x="104976" y="105992"/>
                    <a:pt x="104223" y="110401"/>
                  </a:cubicBezTo>
                  <a:cubicBezTo>
                    <a:pt x="103470" y="114810"/>
                    <a:pt x="100127" y="118327"/>
                    <a:pt x="95761" y="119302"/>
                  </a:cubicBezTo>
                  <a:cubicBezTo>
                    <a:pt x="91395" y="120277"/>
                    <a:pt x="86874" y="118517"/>
                    <a:pt x="84316" y="114847"/>
                  </a:cubicBezTo>
                  <a:cubicBezTo>
                    <a:pt x="71218" y="102418"/>
                    <a:pt x="50682" y="102418"/>
                    <a:pt x="37584" y="114847"/>
                  </a:cubicBezTo>
                  <a:cubicBezTo>
                    <a:pt x="33285" y="119120"/>
                    <a:pt x="26342" y="119120"/>
                    <a:pt x="22043" y="114847"/>
                  </a:cubicBezTo>
                  <a:cubicBezTo>
                    <a:pt x="19957" y="112777"/>
                    <a:pt x="18783" y="109960"/>
                    <a:pt x="18783" y="107021"/>
                  </a:cubicBezTo>
                  <a:cubicBezTo>
                    <a:pt x="18783" y="104082"/>
                    <a:pt x="19957" y="101265"/>
                    <a:pt x="22043" y="99196"/>
                  </a:cubicBezTo>
                  <a:cubicBezTo>
                    <a:pt x="32218" y="88812"/>
                    <a:pt x="46083" y="82870"/>
                    <a:pt x="60619" y="82663"/>
                  </a:cubicBezTo>
                  <a:cubicBezTo>
                    <a:pt x="75155" y="82870"/>
                    <a:pt x="89021" y="88812"/>
                    <a:pt x="99196" y="99196"/>
                  </a:cubicBezTo>
                  <a:close/>
                  <a:moveTo>
                    <a:pt x="6006" y="79852"/>
                  </a:moveTo>
                  <a:cubicBezTo>
                    <a:pt x="1471" y="75530"/>
                    <a:pt x="1299" y="68351"/>
                    <a:pt x="5621" y="63816"/>
                  </a:cubicBezTo>
                  <a:cubicBezTo>
                    <a:pt x="35751" y="33682"/>
                    <a:pt x="84606" y="33682"/>
                    <a:pt x="114736" y="63816"/>
                  </a:cubicBezTo>
                  <a:cubicBezTo>
                    <a:pt x="116823" y="65885"/>
                    <a:pt x="117997" y="68702"/>
                    <a:pt x="117997" y="71641"/>
                  </a:cubicBezTo>
                  <a:cubicBezTo>
                    <a:pt x="117997" y="74580"/>
                    <a:pt x="116823" y="77397"/>
                    <a:pt x="114736" y="79467"/>
                  </a:cubicBezTo>
                  <a:cubicBezTo>
                    <a:pt x="110437" y="83740"/>
                    <a:pt x="103495" y="83740"/>
                    <a:pt x="99196" y="79467"/>
                  </a:cubicBezTo>
                  <a:cubicBezTo>
                    <a:pt x="77767" y="58462"/>
                    <a:pt x="43472" y="58462"/>
                    <a:pt x="22043" y="79467"/>
                  </a:cubicBezTo>
                  <a:cubicBezTo>
                    <a:pt x="17721" y="84002"/>
                    <a:pt x="10541" y="84174"/>
                    <a:pt x="6006" y="79852"/>
                  </a:cubicBezTo>
                  <a:close/>
                  <a:moveTo>
                    <a:pt x="121239" y="154305"/>
                  </a:moveTo>
                  <a:lnTo>
                    <a:pt x="121239" y="242479"/>
                  </a:lnTo>
                  <a:cubicBezTo>
                    <a:pt x="121239" y="251610"/>
                    <a:pt x="113837" y="259011"/>
                    <a:pt x="104706" y="259011"/>
                  </a:cubicBezTo>
                  <a:lnTo>
                    <a:pt x="16532" y="259011"/>
                  </a:lnTo>
                  <a:cubicBezTo>
                    <a:pt x="7401" y="259011"/>
                    <a:pt x="0" y="251610"/>
                    <a:pt x="0" y="242479"/>
                  </a:cubicBezTo>
                  <a:lnTo>
                    <a:pt x="0" y="154305"/>
                  </a:lnTo>
                  <a:cubicBezTo>
                    <a:pt x="0" y="145174"/>
                    <a:pt x="7401" y="137772"/>
                    <a:pt x="16532" y="137772"/>
                  </a:cubicBezTo>
                  <a:lnTo>
                    <a:pt x="104706" y="137772"/>
                  </a:lnTo>
                  <a:cubicBezTo>
                    <a:pt x="113837" y="137772"/>
                    <a:pt x="121239" y="145174"/>
                    <a:pt x="121239" y="154305"/>
                  </a:cubicBezTo>
                  <a:close/>
                  <a:moveTo>
                    <a:pt x="82663" y="190125"/>
                  </a:moveTo>
                  <a:cubicBezTo>
                    <a:pt x="82663" y="177951"/>
                    <a:pt x="72794" y="168082"/>
                    <a:pt x="60619" y="168082"/>
                  </a:cubicBezTo>
                  <a:cubicBezTo>
                    <a:pt x="48445" y="168082"/>
                    <a:pt x="38576" y="177951"/>
                    <a:pt x="38576" y="190125"/>
                  </a:cubicBezTo>
                  <a:cubicBezTo>
                    <a:pt x="38787" y="198380"/>
                    <a:pt x="43594" y="205824"/>
                    <a:pt x="51030" y="209413"/>
                  </a:cubicBezTo>
                  <a:cubicBezTo>
                    <a:pt x="51894" y="209852"/>
                    <a:pt x="52414" y="210762"/>
                    <a:pt x="52353" y="211728"/>
                  </a:cubicBezTo>
                  <a:lnTo>
                    <a:pt x="52353" y="228261"/>
                  </a:lnTo>
                  <a:cubicBezTo>
                    <a:pt x="52353" y="232826"/>
                    <a:pt x="56054" y="236527"/>
                    <a:pt x="60619" y="236527"/>
                  </a:cubicBezTo>
                  <a:cubicBezTo>
                    <a:pt x="65185" y="236527"/>
                    <a:pt x="68886" y="232826"/>
                    <a:pt x="68886" y="228261"/>
                  </a:cubicBezTo>
                  <a:lnTo>
                    <a:pt x="68886" y="211728"/>
                  </a:lnTo>
                  <a:cubicBezTo>
                    <a:pt x="68877" y="210774"/>
                    <a:pt x="69382" y="209890"/>
                    <a:pt x="70208" y="209413"/>
                  </a:cubicBezTo>
                  <a:cubicBezTo>
                    <a:pt x="77645" y="205824"/>
                    <a:pt x="82452" y="198380"/>
                    <a:pt x="82663" y="190125"/>
                  </a:cubicBezTo>
                  <a:close/>
                </a:path>
              </a:pathLst>
            </a:custGeom>
            <a:solidFill>
              <a:srgbClr val="DE58A9"/>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sz="10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21" name="Rounded Rectangle 34">
              <a:extLst>
                <a:ext uri="{FF2B5EF4-FFF2-40B4-BE49-F238E27FC236}">
                  <a16:creationId xmlns:a16="http://schemas.microsoft.com/office/drawing/2014/main" id="{AD92D2A2-E539-814C-B09F-BE8FA94F6600}"/>
                </a:ext>
              </a:extLst>
            </p:cNvPr>
            <p:cNvSpPr/>
            <p:nvPr/>
          </p:nvSpPr>
          <p:spPr>
            <a:xfrm>
              <a:off x="2637497" y="3903054"/>
              <a:ext cx="264193" cy="261996"/>
            </a:xfrm>
            <a:custGeom>
              <a:avLst/>
              <a:gdLst/>
              <a:ahLst/>
              <a:cxnLst/>
              <a:rect l="0" t="0" r="0" b="0"/>
              <a:pathLst>
                <a:path w="264193" h="261996">
                  <a:moveTo>
                    <a:pt x="210297" y="212618"/>
                  </a:moveTo>
                  <a:cubicBezTo>
                    <a:pt x="214862" y="212618"/>
                    <a:pt x="218563" y="216319"/>
                    <a:pt x="218563" y="220885"/>
                  </a:cubicBezTo>
                  <a:cubicBezTo>
                    <a:pt x="218563" y="225450"/>
                    <a:pt x="214862" y="229151"/>
                    <a:pt x="210297" y="229151"/>
                  </a:cubicBezTo>
                  <a:lnTo>
                    <a:pt x="207210" y="229151"/>
                  </a:lnTo>
                  <a:lnTo>
                    <a:pt x="207210" y="253729"/>
                  </a:lnTo>
                  <a:cubicBezTo>
                    <a:pt x="207210" y="258295"/>
                    <a:pt x="203509" y="261996"/>
                    <a:pt x="198944" y="261996"/>
                  </a:cubicBezTo>
                  <a:cubicBezTo>
                    <a:pt x="194379" y="261996"/>
                    <a:pt x="190678" y="258295"/>
                    <a:pt x="190678" y="253729"/>
                  </a:cubicBezTo>
                  <a:lnTo>
                    <a:pt x="190678" y="229151"/>
                  </a:lnTo>
                  <a:lnTo>
                    <a:pt x="78256" y="229151"/>
                  </a:lnTo>
                  <a:lnTo>
                    <a:pt x="78256" y="253729"/>
                  </a:lnTo>
                  <a:cubicBezTo>
                    <a:pt x="78256" y="258295"/>
                    <a:pt x="74555" y="261996"/>
                    <a:pt x="69989" y="261996"/>
                  </a:cubicBezTo>
                  <a:cubicBezTo>
                    <a:pt x="65424" y="261996"/>
                    <a:pt x="61723" y="258295"/>
                    <a:pt x="61723" y="253729"/>
                  </a:cubicBezTo>
                  <a:lnTo>
                    <a:pt x="61723" y="229151"/>
                  </a:lnTo>
                  <a:lnTo>
                    <a:pt x="59188" y="229151"/>
                  </a:lnTo>
                  <a:cubicBezTo>
                    <a:pt x="54623" y="229151"/>
                    <a:pt x="50922" y="225450"/>
                    <a:pt x="50922" y="220885"/>
                  </a:cubicBezTo>
                  <a:cubicBezTo>
                    <a:pt x="50922" y="216319"/>
                    <a:pt x="54623" y="212618"/>
                    <a:pt x="59188" y="212618"/>
                  </a:cubicBezTo>
                  <a:lnTo>
                    <a:pt x="114297" y="212618"/>
                  </a:lnTo>
                  <a:cubicBezTo>
                    <a:pt x="116364" y="209174"/>
                    <a:pt x="117958" y="205466"/>
                    <a:pt x="119036" y="201596"/>
                  </a:cubicBezTo>
                  <a:lnTo>
                    <a:pt x="93355" y="201596"/>
                  </a:lnTo>
                  <a:cubicBezTo>
                    <a:pt x="82642" y="201596"/>
                    <a:pt x="73957" y="192911"/>
                    <a:pt x="73957" y="182198"/>
                  </a:cubicBezTo>
                  <a:lnTo>
                    <a:pt x="73957" y="138111"/>
                  </a:lnTo>
                  <a:cubicBezTo>
                    <a:pt x="73957" y="127398"/>
                    <a:pt x="82642" y="118713"/>
                    <a:pt x="93355" y="118713"/>
                  </a:cubicBezTo>
                  <a:lnTo>
                    <a:pt x="171169" y="118713"/>
                  </a:lnTo>
                  <a:cubicBezTo>
                    <a:pt x="181840" y="118773"/>
                    <a:pt x="190458" y="127440"/>
                    <a:pt x="190457" y="138111"/>
                  </a:cubicBezTo>
                  <a:lnTo>
                    <a:pt x="190457" y="182198"/>
                  </a:lnTo>
                  <a:cubicBezTo>
                    <a:pt x="190458" y="192869"/>
                    <a:pt x="181840" y="201536"/>
                    <a:pt x="171169" y="201596"/>
                  </a:cubicBezTo>
                  <a:lnTo>
                    <a:pt x="145488" y="201596"/>
                  </a:lnTo>
                  <a:cubicBezTo>
                    <a:pt x="146566" y="205466"/>
                    <a:pt x="148160" y="209174"/>
                    <a:pt x="150228" y="212618"/>
                  </a:cubicBezTo>
                  <a:lnTo>
                    <a:pt x="210297" y="212618"/>
                  </a:lnTo>
                  <a:close/>
                  <a:moveTo>
                    <a:pt x="90490" y="182308"/>
                  </a:moveTo>
                  <a:cubicBezTo>
                    <a:pt x="90490" y="183891"/>
                    <a:pt x="91773" y="185174"/>
                    <a:pt x="93355" y="185174"/>
                  </a:cubicBezTo>
                  <a:lnTo>
                    <a:pt x="171169" y="185174"/>
                  </a:lnTo>
                  <a:cubicBezTo>
                    <a:pt x="172709" y="185115"/>
                    <a:pt x="173926" y="183849"/>
                    <a:pt x="173925" y="182308"/>
                  </a:cubicBezTo>
                  <a:lnTo>
                    <a:pt x="173925" y="138221"/>
                  </a:lnTo>
                  <a:cubicBezTo>
                    <a:pt x="173955" y="137471"/>
                    <a:pt x="173678" y="136742"/>
                    <a:pt x="173158" y="136201"/>
                  </a:cubicBezTo>
                  <a:cubicBezTo>
                    <a:pt x="172638" y="135660"/>
                    <a:pt x="171920" y="135355"/>
                    <a:pt x="171169" y="135356"/>
                  </a:cubicBezTo>
                  <a:lnTo>
                    <a:pt x="93355" y="135356"/>
                  </a:lnTo>
                  <a:cubicBezTo>
                    <a:pt x="91773" y="135356"/>
                    <a:pt x="90490" y="136639"/>
                    <a:pt x="90490" y="138221"/>
                  </a:cubicBezTo>
                  <a:lnTo>
                    <a:pt x="90490" y="182308"/>
                  </a:lnTo>
                  <a:close/>
                  <a:moveTo>
                    <a:pt x="255927" y="85537"/>
                  </a:moveTo>
                  <a:cubicBezTo>
                    <a:pt x="260492" y="85537"/>
                    <a:pt x="264193" y="89238"/>
                    <a:pt x="264193" y="93803"/>
                  </a:cubicBezTo>
                  <a:cubicBezTo>
                    <a:pt x="264193" y="98369"/>
                    <a:pt x="260492" y="102070"/>
                    <a:pt x="255927" y="102070"/>
                  </a:cubicBezTo>
                  <a:lnTo>
                    <a:pt x="251628" y="102070"/>
                  </a:lnTo>
                  <a:lnTo>
                    <a:pt x="251628" y="143401"/>
                  </a:lnTo>
                  <a:cubicBezTo>
                    <a:pt x="251628" y="147967"/>
                    <a:pt x="247927" y="151668"/>
                    <a:pt x="243362" y="151668"/>
                  </a:cubicBezTo>
                  <a:cubicBezTo>
                    <a:pt x="238797" y="151668"/>
                    <a:pt x="235096" y="147967"/>
                    <a:pt x="235096" y="143401"/>
                  </a:cubicBezTo>
                  <a:lnTo>
                    <a:pt x="235096" y="102070"/>
                  </a:lnTo>
                  <a:lnTo>
                    <a:pt x="28437" y="102070"/>
                  </a:lnTo>
                  <a:lnTo>
                    <a:pt x="28437" y="143401"/>
                  </a:lnTo>
                  <a:cubicBezTo>
                    <a:pt x="28437" y="147967"/>
                    <a:pt x="24736" y="151668"/>
                    <a:pt x="20171" y="151668"/>
                  </a:cubicBezTo>
                  <a:cubicBezTo>
                    <a:pt x="15605" y="151668"/>
                    <a:pt x="11904" y="147967"/>
                    <a:pt x="11904" y="143401"/>
                  </a:cubicBezTo>
                  <a:lnTo>
                    <a:pt x="11904" y="102070"/>
                  </a:lnTo>
                  <a:lnTo>
                    <a:pt x="10031" y="102070"/>
                  </a:lnTo>
                  <a:cubicBezTo>
                    <a:pt x="5465" y="102070"/>
                    <a:pt x="1764" y="98369"/>
                    <a:pt x="1764" y="93803"/>
                  </a:cubicBezTo>
                  <a:cubicBezTo>
                    <a:pt x="1764" y="89238"/>
                    <a:pt x="5465" y="85537"/>
                    <a:pt x="10031" y="85537"/>
                  </a:cubicBezTo>
                  <a:lnTo>
                    <a:pt x="39018" y="85537"/>
                  </a:lnTo>
                  <a:cubicBezTo>
                    <a:pt x="40504" y="82783"/>
                    <a:pt x="41651" y="79859"/>
                    <a:pt x="42435" y="76830"/>
                  </a:cubicBezTo>
                  <a:lnTo>
                    <a:pt x="19730" y="76830"/>
                  </a:lnTo>
                  <a:cubicBezTo>
                    <a:pt x="14528" y="76918"/>
                    <a:pt x="9509" y="74914"/>
                    <a:pt x="5799" y="71266"/>
                  </a:cubicBezTo>
                  <a:cubicBezTo>
                    <a:pt x="2089" y="67619"/>
                    <a:pt x="0" y="62634"/>
                    <a:pt x="1" y="57431"/>
                  </a:cubicBezTo>
                  <a:lnTo>
                    <a:pt x="1" y="19406"/>
                  </a:lnTo>
                  <a:cubicBezTo>
                    <a:pt x="0" y="14213"/>
                    <a:pt x="2092" y="9239"/>
                    <a:pt x="5805" y="5609"/>
                  </a:cubicBezTo>
                  <a:cubicBezTo>
                    <a:pt x="9518" y="1979"/>
                    <a:pt x="14538" y="0"/>
                    <a:pt x="19730" y="118"/>
                  </a:cubicBezTo>
                  <a:lnTo>
                    <a:pt x="88175" y="118"/>
                  </a:lnTo>
                  <a:cubicBezTo>
                    <a:pt x="98741" y="239"/>
                    <a:pt x="107244" y="8839"/>
                    <a:pt x="107243" y="19406"/>
                  </a:cubicBezTo>
                  <a:lnTo>
                    <a:pt x="107243" y="57431"/>
                  </a:lnTo>
                  <a:cubicBezTo>
                    <a:pt x="107244" y="68017"/>
                    <a:pt x="98759" y="76649"/>
                    <a:pt x="88175" y="76830"/>
                  </a:cubicBezTo>
                  <a:lnTo>
                    <a:pt x="65029" y="76830"/>
                  </a:lnTo>
                  <a:cubicBezTo>
                    <a:pt x="65897" y="79848"/>
                    <a:pt x="67079" y="82766"/>
                    <a:pt x="68556" y="85537"/>
                  </a:cubicBezTo>
                  <a:lnTo>
                    <a:pt x="190457" y="85537"/>
                  </a:lnTo>
                  <a:cubicBezTo>
                    <a:pt x="191897" y="82762"/>
                    <a:pt x="193042" y="79844"/>
                    <a:pt x="193874" y="76830"/>
                  </a:cubicBezTo>
                  <a:lnTo>
                    <a:pt x="171169" y="76830"/>
                  </a:lnTo>
                  <a:cubicBezTo>
                    <a:pt x="160456" y="76830"/>
                    <a:pt x="151771" y="68145"/>
                    <a:pt x="151771" y="57431"/>
                  </a:cubicBezTo>
                  <a:lnTo>
                    <a:pt x="151771" y="19406"/>
                  </a:lnTo>
                  <a:cubicBezTo>
                    <a:pt x="151771" y="14272"/>
                    <a:pt x="153818" y="9349"/>
                    <a:pt x="157459" y="5728"/>
                  </a:cubicBezTo>
                  <a:cubicBezTo>
                    <a:pt x="161100" y="2108"/>
                    <a:pt x="166035" y="89"/>
                    <a:pt x="171169" y="118"/>
                  </a:cubicBezTo>
                  <a:lnTo>
                    <a:pt x="239174" y="118"/>
                  </a:lnTo>
                  <a:cubicBezTo>
                    <a:pt x="244308" y="89"/>
                    <a:pt x="249242" y="2108"/>
                    <a:pt x="252884" y="5728"/>
                  </a:cubicBezTo>
                  <a:cubicBezTo>
                    <a:pt x="256525" y="9349"/>
                    <a:pt x="258572" y="14272"/>
                    <a:pt x="258572" y="19406"/>
                  </a:cubicBezTo>
                  <a:lnTo>
                    <a:pt x="258572" y="57431"/>
                  </a:lnTo>
                  <a:cubicBezTo>
                    <a:pt x="258572" y="68145"/>
                    <a:pt x="249887" y="76830"/>
                    <a:pt x="239174" y="76830"/>
                  </a:cubicBezTo>
                  <a:lnTo>
                    <a:pt x="217020" y="76830"/>
                  </a:lnTo>
                  <a:cubicBezTo>
                    <a:pt x="217851" y="79844"/>
                    <a:pt x="218997" y="82762"/>
                    <a:pt x="220437" y="85537"/>
                  </a:cubicBezTo>
                  <a:lnTo>
                    <a:pt x="255927" y="85537"/>
                  </a:lnTo>
                  <a:close/>
                  <a:moveTo>
                    <a:pt x="88175" y="60297"/>
                  </a:moveTo>
                  <a:cubicBezTo>
                    <a:pt x="89758" y="60297"/>
                    <a:pt x="91041" y="59014"/>
                    <a:pt x="91041" y="57431"/>
                  </a:cubicBezTo>
                  <a:lnTo>
                    <a:pt x="91041" y="19406"/>
                  </a:lnTo>
                  <a:cubicBezTo>
                    <a:pt x="90982" y="17867"/>
                    <a:pt x="89716" y="16650"/>
                    <a:pt x="88175" y="16651"/>
                  </a:cubicBezTo>
                  <a:lnTo>
                    <a:pt x="19730" y="16651"/>
                  </a:lnTo>
                  <a:cubicBezTo>
                    <a:pt x="18189" y="16650"/>
                    <a:pt x="16923" y="17867"/>
                    <a:pt x="16864" y="19406"/>
                  </a:cubicBezTo>
                  <a:lnTo>
                    <a:pt x="16864" y="57431"/>
                  </a:lnTo>
                  <a:cubicBezTo>
                    <a:pt x="16864" y="59014"/>
                    <a:pt x="18147" y="60297"/>
                    <a:pt x="19730" y="60297"/>
                  </a:cubicBezTo>
                  <a:close/>
                  <a:moveTo>
                    <a:pt x="239174" y="60297"/>
                  </a:moveTo>
                  <a:cubicBezTo>
                    <a:pt x="240756" y="60297"/>
                    <a:pt x="242039" y="59014"/>
                    <a:pt x="242039" y="57431"/>
                  </a:cubicBezTo>
                  <a:lnTo>
                    <a:pt x="242039" y="19406"/>
                  </a:lnTo>
                  <a:cubicBezTo>
                    <a:pt x="242040" y="18656"/>
                    <a:pt x="241735" y="17938"/>
                    <a:pt x="241194" y="17418"/>
                  </a:cubicBezTo>
                  <a:cubicBezTo>
                    <a:pt x="240653" y="16898"/>
                    <a:pt x="239923" y="16621"/>
                    <a:pt x="239174" y="16651"/>
                  </a:cubicBezTo>
                  <a:lnTo>
                    <a:pt x="171169" y="16651"/>
                  </a:lnTo>
                  <a:cubicBezTo>
                    <a:pt x="170420" y="16621"/>
                    <a:pt x="169690" y="16898"/>
                    <a:pt x="169149" y="17418"/>
                  </a:cubicBezTo>
                  <a:cubicBezTo>
                    <a:pt x="168609" y="17938"/>
                    <a:pt x="168303" y="18656"/>
                    <a:pt x="168304" y="19406"/>
                  </a:cubicBezTo>
                  <a:lnTo>
                    <a:pt x="168304" y="57431"/>
                  </a:lnTo>
                  <a:cubicBezTo>
                    <a:pt x="168304" y="59014"/>
                    <a:pt x="169587" y="60297"/>
                    <a:pt x="171169" y="60297"/>
                  </a:cubicBezTo>
                  <a:close/>
                </a:path>
              </a:pathLst>
            </a:custGeom>
            <a:solidFill>
              <a:srgbClr val="E0CB1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sz="10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22" name="Rounded Rectangle 35">
              <a:extLst>
                <a:ext uri="{FF2B5EF4-FFF2-40B4-BE49-F238E27FC236}">
                  <a16:creationId xmlns:a16="http://schemas.microsoft.com/office/drawing/2014/main" id="{9023A3A2-369C-9E47-38B2-BDE573B8F6B7}"/>
                </a:ext>
              </a:extLst>
            </p:cNvPr>
            <p:cNvSpPr/>
            <p:nvPr/>
          </p:nvSpPr>
          <p:spPr>
            <a:xfrm>
              <a:off x="3874680" y="2314713"/>
              <a:ext cx="259039" cy="264522"/>
            </a:xfrm>
            <a:custGeom>
              <a:avLst/>
              <a:gdLst/>
              <a:ahLst/>
              <a:cxnLst/>
              <a:rect l="0" t="0" r="0" b="0"/>
              <a:pathLst>
                <a:path w="259039" h="264522">
                  <a:moveTo>
                    <a:pt x="132275" y="148794"/>
                  </a:moveTo>
                  <a:lnTo>
                    <a:pt x="132275" y="211508"/>
                  </a:lnTo>
                  <a:cubicBezTo>
                    <a:pt x="132288" y="216135"/>
                    <a:pt x="130323" y="220547"/>
                    <a:pt x="126874" y="223632"/>
                  </a:cubicBezTo>
                  <a:cubicBezTo>
                    <a:pt x="122731" y="228540"/>
                    <a:pt x="116654" y="231398"/>
                    <a:pt x="110231" y="231457"/>
                  </a:cubicBezTo>
                  <a:lnTo>
                    <a:pt x="79921" y="231457"/>
                  </a:lnTo>
                  <a:cubicBezTo>
                    <a:pt x="78399" y="231457"/>
                    <a:pt x="77166" y="232691"/>
                    <a:pt x="77166" y="234212"/>
                  </a:cubicBezTo>
                  <a:lnTo>
                    <a:pt x="77166" y="239723"/>
                  </a:lnTo>
                  <a:cubicBezTo>
                    <a:pt x="77166" y="241245"/>
                    <a:pt x="78399" y="242479"/>
                    <a:pt x="79921" y="242479"/>
                  </a:cubicBezTo>
                  <a:lnTo>
                    <a:pt x="93698" y="242479"/>
                  </a:lnTo>
                  <a:cubicBezTo>
                    <a:pt x="99785" y="242479"/>
                    <a:pt x="104720" y="247413"/>
                    <a:pt x="104720" y="253501"/>
                  </a:cubicBezTo>
                  <a:cubicBezTo>
                    <a:pt x="104720" y="259588"/>
                    <a:pt x="99785" y="264522"/>
                    <a:pt x="93698" y="264522"/>
                  </a:cubicBezTo>
                  <a:lnTo>
                    <a:pt x="38589" y="264522"/>
                  </a:lnTo>
                  <a:cubicBezTo>
                    <a:pt x="32502" y="264522"/>
                    <a:pt x="27568" y="259588"/>
                    <a:pt x="27568" y="253501"/>
                  </a:cubicBezTo>
                  <a:cubicBezTo>
                    <a:pt x="27568" y="247413"/>
                    <a:pt x="32502" y="242479"/>
                    <a:pt x="38589" y="242479"/>
                  </a:cubicBezTo>
                  <a:lnTo>
                    <a:pt x="52367" y="242479"/>
                  </a:lnTo>
                  <a:cubicBezTo>
                    <a:pt x="53888" y="242479"/>
                    <a:pt x="55122" y="241245"/>
                    <a:pt x="55122" y="239723"/>
                  </a:cubicBezTo>
                  <a:lnTo>
                    <a:pt x="55122" y="234212"/>
                  </a:lnTo>
                  <a:cubicBezTo>
                    <a:pt x="55122" y="232691"/>
                    <a:pt x="53888" y="231457"/>
                    <a:pt x="52367" y="231457"/>
                  </a:cubicBezTo>
                  <a:lnTo>
                    <a:pt x="22057" y="231457"/>
                  </a:lnTo>
                  <a:cubicBezTo>
                    <a:pt x="15634" y="231398"/>
                    <a:pt x="9556" y="228540"/>
                    <a:pt x="5414" y="223632"/>
                  </a:cubicBezTo>
                  <a:cubicBezTo>
                    <a:pt x="1965" y="220547"/>
                    <a:pt x="0" y="216135"/>
                    <a:pt x="13" y="211508"/>
                  </a:cubicBezTo>
                  <a:lnTo>
                    <a:pt x="13" y="148794"/>
                  </a:lnTo>
                  <a:cubicBezTo>
                    <a:pt x="13" y="136619"/>
                    <a:pt x="9882" y="126750"/>
                    <a:pt x="22057" y="126750"/>
                  </a:cubicBezTo>
                  <a:lnTo>
                    <a:pt x="110231" y="126750"/>
                  </a:lnTo>
                  <a:cubicBezTo>
                    <a:pt x="122405" y="126750"/>
                    <a:pt x="132275" y="136619"/>
                    <a:pt x="132275" y="148794"/>
                  </a:cubicBezTo>
                  <a:close/>
                  <a:moveTo>
                    <a:pt x="24812" y="148794"/>
                  </a:moveTo>
                  <a:cubicBezTo>
                    <a:pt x="23290" y="148794"/>
                    <a:pt x="22057" y="150027"/>
                    <a:pt x="22057" y="151549"/>
                  </a:cubicBezTo>
                  <a:lnTo>
                    <a:pt x="22057" y="195636"/>
                  </a:lnTo>
                  <a:cubicBezTo>
                    <a:pt x="22057" y="197158"/>
                    <a:pt x="23290" y="198392"/>
                    <a:pt x="24812" y="198392"/>
                  </a:cubicBezTo>
                  <a:lnTo>
                    <a:pt x="107476" y="198392"/>
                  </a:lnTo>
                  <a:cubicBezTo>
                    <a:pt x="108997" y="198392"/>
                    <a:pt x="110231" y="197158"/>
                    <a:pt x="110231" y="195636"/>
                  </a:cubicBezTo>
                  <a:lnTo>
                    <a:pt x="110231" y="151549"/>
                  </a:lnTo>
                  <a:cubicBezTo>
                    <a:pt x="110231" y="150027"/>
                    <a:pt x="108997" y="148794"/>
                    <a:pt x="107476" y="148794"/>
                  </a:cubicBezTo>
                  <a:close/>
                  <a:moveTo>
                    <a:pt x="259025" y="84757"/>
                  </a:moveTo>
                  <a:cubicBezTo>
                    <a:pt x="259039" y="89384"/>
                    <a:pt x="257073" y="93796"/>
                    <a:pt x="253624" y="96881"/>
                  </a:cubicBezTo>
                  <a:cubicBezTo>
                    <a:pt x="249482" y="101790"/>
                    <a:pt x="243404" y="104647"/>
                    <a:pt x="236981" y="104706"/>
                  </a:cubicBezTo>
                  <a:lnTo>
                    <a:pt x="206672" y="104706"/>
                  </a:lnTo>
                  <a:cubicBezTo>
                    <a:pt x="205150" y="104706"/>
                    <a:pt x="203916" y="105940"/>
                    <a:pt x="203916" y="107462"/>
                  </a:cubicBezTo>
                  <a:lnTo>
                    <a:pt x="203916" y="112973"/>
                  </a:lnTo>
                  <a:cubicBezTo>
                    <a:pt x="203916" y="114495"/>
                    <a:pt x="205150" y="115728"/>
                    <a:pt x="206672" y="115728"/>
                  </a:cubicBezTo>
                  <a:lnTo>
                    <a:pt x="220449" y="115728"/>
                  </a:lnTo>
                  <a:cubicBezTo>
                    <a:pt x="226536" y="115728"/>
                    <a:pt x="231471" y="120663"/>
                    <a:pt x="231471" y="126750"/>
                  </a:cubicBezTo>
                  <a:cubicBezTo>
                    <a:pt x="231471" y="132837"/>
                    <a:pt x="226536" y="137772"/>
                    <a:pt x="220449" y="137772"/>
                  </a:cubicBezTo>
                  <a:lnTo>
                    <a:pt x="165340" y="137772"/>
                  </a:lnTo>
                  <a:cubicBezTo>
                    <a:pt x="159253" y="137772"/>
                    <a:pt x="154318" y="132837"/>
                    <a:pt x="154318" y="126750"/>
                  </a:cubicBezTo>
                  <a:cubicBezTo>
                    <a:pt x="154318" y="120663"/>
                    <a:pt x="159253" y="115728"/>
                    <a:pt x="165340" y="115728"/>
                  </a:cubicBezTo>
                  <a:lnTo>
                    <a:pt x="179117" y="115728"/>
                  </a:lnTo>
                  <a:cubicBezTo>
                    <a:pt x="180639" y="115728"/>
                    <a:pt x="181873" y="114495"/>
                    <a:pt x="181873" y="112973"/>
                  </a:cubicBezTo>
                  <a:lnTo>
                    <a:pt x="181873" y="107462"/>
                  </a:lnTo>
                  <a:cubicBezTo>
                    <a:pt x="181873" y="105940"/>
                    <a:pt x="180639" y="104706"/>
                    <a:pt x="179117" y="104706"/>
                  </a:cubicBezTo>
                  <a:lnTo>
                    <a:pt x="148807" y="104706"/>
                  </a:lnTo>
                  <a:cubicBezTo>
                    <a:pt x="142384" y="104647"/>
                    <a:pt x="136307" y="101790"/>
                    <a:pt x="132164" y="96881"/>
                  </a:cubicBezTo>
                  <a:cubicBezTo>
                    <a:pt x="128715" y="93796"/>
                    <a:pt x="126750" y="89384"/>
                    <a:pt x="126764" y="84757"/>
                  </a:cubicBezTo>
                  <a:lnTo>
                    <a:pt x="126764" y="22043"/>
                  </a:lnTo>
                  <a:cubicBezTo>
                    <a:pt x="126764" y="9869"/>
                    <a:pt x="136633" y="0"/>
                    <a:pt x="148807" y="0"/>
                  </a:cubicBezTo>
                  <a:lnTo>
                    <a:pt x="236981" y="0"/>
                  </a:lnTo>
                  <a:cubicBezTo>
                    <a:pt x="249156" y="0"/>
                    <a:pt x="259025" y="9869"/>
                    <a:pt x="259025" y="22043"/>
                  </a:cubicBezTo>
                  <a:close/>
                  <a:moveTo>
                    <a:pt x="151563" y="22043"/>
                  </a:moveTo>
                  <a:cubicBezTo>
                    <a:pt x="150041" y="22043"/>
                    <a:pt x="148807" y="23277"/>
                    <a:pt x="148807" y="24799"/>
                  </a:cubicBezTo>
                  <a:lnTo>
                    <a:pt x="148807" y="68886"/>
                  </a:lnTo>
                  <a:cubicBezTo>
                    <a:pt x="148807" y="70407"/>
                    <a:pt x="150041" y="71641"/>
                    <a:pt x="151563" y="71641"/>
                  </a:cubicBezTo>
                  <a:lnTo>
                    <a:pt x="234226" y="71641"/>
                  </a:lnTo>
                  <a:cubicBezTo>
                    <a:pt x="235748" y="71641"/>
                    <a:pt x="236981" y="70407"/>
                    <a:pt x="236981" y="68886"/>
                  </a:cubicBezTo>
                  <a:lnTo>
                    <a:pt x="236981" y="24799"/>
                  </a:lnTo>
                  <a:cubicBezTo>
                    <a:pt x="236981" y="23277"/>
                    <a:pt x="235748" y="22043"/>
                    <a:pt x="234226" y="22043"/>
                  </a:cubicBezTo>
                  <a:close/>
                  <a:moveTo>
                    <a:pt x="72757" y="54447"/>
                  </a:moveTo>
                  <a:lnTo>
                    <a:pt x="72757" y="51692"/>
                  </a:lnTo>
                  <a:cubicBezTo>
                    <a:pt x="72757" y="50170"/>
                    <a:pt x="71523" y="48936"/>
                    <a:pt x="70001" y="48936"/>
                  </a:cubicBezTo>
                  <a:lnTo>
                    <a:pt x="50713" y="48936"/>
                  </a:lnTo>
                  <a:cubicBezTo>
                    <a:pt x="44626" y="48936"/>
                    <a:pt x="39692" y="53871"/>
                    <a:pt x="39692" y="59958"/>
                  </a:cubicBezTo>
                  <a:lnTo>
                    <a:pt x="39692" y="76601"/>
                  </a:lnTo>
                  <a:cubicBezTo>
                    <a:pt x="39692" y="78123"/>
                    <a:pt x="40925" y="79356"/>
                    <a:pt x="42447" y="79356"/>
                  </a:cubicBezTo>
                  <a:lnTo>
                    <a:pt x="45754" y="79356"/>
                  </a:lnTo>
                  <a:cubicBezTo>
                    <a:pt x="47841" y="79356"/>
                    <a:pt x="49749" y="80536"/>
                    <a:pt x="50683" y="82403"/>
                  </a:cubicBezTo>
                  <a:cubicBezTo>
                    <a:pt x="51616" y="84270"/>
                    <a:pt x="51415" y="86504"/>
                    <a:pt x="50162" y="88174"/>
                  </a:cubicBezTo>
                  <a:lnTo>
                    <a:pt x="33630" y="110217"/>
                  </a:lnTo>
                  <a:cubicBezTo>
                    <a:pt x="32589" y="111605"/>
                    <a:pt x="30955" y="112422"/>
                    <a:pt x="29221" y="112422"/>
                  </a:cubicBezTo>
                  <a:cubicBezTo>
                    <a:pt x="27486" y="112422"/>
                    <a:pt x="25853" y="111605"/>
                    <a:pt x="24812" y="110217"/>
                  </a:cubicBezTo>
                  <a:lnTo>
                    <a:pt x="8279" y="88174"/>
                  </a:lnTo>
                  <a:cubicBezTo>
                    <a:pt x="7011" y="86582"/>
                    <a:pt x="6722" y="84421"/>
                    <a:pt x="7530" y="82553"/>
                  </a:cubicBezTo>
                  <a:cubicBezTo>
                    <a:pt x="8337" y="80684"/>
                    <a:pt x="10109" y="79413"/>
                    <a:pt x="12137" y="79246"/>
                  </a:cubicBezTo>
                  <a:lnTo>
                    <a:pt x="14893" y="79246"/>
                  </a:lnTo>
                  <a:cubicBezTo>
                    <a:pt x="16414" y="79246"/>
                    <a:pt x="17648" y="78013"/>
                    <a:pt x="17648" y="76491"/>
                  </a:cubicBezTo>
                  <a:lnTo>
                    <a:pt x="17648" y="59958"/>
                  </a:lnTo>
                  <a:cubicBezTo>
                    <a:pt x="17648" y="41697"/>
                    <a:pt x="32452" y="26893"/>
                    <a:pt x="50713" y="26893"/>
                  </a:cubicBezTo>
                  <a:lnTo>
                    <a:pt x="70001" y="26893"/>
                  </a:lnTo>
                  <a:cubicBezTo>
                    <a:pt x="71523" y="26893"/>
                    <a:pt x="72757" y="25659"/>
                    <a:pt x="72757" y="24137"/>
                  </a:cubicBezTo>
                  <a:lnTo>
                    <a:pt x="72757" y="21382"/>
                  </a:lnTo>
                  <a:cubicBezTo>
                    <a:pt x="72834" y="19330"/>
                    <a:pt x="74024" y="17485"/>
                    <a:pt x="75860" y="16566"/>
                  </a:cubicBezTo>
                  <a:cubicBezTo>
                    <a:pt x="77696" y="15648"/>
                    <a:pt x="79887" y="15804"/>
                    <a:pt x="81574" y="16973"/>
                  </a:cubicBezTo>
                  <a:lnTo>
                    <a:pt x="103618" y="33506"/>
                  </a:lnTo>
                  <a:cubicBezTo>
                    <a:pt x="104992" y="34558"/>
                    <a:pt x="105805" y="36184"/>
                    <a:pt x="105822" y="37914"/>
                  </a:cubicBezTo>
                  <a:cubicBezTo>
                    <a:pt x="105859" y="39657"/>
                    <a:pt x="105034" y="41307"/>
                    <a:pt x="103618" y="42323"/>
                  </a:cubicBezTo>
                  <a:lnTo>
                    <a:pt x="81574" y="58856"/>
                  </a:lnTo>
                  <a:cubicBezTo>
                    <a:pt x="80633" y="59594"/>
                    <a:pt x="79464" y="59984"/>
                    <a:pt x="78268" y="59958"/>
                  </a:cubicBezTo>
                  <a:cubicBezTo>
                    <a:pt x="77424" y="59999"/>
                    <a:pt x="76586" y="59808"/>
                    <a:pt x="75843" y="59407"/>
                  </a:cubicBezTo>
                  <a:cubicBezTo>
                    <a:pt x="73951" y="58480"/>
                    <a:pt x="72753" y="56554"/>
                    <a:pt x="72757" y="54447"/>
                  </a:cubicBezTo>
                  <a:close/>
                </a:path>
              </a:pathLst>
            </a:custGeom>
            <a:solidFill>
              <a:srgbClr val="DE843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sz="10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23" name="Rounded Rectangle 36">
              <a:extLst>
                <a:ext uri="{FF2B5EF4-FFF2-40B4-BE49-F238E27FC236}">
                  <a16:creationId xmlns:a16="http://schemas.microsoft.com/office/drawing/2014/main" id="{4DD0A268-9F98-D976-6572-8332D715D36F}"/>
                </a:ext>
              </a:extLst>
            </p:cNvPr>
            <p:cNvSpPr/>
            <p:nvPr/>
          </p:nvSpPr>
          <p:spPr>
            <a:xfrm>
              <a:off x="7575258" y="3901786"/>
              <a:ext cx="264522" cy="264586"/>
            </a:xfrm>
            <a:custGeom>
              <a:avLst/>
              <a:gdLst/>
              <a:ahLst/>
              <a:cxnLst/>
              <a:rect l="0" t="0" r="0" b="0"/>
              <a:pathLst>
                <a:path w="264522" h="264586">
                  <a:moveTo>
                    <a:pt x="264522" y="209477"/>
                  </a:moveTo>
                  <a:cubicBezTo>
                    <a:pt x="264522" y="239913"/>
                    <a:pt x="239849" y="264586"/>
                    <a:pt x="209413" y="264586"/>
                  </a:cubicBezTo>
                  <a:lnTo>
                    <a:pt x="55108" y="264586"/>
                  </a:lnTo>
                  <a:cubicBezTo>
                    <a:pt x="24673" y="264586"/>
                    <a:pt x="0" y="239913"/>
                    <a:pt x="0" y="209477"/>
                  </a:cubicBezTo>
                  <a:cubicBezTo>
                    <a:pt x="0" y="179042"/>
                    <a:pt x="24673" y="154368"/>
                    <a:pt x="55108" y="154368"/>
                  </a:cubicBezTo>
                  <a:lnTo>
                    <a:pt x="209413" y="154368"/>
                  </a:lnTo>
                  <a:cubicBezTo>
                    <a:pt x="239849" y="154368"/>
                    <a:pt x="264522" y="179042"/>
                    <a:pt x="264522" y="209477"/>
                  </a:cubicBezTo>
                  <a:close/>
                  <a:moveTo>
                    <a:pt x="225946" y="209477"/>
                  </a:moveTo>
                  <a:cubicBezTo>
                    <a:pt x="225946" y="200347"/>
                    <a:pt x="218544" y="192945"/>
                    <a:pt x="209413" y="192945"/>
                  </a:cubicBezTo>
                  <a:cubicBezTo>
                    <a:pt x="200283" y="192945"/>
                    <a:pt x="192881" y="200347"/>
                    <a:pt x="192881" y="209477"/>
                  </a:cubicBezTo>
                  <a:cubicBezTo>
                    <a:pt x="192881" y="218608"/>
                    <a:pt x="200283" y="226010"/>
                    <a:pt x="209413" y="226010"/>
                  </a:cubicBezTo>
                  <a:cubicBezTo>
                    <a:pt x="218544" y="226010"/>
                    <a:pt x="225946" y="218608"/>
                    <a:pt x="225946" y="209477"/>
                  </a:cubicBezTo>
                  <a:close/>
                  <a:moveTo>
                    <a:pt x="56762" y="217744"/>
                  </a:moveTo>
                  <a:lnTo>
                    <a:pt x="99196" y="217744"/>
                  </a:lnTo>
                  <a:cubicBezTo>
                    <a:pt x="103761" y="217744"/>
                    <a:pt x="107462" y="214043"/>
                    <a:pt x="107462" y="209477"/>
                  </a:cubicBezTo>
                  <a:cubicBezTo>
                    <a:pt x="107462" y="204912"/>
                    <a:pt x="103761" y="201211"/>
                    <a:pt x="99196" y="201211"/>
                  </a:cubicBezTo>
                  <a:lnTo>
                    <a:pt x="56762" y="201211"/>
                  </a:lnTo>
                  <a:cubicBezTo>
                    <a:pt x="52221" y="201270"/>
                    <a:pt x="48555" y="204937"/>
                    <a:pt x="48495" y="209477"/>
                  </a:cubicBezTo>
                  <a:cubicBezTo>
                    <a:pt x="48555" y="214018"/>
                    <a:pt x="52221" y="217684"/>
                    <a:pt x="56762" y="217744"/>
                  </a:cubicBezTo>
                  <a:close/>
                  <a:moveTo>
                    <a:pt x="115728" y="110281"/>
                  </a:moveTo>
                  <a:lnTo>
                    <a:pt x="115728" y="63439"/>
                  </a:lnTo>
                  <a:cubicBezTo>
                    <a:pt x="115728" y="61917"/>
                    <a:pt x="114495" y="60683"/>
                    <a:pt x="112973" y="60683"/>
                  </a:cubicBezTo>
                  <a:lnTo>
                    <a:pt x="93685" y="60683"/>
                  </a:lnTo>
                  <a:cubicBezTo>
                    <a:pt x="89235" y="60661"/>
                    <a:pt x="85235" y="57966"/>
                    <a:pt x="83545" y="53850"/>
                  </a:cubicBezTo>
                  <a:cubicBezTo>
                    <a:pt x="81819" y="49745"/>
                    <a:pt x="82732" y="45005"/>
                    <a:pt x="85859" y="41836"/>
                  </a:cubicBezTo>
                  <a:lnTo>
                    <a:pt x="124435" y="3260"/>
                  </a:lnTo>
                  <a:cubicBezTo>
                    <a:pt x="126505" y="1173"/>
                    <a:pt x="129322" y="0"/>
                    <a:pt x="132261" y="0"/>
                  </a:cubicBezTo>
                  <a:cubicBezTo>
                    <a:pt x="135200" y="0"/>
                    <a:pt x="138017" y="1173"/>
                    <a:pt x="140086" y="3260"/>
                  </a:cubicBezTo>
                  <a:lnTo>
                    <a:pt x="178663" y="41836"/>
                  </a:lnTo>
                  <a:cubicBezTo>
                    <a:pt x="181790" y="45005"/>
                    <a:pt x="182703" y="49745"/>
                    <a:pt x="180977" y="53850"/>
                  </a:cubicBezTo>
                  <a:cubicBezTo>
                    <a:pt x="179286" y="57966"/>
                    <a:pt x="175287" y="60661"/>
                    <a:pt x="170837" y="60683"/>
                  </a:cubicBezTo>
                  <a:lnTo>
                    <a:pt x="151549" y="60683"/>
                  </a:lnTo>
                  <a:cubicBezTo>
                    <a:pt x="150027" y="60683"/>
                    <a:pt x="148794" y="61917"/>
                    <a:pt x="148794" y="63439"/>
                  </a:cubicBezTo>
                  <a:lnTo>
                    <a:pt x="148794" y="110281"/>
                  </a:lnTo>
                  <a:cubicBezTo>
                    <a:pt x="148794" y="119412"/>
                    <a:pt x="141392" y="126814"/>
                    <a:pt x="132261" y="126814"/>
                  </a:cubicBezTo>
                  <a:cubicBezTo>
                    <a:pt x="123130" y="126814"/>
                    <a:pt x="115728" y="119412"/>
                    <a:pt x="115728" y="110281"/>
                  </a:cubicBezTo>
                  <a:close/>
                </a:path>
              </a:pathLst>
            </a:custGeom>
            <a:solidFill>
              <a:srgbClr val="BA5DE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sz="10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24" name="TextBox 37">
              <a:extLst>
                <a:ext uri="{FF2B5EF4-FFF2-40B4-BE49-F238E27FC236}">
                  <a16:creationId xmlns:a16="http://schemas.microsoft.com/office/drawing/2014/main" id="{31C3CA46-1886-68BC-BF52-DDF2FB26559F}"/>
                </a:ext>
              </a:extLst>
            </p:cNvPr>
            <p:cNvSpPr txBox="1"/>
            <p:nvPr/>
          </p:nvSpPr>
          <p:spPr>
            <a:xfrm>
              <a:off x="7134365" y="2435952"/>
              <a:ext cx="1301938" cy="454868"/>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200" b="0" dirty="0">
                  <a:solidFill>
                    <a:srgbClr val="4F3D58"/>
                  </a:solidFill>
                  <a:latin typeface="Nirmala UI Semilight" panose="020B0402040204020203" pitchFamily="34" charset="0"/>
                  <a:ea typeface="Nirmala UI Semilight" panose="020B0402040204020203" pitchFamily="34" charset="0"/>
                  <a:cs typeface="Nirmala UI Semilight" panose="020B0402040204020203" pitchFamily="34" charset="0"/>
                </a:rPr>
                <a:t>UDP ports 4791 and
65330 are reserved for
the host.</a:t>
              </a:r>
            </a:p>
          </p:txBody>
        </p:sp>
        <p:sp>
          <p:nvSpPr>
            <p:cNvPr id="25" name="TextBox 38">
              <a:extLst>
                <a:ext uri="{FF2B5EF4-FFF2-40B4-BE49-F238E27FC236}">
                  <a16:creationId xmlns:a16="http://schemas.microsoft.com/office/drawing/2014/main" id="{990CD7D6-3186-D9B8-EF74-E6BB2BFFB3A1}"/>
                </a:ext>
              </a:extLst>
            </p:cNvPr>
            <p:cNvSpPr txBox="1"/>
            <p:nvPr/>
          </p:nvSpPr>
          <p:spPr>
            <a:xfrm>
              <a:off x="4702547" y="2413909"/>
              <a:ext cx="1222228" cy="606491"/>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200" b="0" dirty="0">
                  <a:solidFill>
                    <a:srgbClr val="543A3A"/>
                  </a:solidFill>
                  <a:latin typeface="Nirmala UI Semilight" panose="020B0402040204020203" pitchFamily="34" charset="0"/>
                  <a:ea typeface="Nirmala UI Semilight" panose="020B0402040204020203" pitchFamily="34" charset="0"/>
                  <a:cs typeface="Nirmala UI Semilight" panose="020B0402040204020203" pitchFamily="34" charset="0"/>
                </a:rPr>
                <a:t>Multicast, broadcast,
IP-in-IP encapsulated
packets, and GRE
packets are blocked.</a:t>
              </a:r>
            </a:p>
          </p:txBody>
        </p:sp>
        <p:sp>
          <p:nvSpPr>
            <p:cNvPr id="26" name="TextBox 39">
              <a:extLst>
                <a:ext uri="{FF2B5EF4-FFF2-40B4-BE49-F238E27FC236}">
                  <a16:creationId xmlns:a16="http://schemas.microsoft.com/office/drawing/2014/main" id="{6CDAC84C-FD68-E7C4-D4A9-ED8F904D3C36}"/>
                </a:ext>
              </a:extLst>
            </p:cNvPr>
            <p:cNvSpPr txBox="1"/>
            <p:nvPr/>
          </p:nvSpPr>
          <p:spPr>
            <a:xfrm>
              <a:off x="2161108" y="2413909"/>
              <a:ext cx="1353681" cy="303245"/>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200" b="0" dirty="0">
                  <a:solidFill>
                    <a:srgbClr val="46432D"/>
                  </a:solidFill>
                  <a:latin typeface="Nirmala UI Semilight" panose="020B0402040204020203" pitchFamily="34" charset="0"/>
                  <a:ea typeface="Nirmala UI Semilight" panose="020B0402040204020203" pitchFamily="34" charset="0"/>
                  <a:cs typeface="Nirmala UI Semilight" panose="020B0402040204020203" pitchFamily="34" charset="0"/>
                </a:rPr>
                <a:t>TCP, UDP, ESP, AH, and
ICMP are supported.</a:t>
              </a:r>
            </a:p>
          </p:txBody>
        </p:sp>
        <p:sp>
          <p:nvSpPr>
            <p:cNvPr id="27" name="TextBox 40">
              <a:extLst>
                <a:ext uri="{FF2B5EF4-FFF2-40B4-BE49-F238E27FC236}">
                  <a16:creationId xmlns:a16="http://schemas.microsoft.com/office/drawing/2014/main" id="{852CB6E2-AEA2-8618-D756-25B656EDE75F}"/>
                </a:ext>
              </a:extLst>
            </p:cNvPr>
            <p:cNvSpPr txBox="1"/>
            <p:nvPr/>
          </p:nvSpPr>
          <p:spPr>
            <a:xfrm>
              <a:off x="7151089" y="1976711"/>
              <a:ext cx="1202650" cy="454868"/>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1" dirty="0">
                  <a:solidFill>
                    <a:srgbClr val="BA5DE5"/>
                  </a:solidFill>
                  <a:latin typeface="Nirmala UI Semilight" panose="020B0402040204020203" pitchFamily="34" charset="0"/>
                  <a:ea typeface="Nirmala UI Semilight" panose="020B0402040204020203" pitchFamily="34" charset="0"/>
                  <a:cs typeface="Nirmala UI Semilight" panose="020B0402040204020203" pitchFamily="34" charset="0"/>
                </a:rPr>
                <a:t>Reserved UDP
ports</a:t>
              </a:r>
            </a:p>
          </p:txBody>
        </p:sp>
        <p:sp>
          <p:nvSpPr>
            <p:cNvPr id="28" name="TextBox 41">
              <a:extLst>
                <a:ext uri="{FF2B5EF4-FFF2-40B4-BE49-F238E27FC236}">
                  <a16:creationId xmlns:a16="http://schemas.microsoft.com/office/drawing/2014/main" id="{D982A485-52B0-4E43-CAE3-FC2E4CF7738D}"/>
                </a:ext>
              </a:extLst>
            </p:cNvPr>
            <p:cNvSpPr txBox="1"/>
            <p:nvPr/>
          </p:nvSpPr>
          <p:spPr>
            <a:xfrm>
              <a:off x="3462300" y="4004720"/>
              <a:ext cx="1181673" cy="202163"/>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600" b="1" dirty="0">
                  <a:solidFill>
                    <a:srgbClr val="DE8431"/>
                  </a:solidFill>
                  <a:latin typeface="Nirmala UI Semilight" panose="020B0402040204020203" pitchFamily="34" charset="0"/>
                  <a:ea typeface="Nirmala UI Semilight" panose="020B0402040204020203" pitchFamily="34" charset="0"/>
                  <a:cs typeface="Nirmala UI Semilight" panose="020B0402040204020203" pitchFamily="34" charset="0"/>
                </a:rPr>
                <a:t>Unicast support</a:t>
              </a:r>
            </a:p>
          </p:txBody>
        </p:sp>
        <p:sp>
          <p:nvSpPr>
            <p:cNvPr id="29" name="TextBox 42">
              <a:extLst>
                <a:ext uri="{FF2B5EF4-FFF2-40B4-BE49-F238E27FC236}">
                  <a16:creationId xmlns:a16="http://schemas.microsoft.com/office/drawing/2014/main" id="{936DD83E-A401-71D3-CB8E-23152923DE07}"/>
                </a:ext>
              </a:extLst>
            </p:cNvPr>
            <p:cNvSpPr txBox="1"/>
            <p:nvPr/>
          </p:nvSpPr>
          <p:spPr>
            <a:xfrm>
              <a:off x="5987763" y="3828371"/>
              <a:ext cx="1132728" cy="202163"/>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600" b="1" dirty="0">
                  <a:solidFill>
                    <a:srgbClr val="DE58A9"/>
                  </a:solidFill>
                  <a:latin typeface="Nirmala UI Semilight" panose="020B0402040204020203" pitchFamily="34" charset="0"/>
                  <a:ea typeface="Nirmala UI Semilight" panose="020B0402040204020203" pitchFamily="34" charset="0"/>
                  <a:cs typeface="Nirmala UI Semilight" panose="020B0402040204020203" pitchFamily="34" charset="0"/>
                </a:rPr>
                <a:t>DHCP protocol</a:t>
              </a:r>
            </a:p>
          </p:txBody>
        </p:sp>
        <p:sp>
          <p:nvSpPr>
            <p:cNvPr id="30" name="TextBox 43">
              <a:extLst>
                <a:ext uri="{FF2B5EF4-FFF2-40B4-BE49-F238E27FC236}">
                  <a16:creationId xmlns:a16="http://schemas.microsoft.com/office/drawing/2014/main" id="{43B4619E-C1C0-166F-6A3D-D4699DFF90B7}"/>
                </a:ext>
              </a:extLst>
            </p:cNvPr>
            <p:cNvSpPr txBox="1"/>
            <p:nvPr/>
          </p:nvSpPr>
          <p:spPr>
            <a:xfrm>
              <a:off x="4925874" y="1976711"/>
              <a:ext cx="709004" cy="404328"/>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600" b="1" dirty="0">
                  <a:solidFill>
                    <a:srgbClr val="E55753"/>
                  </a:solidFill>
                  <a:latin typeface="Nirmala UI Semilight" panose="020B0402040204020203" pitchFamily="34" charset="0"/>
                  <a:ea typeface="Nirmala UI Semilight" panose="020B0402040204020203" pitchFamily="34" charset="0"/>
                  <a:cs typeface="Nirmala UI Semilight" panose="020B0402040204020203" pitchFamily="34" charset="0"/>
                </a:rPr>
                <a:t>Blocked
protocols</a:t>
              </a:r>
            </a:p>
          </p:txBody>
        </p:sp>
        <p:sp>
          <p:nvSpPr>
            <p:cNvPr id="31" name="TextBox 44">
              <a:extLst>
                <a:ext uri="{FF2B5EF4-FFF2-40B4-BE49-F238E27FC236}">
                  <a16:creationId xmlns:a16="http://schemas.microsoft.com/office/drawing/2014/main" id="{422196B0-7BB5-CFC7-DBD6-DE1C7D6869B5}"/>
                </a:ext>
              </a:extLst>
            </p:cNvPr>
            <p:cNvSpPr txBox="1"/>
            <p:nvPr/>
          </p:nvSpPr>
          <p:spPr>
            <a:xfrm>
              <a:off x="5902972" y="4111264"/>
              <a:ext cx="1303336" cy="454868"/>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200" b="0" dirty="0">
                  <a:solidFill>
                    <a:srgbClr val="573E4D"/>
                  </a:solidFill>
                  <a:latin typeface="Nirmala UI Semilight" panose="020B0402040204020203" pitchFamily="34" charset="0"/>
                  <a:ea typeface="Nirmala UI Semilight" panose="020B0402040204020203" pitchFamily="34" charset="0"/>
                  <a:cs typeface="Nirmala UI Semilight" panose="020B0402040204020203" pitchFamily="34" charset="0"/>
                </a:rPr>
                <a:t>You can't use Dynamic
Host Configuration
Protocol via Unicast.</a:t>
              </a:r>
            </a:p>
          </p:txBody>
        </p:sp>
        <p:sp>
          <p:nvSpPr>
            <p:cNvPr id="32" name="TextBox 45">
              <a:extLst>
                <a:ext uri="{FF2B5EF4-FFF2-40B4-BE49-F238E27FC236}">
                  <a16:creationId xmlns:a16="http://schemas.microsoft.com/office/drawing/2014/main" id="{241ABAF3-F478-38B1-8D4D-20A9FD045620}"/>
                </a:ext>
              </a:extLst>
            </p:cNvPr>
            <p:cNvSpPr txBox="1"/>
            <p:nvPr/>
          </p:nvSpPr>
          <p:spPr>
            <a:xfrm>
              <a:off x="2404495" y="1976711"/>
              <a:ext cx="797105" cy="404328"/>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600" b="1" dirty="0">
                  <a:solidFill>
                    <a:srgbClr val="E0CB15"/>
                  </a:solidFill>
                  <a:latin typeface="Nirmala UI Semilight" panose="020B0402040204020203" pitchFamily="34" charset="0"/>
                  <a:ea typeface="Nirmala UI Semilight" panose="020B0402040204020203" pitchFamily="34" charset="0"/>
                  <a:cs typeface="Nirmala UI Semilight" panose="020B0402040204020203" pitchFamily="34" charset="0"/>
                </a:rPr>
                <a:t>Supported
protocols</a:t>
              </a:r>
            </a:p>
          </p:txBody>
        </p:sp>
        <p:sp>
          <p:nvSpPr>
            <p:cNvPr id="33" name="TextBox 46">
              <a:extLst>
                <a:ext uri="{FF2B5EF4-FFF2-40B4-BE49-F238E27FC236}">
                  <a16:creationId xmlns:a16="http://schemas.microsoft.com/office/drawing/2014/main" id="{45060B09-57AF-BA44-DBDB-C5EA956A7E1F}"/>
                </a:ext>
              </a:extLst>
            </p:cNvPr>
            <p:cNvSpPr txBox="1"/>
            <p:nvPr/>
          </p:nvSpPr>
          <p:spPr>
            <a:xfrm>
              <a:off x="3485495" y="4265569"/>
              <a:ext cx="1169087" cy="303245"/>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200" b="0" dirty="0">
                  <a:solidFill>
                    <a:srgbClr val="4C4034"/>
                  </a:solidFill>
                  <a:latin typeface="Nirmala UI Semilight" panose="020B0402040204020203" pitchFamily="34" charset="0"/>
                  <a:ea typeface="Nirmala UI Semilight" panose="020B0402040204020203" pitchFamily="34" charset="0"/>
                  <a:cs typeface="Nirmala UI Semilight" panose="020B0402040204020203" pitchFamily="34" charset="0"/>
                </a:rPr>
                <a:t>Unicast is supported
in virtual networks.</a:t>
              </a:r>
            </a:p>
          </p:txBody>
        </p:sp>
      </p:grpSp>
    </p:spTree>
    <p:extLst>
      <p:ext uri="{BB962C8B-B14F-4D97-AF65-F5344CB8AC3E}">
        <p14:creationId xmlns:p14="http://schemas.microsoft.com/office/powerpoint/2010/main" val="15187691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Title 1"/>
          <p:cNvSpPr txBox="1">
            <a:spLocks noGrp="1"/>
          </p:cNvSpPr>
          <p:nvPr>
            <p:ph type="title"/>
          </p:nvPr>
        </p:nvSpPr>
        <p:spPr>
          <a:prstGeom prst="rect">
            <a:avLst/>
          </a:prstGeom>
        </p:spPr>
        <p:txBody>
          <a:bodyPr/>
          <a:lstStyle>
            <a:lvl1pPr defTabSz="905255">
              <a:defRPr sz="3564" spc="-99"/>
            </a:lvl1pPr>
          </a:lstStyle>
          <a:p>
            <a:r>
              <a:rPr lang="en-US" dirty="0"/>
              <a:t>Traffic flow in a </a:t>
            </a:r>
            <a:r>
              <a:rPr lang="en-US" dirty="0" err="1"/>
              <a:t>VNet</a:t>
            </a:r>
            <a:endParaRPr dirty="0"/>
          </a:p>
        </p:txBody>
      </p:sp>
      <p:sp>
        <p:nvSpPr>
          <p:cNvPr id="415" name="Slide Number Placeholder 4"/>
          <p:cNvSpPr txBox="1">
            <a:spLocks noGrp="1"/>
          </p:cNvSpPr>
          <p:nvPr>
            <p:ph type="sldNum" sz="quarter" idx="12"/>
          </p:nvPr>
        </p:nvSpPr>
        <p:spPr>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D1282E"/>
                </a:solidFill>
                <a:effectLst/>
                <a:uFillTx/>
                <a:latin typeface="Arial"/>
                <a:ea typeface="Arial"/>
                <a:cs typeface="Arial"/>
                <a:sym typeface="Arial"/>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n-US" smtClean="0"/>
              <a:pPr/>
              <a:t>9</a:t>
            </a:fld>
            <a:endParaRPr/>
          </a:p>
        </p:txBody>
      </p:sp>
      <p:sp>
        <p:nvSpPr>
          <p:cNvPr id="5" name="Path72">
            <a:extLst>
              <a:ext uri="{FF2B5EF4-FFF2-40B4-BE49-F238E27FC236}">
                <a16:creationId xmlns:a16="http://schemas.microsoft.com/office/drawing/2014/main" id="{4B30C7DB-C8AC-2145-9861-353091EE435D}"/>
              </a:ext>
            </a:extLst>
          </p:cNvPr>
          <p:cNvSpPr/>
          <p:nvPr/>
        </p:nvSpPr>
        <p:spPr>
          <a:xfrm>
            <a:off x="0" y="0"/>
            <a:ext cx="0" cy="0"/>
          </a:xfrm>
          <a:custGeom>
            <a:avLst/>
            <a:gdLst/>
            <a:ahLst/>
            <a:cxnLst/>
            <a:rect l="l" t="t" r="r" b="b"/>
            <a:pathLst>
              <a:path/>
            </a:pathLst>
          </a:custGeom>
          <a:solidFill/>
          <a:ln>
            <a:solidFill/>
            <a:prstDash/>
          </a:ln>
        </p:spPr>
        <p:txBody>
          <a:bodyPr rtlCol="0" anchor="ctr"/>
          <a:lstStyle/>
          <a:p>
            <a:pPr algn="ctr"/>
            <a:endParaRPr lang="en-US" altLang="zh-CN"/>
          </a:p>
        </p:txBody>
      </p:sp>
      <p:grpSp>
        <p:nvGrpSpPr>
          <p:cNvPr id="2" name="Group 1">
            <a:extLst>
              <a:ext uri="{FF2B5EF4-FFF2-40B4-BE49-F238E27FC236}">
                <a16:creationId xmlns:a16="http://schemas.microsoft.com/office/drawing/2014/main" id="{79A7967D-ECD1-5C3B-0C49-7FAA079F8832}"/>
              </a:ext>
            </a:extLst>
          </p:cNvPr>
          <p:cNvGrpSpPr/>
          <p:nvPr/>
        </p:nvGrpSpPr>
        <p:grpSpPr>
          <a:xfrm>
            <a:off x="1385235" y="1546181"/>
            <a:ext cx="9539134" cy="3492095"/>
            <a:chOff x="820431" y="2003382"/>
            <a:chExt cx="7608357" cy="2872132"/>
          </a:xfrm>
        </p:grpSpPr>
        <p:grpSp>
          <p:nvGrpSpPr>
            <p:cNvPr id="3" name="Group 2">
              <a:extLst>
                <a:ext uri="{FF2B5EF4-FFF2-40B4-BE49-F238E27FC236}">
                  <a16:creationId xmlns:a16="http://schemas.microsoft.com/office/drawing/2014/main" id="{292F4583-E931-3B63-42D4-4404BA72AD16}"/>
                </a:ext>
              </a:extLst>
            </p:cNvPr>
            <p:cNvGrpSpPr/>
            <p:nvPr/>
          </p:nvGrpSpPr>
          <p:grpSpPr>
            <a:xfrm>
              <a:off x="3604505" y="2003382"/>
              <a:ext cx="920663" cy="1362205"/>
              <a:chOff x="3250504" y="1446756"/>
              <a:chExt cx="920663" cy="1362205"/>
            </a:xfrm>
          </p:grpSpPr>
          <p:sp>
            <p:nvSpPr>
              <p:cNvPr id="29" name="Rounded Rectangle 1">
                <a:extLst>
                  <a:ext uri="{FF2B5EF4-FFF2-40B4-BE49-F238E27FC236}">
                    <a16:creationId xmlns:a16="http://schemas.microsoft.com/office/drawing/2014/main" id="{2F691583-AD62-CDCA-E926-2AA29A49C087}"/>
                  </a:ext>
                </a:extLst>
              </p:cNvPr>
              <p:cNvSpPr/>
              <p:nvPr/>
            </p:nvSpPr>
            <p:spPr>
              <a:xfrm>
                <a:off x="3250504" y="1446756"/>
                <a:ext cx="920663" cy="1362205"/>
              </a:xfrm>
              <a:custGeom>
                <a:avLst/>
                <a:gdLst/>
                <a:ahLst/>
                <a:cxnLst/>
                <a:rect l="0" t="0" r="0" b="0"/>
                <a:pathLst>
                  <a:path w="920663" h="1362205">
                    <a:moveTo>
                      <a:pt x="920663" y="0"/>
                    </a:moveTo>
                    <a:lnTo>
                      <a:pt x="920663" y="1362205"/>
                    </a:lnTo>
                    <a:lnTo>
                      <a:pt x="0" y="1362205"/>
                    </a:lnTo>
                    <a:lnTo>
                      <a:pt x="0" y="0"/>
                    </a:lnTo>
                    <a:close/>
                  </a:path>
                </a:pathLst>
              </a:custGeom>
              <a:solidFill>
                <a:srgbClr val="E2A3FF"/>
              </a:solidFill>
              <a:ln>
                <a:noFill/>
              </a:ln>
            </p:spPr>
            <p:txBody>
              <a:bodyPr rtlCol="0" anchor="ctr"/>
              <a:lstStyle/>
              <a:p>
                <a:pPr algn="ctr"/>
                <a:endParaRPr sz="12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30" name="Rounded Rectangle 2">
                <a:extLst>
                  <a:ext uri="{FF2B5EF4-FFF2-40B4-BE49-F238E27FC236}">
                    <a16:creationId xmlns:a16="http://schemas.microsoft.com/office/drawing/2014/main" id="{D2E85318-4588-95B9-9A2E-A243470BA628}"/>
                  </a:ext>
                </a:extLst>
              </p:cNvPr>
              <p:cNvSpPr/>
              <p:nvPr/>
            </p:nvSpPr>
            <p:spPr>
              <a:xfrm>
                <a:off x="3250504" y="1446756"/>
                <a:ext cx="920663" cy="1362205"/>
              </a:xfrm>
              <a:custGeom>
                <a:avLst/>
                <a:gdLst/>
                <a:ahLst/>
                <a:cxnLst/>
                <a:rect l="0" t="0" r="0" b="0"/>
                <a:pathLst>
                  <a:path w="920663" h="1362205">
                    <a:moveTo>
                      <a:pt x="920663" y="0"/>
                    </a:moveTo>
                    <a:lnTo>
                      <a:pt x="920663" y="1362205"/>
                    </a:lnTo>
                    <a:lnTo>
                      <a:pt x="0" y="1362205"/>
                    </a:lnTo>
                    <a:lnTo>
                      <a:pt x="0" y="0"/>
                    </a:lnTo>
                    <a:close/>
                  </a:path>
                </a:pathLst>
              </a:custGeom>
              <a:noFill/>
              <a:ln w="14091">
                <a:solidFill>
                  <a:srgbClr val="FFFFFF"/>
                </a:solidFill>
              </a:ln>
            </p:spPr>
            <p:txBody>
              <a:bodyPr rtlCol="0" anchor="ctr"/>
              <a:lstStyle/>
              <a:p>
                <a:pPr algn="ctr"/>
                <a:endParaRPr sz="12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grpSp>
        <p:grpSp>
          <p:nvGrpSpPr>
            <p:cNvPr id="4" name="Group 3">
              <a:extLst>
                <a:ext uri="{FF2B5EF4-FFF2-40B4-BE49-F238E27FC236}">
                  <a16:creationId xmlns:a16="http://schemas.microsoft.com/office/drawing/2014/main" id="{4010C32D-5F57-EB49-F3DA-43DED3E8DC45}"/>
                </a:ext>
              </a:extLst>
            </p:cNvPr>
            <p:cNvGrpSpPr/>
            <p:nvPr/>
          </p:nvGrpSpPr>
          <p:grpSpPr>
            <a:xfrm>
              <a:off x="4525168" y="3365587"/>
              <a:ext cx="920663" cy="1362205"/>
              <a:chOff x="4171167" y="2808961"/>
              <a:chExt cx="920663" cy="1362205"/>
            </a:xfrm>
          </p:grpSpPr>
          <p:sp>
            <p:nvSpPr>
              <p:cNvPr id="27" name="Rounded Rectangle 4">
                <a:extLst>
                  <a:ext uri="{FF2B5EF4-FFF2-40B4-BE49-F238E27FC236}">
                    <a16:creationId xmlns:a16="http://schemas.microsoft.com/office/drawing/2014/main" id="{7ABCBA4A-3B59-4734-9FC8-EC702446B39E}"/>
                  </a:ext>
                </a:extLst>
              </p:cNvPr>
              <p:cNvSpPr/>
              <p:nvPr/>
            </p:nvSpPr>
            <p:spPr>
              <a:xfrm>
                <a:off x="4171167" y="2808961"/>
                <a:ext cx="920663" cy="1362205"/>
              </a:xfrm>
              <a:custGeom>
                <a:avLst/>
                <a:gdLst/>
                <a:ahLst/>
                <a:cxnLst/>
                <a:rect l="0" t="0" r="0" b="0"/>
                <a:pathLst>
                  <a:path w="920663" h="1362205">
                    <a:moveTo>
                      <a:pt x="920663" y="0"/>
                    </a:moveTo>
                    <a:lnTo>
                      <a:pt x="920663" y="1362205"/>
                    </a:lnTo>
                    <a:lnTo>
                      <a:pt x="0" y="1362205"/>
                    </a:lnTo>
                    <a:lnTo>
                      <a:pt x="0" y="0"/>
                    </a:lnTo>
                    <a:close/>
                  </a:path>
                </a:pathLst>
              </a:custGeom>
              <a:solidFill>
                <a:srgbClr val="AF58D7"/>
              </a:solidFill>
              <a:ln>
                <a:noFill/>
              </a:ln>
            </p:spPr>
            <p:txBody>
              <a:bodyPr rtlCol="0" anchor="ctr"/>
              <a:lstStyle/>
              <a:p>
                <a:pPr algn="ctr"/>
                <a:endParaRPr sz="12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28" name="Rounded Rectangle 5">
                <a:extLst>
                  <a:ext uri="{FF2B5EF4-FFF2-40B4-BE49-F238E27FC236}">
                    <a16:creationId xmlns:a16="http://schemas.microsoft.com/office/drawing/2014/main" id="{E117F6B8-85DB-2045-FFBB-E325A1DE6559}"/>
                  </a:ext>
                </a:extLst>
              </p:cNvPr>
              <p:cNvSpPr/>
              <p:nvPr/>
            </p:nvSpPr>
            <p:spPr>
              <a:xfrm>
                <a:off x="4171167" y="2808961"/>
                <a:ext cx="920663" cy="1362205"/>
              </a:xfrm>
              <a:custGeom>
                <a:avLst/>
                <a:gdLst/>
                <a:ahLst/>
                <a:cxnLst/>
                <a:rect l="0" t="0" r="0" b="0"/>
                <a:pathLst>
                  <a:path w="920663" h="1362205">
                    <a:moveTo>
                      <a:pt x="920663" y="0"/>
                    </a:moveTo>
                    <a:lnTo>
                      <a:pt x="920663" y="1362205"/>
                    </a:lnTo>
                    <a:lnTo>
                      <a:pt x="0" y="1362205"/>
                    </a:lnTo>
                    <a:lnTo>
                      <a:pt x="0" y="0"/>
                    </a:lnTo>
                    <a:close/>
                  </a:path>
                </a:pathLst>
              </a:custGeom>
              <a:noFill/>
              <a:ln w="14091">
                <a:solidFill>
                  <a:srgbClr val="FFFFFF"/>
                </a:solidFill>
              </a:ln>
            </p:spPr>
            <p:txBody>
              <a:bodyPr rtlCol="0" anchor="ctr"/>
              <a:lstStyle/>
              <a:p>
                <a:pPr algn="ctr"/>
                <a:endParaRPr sz="12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grpSp>
        <p:grpSp>
          <p:nvGrpSpPr>
            <p:cNvPr id="7" name="Group 6">
              <a:extLst>
                <a:ext uri="{FF2B5EF4-FFF2-40B4-BE49-F238E27FC236}">
                  <a16:creationId xmlns:a16="http://schemas.microsoft.com/office/drawing/2014/main" id="{7DB52CCB-F9E9-C2B7-A468-BDDDF3C7C876}"/>
                </a:ext>
              </a:extLst>
            </p:cNvPr>
            <p:cNvGrpSpPr/>
            <p:nvPr/>
          </p:nvGrpSpPr>
          <p:grpSpPr>
            <a:xfrm>
              <a:off x="3162962" y="3365587"/>
              <a:ext cx="1362205" cy="920663"/>
              <a:chOff x="2808961" y="2808961"/>
              <a:chExt cx="1362205" cy="920663"/>
            </a:xfrm>
          </p:grpSpPr>
          <p:sp>
            <p:nvSpPr>
              <p:cNvPr id="25" name="Rounded Rectangle 7">
                <a:extLst>
                  <a:ext uri="{FF2B5EF4-FFF2-40B4-BE49-F238E27FC236}">
                    <a16:creationId xmlns:a16="http://schemas.microsoft.com/office/drawing/2014/main" id="{FADD7C80-B8BD-EDD9-1169-64B40BF89A8D}"/>
                  </a:ext>
                </a:extLst>
              </p:cNvPr>
              <p:cNvSpPr/>
              <p:nvPr/>
            </p:nvSpPr>
            <p:spPr>
              <a:xfrm>
                <a:off x="2808961" y="2808961"/>
                <a:ext cx="1362205" cy="920663"/>
              </a:xfrm>
              <a:custGeom>
                <a:avLst/>
                <a:gdLst/>
                <a:ahLst/>
                <a:cxnLst/>
                <a:rect l="0" t="0" r="0" b="0"/>
                <a:pathLst>
                  <a:path w="1362205" h="920663">
                    <a:moveTo>
                      <a:pt x="1362205" y="920663"/>
                    </a:moveTo>
                    <a:lnTo>
                      <a:pt x="0" y="920663"/>
                    </a:lnTo>
                    <a:lnTo>
                      <a:pt x="0" y="0"/>
                    </a:lnTo>
                    <a:lnTo>
                      <a:pt x="1362205" y="0"/>
                    </a:lnTo>
                    <a:close/>
                  </a:path>
                </a:pathLst>
              </a:custGeom>
              <a:solidFill>
                <a:srgbClr val="C866F6"/>
              </a:solidFill>
              <a:ln>
                <a:noFill/>
              </a:ln>
            </p:spPr>
            <p:txBody>
              <a:bodyPr rtlCol="0" anchor="ctr"/>
              <a:lstStyle/>
              <a:p>
                <a:pPr algn="ctr"/>
                <a:endParaRPr sz="12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26" name="Rounded Rectangle 8">
                <a:extLst>
                  <a:ext uri="{FF2B5EF4-FFF2-40B4-BE49-F238E27FC236}">
                    <a16:creationId xmlns:a16="http://schemas.microsoft.com/office/drawing/2014/main" id="{6F8385AB-0383-6018-BC8F-4C602A8B0B2F}"/>
                  </a:ext>
                </a:extLst>
              </p:cNvPr>
              <p:cNvSpPr/>
              <p:nvPr/>
            </p:nvSpPr>
            <p:spPr>
              <a:xfrm>
                <a:off x="2808961" y="2808961"/>
                <a:ext cx="1362205" cy="920663"/>
              </a:xfrm>
              <a:custGeom>
                <a:avLst/>
                <a:gdLst/>
                <a:ahLst/>
                <a:cxnLst/>
                <a:rect l="0" t="0" r="0" b="0"/>
                <a:pathLst>
                  <a:path w="1362205" h="920663">
                    <a:moveTo>
                      <a:pt x="1362205" y="920663"/>
                    </a:moveTo>
                    <a:lnTo>
                      <a:pt x="0" y="920663"/>
                    </a:lnTo>
                    <a:lnTo>
                      <a:pt x="0" y="0"/>
                    </a:lnTo>
                    <a:lnTo>
                      <a:pt x="1362205" y="0"/>
                    </a:lnTo>
                    <a:close/>
                  </a:path>
                </a:pathLst>
              </a:custGeom>
              <a:noFill/>
              <a:ln w="14091">
                <a:solidFill>
                  <a:srgbClr val="FFFFFF"/>
                </a:solidFill>
              </a:ln>
            </p:spPr>
            <p:txBody>
              <a:bodyPr rtlCol="0" anchor="ctr"/>
              <a:lstStyle/>
              <a:p>
                <a:pPr algn="ctr"/>
                <a:endParaRPr sz="12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grpSp>
        <p:grpSp>
          <p:nvGrpSpPr>
            <p:cNvPr id="10" name="Group 9">
              <a:extLst>
                <a:ext uri="{FF2B5EF4-FFF2-40B4-BE49-F238E27FC236}">
                  <a16:creationId xmlns:a16="http://schemas.microsoft.com/office/drawing/2014/main" id="{1FAB8915-8AFB-D95F-09C7-9AE4B3B3785D}"/>
                </a:ext>
              </a:extLst>
            </p:cNvPr>
            <p:cNvGrpSpPr/>
            <p:nvPr/>
          </p:nvGrpSpPr>
          <p:grpSpPr>
            <a:xfrm>
              <a:off x="4525168" y="2444924"/>
              <a:ext cx="1362205" cy="920663"/>
              <a:chOff x="4171167" y="1888298"/>
              <a:chExt cx="1362205" cy="920663"/>
            </a:xfrm>
          </p:grpSpPr>
          <p:sp>
            <p:nvSpPr>
              <p:cNvPr id="23" name="Rounded Rectangle 10">
                <a:extLst>
                  <a:ext uri="{FF2B5EF4-FFF2-40B4-BE49-F238E27FC236}">
                    <a16:creationId xmlns:a16="http://schemas.microsoft.com/office/drawing/2014/main" id="{54750EEC-D002-B2D2-6BFD-E419B397A93A}"/>
                  </a:ext>
                </a:extLst>
              </p:cNvPr>
              <p:cNvSpPr/>
              <p:nvPr/>
            </p:nvSpPr>
            <p:spPr>
              <a:xfrm>
                <a:off x="4171167" y="1888298"/>
                <a:ext cx="1362205" cy="920663"/>
              </a:xfrm>
              <a:custGeom>
                <a:avLst/>
                <a:gdLst/>
                <a:ahLst/>
                <a:cxnLst/>
                <a:rect l="0" t="0" r="0" b="0"/>
                <a:pathLst>
                  <a:path w="1362205" h="920663">
                    <a:moveTo>
                      <a:pt x="1362205" y="920663"/>
                    </a:moveTo>
                    <a:lnTo>
                      <a:pt x="0" y="920663"/>
                    </a:lnTo>
                    <a:lnTo>
                      <a:pt x="0" y="0"/>
                    </a:lnTo>
                    <a:lnTo>
                      <a:pt x="1362205" y="0"/>
                    </a:lnTo>
                    <a:close/>
                  </a:path>
                </a:pathLst>
              </a:custGeom>
              <a:solidFill>
                <a:srgbClr val="8448A0"/>
              </a:solidFill>
              <a:ln>
                <a:noFill/>
              </a:ln>
            </p:spPr>
            <p:txBody>
              <a:bodyPr rtlCol="0" anchor="ctr"/>
              <a:lstStyle/>
              <a:p>
                <a:pPr algn="ctr"/>
                <a:endParaRPr sz="12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24" name="Rounded Rectangle 11">
                <a:extLst>
                  <a:ext uri="{FF2B5EF4-FFF2-40B4-BE49-F238E27FC236}">
                    <a16:creationId xmlns:a16="http://schemas.microsoft.com/office/drawing/2014/main" id="{6A18A63B-E043-C936-7A3E-D49BD52398EA}"/>
                  </a:ext>
                </a:extLst>
              </p:cNvPr>
              <p:cNvSpPr/>
              <p:nvPr/>
            </p:nvSpPr>
            <p:spPr>
              <a:xfrm>
                <a:off x="4171167" y="1888298"/>
                <a:ext cx="1362205" cy="920663"/>
              </a:xfrm>
              <a:custGeom>
                <a:avLst/>
                <a:gdLst/>
                <a:ahLst/>
                <a:cxnLst/>
                <a:rect l="0" t="0" r="0" b="0"/>
                <a:pathLst>
                  <a:path w="1362205" h="920663">
                    <a:moveTo>
                      <a:pt x="1362205" y="920663"/>
                    </a:moveTo>
                    <a:lnTo>
                      <a:pt x="0" y="920663"/>
                    </a:lnTo>
                    <a:lnTo>
                      <a:pt x="0" y="0"/>
                    </a:lnTo>
                    <a:lnTo>
                      <a:pt x="1362205" y="0"/>
                    </a:lnTo>
                    <a:close/>
                  </a:path>
                </a:pathLst>
              </a:custGeom>
              <a:noFill/>
              <a:ln w="14091">
                <a:solidFill>
                  <a:srgbClr val="FFFFFF"/>
                </a:solidFill>
              </a:ln>
            </p:spPr>
            <p:txBody>
              <a:bodyPr rtlCol="0" anchor="ctr"/>
              <a:lstStyle/>
              <a:p>
                <a:pPr algn="ctr"/>
                <a:endParaRPr sz="12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grpSp>
        <p:sp>
          <p:nvSpPr>
            <p:cNvPr id="11" name="TextBox 10">
              <a:extLst>
                <a:ext uri="{FF2B5EF4-FFF2-40B4-BE49-F238E27FC236}">
                  <a16:creationId xmlns:a16="http://schemas.microsoft.com/office/drawing/2014/main" id="{92B57E89-DE94-C5E7-E0AF-87F563231746}"/>
                </a:ext>
              </a:extLst>
            </p:cNvPr>
            <p:cNvSpPr txBox="1"/>
            <p:nvPr/>
          </p:nvSpPr>
          <p:spPr>
            <a:xfrm>
              <a:off x="1308624" y="2266428"/>
              <a:ext cx="1121285" cy="177195"/>
            </a:xfrm>
            <a:prstGeom prst="rect">
              <a:avLst/>
            </a:prstGeom>
            <a:noFill/>
            <a:ln>
              <a:noFill/>
            </a:ln>
          </p:spPr>
          <p:txBody>
            <a:bodyPr wrap="none" lIns="0" tIns="0" rIns="0" bIns="0" anchor="t">
              <a:spAutoFit/>
            </a:bodyPr>
            <a:lstStyle/>
            <a:p>
              <a:pPr algn="r"/>
              <a:r>
                <a:rPr sz="1400" b="1" dirty="0">
                  <a:solidFill>
                    <a:srgbClr val="484848"/>
                  </a:solidFill>
                  <a:latin typeface="Nirmala UI Semilight" panose="020B0402040204020203" pitchFamily="34" charset="0"/>
                  <a:ea typeface="Nirmala UI Semilight" panose="020B0402040204020203" pitchFamily="34" charset="0"/>
                  <a:cs typeface="Nirmala UI Semilight" panose="020B0402040204020203" pitchFamily="34" charset="0"/>
                </a:rPr>
                <a:t>VPN/ExpressRoute</a:t>
              </a:r>
            </a:p>
          </p:txBody>
        </p:sp>
        <p:sp>
          <p:nvSpPr>
            <p:cNvPr id="12" name="TextBox 11">
              <a:extLst>
                <a:ext uri="{FF2B5EF4-FFF2-40B4-BE49-F238E27FC236}">
                  <a16:creationId xmlns:a16="http://schemas.microsoft.com/office/drawing/2014/main" id="{1E92A4DA-1B6C-0E1C-09C3-A1B3F9635354}"/>
                </a:ext>
              </a:extLst>
            </p:cNvPr>
            <p:cNvSpPr txBox="1"/>
            <p:nvPr/>
          </p:nvSpPr>
          <p:spPr>
            <a:xfrm>
              <a:off x="6798642" y="2266428"/>
              <a:ext cx="805484" cy="202509"/>
            </a:xfrm>
            <a:prstGeom prst="rect">
              <a:avLst/>
            </a:prstGeom>
            <a:noFill/>
            <a:ln>
              <a:noFill/>
            </a:ln>
          </p:spPr>
          <p:txBody>
            <a:bodyPr wrap="none" lIns="0" tIns="0" rIns="0" bIns="0" anchor="t">
              <a:spAutoFit/>
            </a:bodyPr>
            <a:lstStyle/>
            <a:p>
              <a:pPr algn="l"/>
              <a:r>
                <a:rPr sz="1600" b="1" dirty="0">
                  <a:solidFill>
                    <a:srgbClr val="484848"/>
                  </a:solidFill>
                  <a:latin typeface="Nirmala UI Semilight" panose="020B0402040204020203" pitchFamily="34" charset="0"/>
                  <a:ea typeface="Nirmala UI Semilight" panose="020B0402040204020203" pitchFamily="34" charset="0"/>
                  <a:cs typeface="Nirmala UI Semilight" panose="020B0402040204020203" pitchFamily="34" charset="0"/>
                </a:rPr>
                <a:t>Same VNET</a:t>
              </a:r>
            </a:p>
          </p:txBody>
        </p:sp>
        <p:sp>
          <p:nvSpPr>
            <p:cNvPr id="13" name="TextBox 12">
              <a:extLst>
                <a:ext uri="{FF2B5EF4-FFF2-40B4-BE49-F238E27FC236}">
                  <a16:creationId xmlns:a16="http://schemas.microsoft.com/office/drawing/2014/main" id="{A88BAC2D-432A-58C2-E1C4-4B415D01CB60}"/>
                </a:ext>
              </a:extLst>
            </p:cNvPr>
            <p:cNvSpPr txBox="1"/>
            <p:nvPr/>
          </p:nvSpPr>
          <p:spPr>
            <a:xfrm>
              <a:off x="1054842" y="2599934"/>
              <a:ext cx="1359095" cy="810035"/>
            </a:xfrm>
            <a:prstGeom prst="rect">
              <a:avLst/>
            </a:prstGeom>
            <a:noFill/>
            <a:ln>
              <a:noFill/>
            </a:ln>
          </p:spPr>
          <p:txBody>
            <a:bodyPr wrap="none" lIns="0" tIns="0" rIns="0" bIns="0" anchor="t">
              <a:spAutoFit/>
            </a:bodyPr>
            <a:lstStyle/>
            <a:p>
              <a:pPr algn="r"/>
              <a:r>
                <a:rPr sz="1600" b="0" dirty="0">
                  <a:solidFill>
                    <a:srgbClr val="484848"/>
                  </a:solidFill>
                  <a:latin typeface="Nirmala UI Semilight" panose="020B0402040204020203" pitchFamily="34" charset="0"/>
                  <a:ea typeface="Nirmala UI Semilight" panose="020B0402040204020203" pitchFamily="34" charset="0"/>
                  <a:cs typeface="Nirmala UI Semilight" panose="020B0402040204020203" pitchFamily="34" charset="0"/>
                </a:rPr>
                <a:t>Communication is
possible via VPN or
ExpressRoute
connections.</a:t>
              </a:r>
            </a:p>
          </p:txBody>
        </p:sp>
        <p:sp>
          <p:nvSpPr>
            <p:cNvPr id="14" name="TextBox 13">
              <a:extLst>
                <a:ext uri="{FF2B5EF4-FFF2-40B4-BE49-F238E27FC236}">
                  <a16:creationId xmlns:a16="http://schemas.microsoft.com/office/drawing/2014/main" id="{1A72CC01-C086-7633-ED53-9DF3FD28F9FA}"/>
                </a:ext>
              </a:extLst>
            </p:cNvPr>
            <p:cNvSpPr txBox="1"/>
            <p:nvPr/>
          </p:nvSpPr>
          <p:spPr>
            <a:xfrm>
              <a:off x="6798642" y="2628117"/>
              <a:ext cx="1630146" cy="607526"/>
            </a:xfrm>
            <a:prstGeom prst="rect">
              <a:avLst/>
            </a:prstGeom>
            <a:noFill/>
            <a:ln>
              <a:noFill/>
            </a:ln>
          </p:spPr>
          <p:txBody>
            <a:bodyPr wrap="none" lIns="0" tIns="0" rIns="0" bIns="0" anchor="t">
              <a:spAutoFit/>
            </a:bodyPr>
            <a:lstStyle/>
            <a:p>
              <a:pPr algn="l"/>
              <a:r>
                <a:rPr sz="1600" b="0" dirty="0">
                  <a:solidFill>
                    <a:srgbClr val="484848"/>
                  </a:solidFill>
                  <a:latin typeface="Nirmala UI Semilight" panose="020B0402040204020203" pitchFamily="34" charset="0"/>
                  <a:ea typeface="Nirmala UI Semilight" panose="020B0402040204020203" pitchFamily="34" charset="0"/>
                  <a:cs typeface="Nirmala UI Semilight" panose="020B0402040204020203" pitchFamily="34" charset="0"/>
                </a:rPr>
                <a:t>VMs within the same
virtual network subnets
can communicate.</a:t>
              </a:r>
            </a:p>
          </p:txBody>
        </p:sp>
        <p:sp>
          <p:nvSpPr>
            <p:cNvPr id="15" name="TextBox 14">
              <a:extLst>
                <a:ext uri="{FF2B5EF4-FFF2-40B4-BE49-F238E27FC236}">
                  <a16:creationId xmlns:a16="http://schemas.microsoft.com/office/drawing/2014/main" id="{4D0D06BF-234A-4409-B177-DDCFD44C136D}"/>
                </a:ext>
              </a:extLst>
            </p:cNvPr>
            <p:cNvSpPr txBox="1"/>
            <p:nvPr/>
          </p:nvSpPr>
          <p:spPr>
            <a:xfrm>
              <a:off x="1316758" y="3731973"/>
              <a:ext cx="1044572" cy="202509"/>
            </a:xfrm>
            <a:prstGeom prst="rect">
              <a:avLst/>
            </a:prstGeom>
            <a:noFill/>
            <a:ln>
              <a:noFill/>
            </a:ln>
          </p:spPr>
          <p:txBody>
            <a:bodyPr wrap="none" lIns="0" tIns="0" rIns="0" bIns="0" anchor="t">
              <a:spAutoFit/>
            </a:bodyPr>
            <a:lstStyle/>
            <a:p>
              <a:pPr algn="r"/>
              <a:r>
                <a:rPr sz="1600" b="1" dirty="0">
                  <a:solidFill>
                    <a:srgbClr val="484848"/>
                  </a:solidFill>
                  <a:latin typeface="Nirmala UI Semilight" panose="020B0402040204020203" pitchFamily="34" charset="0"/>
                  <a:ea typeface="Nirmala UI Semilight" panose="020B0402040204020203" pitchFamily="34" charset="0"/>
                  <a:cs typeface="Nirmala UI Semilight" panose="020B0402040204020203" pitchFamily="34" charset="0"/>
                </a:rPr>
                <a:t>Internet Access</a:t>
              </a:r>
            </a:p>
          </p:txBody>
        </p:sp>
        <p:sp>
          <p:nvSpPr>
            <p:cNvPr id="16" name="TextBox 15">
              <a:extLst>
                <a:ext uri="{FF2B5EF4-FFF2-40B4-BE49-F238E27FC236}">
                  <a16:creationId xmlns:a16="http://schemas.microsoft.com/office/drawing/2014/main" id="{8F3E7338-4665-567E-F6D6-97EC39F124CF}"/>
                </a:ext>
              </a:extLst>
            </p:cNvPr>
            <p:cNvSpPr txBox="1"/>
            <p:nvPr/>
          </p:nvSpPr>
          <p:spPr>
            <a:xfrm>
              <a:off x="6798642" y="3731973"/>
              <a:ext cx="972974" cy="202509"/>
            </a:xfrm>
            <a:prstGeom prst="rect">
              <a:avLst/>
            </a:prstGeom>
            <a:noFill/>
            <a:ln>
              <a:noFill/>
            </a:ln>
          </p:spPr>
          <p:txBody>
            <a:bodyPr wrap="none" lIns="0" tIns="0" rIns="0" bIns="0" anchor="t">
              <a:spAutoFit/>
            </a:bodyPr>
            <a:lstStyle/>
            <a:p>
              <a:pPr algn="l"/>
              <a:r>
                <a:rPr sz="1600" b="1" dirty="0">
                  <a:solidFill>
                    <a:srgbClr val="484848"/>
                  </a:solidFill>
                  <a:latin typeface="Nirmala UI Semilight" panose="020B0402040204020203" pitchFamily="34" charset="0"/>
                  <a:ea typeface="Nirmala UI Semilight" panose="020B0402040204020203" pitchFamily="34" charset="0"/>
                  <a:cs typeface="Nirmala UI Semilight" panose="020B0402040204020203" pitchFamily="34" charset="0"/>
                </a:rPr>
                <a:t>Peered VNETs</a:t>
              </a:r>
            </a:p>
          </p:txBody>
        </p:sp>
        <p:sp>
          <p:nvSpPr>
            <p:cNvPr id="17" name="TextBox 16">
              <a:extLst>
                <a:ext uri="{FF2B5EF4-FFF2-40B4-BE49-F238E27FC236}">
                  <a16:creationId xmlns:a16="http://schemas.microsoft.com/office/drawing/2014/main" id="{94D6F680-AB13-3D5D-E9D3-1301F572C10A}"/>
                </a:ext>
              </a:extLst>
            </p:cNvPr>
            <p:cNvSpPr txBox="1"/>
            <p:nvPr/>
          </p:nvSpPr>
          <p:spPr>
            <a:xfrm>
              <a:off x="820431" y="4093662"/>
              <a:ext cx="1734987" cy="607526"/>
            </a:xfrm>
            <a:prstGeom prst="rect">
              <a:avLst/>
            </a:prstGeom>
            <a:noFill/>
            <a:ln>
              <a:noFill/>
            </a:ln>
          </p:spPr>
          <p:txBody>
            <a:bodyPr wrap="none" lIns="0" tIns="0" rIns="0" bIns="0" anchor="t">
              <a:spAutoFit/>
            </a:bodyPr>
            <a:lstStyle/>
            <a:p>
              <a:pPr algn="r"/>
              <a:r>
                <a:rPr sz="1600" b="0" dirty="0">
                  <a:solidFill>
                    <a:srgbClr val="484848"/>
                  </a:solidFill>
                  <a:latin typeface="Nirmala UI Semilight" panose="020B0402040204020203" pitchFamily="34" charset="0"/>
                  <a:ea typeface="Nirmala UI Semilight" panose="020B0402040204020203" pitchFamily="34" charset="0"/>
                  <a:cs typeface="Nirmala UI Semilight" panose="020B0402040204020203" pitchFamily="34" charset="0"/>
                </a:rPr>
                <a:t>VMs have default
outbound access to
anything on the internet.</a:t>
              </a:r>
            </a:p>
          </p:txBody>
        </p:sp>
        <p:sp>
          <p:nvSpPr>
            <p:cNvPr id="18" name="TextBox 17">
              <a:extLst>
                <a:ext uri="{FF2B5EF4-FFF2-40B4-BE49-F238E27FC236}">
                  <a16:creationId xmlns:a16="http://schemas.microsoft.com/office/drawing/2014/main" id="{B2A2169D-787C-766A-4CD0-65424DC5AA3B}"/>
                </a:ext>
              </a:extLst>
            </p:cNvPr>
            <p:cNvSpPr txBox="1"/>
            <p:nvPr/>
          </p:nvSpPr>
          <p:spPr>
            <a:xfrm>
              <a:off x="6798642" y="4065479"/>
              <a:ext cx="1495898" cy="810035"/>
            </a:xfrm>
            <a:prstGeom prst="rect">
              <a:avLst/>
            </a:prstGeom>
            <a:noFill/>
            <a:ln>
              <a:noFill/>
            </a:ln>
          </p:spPr>
          <p:txBody>
            <a:bodyPr wrap="none" lIns="0" tIns="0" rIns="0" bIns="0" anchor="t">
              <a:spAutoFit/>
            </a:bodyPr>
            <a:lstStyle/>
            <a:p>
              <a:pPr algn="l"/>
              <a:r>
                <a:rPr sz="1600" b="0" dirty="0">
                  <a:solidFill>
                    <a:srgbClr val="484848"/>
                  </a:solidFill>
                  <a:latin typeface="Nirmala UI Semilight" panose="020B0402040204020203" pitchFamily="34" charset="0"/>
                  <a:ea typeface="Nirmala UI Semilight" panose="020B0402040204020203" pitchFamily="34" charset="0"/>
                  <a:cs typeface="Nirmala UI Semilight" panose="020B0402040204020203" pitchFamily="34" charset="0"/>
                </a:rPr>
                <a:t>VMs in peered virtual
networks across
subnets are able to
communicate.</a:t>
              </a:r>
            </a:p>
          </p:txBody>
        </p:sp>
        <p:sp>
          <p:nvSpPr>
            <p:cNvPr id="19" name="Rounded Rectangle 21">
              <a:extLst>
                <a:ext uri="{FF2B5EF4-FFF2-40B4-BE49-F238E27FC236}">
                  <a16:creationId xmlns:a16="http://schemas.microsoft.com/office/drawing/2014/main" id="{207C31FA-A29A-A0C3-2A94-F5659EF753F2}"/>
                </a:ext>
              </a:extLst>
            </p:cNvPr>
            <p:cNvSpPr/>
            <p:nvPr/>
          </p:nvSpPr>
          <p:spPr>
            <a:xfrm>
              <a:off x="2495951" y="2247639"/>
              <a:ext cx="436845" cy="436845"/>
            </a:xfrm>
            <a:custGeom>
              <a:avLst/>
              <a:gdLst/>
              <a:ahLst/>
              <a:cxnLst/>
              <a:rect l="0" t="0" r="0" b="0"/>
              <a:pathLst>
                <a:path w="436845" h="436845">
                  <a:moveTo>
                    <a:pt x="14091" y="225468"/>
                  </a:moveTo>
                  <a:cubicBezTo>
                    <a:pt x="14091" y="108728"/>
                    <a:pt x="108728" y="14091"/>
                    <a:pt x="225468" y="14091"/>
                  </a:cubicBezTo>
                  <a:cubicBezTo>
                    <a:pt x="342208" y="14091"/>
                    <a:pt x="436845" y="108728"/>
                    <a:pt x="436845" y="225468"/>
                  </a:cubicBezTo>
                  <a:cubicBezTo>
                    <a:pt x="436845" y="342208"/>
                    <a:pt x="342208" y="436845"/>
                    <a:pt x="225468" y="436845"/>
                  </a:cubicBezTo>
                  <a:cubicBezTo>
                    <a:pt x="108728" y="436845"/>
                    <a:pt x="14091" y="342208"/>
                    <a:pt x="14091" y="225468"/>
                  </a:cubicBezTo>
                  <a:close/>
                  <a:moveTo>
                    <a:pt x="378129" y="162055"/>
                  </a:moveTo>
                  <a:lnTo>
                    <a:pt x="378129" y="288881"/>
                  </a:lnTo>
                  <a:lnTo>
                    <a:pt x="314716" y="162055"/>
                  </a:lnTo>
                  <a:lnTo>
                    <a:pt x="314716" y="288881"/>
                  </a:lnTo>
                  <a:moveTo>
                    <a:pt x="0" y="0"/>
                  </a:moveTo>
                  <a:moveTo>
                    <a:pt x="204330" y="236037"/>
                  </a:moveTo>
                  <a:lnTo>
                    <a:pt x="204330" y="288881"/>
                  </a:lnTo>
                  <a:moveTo>
                    <a:pt x="230753" y="236037"/>
                  </a:moveTo>
                  <a:cubicBezTo>
                    <a:pt x="251183" y="236037"/>
                    <a:pt x="267743" y="219476"/>
                    <a:pt x="267743" y="199047"/>
                  </a:cubicBezTo>
                  <a:lnTo>
                    <a:pt x="267743" y="199047"/>
                  </a:lnTo>
                  <a:cubicBezTo>
                    <a:pt x="267743" y="178616"/>
                    <a:pt x="251183" y="162055"/>
                    <a:pt x="230753" y="162055"/>
                  </a:cubicBezTo>
                  <a:lnTo>
                    <a:pt x="204330" y="162055"/>
                  </a:lnTo>
                  <a:lnTo>
                    <a:pt x="204330" y="236037"/>
                  </a:lnTo>
                  <a:close/>
                  <a:moveTo>
                    <a:pt x="0" y="0"/>
                  </a:moveTo>
                  <a:moveTo>
                    <a:pt x="72807" y="162055"/>
                  </a:moveTo>
                  <a:lnTo>
                    <a:pt x="101950" y="278628"/>
                  </a:lnTo>
                  <a:cubicBezTo>
                    <a:pt x="103457" y="284653"/>
                    <a:pt x="108871" y="288881"/>
                    <a:pt x="115082" y="288881"/>
                  </a:cubicBezTo>
                  <a:lnTo>
                    <a:pt x="115082" y="288881"/>
                  </a:lnTo>
                  <a:cubicBezTo>
                    <a:pt x="121294" y="288881"/>
                    <a:pt x="126708" y="284653"/>
                    <a:pt x="128215" y="278628"/>
                  </a:cubicBezTo>
                  <a:lnTo>
                    <a:pt x="157358" y="162055"/>
                  </a:lnTo>
                </a:path>
              </a:pathLst>
            </a:custGeom>
            <a:noFill/>
            <a:ln w="14091">
              <a:solidFill>
                <a:srgbClr val="484848"/>
              </a:solidFill>
            </a:ln>
          </p:spPr>
          <p:txBody>
            <a:bodyPr rtlCol="0" anchor="ctr"/>
            <a:lstStyle/>
            <a:p>
              <a:pPr algn="ctr"/>
              <a:endParaRPr sz="12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20" name="Rounded Rectangle 22">
              <a:extLst>
                <a:ext uri="{FF2B5EF4-FFF2-40B4-BE49-F238E27FC236}">
                  <a16:creationId xmlns:a16="http://schemas.microsoft.com/office/drawing/2014/main" id="{6B7783C0-EE83-047D-9591-103D5D12BFC6}"/>
                </a:ext>
              </a:extLst>
            </p:cNvPr>
            <p:cNvSpPr/>
            <p:nvPr/>
          </p:nvSpPr>
          <p:spPr>
            <a:xfrm>
              <a:off x="6119718" y="2265508"/>
              <a:ext cx="418394" cy="415200"/>
            </a:xfrm>
            <a:custGeom>
              <a:avLst/>
              <a:gdLst/>
              <a:ahLst/>
              <a:cxnLst/>
              <a:rect l="0" t="0" r="0" b="0"/>
              <a:pathLst>
                <a:path w="418394" h="415200">
                  <a:moveTo>
                    <a:pt x="84550" y="359490"/>
                  </a:moveTo>
                  <a:lnTo>
                    <a:pt x="341246" y="359490"/>
                  </a:lnTo>
                  <a:moveTo>
                    <a:pt x="101705" y="363661"/>
                  </a:moveTo>
                  <a:lnTo>
                    <a:pt x="101705" y="415200"/>
                  </a:lnTo>
                  <a:moveTo>
                    <a:pt x="319921" y="362609"/>
                  </a:moveTo>
                  <a:lnTo>
                    <a:pt x="319921" y="415200"/>
                  </a:lnTo>
                  <a:moveTo>
                    <a:pt x="143416" y="200309"/>
                  </a:moveTo>
                  <a:lnTo>
                    <a:pt x="274940" y="200309"/>
                  </a:lnTo>
                  <a:cubicBezTo>
                    <a:pt x="274940" y="200309"/>
                    <a:pt x="293729" y="200309"/>
                    <a:pt x="293729" y="219099"/>
                  </a:cubicBezTo>
                  <a:lnTo>
                    <a:pt x="293729" y="294255"/>
                  </a:lnTo>
                  <a:cubicBezTo>
                    <a:pt x="293729" y="294255"/>
                    <a:pt x="293729" y="313044"/>
                    <a:pt x="274940" y="313044"/>
                  </a:cubicBezTo>
                  <a:lnTo>
                    <a:pt x="143416" y="313044"/>
                  </a:lnTo>
                  <a:cubicBezTo>
                    <a:pt x="143416" y="313044"/>
                    <a:pt x="124627" y="313044"/>
                    <a:pt x="124627" y="294255"/>
                  </a:cubicBezTo>
                  <a:lnTo>
                    <a:pt x="124627" y="219099"/>
                  </a:lnTo>
                  <a:cubicBezTo>
                    <a:pt x="124627" y="219099"/>
                    <a:pt x="124627" y="200309"/>
                    <a:pt x="143416" y="200309"/>
                  </a:cubicBezTo>
                  <a:moveTo>
                    <a:pt x="189994" y="313044"/>
                  </a:moveTo>
                  <a:cubicBezTo>
                    <a:pt x="188303" y="330921"/>
                    <a:pt x="179937" y="347505"/>
                    <a:pt x="166564" y="359490"/>
                  </a:cubicBezTo>
                  <a:moveTo>
                    <a:pt x="251773" y="359490"/>
                  </a:moveTo>
                  <a:cubicBezTo>
                    <a:pt x="238400" y="347505"/>
                    <a:pt x="230034" y="330921"/>
                    <a:pt x="228343" y="313044"/>
                  </a:cubicBezTo>
                  <a:moveTo>
                    <a:pt x="60294" y="101855"/>
                  </a:moveTo>
                  <a:cubicBezTo>
                    <a:pt x="59029" y="117997"/>
                    <a:pt x="52039" y="133156"/>
                    <a:pt x="40584" y="144600"/>
                  </a:cubicBezTo>
                  <a:moveTo>
                    <a:pt x="112226" y="144600"/>
                  </a:moveTo>
                  <a:cubicBezTo>
                    <a:pt x="100772" y="133156"/>
                    <a:pt x="93782" y="117997"/>
                    <a:pt x="92517" y="101855"/>
                  </a:cubicBezTo>
                  <a:moveTo>
                    <a:pt x="316426" y="101855"/>
                  </a:moveTo>
                  <a:cubicBezTo>
                    <a:pt x="315161" y="117997"/>
                    <a:pt x="308171" y="133156"/>
                    <a:pt x="296716" y="144600"/>
                  </a:cubicBezTo>
                  <a:moveTo>
                    <a:pt x="368359" y="144600"/>
                  </a:moveTo>
                  <a:cubicBezTo>
                    <a:pt x="356904" y="133156"/>
                    <a:pt x="349914" y="117997"/>
                    <a:pt x="348649" y="101855"/>
                  </a:cubicBezTo>
                  <a:moveTo>
                    <a:pt x="2498" y="144600"/>
                  </a:moveTo>
                  <a:lnTo>
                    <a:pt x="418394" y="144600"/>
                  </a:lnTo>
                  <a:moveTo>
                    <a:pt x="19634" y="148771"/>
                  </a:moveTo>
                  <a:lnTo>
                    <a:pt x="19634" y="228493"/>
                  </a:lnTo>
                  <a:moveTo>
                    <a:pt x="397068" y="147738"/>
                  </a:moveTo>
                  <a:lnTo>
                    <a:pt x="397068" y="228493"/>
                  </a:lnTo>
                  <a:moveTo>
                    <a:pt x="274940" y="0"/>
                  </a:moveTo>
                  <a:lnTo>
                    <a:pt x="390154" y="0"/>
                  </a:lnTo>
                  <a:cubicBezTo>
                    <a:pt x="390154" y="0"/>
                    <a:pt x="408943" y="0"/>
                    <a:pt x="408943" y="18789"/>
                  </a:cubicBezTo>
                  <a:lnTo>
                    <a:pt x="408943" y="83066"/>
                  </a:lnTo>
                  <a:cubicBezTo>
                    <a:pt x="408943" y="83066"/>
                    <a:pt x="408943" y="101855"/>
                    <a:pt x="390154" y="101855"/>
                  </a:cubicBezTo>
                  <a:lnTo>
                    <a:pt x="274940" y="101855"/>
                  </a:lnTo>
                  <a:cubicBezTo>
                    <a:pt x="274940" y="101855"/>
                    <a:pt x="256150" y="101855"/>
                    <a:pt x="256150" y="83066"/>
                  </a:cubicBezTo>
                  <a:lnTo>
                    <a:pt x="256150" y="18789"/>
                  </a:lnTo>
                  <a:cubicBezTo>
                    <a:pt x="256150" y="18789"/>
                    <a:pt x="256150" y="0"/>
                    <a:pt x="274940" y="0"/>
                  </a:cubicBezTo>
                  <a:moveTo>
                    <a:pt x="18789" y="0"/>
                  </a:moveTo>
                  <a:lnTo>
                    <a:pt x="134003" y="0"/>
                  </a:lnTo>
                  <a:cubicBezTo>
                    <a:pt x="134003" y="0"/>
                    <a:pt x="152792" y="0"/>
                    <a:pt x="152792" y="18789"/>
                  </a:cubicBezTo>
                  <a:lnTo>
                    <a:pt x="152792" y="83066"/>
                  </a:lnTo>
                  <a:cubicBezTo>
                    <a:pt x="152792" y="83066"/>
                    <a:pt x="152792" y="101855"/>
                    <a:pt x="134003" y="101855"/>
                  </a:cubicBezTo>
                  <a:lnTo>
                    <a:pt x="18789" y="101855"/>
                  </a:lnTo>
                  <a:cubicBezTo>
                    <a:pt x="18789" y="101855"/>
                    <a:pt x="0" y="101855"/>
                    <a:pt x="0" y="83066"/>
                  </a:cubicBezTo>
                  <a:lnTo>
                    <a:pt x="0" y="18789"/>
                  </a:lnTo>
                  <a:cubicBezTo>
                    <a:pt x="0" y="18789"/>
                    <a:pt x="0" y="0"/>
                    <a:pt x="18789" y="0"/>
                  </a:cubicBezTo>
                </a:path>
              </a:pathLst>
            </a:custGeom>
            <a:noFill/>
            <a:ln w="14091">
              <a:solidFill>
                <a:srgbClr val="484848"/>
              </a:solidFill>
            </a:ln>
          </p:spPr>
          <p:txBody>
            <a:bodyPr rtlCol="0" anchor="ctr"/>
            <a:lstStyle/>
            <a:p>
              <a:pPr algn="ctr"/>
              <a:endParaRPr sz="12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21" name="Rounded Rectangle 23">
              <a:extLst>
                <a:ext uri="{FF2B5EF4-FFF2-40B4-BE49-F238E27FC236}">
                  <a16:creationId xmlns:a16="http://schemas.microsoft.com/office/drawing/2014/main" id="{046B2662-E8D7-F78D-225C-241831650181}"/>
                </a:ext>
              </a:extLst>
            </p:cNvPr>
            <p:cNvSpPr/>
            <p:nvPr/>
          </p:nvSpPr>
          <p:spPr>
            <a:xfrm>
              <a:off x="2511159" y="3594960"/>
              <a:ext cx="406428" cy="419112"/>
            </a:xfrm>
            <a:custGeom>
              <a:avLst/>
              <a:gdLst/>
              <a:ahLst/>
              <a:cxnLst/>
              <a:rect l="0" t="0" r="0" b="0"/>
              <a:pathLst>
                <a:path w="406428" h="419112">
                  <a:moveTo>
                    <a:pt x="153283" y="99679"/>
                  </a:moveTo>
                  <a:cubicBezTo>
                    <a:pt x="154072" y="97349"/>
                    <a:pt x="154899" y="95001"/>
                    <a:pt x="155801" y="92596"/>
                  </a:cubicBezTo>
                  <a:cubicBezTo>
                    <a:pt x="159798" y="84340"/>
                    <a:pt x="161782" y="75255"/>
                    <a:pt x="161588" y="66084"/>
                  </a:cubicBezTo>
                  <a:cubicBezTo>
                    <a:pt x="161304" y="62885"/>
                    <a:pt x="162675" y="59762"/>
                    <a:pt x="165222" y="57805"/>
                  </a:cubicBezTo>
                  <a:cubicBezTo>
                    <a:pt x="167769" y="55849"/>
                    <a:pt x="171139" y="55329"/>
                    <a:pt x="174158" y="56427"/>
                  </a:cubicBezTo>
                  <a:cubicBezTo>
                    <a:pt x="190835" y="62285"/>
                    <a:pt x="203746" y="75704"/>
                    <a:pt x="208955" y="92596"/>
                  </a:cubicBezTo>
                  <a:cubicBezTo>
                    <a:pt x="220470" y="75475"/>
                    <a:pt x="234885" y="60494"/>
                    <a:pt x="251550" y="48329"/>
                  </a:cubicBezTo>
                  <a:cubicBezTo>
                    <a:pt x="263655" y="39420"/>
                    <a:pt x="270715" y="25216"/>
                    <a:pt x="270508" y="10187"/>
                  </a:cubicBezTo>
                  <a:cubicBezTo>
                    <a:pt x="270458" y="6519"/>
                    <a:pt x="272547" y="3157"/>
                    <a:pt x="275858" y="1578"/>
                  </a:cubicBezTo>
                  <a:cubicBezTo>
                    <a:pt x="279169" y="0"/>
                    <a:pt x="283097" y="492"/>
                    <a:pt x="285915" y="2840"/>
                  </a:cubicBezTo>
                  <a:cubicBezTo>
                    <a:pt x="328153" y="35432"/>
                    <a:pt x="352096" y="86382"/>
                    <a:pt x="350230" y="139700"/>
                  </a:cubicBezTo>
                  <a:cubicBezTo>
                    <a:pt x="359004" y="135071"/>
                    <a:pt x="366978" y="129063"/>
                    <a:pt x="373848" y="121907"/>
                  </a:cubicBezTo>
                  <a:cubicBezTo>
                    <a:pt x="376179" y="119375"/>
                    <a:pt x="379709" y="118321"/>
                    <a:pt x="383047" y="119159"/>
                  </a:cubicBezTo>
                  <a:cubicBezTo>
                    <a:pt x="386385" y="119997"/>
                    <a:pt x="388997" y="122594"/>
                    <a:pt x="389856" y="125927"/>
                  </a:cubicBezTo>
                  <a:cubicBezTo>
                    <a:pt x="398950" y="161063"/>
                    <a:pt x="406428" y="235204"/>
                    <a:pt x="324320" y="274605"/>
                  </a:cubicBezTo>
                  <a:moveTo>
                    <a:pt x="282495" y="277668"/>
                  </a:moveTo>
                  <a:cubicBezTo>
                    <a:pt x="282526" y="355747"/>
                    <a:pt x="219262" y="419070"/>
                    <a:pt x="141183" y="419112"/>
                  </a:cubicBezTo>
                  <a:cubicBezTo>
                    <a:pt x="62745" y="417865"/>
                    <a:pt x="0" y="353577"/>
                    <a:pt x="660" y="275131"/>
                  </a:cubicBezTo>
                  <a:cubicBezTo>
                    <a:pt x="693" y="200198"/>
                    <a:pt x="60592" y="139022"/>
                    <a:pt x="135509" y="137408"/>
                  </a:cubicBezTo>
                  <a:cubicBezTo>
                    <a:pt x="137538" y="137314"/>
                    <a:pt x="139586" y="137276"/>
                    <a:pt x="141634" y="137276"/>
                  </a:cubicBezTo>
                  <a:cubicBezTo>
                    <a:pt x="178974" y="137071"/>
                    <a:pt x="214850" y="151781"/>
                    <a:pt x="241298" y="178140"/>
                  </a:cubicBezTo>
                  <a:cubicBezTo>
                    <a:pt x="267746" y="204500"/>
                    <a:pt x="282576" y="240327"/>
                    <a:pt x="282495" y="277668"/>
                  </a:cubicBezTo>
                  <a:close/>
                  <a:moveTo>
                    <a:pt x="135509" y="137408"/>
                  </a:moveTo>
                  <a:cubicBezTo>
                    <a:pt x="56181" y="217054"/>
                    <a:pt x="56181" y="320976"/>
                    <a:pt x="135509" y="418999"/>
                  </a:cubicBezTo>
                  <a:moveTo>
                    <a:pt x="147759" y="418961"/>
                  </a:moveTo>
                  <a:cubicBezTo>
                    <a:pt x="227274" y="320939"/>
                    <a:pt x="227274" y="217054"/>
                    <a:pt x="147759" y="137408"/>
                  </a:cubicBezTo>
                  <a:moveTo>
                    <a:pt x="266581" y="212432"/>
                  </a:moveTo>
                  <a:lnTo>
                    <a:pt x="15578" y="212432"/>
                  </a:lnTo>
                  <a:moveTo>
                    <a:pt x="9547" y="325166"/>
                  </a:moveTo>
                  <a:lnTo>
                    <a:pt x="274322" y="325166"/>
                  </a:lnTo>
                </a:path>
              </a:pathLst>
            </a:custGeom>
            <a:noFill/>
            <a:ln w="14091">
              <a:solidFill>
                <a:srgbClr val="484848"/>
              </a:solidFill>
            </a:ln>
          </p:spPr>
          <p:txBody>
            <a:bodyPr rtlCol="0" anchor="ctr"/>
            <a:lstStyle/>
            <a:p>
              <a:pPr algn="ctr"/>
              <a:endParaRPr sz="12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22" name="Rounded Rectangle 24">
              <a:extLst>
                <a:ext uri="{FF2B5EF4-FFF2-40B4-BE49-F238E27FC236}">
                  <a16:creationId xmlns:a16="http://schemas.microsoft.com/office/drawing/2014/main" id="{7B46A6D4-251F-20F0-0FE1-02FB2EA071F4}"/>
                </a:ext>
              </a:extLst>
            </p:cNvPr>
            <p:cNvSpPr/>
            <p:nvPr/>
          </p:nvSpPr>
          <p:spPr>
            <a:xfrm>
              <a:off x="6112810" y="3722579"/>
              <a:ext cx="432222" cy="432147"/>
            </a:xfrm>
            <a:custGeom>
              <a:avLst/>
              <a:gdLst/>
              <a:ahLst/>
              <a:cxnLst/>
              <a:rect l="0" t="0" r="0" b="0"/>
              <a:pathLst>
                <a:path w="432222" h="432147">
                  <a:moveTo>
                    <a:pt x="432179" y="122128"/>
                  </a:moveTo>
                  <a:lnTo>
                    <a:pt x="432179" y="140523"/>
                  </a:lnTo>
                  <a:cubicBezTo>
                    <a:pt x="432222" y="156170"/>
                    <a:pt x="419642" y="168926"/>
                    <a:pt x="403996" y="169101"/>
                  </a:cubicBezTo>
                  <a:lnTo>
                    <a:pt x="234895" y="169101"/>
                  </a:lnTo>
                  <a:cubicBezTo>
                    <a:pt x="219253" y="168915"/>
                    <a:pt x="206679" y="156166"/>
                    <a:pt x="206711" y="140523"/>
                  </a:cubicBezTo>
                  <a:lnTo>
                    <a:pt x="206711" y="28183"/>
                  </a:lnTo>
                  <a:cubicBezTo>
                    <a:pt x="206711" y="12618"/>
                    <a:pt x="219329" y="0"/>
                    <a:pt x="234895" y="0"/>
                  </a:cubicBezTo>
                  <a:lnTo>
                    <a:pt x="403996" y="0"/>
                  </a:lnTo>
                  <a:cubicBezTo>
                    <a:pt x="419561" y="0"/>
                    <a:pt x="432179" y="12618"/>
                    <a:pt x="432179" y="28183"/>
                  </a:cubicBezTo>
                  <a:close/>
                  <a:moveTo>
                    <a:pt x="206711" y="112734"/>
                  </a:moveTo>
                  <a:lnTo>
                    <a:pt x="432179" y="112734"/>
                  </a:lnTo>
                  <a:moveTo>
                    <a:pt x="366418" y="206679"/>
                  </a:moveTo>
                  <a:lnTo>
                    <a:pt x="272473" y="206679"/>
                  </a:lnTo>
                  <a:moveTo>
                    <a:pt x="319445" y="169101"/>
                  </a:moveTo>
                  <a:lnTo>
                    <a:pt x="319445" y="206679"/>
                  </a:lnTo>
                  <a:moveTo>
                    <a:pt x="225500" y="347597"/>
                  </a:moveTo>
                  <a:lnTo>
                    <a:pt x="225500" y="365991"/>
                  </a:lnTo>
                  <a:cubicBezTo>
                    <a:pt x="225542" y="381638"/>
                    <a:pt x="212963" y="394394"/>
                    <a:pt x="197316" y="394569"/>
                  </a:cubicBezTo>
                  <a:lnTo>
                    <a:pt x="28215" y="394569"/>
                  </a:lnTo>
                  <a:cubicBezTo>
                    <a:pt x="12573" y="394384"/>
                    <a:pt x="0" y="381634"/>
                    <a:pt x="32" y="365991"/>
                  </a:cubicBezTo>
                  <a:lnTo>
                    <a:pt x="32" y="253652"/>
                  </a:lnTo>
                  <a:cubicBezTo>
                    <a:pt x="32" y="238086"/>
                    <a:pt x="12650" y="225468"/>
                    <a:pt x="28215" y="225468"/>
                  </a:cubicBezTo>
                  <a:lnTo>
                    <a:pt x="197316" y="225468"/>
                  </a:lnTo>
                  <a:cubicBezTo>
                    <a:pt x="212882" y="225468"/>
                    <a:pt x="225500" y="238086"/>
                    <a:pt x="225500" y="253652"/>
                  </a:cubicBezTo>
                  <a:close/>
                  <a:moveTo>
                    <a:pt x="32" y="338202"/>
                  </a:moveTo>
                  <a:lnTo>
                    <a:pt x="225500" y="338202"/>
                  </a:lnTo>
                  <a:moveTo>
                    <a:pt x="159738" y="432147"/>
                  </a:moveTo>
                  <a:lnTo>
                    <a:pt x="65793" y="432147"/>
                  </a:lnTo>
                  <a:moveTo>
                    <a:pt x="112766" y="394569"/>
                  </a:moveTo>
                  <a:lnTo>
                    <a:pt x="112766" y="432147"/>
                  </a:lnTo>
                  <a:moveTo>
                    <a:pt x="37610" y="150312"/>
                  </a:moveTo>
                  <a:lnTo>
                    <a:pt x="37610" y="98642"/>
                  </a:lnTo>
                  <a:cubicBezTo>
                    <a:pt x="37599" y="59724"/>
                    <a:pt x="69151" y="28173"/>
                    <a:pt x="108069" y="28183"/>
                  </a:cubicBezTo>
                  <a:lnTo>
                    <a:pt x="140949" y="28183"/>
                  </a:lnTo>
                  <a:moveTo>
                    <a:pt x="32" y="112734"/>
                  </a:moveTo>
                  <a:lnTo>
                    <a:pt x="37610" y="150312"/>
                  </a:lnTo>
                  <a:lnTo>
                    <a:pt x="75188" y="112734"/>
                  </a:lnTo>
                  <a:moveTo>
                    <a:pt x="112766" y="56367"/>
                  </a:moveTo>
                  <a:lnTo>
                    <a:pt x="140949" y="28183"/>
                  </a:lnTo>
                  <a:lnTo>
                    <a:pt x="112766" y="0"/>
                  </a:lnTo>
                </a:path>
              </a:pathLst>
            </a:custGeom>
            <a:noFill/>
            <a:ln w="14091">
              <a:solidFill>
                <a:srgbClr val="484848"/>
              </a:solidFill>
            </a:ln>
          </p:spPr>
          <p:txBody>
            <a:bodyPr rtlCol="0" anchor="ctr"/>
            <a:lstStyle/>
            <a:p>
              <a:pPr algn="ctr"/>
              <a:endParaRPr sz="120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grpSp>
    </p:spTree>
    <p:extLst>
      <p:ext uri="{BB962C8B-B14F-4D97-AF65-F5344CB8AC3E}">
        <p14:creationId xmlns:p14="http://schemas.microsoft.com/office/powerpoint/2010/main" val="4180951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Title 1"/>
          <p:cNvSpPr txBox="1">
            <a:spLocks noGrp="1"/>
          </p:cNvSpPr>
          <p:nvPr>
            <p:ph type="title"/>
          </p:nvPr>
        </p:nvSpPr>
        <p:spPr>
          <a:prstGeom prst="rect">
            <a:avLst/>
          </a:prstGeom>
        </p:spPr>
        <p:txBody>
          <a:bodyPr/>
          <a:lstStyle>
            <a:lvl1pPr defTabSz="905255">
              <a:defRPr sz="3564" spc="-99"/>
            </a:lvl1pPr>
          </a:lstStyle>
          <a:p>
            <a:r>
              <a:rPr lang="en-US" dirty="0"/>
              <a:t>Traffic flow in a </a:t>
            </a:r>
            <a:r>
              <a:rPr lang="en-US" dirty="0" err="1"/>
              <a:t>VNet</a:t>
            </a:r>
            <a:endParaRPr dirty="0"/>
          </a:p>
        </p:txBody>
      </p:sp>
      <p:sp>
        <p:nvSpPr>
          <p:cNvPr id="415" name="Slide Number Placeholder 4"/>
          <p:cNvSpPr txBox="1">
            <a:spLocks noGrp="1"/>
          </p:cNvSpPr>
          <p:nvPr>
            <p:ph type="sldNum" sz="quarter" idx="12"/>
          </p:nvPr>
        </p:nvSpPr>
        <p:spPr>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D1282E"/>
                </a:solidFill>
                <a:effectLst/>
                <a:uFillTx/>
                <a:latin typeface="Arial"/>
                <a:ea typeface="Arial"/>
                <a:cs typeface="Arial"/>
                <a:sym typeface="Arial"/>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n-US" smtClean="0"/>
              <a:pPr/>
              <a:t>10</a:t>
            </a:fld>
            <a:endParaRPr/>
          </a:p>
        </p:txBody>
      </p:sp>
      <p:sp>
        <p:nvSpPr>
          <p:cNvPr id="5" name="Path72">
            <a:extLst>
              <a:ext uri="{FF2B5EF4-FFF2-40B4-BE49-F238E27FC236}">
                <a16:creationId xmlns:a16="http://schemas.microsoft.com/office/drawing/2014/main" id="{4B30C7DB-C8AC-2145-9861-353091EE435D}"/>
              </a:ext>
            </a:extLst>
          </p:cNvPr>
          <p:cNvSpPr/>
          <p:nvPr/>
        </p:nvSpPr>
        <p:spPr>
          <a:xfrm>
            <a:off x="0" y="0"/>
            <a:ext cx="0" cy="0"/>
          </a:xfrm>
          <a:custGeom>
            <a:avLst/>
            <a:gdLst/>
            <a:ahLst/>
            <a:cxnLst/>
            <a:rect l="l" t="t" r="r" b="b"/>
            <a:pathLst>
              <a:path/>
            </a:pathLst>
          </a:custGeom>
          <a:solidFill/>
          <a:ln>
            <a:solidFill/>
            <a:prstDash/>
          </a:ln>
        </p:spPr>
        <p:txBody>
          <a:bodyPr rtlCol="0" anchor="ctr"/>
          <a:lstStyle/>
          <a:p>
            <a:pPr algn="ctr"/>
            <a:endParaRPr lang="en-US" altLang="zh-CN"/>
          </a:p>
        </p:txBody>
      </p:sp>
      <p:sp>
        <p:nvSpPr>
          <p:cNvPr id="6" name="object 3">
            <a:extLst>
              <a:ext uri="{FF2B5EF4-FFF2-40B4-BE49-F238E27FC236}">
                <a16:creationId xmlns:a16="http://schemas.microsoft.com/office/drawing/2014/main" id="{57D84A46-1FD9-8344-926B-F4845F1994F5}"/>
              </a:ext>
            </a:extLst>
          </p:cNvPr>
          <p:cNvSpPr txBox="1"/>
          <p:nvPr/>
        </p:nvSpPr>
        <p:spPr>
          <a:xfrm>
            <a:off x="4291263" y="1517644"/>
            <a:ext cx="7555721" cy="1005403"/>
          </a:xfrm>
          <a:prstGeom prst="rect">
            <a:avLst/>
          </a:prstGeom>
        </p:spPr>
        <p:txBody>
          <a:bodyPr vert="horz" wrap="square" lIns="0" tIns="43180" rIns="0" bIns="0" rtlCol="0">
            <a:spAutoFit/>
          </a:bodyPr>
          <a:lstStyle/>
          <a:p>
            <a:pPr marL="12700">
              <a:lnSpc>
                <a:spcPct val="100000"/>
              </a:lnSpc>
              <a:spcBef>
                <a:spcPts val="340"/>
              </a:spcBef>
              <a:tabLst>
                <a:tab pos="241300" algn="l"/>
              </a:tabLst>
            </a:pPr>
            <a:r>
              <a:rPr lang="en-US" sz="2000" b="1" spc="-10" dirty="0">
                <a:latin typeface="+mj-lt"/>
                <a:ea typeface="Nirmala UI Semilight" panose="020B0402040204020203" pitchFamily="34" charset="0"/>
                <a:cs typeface="Nirmala UI Semilight" panose="020B0402040204020203" pitchFamily="34" charset="0"/>
              </a:rPr>
              <a:t>Not all resources should talk to each other</a:t>
            </a:r>
          </a:p>
          <a:p>
            <a:pPr marL="12700">
              <a:lnSpc>
                <a:spcPct val="100000"/>
              </a:lnSpc>
              <a:spcBef>
                <a:spcPts val="340"/>
              </a:spcBef>
              <a:tabLst>
                <a:tab pos="241300" algn="l"/>
              </a:tabLst>
            </a:pPr>
            <a:r>
              <a:rPr lang="en-US" sz="2000" spc="-10" dirty="0">
                <a:ea typeface="Nirmala UI Semilight" panose="020B0402040204020203" pitchFamily="34" charset="0"/>
                <a:cs typeface="Nirmala UI Semilight" panose="020B0402040204020203" pitchFamily="34" charset="0"/>
              </a:rPr>
              <a:t>By default, all subnets within a </a:t>
            </a:r>
            <a:r>
              <a:rPr lang="en-US" sz="2000" spc="-10" dirty="0" err="1">
                <a:ea typeface="Nirmala UI Semilight" panose="020B0402040204020203" pitchFamily="34" charset="0"/>
                <a:cs typeface="Nirmala UI Semilight" panose="020B0402040204020203" pitchFamily="34" charset="0"/>
              </a:rPr>
              <a:t>VNet</a:t>
            </a:r>
            <a:r>
              <a:rPr lang="en-US" sz="2000" spc="-10" dirty="0">
                <a:ea typeface="Nirmala UI Semilight" panose="020B0402040204020203" pitchFamily="34" charset="0"/>
                <a:cs typeface="Nirmala UI Semilight" panose="020B0402040204020203" pitchFamily="34" charset="0"/>
              </a:rPr>
              <a:t> can communicate — but this may violate security or compliance policies.</a:t>
            </a:r>
            <a:endParaRPr dirty="0">
              <a:ea typeface="Nirmala UI Semilight" panose="020B0402040204020203" pitchFamily="34" charset="0"/>
              <a:cs typeface="Nirmala UI Semilight" panose="020B0402040204020203" pitchFamily="34" charset="0"/>
            </a:endParaRPr>
          </a:p>
        </p:txBody>
      </p:sp>
      <p:pic>
        <p:nvPicPr>
          <p:cNvPr id="8" name="Image411">
            <a:extLst>
              <a:ext uri="{FF2B5EF4-FFF2-40B4-BE49-F238E27FC236}">
                <a16:creationId xmlns:a16="http://schemas.microsoft.com/office/drawing/2014/main" id="{2C9D9699-F558-C44C-85FC-5E926C1AE2FD}"/>
              </a:ext>
            </a:extLst>
          </p:cNvPr>
          <p:cNvPicPr>
            <a:picLocks noChangeAspect="1"/>
          </p:cNvPicPr>
          <p:nvPr/>
        </p:nvPicPr>
        <p:blipFill>
          <a:blip r:embed="rId3"/>
          <a:stretch>
            <a:fillRect/>
          </a:stretch>
        </p:blipFill>
        <p:spPr>
          <a:xfrm>
            <a:off x="999343" y="2335530"/>
            <a:ext cx="2476500" cy="2740152"/>
          </a:xfrm>
          <a:prstGeom prst="rect">
            <a:avLst/>
          </a:prstGeom>
          <a:noFill/>
        </p:spPr>
      </p:pic>
      <p:sp>
        <p:nvSpPr>
          <p:cNvPr id="9" name="Path405">
            <a:extLst>
              <a:ext uri="{FF2B5EF4-FFF2-40B4-BE49-F238E27FC236}">
                <a16:creationId xmlns:a16="http://schemas.microsoft.com/office/drawing/2014/main" id="{548021A8-597F-7D4A-9E0F-A4457AD28BDE}"/>
              </a:ext>
            </a:extLst>
          </p:cNvPr>
          <p:cNvSpPr/>
          <p:nvPr/>
        </p:nvSpPr>
        <p:spPr>
          <a:xfrm>
            <a:off x="4005593" y="1544884"/>
            <a:ext cx="45719" cy="4535073"/>
          </a:xfrm>
          <a:custGeom>
            <a:avLst/>
            <a:gdLst/>
            <a:ahLst/>
            <a:cxnLst/>
            <a:rect l="l" t="t" r="r" b="b"/>
            <a:pathLst>
              <a:path w="51816" h="4182758">
                <a:moveTo>
                  <a:pt x="25908" y="25908"/>
                </a:moveTo>
                <a:lnTo>
                  <a:pt x="25908" y="4156850"/>
                </a:lnTo>
              </a:path>
            </a:pathLst>
          </a:custGeom>
          <a:solidFill>
            <a:srgbClr val="000000">
              <a:alpha val="0"/>
            </a:srgbClr>
          </a:solidFill>
          <a:ln w="25908" cap="sq">
            <a:solidFill>
              <a:srgbClr val="F05A28"/>
            </a:solidFill>
            <a:prstDash val="solid"/>
          </a:ln>
        </p:spPr>
        <p:txBody>
          <a:bodyPr rtlCol="0" anchor="ctr"/>
          <a:lstStyle/>
          <a:p>
            <a:pPr algn="ctr"/>
            <a:endParaRPr lang="en-US" altLang="zh-CN"/>
          </a:p>
        </p:txBody>
      </p:sp>
      <p:sp>
        <p:nvSpPr>
          <p:cNvPr id="2" name="object 3">
            <a:extLst>
              <a:ext uri="{FF2B5EF4-FFF2-40B4-BE49-F238E27FC236}">
                <a16:creationId xmlns:a16="http://schemas.microsoft.com/office/drawing/2014/main" id="{80CA5519-839F-865A-C754-EF967574A2C2}"/>
              </a:ext>
            </a:extLst>
          </p:cNvPr>
          <p:cNvSpPr txBox="1"/>
          <p:nvPr/>
        </p:nvSpPr>
        <p:spPr>
          <a:xfrm>
            <a:off x="4291262" y="2630861"/>
            <a:ext cx="7555721" cy="966931"/>
          </a:xfrm>
          <a:prstGeom prst="rect">
            <a:avLst/>
          </a:prstGeom>
        </p:spPr>
        <p:txBody>
          <a:bodyPr vert="horz" wrap="square" lIns="0" tIns="43180" rIns="0" bIns="0" rtlCol="0">
            <a:spAutoFit/>
          </a:bodyPr>
          <a:lstStyle/>
          <a:p>
            <a:pPr marL="12700">
              <a:lnSpc>
                <a:spcPct val="100000"/>
              </a:lnSpc>
              <a:spcBef>
                <a:spcPts val="340"/>
              </a:spcBef>
              <a:tabLst>
                <a:tab pos="241300" algn="l"/>
              </a:tabLst>
            </a:pPr>
            <a:r>
              <a:rPr lang="en-US" sz="2000" b="1" dirty="0">
                <a:latin typeface="+mj-lt"/>
              </a:rPr>
              <a:t>Enforce subnet-level boundaries</a:t>
            </a:r>
            <a:br>
              <a:rPr lang="en-US" sz="2000" dirty="0"/>
            </a:br>
            <a:r>
              <a:rPr lang="en-US" sz="2000" dirty="0"/>
              <a:t>Multi-tier applications (e.g., web ↔ app ↔ database) often require </a:t>
            </a:r>
            <a:r>
              <a:rPr lang="en-US" sz="2000" b="1" dirty="0"/>
              <a:t>only neighbor tiers to communicate</a:t>
            </a:r>
            <a:r>
              <a:rPr lang="en-US" sz="2000" dirty="0"/>
              <a:t>, not full mesh access.</a:t>
            </a:r>
            <a:endParaRPr dirty="0">
              <a:ea typeface="Nirmala UI Semilight" panose="020B0402040204020203" pitchFamily="34" charset="0"/>
              <a:cs typeface="Nirmala UI Semilight" panose="020B0402040204020203" pitchFamily="34" charset="0"/>
            </a:endParaRPr>
          </a:p>
        </p:txBody>
      </p:sp>
      <p:sp>
        <p:nvSpPr>
          <p:cNvPr id="3" name="object 3">
            <a:extLst>
              <a:ext uri="{FF2B5EF4-FFF2-40B4-BE49-F238E27FC236}">
                <a16:creationId xmlns:a16="http://schemas.microsoft.com/office/drawing/2014/main" id="{14A7E931-513F-3D3B-81A3-F9683A17F7D0}"/>
              </a:ext>
            </a:extLst>
          </p:cNvPr>
          <p:cNvSpPr txBox="1"/>
          <p:nvPr/>
        </p:nvSpPr>
        <p:spPr>
          <a:xfrm>
            <a:off x="4291261" y="3705606"/>
            <a:ext cx="7555721" cy="966931"/>
          </a:xfrm>
          <a:prstGeom prst="rect">
            <a:avLst/>
          </a:prstGeom>
        </p:spPr>
        <p:txBody>
          <a:bodyPr vert="horz" wrap="square" lIns="0" tIns="43180" rIns="0" bIns="0" rtlCol="0">
            <a:spAutoFit/>
          </a:bodyPr>
          <a:lstStyle/>
          <a:p>
            <a:pPr marL="12700">
              <a:lnSpc>
                <a:spcPct val="100000"/>
              </a:lnSpc>
              <a:spcBef>
                <a:spcPts val="340"/>
              </a:spcBef>
              <a:tabLst>
                <a:tab pos="241300" algn="l"/>
              </a:tabLst>
            </a:pPr>
            <a:r>
              <a:rPr lang="en-US" sz="2000" b="1" dirty="0">
                <a:latin typeface="+mj-lt"/>
              </a:rPr>
              <a:t>Limit public internet access</a:t>
            </a:r>
            <a:br>
              <a:rPr lang="en-US" sz="2000" dirty="0"/>
            </a:br>
            <a:r>
              <a:rPr lang="en-US" sz="2000" dirty="0"/>
              <a:t>Outbound internet traffic should be </a:t>
            </a:r>
            <a:r>
              <a:rPr lang="en-US" sz="2000" b="1" dirty="0"/>
              <a:t>restricted or routed through a controlled egress point</a:t>
            </a:r>
            <a:r>
              <a:rPr lang="en-US" sz="2000" dirty="0"/>
              <a:t> like a NAT Gateway or Azure Firewall.</a:t>
            </a:r>
            <a:endParaRPr dirty="0">
              <a:ea typeface="Nirmala UI Semilight" panose="020B0402040204020203" pitchFamily="34" charset="0"/>
              <a:cs typeface="Nirmala UI Semilight" panose="020B0402040204020203" pitchFamily="34" charset="0"/>
            </a:endParaRPr>
          </a:p>
        </p:txBody>
      </p:sp>
      <p:sp>
        <p:nvSpPr>
          <p:cNvPr id="4" name="object 3">
            <a:extLst>
              <a:ext uri="{FF2B5EF4-FFF2-40B4-BE49-F238E27FC236}">
                <a16:creationId xmlns:a16="http://schemas.microsoft.com/office/drawing/2014/main" id="{DC950E42-CD20-087F-E87B-BC0CBEA545C3}"/>
              </a:ext>
            </a:extLst>
          </p:cNvPr>
          <p:cNvSpPr txBox="1"/>
          <p:nvPr/>
        </p:nvSpPr>
        <p:spPr>
          <a:xfrm>
            <a:off x="4291260" y="4780351"/>
            <a:ext cx="7555721" cy="966931"/>
          </a:xfrm>
          <a:prstGeom prst="rect">
            <a:avLst/>
          </a:prstGeom>
        </p:spPr>
        <p:txBody>
          <a:bodyPr vert="horz" wrap="square" lIns="0" tIns="43180" rIns="0" bIns="0" rtlCol="0">
            <a:spAutoFit/>
          </a:bodyPr>
          <a:lstStyle/>
          <a:p>
            <a:pPr marL="12700">
              <a:lnSpc>
                <a:spcPct val="100000"/>
              </a:lnSpc>
              <a:spcBef>
                <a:spcPts val="340"/>
              </a:spcBef>
              <a:tabLst>
                <a:tab pos="241300" algn="l"/>
              </a:tabLst>
            </a:pPr>
            <a:r>
              <a:rPr lang="en-US" sz="2000" b="1" dirty="0">
                <a:latin typeface="+mj-lt"/>
              </a:rPr>
              <a:t>Control specific traffic types and ports</a:t>
            </a:r>
            <a:br>
              <a:rPr lang="en-US" sz="2000" dirty="0"/>
            </a:br>
            <a:r>
              <a:rPr lang="en-US" sz="2000" dirty="0"/>
              <a:t>Use </a:t>
            </a:r>
            <a:r>
              <a:rPr lang="en-US" sz="2000" b="1" dirty="0"/>
              <a:t>Network Security Groups (NSGs)</a:t>
            </a:r>
            <a:r>
              <a:rPr lang="en-US" sz="2000" dirty="0"/>
              <a:t> to allow only the </a:t>
            </a:r>
            <a:r>
              <a:rPr lang="en-US" sz="2000" b="1" dirty="0"/>
              <a:t>required protocols and port ranges</a:t>
            </a:r>
            <a:r>
              <a:rPr lang="en-US" sz="2000" dirty="0"/>
              <a:t> between subnets or resources.</a:t>
            </a:r>
            <a:endParaRPr dirty="0">
              <a:ea typeface="Nirmala UI Semilight" panose="020B0402040204020203" pitchFamily="34" charset="0"/>
              <a:cs typeface="Nirmala UI Semilight" panose="020B0402040204020203" pitchFamily="34" charset="0"/>
            </a:endParaRPr>
          </a:p>
        </p:txBody>
      </p:sp>
    </p:spTree>
    <p:extLst>
      <p:ext uri="{BB962C8B-B14F-4D97-AF65-F5344CB8AC3E}">
        <p14:creationId xmlns:p14="http://schemas.microsoft.com/office/powerpoint/2010/main" val="6565270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Title 1"/>
          <p:cNvSpPr txBox="1">
            <a:spLocks noGrp="1"/>
          </p:cNvSpPr>
          <p:nvPr>
            <p:ph type="title"/>
          </p:nvPr>
        </p:nvSpPr>
        <p:spPr>
          <a:prstGeom prst="rect">
            <a:avLst/>
          </a:prstGeom>
        </p:spPr>
        <p:txBody>
          <a:bodyPr/>
          <a:lstStyle>
            <a:lvl1pPr defTabSz="905255">
              <a:defRPr sz="3564" spc="-99"/>
            </a:lvl1pPr>
          </a:lstStyle>
          <a:p>
            <a:r>
              <a:rPr lang="en-US" dirty="0"/>
              <a:t>Network security groups</a:t>
            </a:r>
            <a:endParaRPr dirty="0"/>
          </a:p>
        </p:txBody>
      </p:sp>
      <p:sp>
        <p:nvSpPr>
          <p:cNvPr id="415" name="Slide Number Placeholder 4"/>
          <p:cNvSpPr txBox="1">
            <a:spLocks noGrp="1"/>
          </p:cNvSpPr>
          <p:nvPr>
            <p:ph type="sldNum" sz="quarter" idx="12"/>
          </p:nvPr>
        </p:nvSpPr>
        <p:spPr>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D1282E"/>
                </a:solidFill>
                <a:effectLst/>
                <a:uFillTx/>
                <a:latin typeface="Arial"/>
                <a:ea typeface="Arial"/>
                <a:cs typeface="Arial"/>
                <a:sym typeface="Arial"/>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n-US" smtClean="0"/>
              <a:pPr/>
              <a:t>11</a:t>
            </a:fld>
            <a:endParaRPr/>
          </a:p>
        </p:txBody>
      </p:sp>
      <p:sp>
        <p:nvSpPr>
          <p:cNvPr id="5" name="Path72">
            <a:extLst>
              <a:ext uri="{FF2B5EF4-FFF2-40B4-BE49-F238E27FC236}">
                <a16:creationId xmlns:a16="http://schemas.microsoft.com/office/drawing/2014/main" id="{4B30C7DB-C8AC-2145-9861-353091EE435D}"/>
              </a:ext>
            </a:extLst>
          </p:cNvPr>
          <p:cNvSpPr/>
          <p:nvPr/>
        </p:nvSpPr>
        <p:spPr>
          <a:xfrm>
            <a:off x="0" y="0"/>
            <a:ext cx="0" cy="0"/>
          </a:xfrm>
          <a:custGeom>
            <a:avLst/>
            <a:gdLst/>
            <a:ahLst/>
            <a:cxnLst/>
            <a:rect l="l" t="t" r="r" b="b"/>
            <a:pathLst>
              <a:path/>
            </a:pathLst>
          </a:custGeom>
          <a:solidFill/>
          <a:ln>
            <a:solidFill/>
            <a:prstDash/>
          </a:ln>
        </p:spPr>
        <p:txBody>
          <a:bodyPr rtlCol="0" anchor="ctr"/>
          <a:lstStyle/>
          <a:p>
            <a:pPr algn="ctr"/>
            <a:endParaRPr lang="en-US" altLang="zh-CN"/>
          </a:p>
        </p:txBody>
      </p:sp>
      <p:sp>
        <p:nvSpPr>
          <p:cNvPr id="6" name="object 3">
            <a:extLst>
              <a:ext uri="{FF2B5EF4-FFF2-40B4-BE49-F238E27FC236}">
                <a16:creationId xmlns:a16="http://schemas.microsoft.com/office/drawing/2014/main" id="{57D84A46-1FD9-8344-926B-F4845F1994F5}"/>
              </a:ext>
            </a:extLst>
          </p:cNvPr>
          <p:cNvSpPr txBox="1"/>
          <p:nvPr/>
        </p:nvSpPr>
        <p:spPr>
          <a:xfrm>
            <a:off x="4970973" y="1255836"/>
            <a:ext cx="6767154" cy="636072"/>
          </a:xfrm>
          <a:prstGeom prst="rect">
            <a:avLst/>
          </a:prstGeom>
        </p:spPr>
        <p:txBody>
          <a:bodyPr vert="horz" wrap="square" lIns="0" tIns="43180" rIns="0" bIns="0" rtlCol="0">
            <a:spAutoFit/>
          </a:bodyPr>
          <a:lstStyle/>
          <a:p>
            <a:endParaRPr lang="en-US"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241300" indent="-228600">
              <a:lnSpc>
                <a:spcPct val="100000"/>
              </a:lnSpc>
              <a:spcBef>
                <a:spcPts val="340"/>
              </a:spcBef>
              <a:buFont typeface="Arial"/>
              <a:buChar char="•"/>
              <a:tabLst>
                <a:tab pos="241300" algn="l"/>
              </a:tabLst>
            </a:pPr>
            <a:endParaRPr dirty="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pic>
        <p:nvPicPr>
          <p:cNvPr id="1026" name="Picture 2" descr="What is Azure Network Security Group? – wedoAzure">
            <a:extLst>
              <a:ext uri="{FF2B5EF4-FFF2-40B4-BE49-F238E27FC236}">
                <a16:creationId xmlns:a16="http://schemas.microsoft.com/office/drawing/2014/main" id="{1E215D18-CD38-2BE1-5F70-80436A3C71C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3273" r="25115"/>
          <a:stretch>
            <a:fillRect/>
          </a:stretch>
        </p:blipFill>
        <p:spPr bwMode="auto">
          <a:xfrm>
            <a:off x="449362" y="1768928"/>
            <a:ext cx="3697757" cy="3641271"/>
          </a:xfrm>
          <a:prstGeom prst="rect">
            <a:avLst/>
          </a:prstGeom>
          <a:noFill/>
          <a:extLst>
            <a:ext uri="{909E8E84-426E-40DD-AFC4-6F175D3DCCD1}">
              <a14:hiddenFill xmlns:a14="http://schemas.microsoft.com/office/drawing/2010/main">
                <a:solidFill>
                  <a:srgbClr val="FFFFFF"/>
                </a:solidFill>
              </a14:hiddenFill>
            </a:ext>
          </a:extLst>
        </p:spPr>
      </p:pic>
      <p:sp>
        <p:nvSpPr>
          <p:cNvPr id="2" name="object 3">
            <a:extLst>
              <a:ext uri="{FF2B5EF4-FFF2-40B4-BE49-F238E27FC236}">
                <a16:creationId xmlns:a16="http://schemas.microsoft.com/office/drawing/2014/main" id="{7C1782D3-481F-5DB0-A9C9-9B97C7FD908B}"/>
              </a:ext>
            </a:extLst>
          </p:cNvPr>
          <p:cNvSpPr txBox="1"/>
          <p:nvPr/>
        </p:nvSpPr>
        <p:spPr>
          <a:xfrm>
            <a:off x="4291262" y="1285104"/>
            <a:ext cx="7555721" cy="905376"/>
          </a:xfrm>
          <a:prstGeom prst="rect">
            <a:avLst/>
          </a:prstGeom>
        </p:spPr>
        <p:txBody>
          <a:bodyPr vert="horz" wrap="square" lIns="0" tIns="43180" rIns="0" bIns="0" rtlCol="0">
            <a:spAutoFit/>
          </a:bodyPr>
          <a:lstStyle/>
          <a:p>
            <a:pPr marL="12700">
              <a:lnSpc>
                <a:spcPct val="100000"/>
              </a:lnSpc>
              <a:spcBef>
                <a:spcPts val="340"/>
              </a:spcBef>
              <a:tabLst>
                <a:tab pos="241300" algn="l"/>
              </a:tabLst>
            </a:pPr>
            <a:r>
              <a:rPr lang="en-US" sz="2000" b="1" dirty="0">
                <a:latin typeface="+mj-lt"/>
              </a:rPr>
              <a:t>NSGs act as rule containers</a:t>
            </a:r>
            <a:br>
              <a:rPr lang="en-US" sz="2000" dirty="0"/>
            </a:br>
            <a:r>
              <a:rPr lang="en-US" dirty="0"/>
              <a:t>Create </a:t>
            </a:r>
            <a:r>
              <a:rPr lang="en-US" b="1" dirty="0"/>
              <a:t>custom security rules</a:t>
            </a:r>
            <a:r>
              <a:rPr lang="en-US" dirty="0"/>
              <a:t> and group them in a </a:t>
            </a:r>
            <a:r>
              <a:rPr lang="en-US" b="1" dirty="0"/>
              <a:t>Network Security Group (NSG)</a:t>
            </a:r>
            <a:r>
              <a:rPr lang="en-US" dirty="0"/>
              <a:t>.</a:t>
            </a:r>
            <a:endParaRPr dirty="0">
              <a:ea typeface="Nirmala UI Semilight" panose="020B0402040204020203" pitchFamily="34" charset="0"/>
              <a:cs typeface="Nirmala UI Semilight" panose="020B0402040204020203" pitchFamily="34" charset="0"/>
            </a:endParaRPr>
          </a:p>
        </p:txBody>
      </p:sp>
      <p:sp>
        <p:nvSpPr>
          <p:cNvPr id="9" name="Path405">
            <a:extLst>
              <a:ext uri="{FF2B5EF4-FFF2-40B4-BE49-F238E27FC236}">
                <a16:creationId xmlns:a16="http://schemas.microsoft.com/office/drawing/2014/main" id="{548021A8-597F-7D4A-9E0F-A4457AD28BDE}"/>
              </a:ext>
            </a:extLst>
          </p:cNvPr>
          <p:cNvSpPr/>
          <p:nvPr/>
        </p:nvSpPr>
        <p:spPr>
          <a:xfrm>
            <a:off x="4037678" y="1389962"/>
            <a:ext cx="45719" cy="4678098"/>
          </a:xfrm>
          <a:custGeom>
            <a:avLst/>
            <a:gdLst/>
            <a:ahLst/>
            <a:cxnLst/>
            <a:rect l="l" t="t" r="r" b="b"/>
            <a:pathLst>
              <a:path w="51816" h="4182758">
                <a:moveTo>
                  <a:pt x="25908" y="25908"/>
                </a:moveTo>
                <a:lnTo>
                  <a:pt x="25908" y="4156850"/>
                </a:lnTo>
              </a:path>
            </a:pathLst>
          </a:custGeom>
          <a:solidFill>
            <a:srgbClr val="000000">
              <a:alpha val="0"/>
            </a:srgbClr>
          </a:solidFill>
          <a:ln w="25908" cap="sq">
            <a:solidFill>
              <a:srgbClr val="F05A28"/>
            </a:solidFill>
            <a:prstDash val="solid"/>
          </a:ln>
        </p:spPr>
        <p:txBody>
          <a:bodyPr rtlCol="0" anchor="ctr"/>
          <a:lstStyle/>
          <a:p>
            <a:pPr algn="ctr"/>
            <a:endParaRPr lang="en-US" altLang="zh-CN"/>
          </a:p>
        </p:txBody>
      </p:sp>
      <p:sp>
        <p:nvSpPr>
          <p:cNvPr id="3" name="object 3">
            <a:extLst>
              <a:ext uri="{FF2B5EF4-FFF2-40B4-BE49-F238E27FC236}">
                <a16:creationId xmlns:a16="http://schemas.microsoft.com/office/drawing/2014/main" id="{3790E449-B30B-47A3-CB86-0B8A360A552F}"/>
              </a:ext>
            </a:extLst>
          </p:cNvPr>
          <p:cNvSpPr txBox="1"/>
          <p:nvPr/>
        </p:nvSpPr>
        <p:spPr>
          <a:xfrm>
            <a:off x="4291263" y="2219748"/>
            <a:ext cx="7555721" cy="1459374"/>
          </a:xfrm>
          <a:prstGeom prst="rect">
            <a:avLst/>
          </a:prstGeom>
        </p:spPr>
        <p:txBody>
          <a:bodyPr vert="horz" wrap="square" lIns="0" tIns="43180" rIns="0" bIns="0" rtlCol="0">
            <a:spAutoFit/>
          </a:bodyPr>
          <a:lstStyle/>
          <a:p>
            <a:r>
              <a:rPr lang="en-US" sz="2000" b="1" dirty="0">
                <a:latin typeface="+mj-lt"/>
              </a:rPr>
              <a:t>Assign NSGs to Subnets, NICs, or Both</a:t>
            </a:r>
            <a:br>
              <a:rPr lang="en-US" sz="2000" dirty="0"/>
            </a:br>
            <a:r>
              <a:rPr lang="en-US" b="1" dirty="0"/>
              <a:t>NSGs can be applied at:</a:t>
            </a:r>
          </a:p>
          <a:p>
            <a:pPr marL="342900" indent="-342900">
              <a:buFont typeface="Arial" panose="020B0604020202020204" pitchFamily="34" charset="0"/>
              <a:buChar char="•"/>
            </a:pPr>
            <a:r>
              <a:rPr lang="en-US" dirty="0"/>
              <a:t>The </a:t>
            </a:r>
            <a:r>
              <a:rPr lang="en-US" b="1" dirty="0"/>
              <a:t>subnet level</a:t>
            </a:r>
            <a:r>
              <a:rPr lang="en-US" dirty="0"/>
              <a:t> (affects all VMs in the subnet)</a:t>
            </a:r>
          </a:p>
          <a:p>
            <a:pPr marL="342900" indent="-342900">
              <a:buFont typeface="Arial" panose="020B0604020202020204" pitchFamily="34" charset="0"/>
              <a:buChar char="•"/>
            </a:pPr>
            <a:r>
              <a:rPr lang="en-US" dirty="0"/>
              <a:t>The </a:t>
            </a:r>
            <a:r>
              <a:rPr lang="en-US" b="1" dirty="0"/>
              <a:t>network interface (NIC)</a:t>
            </a:r>
            <a:r>
              <a:rPr lang="en-US" dirty="0"/>
              <a:t> level (affects that specific VM)</a:t>
            </a:r>
          </a:p>
          <a:p>
            <a:pPr marL="342900" indent="-342900">
              <a:buFont typeface="Arial" panose="020B0604020202020204" pitchFamily="34" charset="0"/>
              <a:buChar char="•"/>
            </a:pPr>
            <a:r>
              <a:rPr lang="en-US" dirty="0"/>
              <a:t>Or both — </a:t>
            </a:r>
            <a:r>
              <a:rPr lang="en-US" b="1" dirty="0"/>
              <a:t>combined enforcement applies</a:t>
            </a:r>
            <a:endParaRPr lang="en-US" dirty="0"/>
          </a:p>
        </p:txBody>
      </p:sp>
      <p:sp>
        <p:nvSpPr>
          <p:cNvPr id="4" name="object 3">
            <a:extLst>
              <a:ext uri="{FF2B5EF4-FFF2-40B4-BE49-F238E27FC236}">
                <a16:creationId xmlns:a16="http://schemas.microsoft.com/office/drawing/2014/main" id="{6839B7AA-B46F-9F1A-1AAD-1E3C9FE408B3}"/>
              </a:ext>
            </a:extLst>
          </p:cNvPr>
          <p:cNvSpPr txBox="1"/>
          <p:nvPr/>
        </p:nvSpPr>
        <p:spPr>
          <a:xfrm>
            <a:off x="4291263" y="3737658"/>
            <a:ext cx="7555721" cy="905376"/>
          </a:xfrm>
          <a:prstGeom prst="rect">
            <a:avLst/>
          </a:prstGeom>
        </p:spPr>
        <p:txBody>
          <a:bodyPr vert="horz" wrap="square" lIns="0" tIns="43180" rIns="0" bIns="0" rtlCol="0">
            <a:spAutoFit/>
          </a:bodyPr>
          <a:lstStyle/>
          <a:p>
            <a:r>
              <a:rPr lang="en-US" sz="2000" b="1" dirty="0">
                <a:latin typeface="+mj-lt"/>
              </a:rPr>
              <a:t>Subnet NSGs are not perimeter firewalls</a:t>
            </a:r>
            <a:br>
              <a:rPr lang="en-US" sz="2000" dirty="0"/>
            </a:br>
            <a:r>
              <a:rPr lang="en-US" dirty="0"/>
              <a:t>Rules are evaluated </a:t>
            </a:r>
            <a:r>
              <a:rPr lang="en-US" b="1" dirty="0"/>
              <a:t>at the NIC level</a:t>
            </a:r>
            <a:r>
              <a:rPr lang="en-US" dirty="0"/>
              <a:t>, even when applied to a subnet.</a:t>
            </a:r>
            <a:br>
              <a:rPr lang="en-US" dirty="0"/>
            </a:br>
            <a:r>
              <a:rPr lang="en-US" dirty="0"/>
              <a:t>Every NIC enforces the rules as if they were local.</a:t>
            </a:r>
          </a:p>
        </p:txBody>
      </p:sp>
      <p:sp>
        <p:nvSpPr>
          <p:cNvPr id="7" name="object 3">
            <a:extLst>
              <a:ext uri="{FF2B5EF4-FFF2-40B4-BE49-F238E27FC236}">
                <a16:creationId xmlns:a16="http://schemas.microsoft.com/office/drawing/2014/main" id="{AE57FEE0-C071-1BDD-70A8-1214CF56988F}"/>
              </a:ext>
            </a:extLst>
          </p:cNvPr>
          <p:cNvSpPr txBox="1"/>
          <p:nvPr/>
        </p:nvSpPr>
        <p:spPr>
          <a:xfrm>
            <a:off x="4267021" y="4760107"/>
            <a:ext cx="7555721" cy="1182375"/>
          </a:xfrm>
          <a:prstGeom prst="rect">
            <a:avLst/>
          </a:prstGeom>
        </p:spPr>
        <p:txBody>
          <a:bodyPr vert="horz" wrap="square" lIns="0" tIns="43180" rIns="0" bIns="0" rtlCol="0">
            <a:spAutoFit/>
          </a:bodyPr>
          <a:lstStyle/>
          <a:p>
            <a:r>
              <a:rPr lang="en-US" sz="2000" b="1" dirty="0">
                <a:latin typeface="+mj-lt"/>
              </a:rPr>
              <a:t>Rule evaluation order</a:t>
            </a:r>
            <a:endParaRPr lang="en-US" sz="2000" dirty="0">
              <a:latin typeface="+mj-lt"/>
            </a:endParaRPr>
          </a:p>
          <a:p>
            <a:pPr marL="285750" indent="-285750">
              <a:buFont typeface="Arial" panose="020B0604020202020204" pitchFamily="34" charset="0"/>
              <a:buChar char="•"/>
            </a:pPr>
            <a:r>
              <a:rPr lang="en-US" b="1" dirty="0"/>
              <a:t>Inbound traffic</a:t>
            </a:r>
            <a:r>
              <a:rPr lang="en-US" dirty="0"/>
              <a:t>: Subnet NSG → then NIC NSG</a:t>
            </a:r>
          </a:p>
          <a:p>
            <a:pPr marL="285750" indent="-285750">
              <a:buFont typeface="Arial" panose="020B0604020202020204" pitchFamily="34" charset="0"/>
              <a:buChar char="•"/>
            </a:pPr>
            <a:r>
              <a:rPr lang="en-US" b="1" dirty="0"/>
              <a:t>Outbound traffic</a:t>
            </a:r>
            <a:r>
              <a:rPr lang="en-US" dirty="0"/>
              <a:t>: NIC NSG → then Subnet NSG</a:t>
            </a:r>
            <a:br>
              <a:rPr lang="en-US" dirty="0"/>
            </a:br>
            <a:r>
              <a:rPr lang="en-US" dirty="0"/>
              <a:t>➤ </a:t>
            </a:r>
            <a:r>
              <a:rPr lang="en-US" b="1" dirty="0"/>
              <a:t>Both must allow</a:t>
            </a:r>
            <a:r>
              <a:rPr lang="en-US" dirty="0"/>
              <a:t> the traffic for it to pass.</a:t>
            </a:r>
          </a:p>
        </p:txBody>
      </p:sp>
    </p:spTree>
    <p:extLst>
      <p:ext uri="{BB962C8B-B14F-4D97-AF65-F5344CB8AC3E}">
        <p14:creationId xmlns:p14="http://schemas.microsoft.com/office/powerpoint/2010/main" val="12792257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Title 1"/>
          <p:cNvSpPr txBox="1">
            <a:spLocks noGrp="1"/>
          </p:cNvSpPr>
          <p:nvPr>
            <p:ph type="title"/>
          </p:nvPr>
        </p:nvSpPr>
        <p:spPr>
          <a:prstGeom prst="rect">
            <a:avLst/>
          </a:prstGeom>
        </p:spPr>
        <p:txBody>
          <a:bodyPr/>
          <a:lstStyle>
            <a:lvl1pPr defTabSz="905255">
              <a:defRPr sz="3564" spc="-99"/>
            </a:lvl1pPr>
          </a:lstStyle>
          <a:p>
            <a:r>
              <a:rPr lang="en-US" dirty="0"/>
              <a:t>NSG Rules</a:t>
            </a:r>
            <a:endParaRPr dirty="0"/>
          </a:p>
        </p:txBody>
      </p:sp>
      <p:sp>
        <p:nvSpPr>
          <p:cNvPr id="415" name="Slide Number Placeholder 4"/>
          <p:cNvSpPr txBox="1">
            <a:spLocks noGrp="1"/>
          </p:cNvSpPr>
          <p:nvPr>
            <p:ph type="sldNum" sz="quarter" idx="12"/>
          </p:nvPr>
        </p:nvSpPr>
        <p:spPr>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D1282E"/>
                </a:solidFill>
                <a:effectLst/>
                <a:uFillTx/>
                <a:latin typeface="Arial"/>
                <a:ea typeface="Arial"/>
                <a:cs typeface="Arial"/>
                <a:sym typeface="Arial"/>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n-US" smtClean="0"/>
              <a:pPr/>
              <a:t>12</a:t>
            </a:fld>
            <a:endParaRPr/>
          </a:p>
        </p:txBody>
      </p:sp>
      <p:sp>
        <p:nvSpPr>
          <p:cNvPr id="5" name="Path72">
            <a:extLst>
              <a:ext uri="{FF2B5EF4-FFF2-40B4-BE49-F238E27FC236}">
                <a16:creationId xmlns:a16="http://schemas.microsoft.com/office/drawing/2014/main" id="{4B30C7DB-C8AC-2145-9861-353091EE435D}"/>
              </a:ext>
            </a:extLst>
          </p:cNvPr>
          <p:cNvSpPr/>
          <p:nvPr/>
        </p:nvSpPr>
        <p:spPr>
          <a:xfrm>
            <a:off x="0" y="0"/>
            <a:ext cx="0" cy="0"/>
          </a:xfrm>
          <a:custGeom>
            <a:avLst/>
            <a:gdLst/>
            <a:ahLst/>
            <a:cxnLst/>
            <a:rect l="l" t="t" r="r" b="b"/>
            <a:pathLst>
              <a:path/>
            </a:pathLst>
          </a:custGeom>
          <a:solidFill/>
          <a:ln>
            <a:solidFill/>
            <a:prstDash/>
          </a:ln>
        </p:spPr>
        <p:txBody>
          <a:bodyPr rtlCol="0" anchor="ctr"/>
          <a:lstStyle/>
          <a:p>
            <a:pPr algn="ctr"/>
            <a:endParaRPr lang="en-US" altLang="zh-CN"/>
          </a:p>
        </p:txBody>
      </p:sp>
      <p:sp>
        <p:nvSpPr>
          <p:cNvPr id="9" name="Path405">
            <a:extLst>
              <a:ext uri="{FF2B5EF4-FFF2-40B4-BE49-F238E27FC236}">
                <a16:creationId xmlns:a16="http://schemas.microsoft.com/office/drawing/2014/main" id="{548021A8-597F-7D4A-9E0F-A4457AD28BDE}"/>
              </a:ext>
            </a:extLst>
          </p:cNvPr>
          <p:cNvSpPr/>
          <p:nvPr/>
        </p:nvSpPr>
        <p:spPr>
          <a:xfrm>
            <a:off x="3957467" y="1545647"/>
            <a:ext cx="51816" cy="4182758"/>
          </a:xfrm>
          <a:custGeom>
            <a:avLst/>
            <a:gdLst/>
            <a:ahLst/>
            <a:cxnLst/>
            <a:rect l="l" t="t" r="r" b="b"/>
            <a:pathLst>
              <a:path w="51816" h="4182758">
                <a:moveTo>
                  <a:pt x="25908" y="25908"/>
                </a:moveTo>
                <a:lnTo>
                  <a:pt x="25908" y="4156850"/>
                </a:lnTo>
              </a:path>
            </a:pathLst>
          </a:custGeom>
          <a:solidFill>
            <a:srgbClr val="000000">
              <a:alpha val="0"/>
            </a:srgbClr>
          </a:solidFill>
          <a:ln w="25908" cap="sq">
            <a:solidFill>
              <a:srgbClr val="F05A28"/>
            </a:solidFill>
            <a:prstDash val="solid"/>
          </a:ln>
        </p:spPr>
        <p:txBody>
          <a:bodyPr rtlCol="0" anchor="ctr"/>
          <a:lstStyle/>
          <a:p>
            <a:pPr algn="ctr"/>
            <a:endParaRPr lang="en-US" altLang="zh-CN"/>
          </a:p>
        </p:txBody>
      </p:sp>
      <p:grpSp>
        <p:nvGrpSpPr>
          <p:cNvPr id="8" name="Group481">
            <a:extLst>
              <a:ext uri="{FF2B5EF4-FFF2-40B4-BE49-F238E27FC236}">
                <a16:creationId xmlns:a16="http://schemas.microsoft.com/office/drawing/2014/main" id="{40B2EE20-6B1F-434B-8429-BD064AF1600F}"/>
              </a:ext>
            </a:extLst>
          </p:cNvPr>
          <p:cNvGrpSpPr/>
          <p:nvPr/>
        </p:nvGrpSpPr>
        <p:grpSpPr>
          <a:xfrm>
            <a:off x="1348740" y="2905379"/>
            <a:ext cx="2211070" cy="1463294"/>
            <a:chOff x="1348740" y="2905379"/>
            <a:chExt cx="2211070" cy="1463294"/>
          </a:xfrm>
        </p:grpSpPr>
        <p:pic>
          <p:nvPicPr>
            <p:cNvPr id="11" name="Image482">
              <a:extLst>
                <a:ext uri="{FF2B5EF4-FFF2-40B4-BE49-F238E27FC236}">
                  <a16:creationId xmlns:a16="http://schemas.microsoft.com/office/drawing/2014/main" id="{BC8E36DC-1549-B94C-BCCF-D0CE6D7012CE}"/>
                </a:ext>
              </a:extLst>
            </p:cNvPr>
            <p:cNvPicPr>
              <a:picLocks noChangeAspect="1"/>
            </p:cNvPicPr>
            <p:nvPr/>
          </p:nvPicPr>
          <p:blipFill>
            <a:blip r:embed="rId3"/>
            <a:stretch>
              <a:fillRect/>
            </a:stretch>
          </p:blipFill>
          <p:spPr>
            <a:xfrm>
              <a:off x="1348740" y="2905379"/>
              <a:ext cx="1475232" cy="1463294"/>
            </a:xfrm>
            <a:prstGeom prst="rect">
              <a:avLst/>
            </a:prstGeom>
            <a:noFill/>
          </p:spPr>
        </p:pic>
        <p:pic>
          <p:nvPicPr>
            <p:cNvPr id="12" name="Image483">
              <a:extLst>
                <a:ext uri="{FF2B5EF4-FFF2-40B4-BE49-F238E27FC236}">
                  <a16:creationId xmlns:a16="http://schemas.microsoft.com/office/drawing/2014/main" id="{03F2305A-0EBF-094F-8915-AA73B145D252}"/>
                </a:ext>
              </a:extLst>
            </p:cNvPr>
            <p:cNvPicPr>
              <a:picLocks noChangeAspect="1"/>
            </p:cNvPicPr>
            <p:nvPr/>
          </p:nvPicPr>
          <p:blipFill>
            <a:blip r:embed="rId4"/>
            <a:stretch>
              <a:fillRect/>
            </a:stretch>
          </p:blipFill>
          <p:spPr>
            <a:xfrm>
              <a:off x="2209800" y="3685921"/>
              <a:ext cx="1350010" cy="487680"/>
            </a:xfrm>
            <a:prstGeom prst="rect">
              <a:avLst/>
            </a:prstGeom>
            <a:noFill/>
          </p:spPr>
        </p:pic>
      </p:grpSp>
      <p:sp>
        <p:nvSpPr>
          <p:cNvPr id="2" name="object 3">
            <a:extLst>
              <a:ext uri="{FF2B5EF4-FFF2-40B4-BE49-F238E27FC236}">
                <a16:creationId xmlns:a16="http://schemas.microsoft.com/office/drawing/2014/main" id="{288B1260-83A5-82B3-AB7A-CE3B8630E8DD}"/>
              </a:ext>
            </a:extLst>
          </p:cNvPr>
          <p:cNvSpPr txBox="1"/>
          <p:nvPr/>
        </p:nvSpPr>
        <p:spPr>
          <a:xfrm>
            <a:off x="4291258" y="1658020"/>
            <a:ext cx="7555721" cy="943848"/>
          </a:xfrm>
          <a:prstGeom prst="rect">
            <a:avLst/>
          </a:prstGeom>
        </p:spPr>
        <p:txBody>
          <a:bodyPr vert="horz" wrap="square" lIns="0" tIns="43180" rIns="0" bIns="0" rtlCol="0">
            <a:spAutoFit/>
          </a:bodyPr>
          <a:lstStyle/>
          <a:p>
            <a:pPr marL="12700">
              <a:lnSpc>
                <a:spcPct val="100000"/>
              </a:lnSpc>
              <a:spcBef>
                <a:spcPts val="340"/>
              </a:spcBef>
              <a:tabLst>
                <a:tab pos="241300" algn="l"/>
              </a:tabLst>
            </a:pPr>
            <a:r>
              <a:rPr lang="en-US" sz="2000" b="1" dirty="0">
                <a:latin typeface="+mj-lt"/>
              </a:rPr>
              <a:t>1. Source</a:t>
            </a:r>
          </a:p>
          <a:p>
            <a:pPr marL="12700">
              <a:lnSpc>
                <a:spcPct val="100000"/>
              </a:lnSpc>
              <a:spcBef>
                <a:spcPts val="340"/>
              </a:spcBef>
              <a:tabLst>
                <a:tab pos="241300" algn="l"/>
              </a:tabLst>
            </a:pPr>
            <a:r>
              <a:rPr lang="en-US" dirty="0"/>
              <a:t>IP address, CIDR range, Service Tag (e.g., Internet, </a:t>
            </a:r>
            <a:r>
              <a:rPr lang="en-US" dirty="0" err="1"/>
              <a:t>VirtualNetwork</a:t>
            </a:r>
            <a:r>
              <a:rPr lang="en-US" dirty="0"/>
              <a:t>), or Application Security Group (ASG)</a:t>
            </a:r>
            <a:endParaRPr sz="1600" dirty="0">
              <a:ea typeface="Nirmala UI Semilight" panose="020B0402040204020203" pitchFamily="34" charset="0"/>
              <a:cs typeface="Nirmala UI Semilight" panose="020B0402040204020203" pitchFamily="34" charset="0"/>
            </a:endParaRPr>
          </a:p>
        </p:txBody>
      </p:sp>
      <p:sp>
        <p:nvSpPr>
          <p:cNvPr id="4" name="object 3">
            <a:extLst>
              <a:ext uri="{FF2B5EF4-FFF2-40B4-BE49-F238E27FC236}">
                <a16:creationId xmlns:a16="http://schemas.microsoft.com/office/drawing/2014/main" id="{828DBBDC-60F1-D8AE-DF42-9C03E2F486F2}"/>
              </a:ext>
            </a:extLst>
          </p:cNvPr>
          <p:cNvSpPr txBox="1"/>
          <p:nvPr/>
        </p:nvSpPr>
        <p:spPr>
          <a:xfrm>
            <a:off x="4291259" y="2680433"/>
            <a:ext cx="7555721" cy="666849"/>
          </a:xfrm>
          <a:prstGeom prst="rect">
            <a:avLst/>
          </a:prstGeom>
        </p:spPr>
        <p:txBody>
          <a:bodyPr vert="horz" wrap="square" lIns="0" tIns="43180" rIns="0" bIns="0" rtlCol="0">
            <a:spAutoFit/>
          </a:bodyPr>
          <a:lstStyle/>
          <a:p>
            <a:pPr marL="12700">
              <a:lnSpc>
                <a:spcPct val="100000"/>
              </a:lnSpc>
              <a:spcBef>
                <a:spcPts val="340"/>
              </a:spcBef>
              <a:tabLst>
                <a:tab pos="241300" algn="l"/>
              </a:tabLst>
            </a:pPr>
            <a:r>
              <a:rPr lang="en-US" sz="2000" b="1" dirty="0">
                <a:latin typeface="+mj-lt"/>
              </a:rPr>
              <a:t>2. Source Port</a:t>
            </a:r>
            <a:endParaRPr lang="en-US" b="1" dirty="0">
              <a:latin typeface="+mj-lt"/>
            </a:endParaRPr>
          </a:p>
          <a:p>
            <a:pPr marL="12700">
              <a:lnSpc>
                <a:spcPct val="100000"/>
              </a:lnSpc>
              <a:spcBef>
                <a:spcPts val="340"/>
              </a:spcBef>
              <a:tabLst>
                <a:tab pos="241300" algn="l"/>
              </a:tabLst>
            </a:pPr>
            <a:r>
              <a:rPr lang="en-US" dirty="0"/>
              <a:t>A specific port (e.g., 80), range (1000–2000), or * for all ports</a:t>
            </a:r>
            <a:endParaRPr sz="1600" dirty="0">
              <a:ea typeface="Nirmala UI Semilight" panose="020B0402040204020203" pitchFamily="34" charset="0"/>
              <a:cs typeface="Nirmala UI Semilight" panose="020B0402040204020203" pitchFamily="34" charset="0"/>
            </a:endParaRPr>
          </a:p>
        </p:txBody>
      </p:sp>
      <p:sp>
        <p:nvSpPr>
          <p:cNvPr id="13" name="object 3">
            <a:extLst>
              <a:ext uri="{FF2B5EF4-FFF2-40B4-BE49-F238E27FC236}">
                <a16:creationId xmlns:a16="http://schemas.microsoft.com/office/drawing/2014/main" id="{0ACE21E9-9EBA-763B-C6CB-CCBE78C1809E}"/>
              </a:ext>
            </a:extLst>
          </p:cNvPr>
          <p:cNvSpPr txBox="1"/>
          <p:nvPr/>
        </p:nvSpPr>
        <p:spPr>
          <a:xfrm>
            <a:off x="4291259" y="3421469"/>
            <a:ext cx="7555721" cy="666849"/>
          </a:xfrm>
          <a:prstGeom prst="rect">
            <a:avLst/>
          </a:prstGeom>
        </p:spPr>
        <p:txBody>
          <a:bodyPr vert="horz" wrap="square" lIns="0" tIns="43180" rIns="0" bIns="0" rtlCol="0">
            <a:spAutoFit/>
          </a:bodyPr>
          <a:lstStyle/>
          <a:p>
            <a:pPr marL="12700">
              <a:lnSpc>
                <a:spcPct val="100000"/>
              </a:lnSpc>
              <a:spcBef>
                <a:spcPts val="340"/>
              </a:spcBef>
              <a:tabLst>
                <a:tab pos="241300" algn="l"/>
              </a:tabLst>
            </a:pPr>
            <a:r>
              <a:rPr lang="en-US" sz="2000" b="1" dirty="0">
                <a:latin typeface="+mj-lt"/>
              </a:rPr>
              <a:t>3. Destination</a:t>
            </a:r>
          </a:p>
          <a:p>
            <a:pPr marL="12700">
              <a:lnSpc>
                <a:spcPct val="100000"/>
              </a:lnSpc>
              <a:spcBef>
                <a:spcPts val="340"/>
              </a:spcBef>
              <a:tabLst>
                <a:tab pos="241300" algn="l"/>
              </a:tabLst>
            </a:pPr>
            <a:r>
              <a:rPr lang="en-US" dirty="0"/>
              <a:t>IP, CIDR, Service Tag, or ASG — just like Source</a:t>
            </a:r>
            <a:endParaRPr sz="1600" dirty="0">
              <a:ea typeface="Nirmala UI Semilight" panose="020B0402040204020203" pitchFamily="34" charset="0"/>
              <a:cs typeface="Nirmala UI Semilight" panose="020B0402040204020203" pitchFamily="34" charset="0"/>
            </a:endParaRPr>
          </a:p>
        </p:txBody>
      </p:sp>
      <p:sp>
        <p:nvSpPr>
          <p:cNvPr id="14" name="object 3">
            <a:extLst>
              <a:ext uri="{FF2B5EF4-FFF2-40B4-BE49-F238E27FC236}">
                <a16:creationId xmlns:a16="http://schemas.microsoft.com/office/drawing/2014/main" id="{46BF97B1-6A67-A961-C961-1F307FB6F34A}"/>
              </a:ext>
            </a:extLst>
          </p:cNvPr>
          <p:cNvSpPr txBox="1"/>
          <p:nvPr/>
        </p:nvSpPr>
        <p:spPr>
          <a:xfrm>
            <a:off x="4291260" y="4166883"/>
            <a:ext cx="7555721" cy="666849"/>
          </a:xfrm>
          <a:prstGeom prst="rect">
            <a:avLst/>
          </a:prstGeom>
        </p:spPr>
        <p:txBody>
          <a:bodyPr vert="horz" wrap="square" lIns="0" tIns="43180" rIns="0" bIns="0" rtlCol="0">
            <a:spAutoFit/>
          </a:bodyPr>
          <a:lstStyle/>
          <a:p>
            <a:pPr marL="12700">
              <a:lnSpc>
                <a:spcPct val="100000"/>
              </a:lnSpc>
              <a:spcBef>
                <a:spcPts val="340"/>
              </a:spcBef>
              <a:tabLst>
                <a:tab pos="241300" algn="l"/>
              </a:tabLst>
            </a:pPr>
            <a:r>
              <a:rPr lang="en-US" sz="2000" b="1" dirty="0">
                <a:latin typeface="+mj-lt"/>
              </a:rPr>
              <a:t>4. Destination Port</a:t>
            </a:r>
          </a:p>
          <a:p>
            <a:pPr marL="12700">
              <a:lnSpc>
                <a:spcPct val="100000"/>
              </a:lnSpc>
              <a:spcBef>
                <a:spcPts val="340"/>
              </a:spcBef>
              <a:tabLst>
                <a:tab pos="241300" algn="l"/>
              </a:tabLst>
            </a:pPr>
            <a:r>
              <a:rPr lang="en-US" dirty="0"/>
              <a:t>Exact port, range, or wildcard</a:t>
            </a:r>
            <a:endParaRPr sz="1600" dirty="0">
              <a:ea typeface="Nirmala UI Semilight" panose="020B0402040204020203" pitchFamily="34" charset="0"/>
              <a:cs typeface="Nirmala UI Semilight" panose="020B0402040204020203" pitchFamily="34" charset="0"/>
            </a:endParaRPr>
          </a:p>
        </p:txBody>
      </p:sp>
      <p:sp>
        <p:nvSpPr>
          <p:cNvPr id="15" name="object 3">
            <a:extLst>
              <a:ext uri="{FF2B5EF4-FFF2-40B4-BE49-F238E27FC236}">
                <a16:creationId xmlns:a16="http://schemas.microsoft.com/office/drawing/2014/main" id="{33BF7441-6374-61B0-7B70-EB5A2A6A9A75}"/>
              </a:ext>
            </a:extLst>
          </p:cNvPr>
          <p:cNvSpPr txBox="1"/>
          <p:nvPr/>
        </p:nvSpPr>
        <p:spPr>
          <a:xfrm>
            <a:off x="4291261" y="4906047"/>
            <a:ext cx="7555721" cy="666849"/>
          </a:xfrm>
          <a:prstGeom prst="rect">
            <a:avLst/>
          </a:prstGeom>
        </p:spPr>
        <p:txBody>
          <a:bodyPr vert="horz" wrap="square" lIns="0" tIns="43180" rIns="0" bIns="0" rtlCol="0">
            <a:spAutoFit/>
          </a:bodyPr>
          <a:lstStyle/>
          <a:p>
            <a:pPr marL="12700">
              <a:lnSpc>
                <a:spcPct val="100000"/>
              </a:lnSpc>
              <a:spcBef>
                <a:spcPts val="340"/>
              </a:spcBef>
              <a:tabLst>
                <a:tab pos="241300" algn="l"/>
              </a:tabLst>
            </a:pPr>
            <a:r>
              <a:rPr lang="en-US" sz="2000" b="1" dirty="0">
                <a:latin typeface="+mj-lt"/>
              </a:rPr>
              <a:t>5. Protocol</a:t>
            </a:r>
          </a:p>
          <a:p>
            <a:pPr marL="12700">
              <a:lnSpc>
                <a:spcPct val="100000"/>
              </a:lnSpc>
              <a:spcBef>
                <a:spcPts val="340"/>
              </a:spcBef>
              <a:tabLst>
                <a:tab pos="241300" algn="l"/>
              </a:tabLst>
            </a:pPr>
            <a:r>
              <a:rPr lang="en-US" dirty="0"/>
              <a:t>TCP, UDP, ICMP, ESP, AH, or </a:t>
            </a:r>
            <a:r>
              <a:rPr lang="en-US" b="1" dirty="0"/>
              <a:t>*</a:t>
            </a:r>
            <a:r>
              <a:rPr lang="en-US" dirty="0"/>
              <a:t> to match all</a:t>
            </a:r>
          </a:p>
        </p:txBody>
      </p:sp>
    </p:spTree>
    <p:extLst>
      <p:ext uri="{BB962C8B-B14F-4D97-AF65-F5344CB8AC3E}">
        <p14:creationId xmlns:p14="http://schemas.microsoft.com/office/powerpoint/2010/main" val="19835486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Title 1"/>
          <p:cNvSpPr txBox="1">
            <a:spLocks noGrp="1"/>
          </p:cNvSpPr>
          <p:nvPr>
            <p:ph type="title"/>
          </p:nvPr>
        </p:nvSpPr>
        <p:spPr>
          <a:prstGeom prst="rect">
            <a:avLst/>
          </a:prstGeom>
        </p:spPr>
        <p:txBody>
          <a:bodyPr/>
          <a:lstStyle>
            <a:lvl1pPr defTabSz="905255">
              <a:defRPr sz="3564" spc="-99"/>
            </a:lvl1pPr>
          </a:lstStyle>
          <a:p>
            <a:r>
              <a:rPr lang="en-US" dirty="0"/>
              <a:t>NSG Rule Scope with CIDR &amp; Tags</a:t>
            </a:r>
            <a:endParaRPr dirty="0"/>
          </a:p>
        </p:txBody>
      </p:sp>
      <p:sp>
        <p:nvSpPr>
          <p:cNvPr id="415" name="Slide Number Placeholder 4"/>
          <p:cNvSpPr txBox="1">
            <a:spLocks noGrp="1"/>
          </p:cNvSpPr>
          <p:nvPr>
            <p:ph type="sldNum" sz="quarter" idx="12"/>
          </p:nvPr>
        </p:nvSpPr>
        <p:spPr>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D1282E"/>
                </a:solidFill>
                <a:effectLst/>
                <a:uFillTx/>
                <a:latin typeface="Arial"/>
                <a:ea typeface="Arial"/>
                <a:cs typeface="Arial"/>
                <a:sym typeface="Arial"/>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n-US" smtClean="0"/>
              <a:pPr/>
              <a:t>13</a:t>
            </a:fld>
            <a:endParaRPr/>
          </a:p>
        </p:txBody>
      </p:sp>
      <p:sp>
        <p:nvSpPr>
          <p:cNvPr id="5" name="Path72">
            <a:extLst>
              <a:ext uri="{FF2B5EF4-FFF2-40B4-BE49-F238E27FC236}">
                <a16:creationId xmlns:a16="http://schemas.microsoft.com/office/drawing/2014/main" id="{4B30C7DB-C8AC-2145-9861-353091EE435D}"/>
              </a:ext>
            </a:extLst>
          </p:cNvPr>
          <p:cNvSpPr/>
          <p:nvPr/>
        </p:nvSpPr>
        <p:spPr>
          <a:xfrm>
            <a:off x="0" y="0"/>
            <a:ext cx="0" cy="0"/>
          </a:xfrm>
          <a:custGeom>
            <a:avLst/>
            <a:gdLst/>
            <a:ahLst/>
            <a:cxnLst/>
            <a:rect l="l" t="t" r="r" b="b"/>
            <a:pathLst>
              <a:path/>
            </a:pathLst>
          </a:custGeom>
          <a:solidFill/>
          <a:ln>
            <a:solidFill/>
            <a:prstDash/>
          </a:ln>
        </p:spPr>
        <p:txBody>
          <a:bodyPr rtlCol="0" anchor="ctr"/>
          <a:lstStyle/>
          <a:p>
            <a:pPr algn="ctr"/>
            <a:endParaRPr lang="en-US" altLang="zh-CN"/>
          </a:p>
        </p:txBody>
      </p:sp>
      <p:sp>
        <p:nvSpPr>
          <p:cNvPr id="9" name="Path405">
            <a:extLst>
              <a:ext uri="{FF2B5EF4-FFF2-40B4-BE49-F238E27FC236}">
                <a16:creationId xmlns:a16="http://schemas.microsoft.com/office/drawing/2014/main" id="{548021A8-597F-7D4A-9E0F-A4457AD28BDE}"/>
              </a:ext>
            </a:extLst>
          </p:cNvPr>
          <p:cNvSpPr/>
          <p:nvPr/>
        </p:nvSpPr>
        <p:spPr>
          <a:xfrm>
            <a:off x="2945892" y="1546098"/>
            <a:ext cx="51816" cy="4182758"/>
          </a:xfrm>
          <a:custGeom>
            <a:avLst/>
            <a:gdLst/>
            <a:ahLst/>
            <a:cxnLst/>
            <a:rect l="l" t="t" r="r" b="b"/>
            <a:pathLst>
              <a:path w="51816" h="4182758">
                <a:moveTo>
                  <a:pt x="25908" y="25908"/>
                </a:moveTo>
                <a:lnTo>
                  <a:pt x="25908" y="4156850"/>
                </a:lnTo>
              </a:path>
            </a:pathLst>
          </a:custGeom>
          <a:solidFill>
            <a:srgbClr val="000000">
              <a:alpha val="0"/>
            </a:srgbClr>
          </a:solidFill>
          <a:ln w="25908" cap="sq">
            <a:solidFill>
              <a:srgbClr val="F05A28"/>
            </a:solidFill>
            <a:prstDash val="solid"/>
          </a:ln>
        </p:spPr>
        <p:txBody>
          <a:bodyPr rtlCol="0" anchor="ctr"/>
          <a:lstStyle/>
          <a:p>
            <a:pPr algn="ctr"/>
            <a:endParaRPr lang="en-US" altLang="zh-CN"/>
          </a:p>
        </p:txBody>
      </p:sp>
      <p:grpSp>
        <p:nvGrpSpPr>
          <p:cNvPr id="8" name="Group481">
            <a:extLst>
              <a:ext uri="{FF2B5EF4-FFF2-40B4-BE49-F238E27FC236}">
                <a16:creationId xmlns:a16="http://schemas.microsoft.com/office/drawing/2014/main" id="{40B2EE20-6B1F-434B-8429-BD064AF1600F}"/>
              </a:ext>
            </a:extLst>
          </p:cNvPr>
          <p:cNvGrpSpPr/>
          <p:nvPr/>
        </p:nvGrpSpPr>
        <p:grpSpPr>
          <a:xfrm>
            <a:off x="609600" y="2905830"/>
            <a:ext cx="2211070" cy="1463294"/>
            <a:chOff x="1348740" y="2905379"/>
            <a:chExt cx="2211070" cy="1463294"/>
          </a:xfrm>
        </p:grpSpPr>
        <p:pic>
          <p:nvPicPr>
            <p:cNvPr id="11" name="Image482">
              <a:extLst>
                <a:ext uri="{FF2B5EF4-FFF2-40B4-BE49-F238E27FC236}">
                  <a16:creationId xmlns:a16="http://schemas.microsoft.com/office/drawing/2014/main" id="{BC8E36DC-1549-B94C-BCCF-D0CE6D7012CE}"/>
                </a:ext>
              </a:extLst>
            </p:cNvPr>
            <p:cNvPicPr>
              <a:picLocks noChangeAspect="1"/>
            </p:cNvPicPr>
            <p:nvPr/>
          </p:nvPicPr>
          <p:blipFill>
            <a:blip r:embed="rId3"/>
            <a:stretch>
              <a:fillRect/>
            </a:stretch>
          </p:blipFill>
          <p:spPr>
            <a:xfrm>
              <a:off x="1348740" y="2905379"/>
              <a:ext cx="1475232" cy="1463294"/>
            </a:xfrm>
            <a:prstGeom prst="rect">
              <a:avLst/>
            </a:prstGeom>
            <a:noFill/>
          </p:spPr>
        </p:pic>
        <p:pic>
          <p:nvPicPr>
            <p:cNvPr id="12" name="Image483">
              <a:extLst>
                <a:ext uri="{FF2B5EF4-FFF2-40B4-BE49-F238E27FC236}">
                  <a16:creationId xmlns:a16="http://schemas.microsoft.com/office/drawing/2014/main" id="{03F2305A-0EBF-094F-8915-AA73B145D252}"/>
                </a:ext>
              </a:extLst>
            </p:cNvPr>
            <p:cNvPicPr>
              <a:picLocks noChangeAspect="1"/>
            </p:cNvPicPr>
            <p:nvPr/>
          </p:nvPicPr>
          <p:blipFill>
            <a:blip r:embed="rId4"/>
            <a:stretch>
              <a:fillRect/>
            </a:stretch>
          </p:blipFill>
          <p:spPr>
            <a:xfrm>
              <a:off x="2209800" y="3685921"/>
              <a:ext cx="1350010" cy="487680"/>
            </a:xfrm>
            <a:prstGeom prst="rect">
              <a:avLst/>
            </a:prstGeom>
            <a:noFill/>
          </p:spPr>
        </p:pic>
      </p:grpSp>
      <p:sp>
        <p:nvSpPr>
          <p:cNvPr id="2" name="object 3">
            <a:extLst>
              <a:ext uri="{FF2B5EF4-FFF2-40B4-BE49-F238E27FC236}">
                <a16:creationId xmlns:a16="http://schemas.microsoft.com/office/drawing/2014/main" id="{D7554DF8-3267-BDFB-C80C-51E1F7EE1C58}"/>
              </a:ext>
            </a:extLst>
          </p:cNvPr>
          <p:cNvSpPr txBox="1"/>
          <p:nvPr/>
        </p:nvSpPr>
        <p:spPr>
          <a:xfrm>
            <a:off x="3312689" y="1546098"/>
            <a:ext cx="7555721" cy="1297791"/>
          </a:xfrm>
          <a:prstGeom prst="rect">
            <a:avLst/>
          </a:prstGeom>
        </p:spPr>
        <p:txBody>
          <a:bodyPr vert="horz" wrap="square" lIns="0" tIns="43180" rIns="0" bIns="0" rtlCol="0">
            <a:spAutoFit/>
          </a:bodyPr>
          <a:lstStyle/>
          <a:p>
            <a:pPr marL="12700">
              <a:lnSpc>
                <a:spcPct val="100000"/>
              </a:lnSpc>
              <a:spcBef>
                <a:spcPts val="340"/>
              </a:spcBef>
              <a:tabLst>
                <a:tab pos="241300" algn="l"/>
              </a:tabLst>
            </a:pPr>
            <a:r>
              <a:rPr lang="en-US" sz="2000" b="1" dirty="0">
                <a:latin typeface="+mj-lt"/>
              </a:rPr>
              <a:t>Source/Destination can be defined using:</a:t>
            </a:r>
          </a:p>
          <a:p>
            <a:pPr marL="355600" indent="-342900">
              <a:lnSpc>
                <a:spcPct val="100000"/>
              </a:lnSpc>
              <a:spcBef>
                <a:spcPts val="340"/>
              </a:spcBef>
              <a:buFont typeface="Arial" panose="020B0604020202020204" pitchFamily="34" charset="0"/>
              <a:buChar char="•"/>
              <a:tabLst>
                <a:tab pos="241300" algn="l"/>
              </a:tabLst>
            </a:pPr>
            <a:r>
              <a:rPr lang="en-US" dirty="0"/>
              <a:t>IP Addresses (e.g., 10.0.0.4)</a:t>
            </a:r>
          </a:p>
          <a:p>
            <a:pPr marL="355600" indent="-342900">
              <a:lnSpc>
                <a:spcPct val="100000"/>
              </a:lnSpc>
              <a:spcBef>
                <a:spcPts val="340"/>
              </a:spcBef>
              <a:buFont typeface="Arial" panose="020B0604020202020204" pitchFamily="34" charset="0"/>
              <a:buChar char="•"/>
              <a:tabLst>
                <a:tab pos="241300" algn="l"/>
              </a:tabLst>
            </a:pPr>
            <a:r>
              <a:rPr lang="en-US" dirty="0"/>
              <a:t>CIDR Blocks (e.g., 10.0.0.0/24)</a:t>
            </a:r>
          </a:p>
          <a:p>
            <a:pPr marL="355600" indent="-342900">
              <a:lnSpc>
                <a:spcPct val="100000"/>
              </a:lnSpc>
              <a:spcBef>
                <a:spcPts val="340"/>
              </a:spcBef>
              <a:buFont typeface="Arial" panose="020B0604020202020204" pitchFamily="34" charset="0"/>
              <a:buChar char="•"/>
              <a:tabLst>
                <a:tab pos="241300" algn="l"/>
              </a:tabLst>
            </a:pPr>
            <a:r>
              <a:rPr lang="en-US" dirty="0"/>
              <a:t>Service Tags (Predefined Labels)</a:t>
            </a:r>
          </a:p>
        </p:txBody>
      </p:sp>
      <p:sp>
        <p:nvSpPr>
          <p:cNvPr id="4" name="object 3">
            <a:extLst>
              <a:ext uri="{FF2B5EF4-FFF2-40B4-BE49-F238E27FC236}">
                <a16:creationId xmlns:a16="http://schemas.microsoft.com/office/drawing/2014/main" id="{BC3914BA-8DDC-0441-6C7E-D4EB9D87E69E}"/>
              </a:ext>
            </a:extLst>
          </p:cNvPr>
          <p:cNvSpPr txBox="1"/>
          <p:nvPr/>
        </p:nvSpPr>
        <p:spPr>
          <a:xfrm>
            <a:off x="3312689" y="2905830"/>
            <a:ext cx="7555721" cy="351378"/>
          </a:xfrm>
          <a:prstGeom prst="rect">
            <a:avLst/>
          </a:prstGeom>
        </p:spPr>
        <p:txBody>
          <a:bodyPr vert="horz" wrap="square" lIns="0" tIns="43180" rIns="0" bIns="0" rtlCol="0">
            <a:spAutoFit/>
          </a:bodyPr>
          <a:lstStyle/>
          <a:p>
            <a:pPr marL="12700">
              <a:lnSpc>
                <a:spcPct val="100000"/>
              </a:lnSpc>
              <a:spcBef>
                <a:spcPts val="340"/>
              </a:spcBef>
              <a:tabLst>
                <a:tab pos="241300" algn="l"/>
              </a:tabLst>
            </a:pPr>
            <a:r>
              <a:rPr lang="en-US" sz="2000" b="1" dirty="0">
                <a:latin typeface="+mj-lt"/>
              </a:rPr>
              <a:t>Common Azure Service Tags</a:t>
            </a:r>
          </a:p>
        </p:txBody>
      </p:sp>
      <p:graphicFrame>
        <p:nvGraphicFramePr>
          <p:cNvPr id="7" name="Table 6">
            <a:extLst>
              <a:ext uri="{FF2B5EF4-FFF2-40B4-BE49-F238E27FC236}">
                <a16:creationId xmlns:a16="http://schemas.microsoft.com/office/drawing/2014/main" id="{AA8D6D12-39A5-26AA-B37A-A6E3F551114F}"/>
              </a:ext>
            </a:extLst>
          </p:cNvPr>
          <p:cNvGraphicFramePr>
            <a:graphicFrameLocks noGrp="1"/>
          </p:cNvGraphicFramePr>
          <p:nvPr/>
        </p:nvGraphicFramePr>
        <p:xfrm>
          <a:off x="3312689" y="3432372"/>
          <a:ext cx="8128000" cy="2291080"/>
        </p:xfrm>
        <a:graphic>
          <a:graphicData uri="http://schemas.openxmlformats.org/drawingml/2006/table">
            <a:tbl>
              <a:tblPr firstRow="1" bandRow="1">
                <a:tableStyleId>{F5AB1C69-6EDB-4FF4-983F-18BD219EF322}</a:tableStyleId>
              </a:tblPr>
              <a:tblGrid>
                <a:gridCol w="4064000">
                  <a:extLst>
                    <a:ext uri="{9D8B030D-6E8A-4147-A177-3AD203B41FA5}">
                      <a16:colId xmlns:a16="http://schemas.microsoft.com/office/drawing/2014/main" val="592563016"/>
                    </a:ext>
                  </a:extLst>
                </a:gridCol>
                <a:gridCol w="4064000">
                  <a:extLst>
                    <a:ext uri="{9D8B030D-6E8A-4147-A177-3AD203B41FA5}">
                      <a16:colId xmlns:a16="http://schemas.microsoft.com/office/drawing/2014/main" val="612849678"/>
                    </a:ext>
                  </a:extLst>
                </a:gridCol>
              </a:tblGrid>
              <a:tr h="370840">
                <a:tc>
                  <a:txBody>
                    <a:bodyPr/>
                    <a:lstStyle/>
                    <a:p>
                      <a:r>
                        <a:rPr lang="en-US" dirty="0"/>
                        <a:t>Tag</a:t>
                      </a:r>
                    </a:p>
                  </a:txBody>
                  <a:tcPr/>
                </a:tc>
                <a:tc>
                  <a:txBody>
                    <a:bodyPr/>
                    <a:lstStyle/>
                    <a:p>
                      <a:r>
                        <a:rPr lang="en-US" dirty="0"/>
                        <a:t>Description</a:t>
                      </a:r>
                    </a:p>
                  </a:txBody>
                  <a:tcPr/>
                </a:tc>
                <a:extLst>
                  <a:ext uri="{0D108BD9-81ED-4DB2-BD59-A6C34878D82A}">
                    <a16:rowId xmlns:a16="http://schemas.microsoft.com/office/drawing/2014/main" val="261778312"/>
                  </a:ext>
                </a:extLst>
              </a:tr>
              <a:tr h="370840">
                <a:tc>
                  <a:txBody>
                    <a:bodyPr/>
                    <a:lstStyle/>
                    <a:p>
                      <a:r>
                        <a:rPr lang="en-US" dirty="0" err="1"/>
                        <a:t>VirtualNetwork</a:t>
                      </a:r>
                      <a:endParaRPr lang="en-US" dirty="0"/>
                    </a:p>
                  </a:txBody>
                  <a:tcPr/>
                </a:tc>
                <a:tc>
                  <a:txBody>
                    <a:bodyPr/>
                    <a:lstStyle/>
                    <a:p>
                      <a:r>
                        <a:rPr lang="en-US" dirty="0"/>
                        <a:t>Matches all addresses within the same </a:t>
                      </a:r>
                      <a:r>
                        <a:rPr lang="en-US" dirty="0" err="1"/>
                        <a:t>VNet</a:t>
                      </a:r>
                      <a:r>
                        <a:rPr lang="en-US" dirty="0"/>
                        <a:t> (incl. Subnets)</a:t>
                      </a:r>
                    </a:p>
                  </a:txBody>
                  <a:tcPr/>
                </a:tc>
                <a:extLst>
                  <a:ext uri="{0D108BD9-81ED-4DB2-BD59-A6C34878D82A}">
                    <a16:rowId xmlns:a16="http://schemas.microsoft.com/office/drawing/2014/main" val="1275840679"/>
                  </a:ext>
                </a:extLst>
              </a:tr>
              <a:tr h="370840">
                <a:tc>
                  <a:txBody>
                    <a:bodyPr/>
                    <a:lstStyle/>
                    <a:p>
                      <a:r>
                        <a:rPr lang="en-US" dirty="0" err="1"/>
                        <a:t>AzureLoadBalancer</a:t>
                      </a:r>
                      <a:endParaRPr lang="en-US" dirty="0"/>
                    </a:p>
                  </a:txBody>
                  <a:tcPr/>
                </a:tc>
                <a:tc>
                  <a:txBody>
                    <a:bodyPr/>
                    <a:lstStyle/>
                    <a:p>
                      <a:r>
                        <a:rPr lang="en-US" dirty="0"/>
                        <a:t>Refers to Azure’s Internal Load Balancer Infrastructure</a:t>
                      </a:r>
                    </a:p>
                  </a:txBody>
                  <a:tcPr/>
                </a:tc>
                <a:extLst>
                  <a:ext uri="{0D108BD9-81ED-4DB2-BD59-A6C34878D82A}">
                    <a16:rowId xmlns:a16="http://schemas.microsoft.com/office/drawing/2014/main" val="2854005572"/>
                  </a:ext>
                </a:extLst>
              </a:tr>
              <a:tr h="370840">
                <a:tc>
                  <a:txBody>
                    <a:bodyPr/>
                    <a:lstStyle/>
                    <a:p>
                      <a:r>
                        <a:rPr lang="en-US" dirty="0"/>
                        <a:t>Internet</a:t>
                      </a:r>
                    </a:p>
                  </a:txBody>
                  <a:tcPr/>
                </a:tc>
                <a:tc>
                  <a:txBody>
                    <a:bodyPr/>
                    <a:lstStyle/>
                    <a:p>
                      <a:r>
                        <a:rPr lang="en-US" dirty="0"/>
                        <a:t>Represents all External IPs (outside the </a:t>
                      </a:r>
                      <a:r>
                        <a:rPr lang="en-US" dirty="0" err="1"/>
                        <a:t>VNet</a:t>
                      </a:r>
                      <a:r>
                        <a:rPr lang="en-US" dirty="0"/>
                        <a:t> address space)</a:t>
                      </a:r>
                    </a:p>
                  </a:txBody>
                  <a:tcPr/>
                </a:tc>
                <a:extLst>
                  <a:ext uri="{0D108BD9-81ED-4DB2-BD59-A6C34878D82A}">
                    <a16:rowId xmlns:a16="http://schemas.microsoft.com/office/drawing/2014/main" val="3519136498"/>
                  </a:ext>
                </a:extLst>
              </a:tr>
            </a:tbl>
          </a:graphicData>
        </a:graphic>
      </p:graphicFrame>
    </p:spTree>
    <p:extLst>
      <p:ext uri="{BB962C8B-B14F-4D97-AF65-F5344CB8AC3E}">
        <p14:creationId xmlns:p14="http://schemas.microsoft.com/office/powerpoint/2010/main" val="39377347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Title 1"/>
          <p:cNvSpPr txBox="1">
            <a:spLocks noGrp="1"/>
          </p:cNvSpPr>
          <p:nvPr>
            <p:ph type="title"/>
          </p:nvPr>
        </p:nvSpPr>
        <p:spPr>
          <a:prstGeom prst="rect">
            <a:avLst/>
          </a:prstGeom>
        </p:spPr>
        <p:txBody>
          <a:bodyPr/>
          <a:lstStyle>
            <a:lvl1pPr defTabSz="905255">
              <a:defRPr sz="3564" spc="-99"/>
            </a:lvl1pPr>
          </a:lstStyle>
          <a:p>
            <a:r>
              <a:rPr lang="en-US" dirty="0"/>
              <a:t>NSG Example</a:t>
            </a:r>
            <a:endParaRPr dirty="0"/>
          </a:p>
        </p:txBody>
      </p:sp>
      <p:sp>
        <p:nvSpPr>
          <p:cNvPr id="415" name="Slide Number Placeholder 4"/>
          <p:cNvSpPr txBox="1">
            <a:spLocks noGrp="1"/>
          </p:cNvSpPr>
          <p:nvPr>
            <p:ph type="sldNum" sz="quarter" idx="12"/>
          </p:nvPr>
        </p:nvSpPr>
        <p:spPr>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D1282E"/>
                </a:solidFill>
                <a:effectLst/>
                <a:uFillTx/>
                <a:latin typeface="Arial"/>
                <a:ea typeface="Arial"/>
                <a:cs typeface="Arial"/>
                <a:sym typeface="Arial"/>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n-US" smtClean="0"/>
              <a:pPr/>
              <a:t>14</a:t>
            </a:fld>
            <a:endParaRPr/>
          </a:p>
        </p:txBody>
      </p:sp>
      <p:sp>
        <p:nvSpPr>
          <p:cNvPr id="5" name="Path72">
            <a:extLst>
              <a:ext uri="{FF2B5EF4-FFF2-40B4-BE49-F238E27FC236}">
                <a16:creationId xmlns:a16="http://schemas.microsoft.com/office/drawing/2014/main" id="{4B30C7DB-C8AC-2145-9861-353091EE435D}"/>
              </a:ext>
            </a:extLst>
          </p:cNvPr>
          <p:cNvSpPr/>
          <p:nvPr/>
        </p:nvSpPr>
        <p:spPr>
          <a:xfrm>
            <a:off x="0" y="0"/>
            <a:ext cx="0" cy="0"/>
          </a:xfrm>
          <a:custGeom>
            <a:avLst/>
            <a:gdLst/>
            <a:ahLst/>
            <a:cxnLst/>
            <a:rect l="l" t="t" r="r" b="b"/>
            <a:pathLst>
              <a:path/>
            </a:pathLst>
          </a:custGeom>
          <a:solidFill/>
          <a:ln>
            <a:solidFill/>
            <a:prstDash/>
          </a:ln>
        </p:spPr>
        <p:txBody>
          <a:bodyPr rtlCol="0" anchor="ctr"/>
          <a:lstStyle/>
          <a:p>
            <a:pPr algn="ctr"/>
            <a:endParaRPr lang="en-US" altLang="zh-CN"/>
          </a:p>
        </p:txBody>
      </p:sp>
      <p:pic>
        <p:nvPicPr>
          <p:cNvPr id="10" name="Image513">
            <a:extLst>
              <a:ext uri="{FF2B5EF4-FFF2-40B4-BE49-F238E27FC236}">
                <a16:creationId xmlns:a16="http://schemas.microsoft.com/office/drawing/2014/main" id="{14AB4D8C-02F3-6343-B5F2-F1F9B013A26F}"/>
              </a:ext>
            </a:extLst>
          </p:cNvPr>
          <p:cNvPicPr>
            <a:picLocks noChangeAspect="1"/>
          </p:cNvPicPr>
          <p:nvPr/>
        </p:nvPicPr>
        <p:blipFill>
          <a:blip r:embed="rId3"/>
          <a:stretch>
            <a:fillRect/>
          </a:stretch>
        </p:blipFill>
        <p:spPr>
          <a:xfrm>
            <a:off x="969780" y="1178306"/>
            <a:ext cx="10252439" cy="4889754"/>
          </a:xfrm>
          <a:prstGeom prst="rect">
            <a:avLst/>
          </a:prstGeom>
          <a:noFill/>
        </p:spPr>
      </p:pic>
    </p:spTree>
    <p:extLst>
      <p:ext uri="{BB962C8B-B14F-4D97-AF65-F5344CB8AC3E}">
        <p14:creationId xmlns:p14="http://schemas.microsoft.com/office/powerpoint/2010/main" val="4177894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Title 1"/>
          <p:cNvSpPr txBox="1">
            <a:spLocks noGrp="1"/>
          </p:cNvSpPr>
          <p:nvPr>
            <p:ph type="title"/>
          </p:nvPr>
        </p:nvSpPr>
        <p:spPr>
          <a:prstGeom prst="rect">
            <a:avLst/>
          </a:prstGeom>
        </p:spPr>
        <p:txBody>
          <a:bodyPr/>
          <a:lstStyle>
            <a:lvl1pPr defTabSz="905255">
              <a:defRPr sz="3564" spc="-99"/>
            </a:lvl1pPr>
          </a:lstStyle>
          <a:p>
            <a:r>
              <a:rPr lang="en-US" dirty="0"/>
              <a:t>NSG Example</a:t>
            </a:r>
            <a:endParaRPr dirty="0"/>
          </a:p>
        </p:txBody>
      </p:sp>
      <p:sp>
        <p:nvSpPr>
          <p:cNvPr id="415" name="Slide Number Placeholder 4"/>
          <p:cNvSpPr txBox="1">
            <a:spLocks noGrp="1"/>
          </p:cNvSpPr>
          <p:nvPr>
            <p:ph type="sldNum" sz="quarter" idx="12"/>
          </p:nvPr>
        </p:nvSpPr>
        <p:spPr>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D1282E"/>
                </a:solidFill>
                <a:effectLst/>
                <a:uFillTx/>
                <a:latin typeface="Arial"/>
                <a:ea typeface="Arial"/>
                <a:cs typeface="Arial"/>
                <a:sym typeface="Arial"/>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n-US" smtClean="0"/>
              <a:pPr/>
              <a:t>15</a:t>
            </a:fld>
            <a:endParaRPr/>
          </a:p>
        </p:txBody>
      </p:sp>
      <p:sp>
        <p:nvSpPr>
          <p:cNvPr id="5" name="Path72">
            <a:extLst>
              <a:ext uri="{FF2B5EF4-FFF2-40B4-BE49-F238E27FC236}">
                <a16:creationId xmlns:a16="http://schemas.microsoft.com/office/drawing/2014/main" id="{4B30C7DB-C8AC-2145-9861-353091EE435D}"/>
              </a:ext>
            </a:extLst>
          </p:cNvPr>
          <p:cNvSpPr/>
          <p:nvPr/>
        </p:nvSpPr>
        <p:spPr>
          <a:xfrm>
            <a:off x="0" y="0"/>
            <a:ext cx="0" cy="0"/>
          </a:xfrm>
          <a:custGeom>
            <a:avLst/>
            <a:gdLst/>
            <a:ahLst/>
            <a:cxnLst/>
            <a:rect l="l" t="t" r="r" b="b"/>
            <a:pathLst>
              <a:path/>
            </a:pathLst>
          </a:custGeom>
          <a:solidFill/>
          <a:ln>
            <a:solidFill/>
            <a:prstDash/>
          </a:ln>
        </p:spPr>
        <p:txBody>
          <a:bodyPr rtlCol="0" anchor="ctr"/>
          <a:lstStyle/>
          <a:p>
            <a:pPr algn="ctr"/>
            <a:endParaRPr lang="en-US" altLang="zh-CN"/>
          </a:p>
        </p:txBody>
      </p:sp>
      <p:sp>
        <p:nvSpPr>
          <p:cNvPr id="7" name="Path514">
            <a:extLst>
              <a:ext uri="{FF2B5EF4-FFF2-40B4-BE49-F238E27FC236}">
                <a16:creationId xmlns:a16="http://schemas.microsoft.com/office/drawing/2014/main" id="{60A92FD5-22D9-9344-A1FA-C38B999F6030}"/>
              </a:ext>
            </a:extLst>
          </p:cNvPr>
          <p:cNvSpPr/>
          <p:nvPr/>
        </p:nvSpPr>
        <p:spPr>
          <a:xfrm>
            <a:off x="0" y="-20320"/>
            <a:ext cx="0" cy="0"/>
          </a:xfrm>
          <a:custGeom>
            <a:avLst/>
            <a:gdLst/>
            <a:ahLst/>
            <a:cxnLst/>
            <a:rect l="l" t="t" r="r" b="b"/>
            <a:pathLst>
              <a:path/>
            </a:pathLst>
          </a:custGeom>
          <a:solidFill/>
          <a:ln>
            <a:solidFill/>
            <a:prstDash/>
          </a:ln>
        </p:spPr>
        <p:txBody>
          <a:bodyPr rtlCol="0" anchor="ctr"/>
          <a:lstStyle/>
          <a:p>
            <a:pPr algn="ctr"/>
            <a:endParaRPr lang="en-US" altLang="zh-CN"/>
          </a:p>
        </p:txBody>
      </p:sp>
      <p:pic>
        <p:nvPicPr>
          <p:cNvPr id="8" name="Image520">
            <a:extLst>
              <a:ext uri="{FF2B5EF4-FFF2-40B4-BE49-F238E27FC236}">
                <a16:creationId xmlns:a16="http://schemas.microsoft.com/office/drawing/2014/main" id="{E1248031-C6F5-4244-AE49-9C01D19EDA2F}"/>
              </a:ext>
            </a:extLst>
          </p:cNvPr>
          <p:cNvPicPr>
            <a:picLocks noChangeAspect="1"/>
          </p:cNvPicPr>
          <p:nvPr/>
        </p:nvPicPr>
        <p:blipFill>
          <a:blip r:embed="rId3"/>
          <a:stretch>
            <a:fillRect/>
          </a:stretch>
        </p:blipFill>
        <p:spPr>
          <a:xfrm>
            <a:off x="979627" y="3291332"/>
            <a:ext cx="1095617" cy="198120"/>
          </a:xfrm>
          <a:prstGeom prst="rect">
            <a:avLst/>
          </a:prstGeom>
          <a:noFill/>
        </p:spPr>
      </p:pic>
      <p:pic>
        <p:nvPicPr>
          <p:cNvPr id="9" name="Image521">
            <a:extLst>
              <a:ext uri="{FF2B5EF4-FFF2-40B4-BE49-F238E27FC236}">
                <a16:creationId xmlns:a16="http://schemas.microsoft.com/office/drawing/2014/main" id="{8EADEC70-B4EE-5949-B1C2-3ECEE3F70EBF}"/>
              </a:ext>
            </a:extLst>
          </p:cNvPr>
          <p:cNvPicPr>
            <a:picLocks noChangeAspect="1"/>
          </p:cNvPicPr>
          <p:nvPr/>
        </p:nvPicPr>
        <p:blipFill>
          <a:blip r:embed="rId4"/>
          <a:stretch>
            <a:fillRect/>
          </a:stretch>
        </p:blipFill>
        <p:spPr>
          <a:xfrm>
            <a:off x="2572258" y="3291332"/>
            <a:ext cx="732434" cy="198120"/>
          </a:xfrm>
          <a:prstGeom prst="rect">
            <a:avLst/>
          </a:prstGeom>
          <a:noFill/>
        </p:spPr>
      </p:pic>
      <p:pic>
        <p:nvPicPr>
          <p:cNvPr id="11" name="Image522">
            <a:extLst>
              <a:ext uri="{FF2B5EF4-FFF2-40B4-BE49-F238E27FC236}">
                <a16:creationId xmlns:a16="http://schemas.microsoft.com/office/drawing/2014/main" id="{EC12DC84-D03B-C842-B97E-4564F465C173}"/>
              </a:ext>
            </a:extLst>
          </p:cNvPr>
          <p:cNvPicPr>
            <a:picLocks noChangeAspect="1"/>
          </p:cNvPicPr>
          <p:nvPr/>
        </p:nvPicPr>
        <p:blipFill>
          <a:blip r:embed="rId5"/>
          <a:stretch>
            <a:fillRect/>
          </a:stretch>
        </p:blipFill>
        <p:spPr>
          <a:xfrm>
            <a:off x="3885946" y="3291332"/>
            <a:ext cx="1455166" cy="198120"/>
          </a:xfrm>
          <a:prstGeom prst="rect">
            <a:avLst/>
          </a:prstGeom>
          <a:noFill/>
        </p:spPr>
      </p:pic>
      <p:pic>
        <p:nvPicPr>
          <p:cNvPr id="12" name="Image523">
            <a:extLst>
              <a:ext uri="{FF2B5EF4-FFF2-40B4-BE49-F238E27FC236}">
                <a16:creationId xmlns:a16="http://schemas.microsoft.com/office/drawing/2014/main" id="{E8D06342-4127-B345-A096-25BC79BF7BF6}"/>
              </a:ext>
            </a:extLst>
          </p:cNvPr>
          <p:cNvPicPr>
            <a:picLocks noChangeAspect="1"/>
          </p:cNvPicPr>
          <p:nvPr/>
        </p:nvPicPr>
        <p:blipFill>
          <a:blip r:embed="rId6"/>
          <a:stretch>
            <a:fillRect/>
          </a:stretch>
        </p:blipFill>
        <p:spPr>
          <a:xfrm>
            <a:off x="7071360" y="3291332"/>
            <a:ext cx="1848358" cy="198120"/>
          </a:xfrm>
          <a:prstGeom prst="rect">
            <a:avLst/>
          </a:prstGeom>
          <a:noFill/>
        </p:spPr>
      </p:pic>
      <p:grpSp>
        <p:nvGrpSpPr>
          <p:cNvPr id="13" name="Group524">
            <a:extLst>
              <a:ext uri="{FF2B5EF4-FFF2-40B4-BE49-F238E27FC236}">
                <a16:creationId xmlns:a16="http://schemas.microsoft.com/office/drawing/2014/main" id="{54DD0B5C-07EF-5C4C-916C-EE079DDCB8E6}"/>
              </a:ext>
            </a:extLst>
          </p:cNvPr>
          <p:cNvGrpSpPr/>
          <p:nvPr/>
        </p:nvGrpSpPr>
        <p:grpSpPr>
          <a:xfrm>
            <a:off x="9137650" y="3192272"/>
            <a:ext cx="1198626" cy="396240"/>
            <a:chOff x="9137650" y="3212592"/>
            <a:chExt cx="1198626" cy="396240"/>
          </a:xfrm>
        </p:grpSpPr>
        <p:pic>
          <p:nvPicPr>
            <p:cNvPr id="14" name="Image525">
              <a:extLst>
                <a:ext uri="{FF2B5EF4-FFF2-40B4-BE49-F238E27FC236}">
                  <a16:creationId xmlns:a16="http://schemas.microsoft.com/office/drawing/2014/main" id="{81054609-41D2-8C4B-8BA6-6E08281F4791}"/>
                </a:ext>
              </a:extLst>
            </p:cNvPr>
            <p:cNvPicPr>
              <a:picLocks noChangeAspect="1"/>
            </p:cNvPicPr>
            <p:nvPr/>
          </p:nvPicPr>
          <p:blipFill>
            <a:blip r:embed="rId7"/>
            <a:stretch>
              <a:fillRect/>
            </a:stretch>
          </p:blipFill>
          <p:spPr>
            <a:xfrm>
              <a:off x="9137650" y="3212592"/>
              <a:ext cx="1198626" cy="198120"/>
            </a:xfrm>
            <a:prstGeom prst="rect">
              <a:avLst/>
            </a:prstGeom>
            <a:noFill/>
          </p:spPr>
        </p:pic>
        <p:pic>
          <p:nvPicPr>
            <p:cNvPr id="15" name="Image526">
              <a:extLst>
                <a:ext uri="{FF2B5EF4-FFF2-40B4-BE49-F238E27FC236}">
                  <a16:creationId xmlns:a16="http://schemas.microsoft.com/office/drawing/2014/main" id="{DA789CBE-9F65-8940-BF24-24A5B429CBBC}"/>
                </a:ext>
              </a:extLst>
            </p:cNvPr>
            <p:cNvPicPr>
              <a:picLocks noChangeAspect="1"/>
            </p:cNvPicPr>
            <p:nvPr/>
          </p:nvPicPr>
          <p:blipFill>
            <a:blip r:embed="rId8"/>
            <a:stretch>
              <a:fillRect/>
            </a:stretch>
          </p:blipFill>
          <p:spPr>
            <a:xfrm>
              <a:off x="9504936" y="3410712"/>
              <a:ext cx="462914" cy="198120"/>
            </a:xfrm>
            <a:prstGeom prst="rect">
              <a:avLst/>
            </a:prstGeom>
            <a:noFill/>
          </p:spPr>
        </p:pic>
      </p:grpSp>
      <p:pic>
        <p:nvPicPr>
          <p:cNvPr id="16" name="Image527">
            <a:extLst>
              <a:ext uri="{FF2B5EF4-FFF2-40B4-BE49-F238E27FC236}">
                <a16:creationId xmlns:a16="http://schemas.microsoft.com/office/drawing/2014/main" id="{48D1B64E-EB03-5E42-A7BC-360C3E489BD4}"/>
              </a:ext>
            </a:extLst>
          </p:cNvPr>
          <p:cNvPicPr>
            <a:picLocks noChangeAspect="1"/>
          </p:cNvPicPr>
          <p:nvPr/>
        </p:nvPicPr>
        <p:blipFill>
          <a:blip r:embed="rId9"/>
          <a:stretch>
            <a:fillRect/>
          </a:stretch>
        </p:blipFill>
        <p:spPr>
          <a:xfrm>
            <a:off x="10763124" y="3291332"/>
            <a:ext cx="666750" cy="198120"/>
          </a:xfrm>
          <a:prstGeom prst="rect">
            <a:avLst/>
          </a:prstGeom>
          <a:noFill/>
        </p:spPr>
      </p:pic>
      <p:grpSp>
        <p:nvGrpSpPr>
          <p:cNvPr id="17" name="Group528">
            <a:extLst>
              <a:ext uri="{FF2B5EF4-FFF2-40B4-BE49-F238E27FC236}">
                <a16:creationId xmlns:a16="http://schemas.microsoft.com/office/drawing/2014/main" id="{D2C8E5E5-C994-F048-A034-B78BD09D3E9A}"/>
              </a:ext>
            </a:extLst>
          </p:cNvPr>
          <p:cNvGrpSpPr/>
          <p:nvPr/>
        </p:nvGrpSpPr>
        <p:grpSpPr>
          <a:xfrm>
            <a:off x="615086" y="3746449"/>
            <a:ext cx="1154049" cy="198425"/>
            <a:chOff x="615086" y="3766769"/>
            <a:chExt cx="1154049" cy="198425"/>
          </a:xfrm>
        </p:grpSpPr>
        <p:pic>
          <p:nvPicPr>
            <p:cNvPr id="18" name="Image529">
              <a:extLst>
                <a:ext uri="{FF2B5EF4-FFF2-40B4-BE49-F238E27FC236}">
                  <a16:creationId xmlns:a16="http://schemas.microsoft.com/office/drawing/2014/main" id="{C471318E-D7B8-144E-BE5F-77022D9B739C}"/>
                </a:ext>
              </a:extLst>
            </p:cNvPr>
            <p:cNvPicPr>
              <a:picLocks noChangeAspect="1"/>
            </p:cNvPicPr>
            <p:nvPr/>
          </p:nvPicPr>
          <p:blipFill>
            <a:blip r:embed="rId10"/>
            <a:stretch>
              <a:fillRect/>
            </a:stretch>
          </p:blipFill>
          <p:spPr>
            <a:xfrm>
              <a:off x="615086" y="3766769"/>
              <a:ext cx="776809" cy="198425"/>
            </a:xfrm>
            <a:prstGeom prst="rect">
              <a:avLst/>
            </a:prstGeom>
            <a:noFill/>
          </p:spPr>
        </p:pic>
        <p:pic>
          <p:nvPicPr>
            <p:cNvPr id="19" name="Image530">
              <a:extLst>
                <a:ext uri="{FF2B5EF4-FFF2-40B4-BE49-F238E27FC236}">
                  <a16:creationId xmlns:a16="http://schemas.microsoft.com/office/drawing/2014/main" id="{7D31361B-711D-4C43-9CDB-CB6733C1E096}"/>
                </a:ext>
              </a:extLst>
            </p:cNvPr>
            <p:cNvPicPr>
              <a:picLocks noChangeAspect="1"/>
            </p:cNvPicPr>
            <p:nvPr/>
          </p:nvPicPr>
          <p:blipFill>
            <a:blip r:embed="rId11"/>
            <a:stretch>
              <a:fillRect/>
            </a:stretch>
          </p:blipFill>
          <p:spPr>
            <a:xfrm>
              <a:off x="1342009" y="3766769"/>
              <a:ext cx="427126" cy="198425"/>
            </a:xfrm>
            <a:prstGeom prst="rect">
              <a:avLst/>
            </a:prstGeom>
            <a:noFill/>
          </p:spPr>
        </p:pic>
      </p:grpSp>
      <p:pic>
        <p:nvPicPr>
          <p:cNvPr id="20" name="Image531">
            <a:extLst>
              <a:ext uri="{FF2B5EF4-FFF2-40B4-BE49-F238E27FC236}">
                <a16:creationId xmlns:a16="http://schemas.microsoft.com/office/drawing/2014/main" id="{EE59A1F7-6458-324A-8A99-0785E1DFD994}"/>
              </a:ext>
            </a:extLst>
          </p:cNvPr>
          <p:cNvPicPr>
            <a:picLocks noChangeAspect="1"/>
          </p:cNvPicPr>
          <p:nvPr/>
        </p:nvPicPr>
        <p:blipFill>
          <a:blip r:embed="rId12"/>
          <a:stretch>
            <a:fillRect/>
          </a:stretch>
        </p:blipFill>
        <p:spPr>
          <a:xfrm>
            <a:off x="2700528" y="3746449"/>
            <a:ext cx="493395" cy="198425"/>
          </a:xfrm>
          <a:prstGeom prst="rect">
            <a:avLst/>
          </a:prstGeom>
          <a:noFill/>
        </p:spPr>
      </p:pic>
      <p:pic>
        <p:nvPicPr>
          <p:cNvPr id="21" name="Image532">
            <a:extLst>
              <a:ext uri="{FF2B5EF4-FFF2-40B4-BE49-F238E27FC236}">
                <a16:creationId xmlns:a16="http://schemas.microsoft.com/office/drawing/2014/main" id="{11B3907F-3166-5B4C-8011-77A236B063DB}"/>
              </a:ext>
            </a:extLst>
          </p:cNvPr>
          <p:cNvPicPr>
            <a:picLocks noChangeAspect="1"/>
          </p:cNvPicPr>
          <p:nvPr/>
        </p:nvPicPr>
        <p:blipFill>
          <a:blip r:embed="rId13"/>
          <a:stretch>
            <a:fillRect/>
          </a:stretch>
        </p:blipFill>
        <p:spPr>
          <a:xfrm>
            <a:off x="4530599" y="3746449"/>
            <a:ext cx="140208" cy="198425"/>
          </a:xfrm>
          <a:prstGeom prst="rect">
            <a:avLst/>
          </a:prstGeom>
          <a:noFill/>
        </p:spPr>
      </p:pic>
      <p:pic>
        <p:nvPicPr>
          <p:cNvPr id="22" name="Image533">
            <a:extLst>
              <a:ext uri="{FF2B5EF4-FFF2-40B4-BE49-F238E27FC236}">
                <a16:creationId xmlns:a16="http://schemas.microsoft.com/office/drawing/2014/main" id="{7F023C62-436A-7247-AE02-4128FD4B3888}"/>
              </a:ext>
            </a:extLst>
          </p:cNvPr>
          <p:cNvPicPr>
            <a:picLocks noChangeAspect="1"/>
          </p:cNvPicPr>
          <p:nvPr/>
        </p:nvPicPr>
        <p:blipFill>
          <a:blip r:embed="rId14"/>
          <a:stretch>
            <a:fillRect/>
          </a:stretch>
        </p:blipFill>
        <p:spPr>
          <a:xfrm>
            <a:off x="6326378" y="3746449"/>
            <a:ext cx="140209" cy="198425"/>
          </a:xfrm>
          <a:prstGeom prst="rect">
            <a:avLst/>
          </a:prstGeom>
          <a:noFill/>
        </p:spPr>
      </p:pic>
      <p:pic>
        <p:nvPicPr>
          <p:cNvPr id="23" name="Image534">
            <a:extLst>
              <a:ext uri="{FF2B5EF4-FFF2-40B4-BE49-F238E27FC236}">
                <a16:creationId xmlns:a16="http://schemas.microsoft.com/office/drawing/2014/main" id="{7E3A9193-E8F9-F24A-83A4-FC671DCC5F04}"/>
              </a:ext>
            </a:extLst>
          </p:cNvPr>
          <p:cNvPicPr>
            <a:picLocks noChangeAspect="1"/>
          </p:cNvPicPr>
          <p:nvPr/>
        </p:nvPicPr>
        <p:blipFill>
          <a:blip r:embed="rId13"/>
          <a:stretch>
            <a:fillRect/>
          </a:stretch>
        </p:blipFill>
        <p:spPr>
          <a:xfrm>
            <a:off x="7914132" y="3746449"/>
            <a:ext cx="140208" cy="198425"/>
          </a:xfrm>
          <a:prstGeom prst="rect">
            <a:avLst/>
          </a:prstGeom>
          <a:noFill/>
        </p:spPr>
      </p:pic>
      <p:pic>
        <p:nvPicPr>
          <p:cNvPr id="24" name="Image535">
            <a:extLst>
              <a:ext uri="{FF2B5EF4-FFF2-40B4-BE49-F238E27FC236}">
                <a16:creationId xmlns:a16="http://schemas.microsoft.com/office/drawing/2014/main" id="{051BB7C3-9A83-F34F-BEAB-C0F181822DEF}"/>
              </a:ext>
            </a:extLst>
          </p:cNvPr>
          <p:cNvPicPr>
            <a:picLocks noChangeAspect="1"/>
          </p:cNvPicPr>
          <p:nvPr/>
        </p:nvPicPr>
        <p:blipFill>
          <a:blip r:embed="rId15"/>
          <a:stretch>
            <a:fillRect/>
          </a:stretch>
        </p:blipFill>
        <p:spPr>
          <a:xfrm>
            <a:off x="9530842" y="3746449"/>
            <a:ext cx="426720" cy="198425"/>
          </a:xfrm>
          <a:prstGeom prst="rect">
            <a:avLst/>
          </a:prstGeom>
          <a:noFill/>
        </p:spPr>
      </p:pic>
      <p:pic>
        <p:nvPicPr>
          <p:cNvPr id="25" name="Image536">
            <a:extLst>
              <a:ext uri="{FF2B5EF4-FFF2-40B4-BE49-F238E27FC236}">
                <a16:creationId xmlns:a16="http://schemas.microsoft.com/office/drawing/2014/main" id="{7BCB1780-7820-8549-97C4-3FCDF24D8F62}"/>
              </a:ext>
            </a:extLst>
          </p:cNvPr>
          <p:cNvPicPr>
            <a:picLocks noChangeAspect="1"/>
          </p:cNvPicPr>
          <p:nvPr/>
        </p:nvPicPr>
        <p:blipFill>
          <a:blip r:embed="rId16"/>
          <a:stretch>
            <a:fillRect/>
          </a:stretch>
        </p:blipFill>
        <p:spPr>
          <a:xfrm>
            <a:off x="10819512" y="3746449"/>
            <a:ext cx="550468" cy="198425"/>
          </a:xfrm>
          <a:prstGeom prst="rect">
            <a:avLst/>
          </a:prstGeom>
          <a:noFill/>
        </p:spPr>
      </p:pic>
      <p:pic>
        <p:nvPicPr>
          <p:cNvPr id="26" name="Image537">
            <a:extLst>
              <a:ext uri="{FF2B5EF4-FFF2-40B4-BE49-F238E27FC236}">
                <a16:creationId xmlns:a16="http://schemas.microsoft.com/office/drawing/2014/main" id="{4C3EF51E-F286-DE48-8CE8-70D0F4B0CFEF}"/>
              </a:ext>
            </a:extLst>
          </p:cNvPr>
          <p:cNvPicPr>
            <a:picLocks noChangeAspect="1"/>
          </p:cNvPicPr>
          <p:nvPr/>
        </p:nvPicPr>
        <p:blipFill>
          <a:blip r:embed="rId17"/>
          <a:stretch>
            <a:fillRect/>
          </a:stretch>
        </p:blipFill>
        <p:spPr>
          <a:xfrm>
            <a:off x="615086" y="4154805"/>
            <a:ext cx="357632" cy="198120"/>
          </a:xfrm>
          <a:prstGeom prst="rect">
            <a:avLst/>
          </a:prstGeom>
          <a:noFill/>
        </p:spPr>
      </p:pic>
      <p:pic>
        <p:nvPicPr>
          <p:cNvPr id="27" name="Image538">
            <a:extLst>
              <a:ext uri="{FF2B5EF4-FFF2-40B4-BE49-F238E27FC236}">
                <a16:creationId xmlns:a16="http://schemas.microsoft.com/office/drawing/2014/main" id="{A8659FBB-E3A2-4C47-B9EF-B936F876A7AC}"/>
              </a:ext>
            </a:extLst>
          </p:cNvPr>
          <p:cNvPicPr>
            <a:picLocks noChangeAspect="1"/>
          </p:cNvPicPr>
          <p:nvPr/>
        </p:nvPicPr>
        <p:blipFill>
          <a:blip r:embed="rId18"/>
          <a:stretch>
            <a:fillRect/>
          </a:stretch>
        </p:blipFill>
        <p:spPr>
          <a:xfrm>
            <a:off x="2721864" y="4154805"/>
            <a:ext cx="440055" cy="198120"/>
          </a:xfrm>
          <a:prstGeom prst="rect">
            <a:avLst/>
          </a:prstGeom>
          <a:noFill/>
        </p:spPr>
      </p:pic>
      <p:pic>
        <p:nvPicPr>
          <p:cNvPr id="28" name="Image539">
            <a:extLst>
              <a:ext uri="{FF2B5EF4-FFF2-40B4-BE49-F238E27FC236}">
                <a16:creationId xmlns:a16="http://schemas.microsoft.com/office/drawing/2014/main" id="{4137EB46-90EB-6F4A-A62A-153BD940ECD5}"/>
              </a:ext>
            </a:extLst>
          </p:cNvPr>
          <p:cNvPicPr>
            <a:picLocks noChangeAspect="1"/>
          </p:cNvPicPr>
          <p:nvPr/>
        </p:nvPicPr>
        <p:blipFill>
          <a:blip r:embed="rId19"/>
          <a:stretch>
            <a:fillRect/>
          </a:stretch>
        </p:blipFill>
        <p:spPr>
          <a:xfrm>
            <a:off x="3492754" y="4154805"/>
            <a:ext cx="2263775" cy="198120"/>
          </a:xfrm>
          <a:prstGeom prst="rect">
            <a:avLst/>
          </a:prstGeom>
          <a:noFill/>
        </p:spPr>
      </p:pic>
      <p:pic>
        <p:nvPicPr>
          <p:cNvPr id="29" name="Image540">
            <a:extLst>
              <a:ext uri="{FF2B5EF4-FFF2-40B4-BE49-F238E27FC236}">
                <a16:creationId xmlns:a16="http://schemas.microsoft.com/office/drawing/2014/main" id="{F8C865BF-603F-BF40-B098-1B28548F47F0}"/>
              </a:ext>
            </a:extLst>
          </p:cNvPr>
          <p:cNvPicPr>
            <a:picLocks noChangeAspect="1"/>
          </p:cNvPicPr>
          <p:nvPr/>
        </p:nvPicPr>
        <p:blipFill>
          <a:blip r:embed="rId14"/>
          <a:stretch>
            <a:fillRect/>
          </a:stretch>
        </p:blipFill>
        <p:spPr>
          <a:xfrm>
            <a:off x="6326378" y="4154805"/>
            <a:ext cx="140209" cy="198120"/>
          </a:xfrm>
          <a:prstGeom prst="rect">
            <a:avLst/>
          </a:prstGeom>
          <a:noFill/>
        </p:spPr>
      </p:pic>
      <p:pic>
        <p:nvPicPr>
          <p:cNvPr id="30" name="Image541">
            <a:extLst>
              <a:ext uri="{FF2B5EF4-FFF2-40B4-BE49-F238E27FC236}">
                <a16:creationId xmlns:a16="http://schemas.microsoft.com/office/drawing/2014/main" id="{344EE53F-FB3B-E94D-9854-DAD95A5397A9}"/>
              </a:ext>
            </a:extLst>
          </p:cNvPr>
          <p:cNvPicPr>
            <a:picLocks noChangeAspect="1"/>
          </p:cNvPicPr>
          <p:nvPr/>
        </p:nvPicPr>
        <p:blipFill>
          <a:blip r:embed="rId13"/>
          <a:stretch>
            <a:fillRect/>
          </a:stretch>
        </p:blipFill>
        <p:spPr>
          <a:xfrm>
            <a:off x="7914132" y="4154805"/>
            <a:ext cx="140208" cy="198120"/>
          </a:xfrm>
          <a:prstGeom prst="rect">
            <a:avLst/>
          </a:prstGeom>
          <a:noFill/>
        </p:spPr>
      </p:pic>
      <p:pic>
        <p:nvPicPr>
          <p:cNvPr id="31" name="Image542">
            <a:extLst>
              <a:ext uri="{FF2B5EF4-FFF2-40B4-BE49-F238E27FC236}">
                <a16:creationId xmlns:a16="http://schemas.microsoft.com/office/drawing/2014/main" id="{C5866833-5544-7445-B729-8065F7EAB9E1}"/>
              </a:ext>
            </a:extLst>
          </p:cNvPr>
          <p:cNvPicPr>
            <a:picLocks noChangeAspect="1"/>
          </p:cNvPicPr>
          <p:nvPr/>
        </p:nvPicPr>
        <p:blipFill>
          <a:blip r:embed="rId20"/>
          <a:stretch>
            <a:fillRect/>
          </a:stretch>
        </p:blipFill>
        <p:spPr>
          <a:xfrm>
            <a:off x="9425686" y="4154805"/>
            <a:ext cx="634594" cy="198120"/>
          </a:xfrm>
          <a:prstGeom prst="rect">
            <a:avLst/>
          </a:prstGeom>
          <a:noFill/>
        </p:spPr>
      </p:pic>
      <p:pic>
        <p:nvPicPr>
          <p:cNvPr id="32" name="Image543">
            <a:extLst>
              <a:ext uri="{FF2B5EF4-FFF2-40B4-BE49-F238E27FC236}">
                <a16:creationId xmlns:a16="http://schemas.microsoft.com/office/drawing/2014/main" id="{B7DA9117-2BB9-E34D-8496-FED645BC2155}"/>
              </a:ext>
            </a:extLst>
          </p:cNvPr>
          <p:cNvPicPr>
            <a:picLocks noChangeAspect="1"/>
          </p:cNvPicPr>
          <p:nvPr/>
        </p:nvPicPr>
        <p:blipFill>
          <a:blip r:embed="rId16"/>
          <a:stretch>
            <a:fillRect/>
          </a:stretch>
        </p:blipFill>
        <p:spPr>
          <a:xfrm>
            <a:off x="10819512" y="4154805"/>
            <a:ext cx="550468" cy="198120"/>
          </a:xfrm>
          <a:prstGeom prst="rect">
            <a:avLst/>
          </a:prstGeom>
          <a:noFill/>
        </p:spPr>
      </p:pic>
      <p:pic>
        <p:nvPicPr>
          <p:cNvPr id="33" name="Image544">
            <a:extLst>
              <a:ext uri="{FF2B5EF4-FFF2-40B4-BE49-F238E27FC236}">
                <a16:creationId xmlns:a16="http://schemas.microsoft.com/office/drawing/2014/main" id="{BD844914-9AE8-494A-852B-3B066BEBFD84}"/>
              </a:ext>
            </a:extLst>
          </p:cNvPr>
          <p:cNvPicPr>
            <a:picLocks noChangeAspect="1"/>
          </p:cNvPicPr>
          <p:nvPr/>
        </p:nvPicPr>
        <p:blipFill>
          <a:blip r:embed="rId21"/>
          <a:stretch>
            <a:fillRect/>
          </a:stretch>
        </p:blipFill>
        <p:spPr>
          <a:xfrm>
            <a:off x="2729484" y="4610481"/>
            <a:ext cx="419100" cy="198120"/>
          </a:xfrm>
          <a:prstGeom prst="rect">
            <a:avLst/>
          </a:prstGeom>
          <a:noFill/>
        </p:spPr>
      </p:pic>
      <p:pic>
        <p:nvPicPr>
          <p:cNvPr id="34" name="Image545">
            <a:extLst>
              <a:ext uri="{FF2B5EF4-FFF2-40B4-BE49-F238E27FC236}">
                <a16:creationId xmlns:a16="http://schemas.microsoft.com/office/drawing/2014/main" id="{96C9CC21-6E80-DE41-A561-BE2C08B445F8}"/>
              </a:ext>
            </a:extLst>
          </p:cNvPr>
          <p:cNvPicPr>
            <a:picLocks noChangeAspect="1"/>
          </p:cNvPicPr>
          <p:nvPr/>
        </p:nvPicPr>
        <p:blipFill>
          <a:blip r:embed="rId22"/>
          <a:stretch>
            <a:fillRect/>
          </a:stretch>
        </p:blipFill>
        <p:spPr>
          <a:xfrm>
            <a:off x="3840226" y="4610481"/>
            <a:ext cx="1540256" cy="198120"/>
          </a:xfrm>
          <a:prstGeom prst="rect">
            <a:avLst/>
          </a:prstGeom>
          <a:noFill/>
        </p:spPr>
      </p:pic>
      <p:pic>
        <p:nvPicPr>
          <p:cNvPr id="35" name="Image546">
            <a:extLst>
              <a:ext uri="{FF2B5EF4-FFF2-40B4-BE49-F238E27FC236}">
                <a16:creationId xmlns:a16="http://schemas.microsoft.com/office/drawing/2014/main" id="{17546217-BF8B-6842-B9F2-C1859ABF13D6}"/>
              </a:ext>
            </a:extLst>
          </p:cNvPr>
          <p:cNvPicPr>
            <a:picLocks noChangeAspect="1"/>
          </p:cNvPicPr>
          <p:nvPr/>
        </p:nvPicPr>
        <p:blipFill>
          <a:blip r:embed="rId23"/>
          <a:stretch>
            <a:fillRect/>
          </a:stretch>
        </p:blipFill>
        <p:spPr>
          <a:xfrm>
            <a:off x="6326378" y="4610481"/>
            <a:ext cx="140209" cy="198120"/>
          </a:xfrm>
          <a:prstGeom prst="rect">
            <a:avLst/>
          </a:prstGeom>
          <a:noFill/>
        </p:spPr>
      </p:pic>
      <p:pic>
        <p:nvPicPr>
          <p:cNvPr id="36" name="Image547">
            <a:extLst>
              <a:ext uri="{FF2B5EF4-FFF2-40B4-BE49-F238E27FC236}">
                <a16:creationId xmlns:a16="http://schemas.microsoft.com/office/drawing/2014/main" id="{B93FD3F3-13AD-5E45-B52B-57775B6BBB39}"/>
              </a:ext>
            </a:extLst>
          </p:cNvPr>
          <p:cNvPicPr>
            <a:picLocks noChangeAspect="1"/>
          </p:cNvPicPr>
          <p:nvPr/>
        </p:nvPicPr>
        <p:blipFill>
          <a:blip r:embed="rId24"/>
          <a:stretch>
            <a:fillRect/>
          </a:stretch>
        </p:blipFill>
        <p:spPr>
          <a:xfrm>
            <a:off x="7225285" y="4610481"/>
            <a:ext cx="1540257" cy="198120"/>
          </a:xfrm>
          <a:prstGeom prst="rect">
            <a:avLst/>
          </a:prstGeom>
          <a:noFill/>
        </p:spPr>
      </p:pic>
      <p:pic>
        <p:nvPicPr>
          <p:cNvPr id="37" name="Image548">
            <a:extLst>
              <a:ext uri="{FF2B5EF4-FFF2-40B4-BE49-F238E27FC236}">
                <a16:creationId xmlns:a16="http://schemas.microsoft.com/office/drawing/2014/main" id="{0FD6C946-5802-C14F-815C-EC28EE2B93B0}"/>
              </a:ext>
            </a:extLst>
          </p:cNvPr>
          <p:cNvPicPr>
            <a:picLocks noChangeAspect="1"/>
          </p:cNvPicPr>
          <p:nvPr/>
        </p:nvPicPr>
        <p:blipFill>
          <a:blip r:embed="rId25"/>
          <a:stretch>
            <a:fillRect/>
          </a:stretch>
        </p:blipFill>
        <p:spPr>
          <a:xfrm>
            <a:off x="9655810" y="4610481"/>
            <a:ext cx="140208" cy="198120"/>
          </a:xfrm>
          <a:prstGeom prst="rect">
            <a:avLst/>
          </a:prstGeom>
          <a:noFill/>
        </p:spPr>
      </p:pic>
      <p:pic>
        <p:nvPicPr>
          <p:cNvPr id="38" name="Image549">
            <a:extLst>
              <a:ext uri="{FF2B5EF4-FFF2-40B4-BE49-F238E27FC236}">
                <a16:creationId xmlns:a16="http://schemas.microsoft.com/office/drawing/2014/main" id="{46B20043-863B-184F-B224-461B7752ACA4}"/>
              </a:ext>
            </a:extLst>
          </p:cNvPr>
          <p:cNvPicPr>
            <a:picLocks noChangeAspect="1"/>
          </p:cNvPicPr>
          <p:nvPr/>
        </p:nvPicPr>
        <p:blipFill>
          <a:blip r:embed="rId26"/>
          <a:stretch>
            <a:fillRect/>
          </a:stretch>
        </p:blipFill>
        <p:spPr>
          <a:xfrm>
            <a:off x="10819512" y="4610481"/>
            <a:ext cx="550468" cy="198120"/>
          </a:xfrm>
          <a:prstGeom prst="rect">
            <a:avLst/>
          </a:prstGeom>
          <a:noFill/>
        </p:spPr>
      </p:pic>
      <p:grpSp>
        <p:nvGrpSpPr>
          <p:cNvPr id="39" name="Group550">
            <a:extLst>
              <a:ext uri="{FF2B5EF4-FFF2-40B4-BE49-F238E27FC236}">
                <a16:creationId xmlns:a16="http://schemas.microsoft.com/office/drawing/2014/main" id="{4480B247-1539-9943-9312-EE5DEA77E829}"/>
              </a:ext>
            </a:extLst>
          </p:cNvPr>
          <p:cNvGrpSpPr/>
          <p:nvPr/>
        </p:nvGrpSpPr>
        <p:grpSpPr>
          <a:xfrm>
            <a:off x="615086" y="5065903"/>
            <a:ext cx="1202817" cy="198120"/>
            <a:chOff x="615086" y="5086223"/>
            <a:chExt cx="1202817" cy="198120"/>
          </a:xfrm>
        </p:grpSpPr>
        <p:pic>
          <p:nvPicPr>
            <p:cNvPr id="40" name="Image551">
              <a:extLst>
                <a:ext uri="{FF2B5EF4-FFF2-40B4-BE49-F238E27FC236}">
                  <a16:creationId xmlns:a16="http://schemas.microsoft.com/office/drawing/2014/main" id="{E40175A4-904E-6947-9D60-489BBC240AD8}"/>
                </a:ext>
              </a:extLst>
            </p:cNvPr>
            <p:cNvPicPr>
              <a:picLocks noChangeAspect="1"/>
            </p:cNvPicPr>
            <p:nvPr/>
          </p:nvPicPr>
          <p:blipFill>
            <a:blip r:embed="rId27"/>
            <a:stretch>
              <a:fillRect/>
            </a:stretch>
          </p:blipFill>
          <p:spPr>
            <a:xfrm>
              <a:off x="615086" y="5086223"/>
              <a:ext cx="776809" cy="198120"/>
            </a:xfrm>
            <a:prstGeom prst="rect">
              <a:avLst/>
            </a:prstGeom>
            <a:noFill/>
          </p:spPr>
        </p:pic>
        <p:pic>
          <p:nvPicPr>
            <p:cNvPr id="41" name="Image552">
              <a:extLst>
                <a:ext uri="{FF2B5EF4-FFF2-40B4-BE49-F238E27FC236}">
                  <a16:creationId xmlns:a16="http://schemas.microsoft.com/office/drawing/2014/main" id="{95865300-4F0A-A943-89AC-941EBD350C74}"/>
                </a:ext>
              </a:extLst>
            </p:cNvPr>
            <p:cNvPicPr>
              <a:picLocks noChangeAspect="1"/>
            </p:cNvPicPr>
            <p:nvPr/>
          </p:nvPicPr>
          <p:blipFill>
            <a:blip r:embed="rId28"/>
            <a:stretch>
              <a:fillRect/>
            </a:stretch>
          </p:blipFill>
          <p:spPr>
            <a:xfrm>
              <a:off x="1342009" y="5086223"/>
              <a:ext cx="475894" cy="198120"/>
            </a:xfrm>
            <a:prstGeom prst="rect">
              <a:avLst/>
            </a:prstGeom>
            <a:noFill/>
          </p:spPr>
        </p:pic>
      </p:grpSp>
      <p:pic>
        <p:nvPicPr>
          <p:cNvPr id="42" name="Image553">
            <a:extLst>
              <a:ext uri="{FF2B5EF4-FFF2-40B4-BE49-F238E27FC236}">
                <a16:creationId xmlns:a16="http://schemas.microsoft.com/office/drawing/2014/main" id="{9168CBA9-EFE3-744A-B20F-3D1BB092D2DF}"/>
              </a:ext>
            </a:extLst>
          </p:cNvPr>
          <p:cNvPicPr>
            <a:picLocks noChangeAspect="1"/>
          </p:cNvPicPr>
          <p:nvPr/>
        </p:nvPicPr>
        <p:blipFill>
          <a:blip r:embed="rId29"/>
          <a:stretch>
            <a:fillRect/>
          </a:stretch>
        </p:blipFill>
        <p:spPr>
          <a:xfrm>
            <a:off x="2680462" y="5065903"/>
            <a:ext cx="543306" cy="198120"/>
          </a:xfrm>
          <a:prstGeom prst="rect">
            <a:avLst/>
          </a:prstGeom>
          <a:noFill/>
        </p:spPr>
      </p:pic>
      <p:pic>
        <p:nvPicPr>
          <p:cNvPr id="43" name="Image554">
            <a:extLst>
              <a:ext uri="{FF2B5EF4-FFF2-40B4-BE49-F238E27FC236}">
                <a16:creationId xmlns:a16="http://schemas.microsoft.com/office/drawing/2014/main" id="{FE191218-EC61-7B4D-BDA5-95E01D99D583}"/>
              </a:ext>
            </a:extLst>
          </p:cNvPr>
          <p:cNvPicPr>
            <a:picLocks noChangeAspect="1"/>
          </p:cNvPicPr>
          <p:nvPr/>
        </p:nvPicPr>
        <p:blipFill>
          <a:blip r:embed="rId30"/>
          <a:stretch>
            <a:fillRect/>
          </a:stretch>
        </p:blipFill>
        <p:spPr>
          <a:xfrm>
            <a:off x="3692398" y="5065903"/>
            <a:ext cx="1863217" cy="198120"/>
          </a:xfrm>
          <a:prstGeom prst="rect">
            <a:avLst/>
          </a:prstGeom>
          <a:noFill/>
        </p:spPr>
      </p:pic>
      <p:pic>
        <p:nvPicPr>
          <p:cNvPr id="44" name="Image555">
            <a:extLst>
              <a:ext uri="{FF2B5EF4-FFF2-40B4-BE49-F238E27FC236}">
                <a16:creationId xmlns:a16="http://schemas.microsoft.com/office/drawing/2014/main" id="{0CA1F527-1F8C-2749-BC01-33A800D81015}"/>
              </a:ext>
            </a:extLst>
          </p:cNvPr>
          <p:cNvPicPr>
            <a:picLocks noChangeAspect="1"/>
          </p:cNvPicPr>
          <p:nvPr/>
        </p:nvPicPr>
        <p:blipFill>
          <a:blip r:embed="rId31"/>
          <a:stretch>
            <a:fillRect/>
          </a:stretch>
        </p:blipFill>
        <p:spPr>
          <a:xfrm>
            <a:off x="6326378" y="5065903"/>
            <a:ext cx="140209" cy="198120"/>
          </a:xfrm>
          <a:prstGeom prst="rect">
            <a:avLst/>
          </a:prstGeom>
          <a:noFill/>
        </p:spPr>
      </p:pic>
      <p:pic>
        <p:nvPicPr>
          <p:cNvPr id="45" name="Image556">
            <a:extLst>
              <a:ext uri="{FF2B5EF4-FFF2-40B4-BE49-F238E27FC236}">
                <a16:creationId xmlns:a16="http://schemas.microsoft.com/office/drawing/2014/main" id="{241C0384-CB79-D247-8D50-80C26AF66CF5}"/>
              </a:ext>
            </a:extLst>
          </p:cNvPr>
          <p:cNvPicPr>
            <a:picLocks noChangeAspect="1"/>
          </p:cNvPicPr>
          <p:nvPr/>
        </p:nvPicPr>
        <p:blipFill>
          <a:blip r:embed="rId32"/>
          <a:stretch>
            <a:fillRect/>
          </a:stretch>
        </p:blipFill>
        <p:spPr>
          <a:xfrm>
            <a:off x="7914132" y="5065903"/>
            <a:ext cx="140208" cy="198120"/>
          </a:xfrm>
          <a:prstGeom prst="rect">
            <a:avLst/>
          </a:prstGeom>
          <a:noFill/>
        </p:spPr>
      </p:pic>
      <p:pic>
        <p:nvPicPr>
          <p:cNvPr id="46" name="Image557">
            <a:extLst>
              <a:ext uri="{FF2B5EF4-FFF2-40B4-BE49-F238E27FC236}">
                <a16:creationId xmlns:a16="http://schemas.microsoft.com/office/drawing/2014/main" id="{86F06E6F-3CA3-F246-9FAC-64A193C244D6}"/>
              </a:ext>
            </a:extLst>
          </p:cNvPr>
          <p:cNvPicPr>
            <a:picLocks noChangeAspect="1"/>
          </p:cNvPicPr>
          <p:nvPr/>
        </p:nvPicPr>
        <p:blipFill>
          <a:blip r:embed="rId33"/>
          <a:stretch>
            <a:fillRect/>
          </a:stretch>
        </p:blipFill>
        <p:spPr>
          <a:xfrm>
            <a:off x="9485122" y="5065903"/>
            <a:ext cx="512446" cy="198120"/>
          </a:xfrm>
          <a:prstGeom prst="rect">
            <a:avLst/>
          </a:prstGeom>
          <a:noFill/>
        </p:spPr>
      </p:pic>
      <p:pic>
        <p:nvPicPr>
          <p:cNvPr id="47" name="Image558">
            <a:extLst>
              <a:ext uri="{FF2B5EF4-FFF2-40B4-BE49-F238E27FC236}">
                <a16:creationId xmlns:a16="http://schemas.microsoft.com/office/drawing/2014/main" id="{21251B96-88B7-BC47-B41F-79E0C9E6779E}"/>
              </a:ext>
            </a:extLst>
          </p:cNvPr>
          <p:cNvPicPr>
            <a:picLocks noChangeAspect="1"/>
          </p:cNvPicPr>
          <p:nvPr/>
        </p:nvPicPr>
        <p:blipFill>
          <a:blip r:embed="rId34"/>
          <a:stretch>
            <a:fillRect/>
          </a:stretch>
        </p:blipFill>
        <p:spPr>
          <a:xfrm>
            <a:off x="10819512" y="5065903"/>
            <a:ext cx="550468" cy="198120"/>
          </a:xfrm>
          <a:prstGeom prst="rect">
            <a:avLst/>
          </a:prstGeom>
          <a:noFill/>
        </p:spPr>
      </p:pic>
      <p:grpSp>
        <p:nvGrpSpPr>
          <p:cNvPr id="48" name="Group559">
            <a:extLst>
              <a:ext uri="{FF2B5EF4-FFF2-40B4-BE49-F238E27FC236}">
                <a16:creationId xmlns:a16="http://schemas.microsoft.com/office/drawing/2014/main" id="{0246D5F4-AEB9-A84F-9FBD-2EE9A7711B24}"/>
              </a:ext>
            </a:extLst>
          </p:cNvPr>
          <p:cNvGrpSpPr/>
          <p:nvPr/>
        </p:nvGrpSpPr>
        <p:grpSpPr>
          <a:xfrm>
            <a:off x="615086" y="5474005"/>
            <a:ext cx="1689596" cy="198120"/>
            <a:chOff x="615086" y="5494325"/>
            <a:chExt cx="1689596" cy="198120"/>
          </a:xfrm>
        </p:grpSpPr>
        <p:pic>
          <p:nvPicPr>
            <p:cNvPr id="49" name="Image560">
              <a:extLst>
                <a:ext uri="{FF2B5EF4-FFF2-40B4-BE49-F238E27FC236}">
                  <a16:creationId xmlns:a16="http://schemas.microsoft.com/office/drawing/2014/main" id="{739F7348-AC76-C746-B2C0-7A8963C57316}"/>
                </a:ext>
              </a:extLst>
            </p:cNvPr>
            <p:cNvPicPr>
              <a:picLocks noChangeAspect="1"/>
            </p:cNvPicPr>
            <p:nvPr/>
          </p:nvPicPr>
          <p:blipFill>
            <a:blip r:embed="rId35"/>
            <a:stretch>
              <a:fillRect/>
            </a:stretch>
          </p:blipFill>
          <p:spPr>
            <a:xfrm>
              <a:off x="615086" y="5494325"/>
              <a:ext cx="780631" cy="198120"/>
            </a:xfrm>
            <a:prstGeom prst="rect">
              <a:avLst/>
            </a:prstGeom>
            <a:noFill/>
          </p:spPr>
        </p:pic>
        <p:pic>
          <p:nvPicPr>
            <p:cNvPr id="50" name="Image561">
              <a:extLst>
                <a:ext uri="{FF2B5EF4-FFF2-40B4-BE49-F238E27FC236}">
                  <a16:creationId xmlns:a16="http://schemas.microsoft.com/office/drawing/2014/main" id="{19CCE656-F5C7-B045-868E-3B17AA458021}"/>
                </a:ext>
              </a:extLst>
            </p:cNvPr>
            <p:cNvPicPr>
              <a:picLocks noChangeAspect="1"/>
            </p:cNvPicPr>
            <p:nvPr/>
          </p:nvPicPr>
          <p:blipFill>
            <a:blip r:embed="rId36"/>
            <a:stretch>
              <a:fillRect/>
            </a:stretch>
          </p:blipFill>
          <p:spPr>
            <a:xfrm>
              <a:off x="1317625" y="5494325"/>
              <a:ext cx="480441" cy="198120"/>
            </a:xfrm>
            <a:prstGeom prst="rect">
              <a:avLst/>
            </a:prstGeom>
            <a:noFill/>
          </p:spPr>
        </p:pic>
        <p:pic>
          <p:nvPicPr>
            <p:cNvPr id="51" name="Image562">
              <a:extLst>
                <a:ext uri="{FF2B5EF4-FFF2-40B4-BE49-F238E27FC236}">
                  <a16:creationId xmlns:a16="http://schemas.microsoft.com/office/drawing/2014/main" id="{6D53CC32-7D33-E841-8320-F8715C25123F}"/>
                </a:ext>
              </a:extLst>
            </p:cNvPr>
            <p:cNvPicPr>
              <a:picLocks noChangeAspect="1"/>
            </p:cNvPicPr>
            <p:nvPr/>
          </p:nvPicPr>
          <p:blipFill>
            <a:blip r:embed="rId37"/>
            <a:stretch>
              <a:fillRect/>
            </a:stretch>
          </p:blipFill>
          <p:spPr>
            <a:xfrm>
              <a:off x="1750822" y="5494325"/>
              <a:ext cx="553860" cy="198120"/>
            </a:xfrm>
            <a:prstGeom prst="rect">
              <a:avLst/>
            </a:prstGeom>
            <a:noFill/>
          </p:spPr>
        </p:pic>
      </p:grpSp>
      <p:pic>
        <p:nvPicPr>
          <p:cNvPr id="52" name="Image563">
            <a:extLst>
              <a:ext uri="{FF2B5EF4-FFF2-40B4-BE49-F238E27FC236}">
                <a16:creationId xmlns:a16="http://schemas.microsoft.com/office/drawing/2014/main" id="{ED39C787-A1AF-C441-A2E8-E6806FC11D92}"/>
              </a:ext>
            </a:extLst>
          </p:cNvPr>
          <p:cNvPicPr>
            <a:picLocks noChangeAspect="1"/>
          </p:cNvPicPr>
          <p:nvPr/>
        </p:nvPicPr>
        <p:blipFill>
          <a:blip r:embed="rId38"/>
          <a:stretch>
            <a:fillRect/>
          </a:stretch>
        </p:blipFill>
        <p:spPr>
          <a:xfrm>
            <a:off x="2678938" y="5474005"/>
            <a:ext cx="545211" cy="198120"/>
          </a:xfrm>
          <a:prstGeom prst="rect">
            <a:avLst/>
          </a:prstGeom>
          <a:noFill/>
        </p:spPr>
      </p:pic>
      <p:pic>
        <p:nvPicPr>
          <p:cNvPr id="53" name="Image564">
            <a:extLst>
              <a:ext uri="{FF2B5EF4-FFF2-40B4-BE49-F238E27FC236}">
                <a16:creationId xmlns:a16="http://schemas.microsoft.com/office/drawing/2014/main" id="{5A1B3666-5D81-9143-A5B2-CDAEA9FDA386}"/>
              </a:ext>
            </a:extLst>
          </p:cNvPr>
          <p:cNvPicPr>
            <a:picLocks noChangeAspect="1"/>
          </p:cNvPicPr>
          <p:nvPr/>
        </p:nvPicPr>
        <p:blipFill>
          <a:blip r:embed="rId30"/>
          <a:stretch>
            <a:fillRect/>
          </a:stretch>
        </p:blipFill>
        <p:spPr>
          <a:xfrm>
            <a:off x="3692398" y="5474005"/>
            <a:ext cx="1863217" cy="198120"/>
          </a:xfrm>
          <a:prstGeom prst="rect">
            <a:avLst/>
          </a:prstGeom>
          <a:noFill/>
        </p:spPr>
      </p:pic>
      <p:pic>
        <p:nvPicPr>
          <p:cNvPr id="54" name="Image565">
            <a:extLst>
              <a:ext uri="{FF2B5EF4-FFF2-40B4-BE49-F238E27FC236}">
                <a16:creationId xmlns:a16="http://schemas.microsoft.com/office/drawing/2014/main" id="{1E7855F2-85BC-4F48-8D7E-E679DF32728A}"/>
              </a:ext>
            </a:extLst>
          </p:cNvPr>
          <p:cNvPicPr>
            <a:picLocks noChangeAspect="1"/>
          </p:cNvPicPr>
          <p:nvPr/>
        </p:nvPicPr>
        <p:blipFill>
          <a:blip r:embed="rId31"/>
          <a:stretch>
            <a:fillRect/>
          </a:stretch>
        </p:blipFill>
        <p:spPr>
          <a:xfrm>
            <a:off x="6326378" y="5474005"/>
            <a:ext cx="140209" cy="198120"/>
          </a:xfrm>
          <a:prstGeom prst="rect">
            <a:avLst/>
          </a:prstGeom>
          <a:noFill/>
        </p:spPr>
      </p:pic>
      <p:pic>
        <p:nvPicPr>
          <p:cNvPr id="55" name="Image566">
            <a:extLst>
              <a:ext uri="{FF2B5EF4-FFF2-40B4-BE49-F238E27FC236}">
                <a16:creationId xmlns:a16="http://schemas.microsoft.com/office/drawing/2014/main" id="{2745E053-281C-AF49-BA14-385D54FEB667}"/>
              </a:ext>
            </a:extLst>
          </p:cNvPr>
          <p:cNvPicPr>
            <a:picLocks noChangeAspect="1"/>
          </p:cNvPicPr>
          <p:nvPr/>
        </p:nvPicPr>
        <p:blipFill>
          <a:blip r:embed="rId39"/>
          <a:stretch>
            <a:fillRect/>
          </a:stretch>
        </p:blipFill>
        <p:spPr>
          <a:xfrm>
            <a:off x="7075932" y="5474005"/>
            <a:ext cx="1863218" cy="198120"/>
          </a:xfrm>
          <a:prstGeom prst="rect">
            <a:avLst/>
          </a:prstGeom>
          <a:noFill/>
        </p:spPr>
      </p:pic>
      <p:pic>
        <p:nvPicPr>
          <p:cNvPr id="56" name="Image567">
            <a:extLst>
              <a:ext uri="{FF2B5EF4-FFF2-40B4-BE49-F238E27FC236}">
                <a16:creationId xmlns:a16="http://schemas.microsoft.com/office/drawing/2014/main" id="{36707CF1-5144-124E-8964-6C6198038001}"/>
              </a:ext>
            </a:extLst>
          </p:cNvPr>
          <p:cNvPicPr>
            <a:picLocks noChangeAspect="1"/>
          </p:cNvPicPr>
          <p:nvPr/>
        </p:nvPicPr>
        <p:blipFill>
          <a:blip r:embed="rId32"/>
          <a:stretch>
            <a:fillRect/>
          </a:stretch>
        </p:blipFill>
        <p:spPr>
          <a:xfrm>
            <a:off x="9655810" y="5474005"/>
            <a:ext cx="140208" cy="198120"/>
          </a:xfrm>
          <a:prstGeom prst="rect">
            <a:avLst/>
          </a:prstGeom>
          <a:noFill/>
        </p:spPr>
      </p:pic>
      <p:pic>
        <p:nvPicPr>
          <p:cNvPr id="57" name="Image568">
            <a:extLst>
              <a:ext uri="{FF2B5EF4-FFF2-40B4-BE49-F238E27FC236}">
                <a16:creationId xmlns:a16="http://schemas.microsoft.com/office/drawing/2014/main" id="{B6FDF9D6-2247-504C-9B1D-975034D85B74}"/>
              </a:ext>
            </a:extLst>
          </p:cNvPr>
          <p:cNvPicPr>
            <a:picLocks noChangeAspect="1"/>
          </p:cNvPicPr>
          <p:nvPr/>
        </p:nvPicPr>
        <p:blipFill>
          <a:blip r:embed="rId40"/>
          <a:stretch>
            <a:fillRect/>
          </a:stretch>
        </p:blipFill>
        <p:spPr>
          <a:xfrm>
            <a:off x="10837800" y="5474005"/>
            <a:ext cx="527684" cy="198120"/>
          </a:xfrm>
          <a:prstGeom prst="rect">
            <a:avLst/>
          </a:prstGeom>
          <a:noFill/>
        </p:spPr>
      </p:pic>
      <p:pic>
        <p:nvPicPr>
          <p:cNvPr id="58" name="Image569">
            <a:extLst>
              <a:ext uri="{FF2B5EF4-FFF2-40B4-BE49-F238E27FC236}">
                <a16:creationId xmlns:a16="http://schemas.microsoft.com/office/drawing/2014/main" id="{6667A2E4-D4D6-BD49-A50E-D2DAA2BA59C5}"/>
              </a:ext>
            </a:extLst>
          </p:cNvPr>
          <p:cNvPicPr>
            <a:picLocks noChangeAspect="1"/>
          </p:cNvPicPr>
          <p:nvPr/>
        </p:nvPicPr>
        <p:blipFill>
          <a:blip r:embed="rId41"/>
          <a:stretch>
            <a:fillRect/>
          </a:stretch>
        </p:blipFill>
        <p:spPr>
          <a:xfrm>
            <a:off x="2666746" y="5881523"/>
            <a:ext cx="577596" cy="198424"/>
          </a:xfrm>
          <a:prstGeom prst="rect">
            <a:avLst/>
          </a:prstGeom>
          <a:noFill/>
        </p:spPr>
      </p:pic>
      <p:pic>
        <p:nvPicPr>
          <p:cNvPr id="59" name="Image570">
            <a:extLst>
              <a:ext uri="{FF2B5EF4-FFF2-40B4-BE49-F238E27FC236}">
                <a16:creationId xmlns:a16="http://schemas.microsoft.com/office/drawing/2014/main" id="{6B0AA265-D058-8D46-95C8-360D2AD7F78E}"/>
              </a:ext>
            </a:extLst>
          </p:cNvPr>
          <p:cNvPicPr>
            <a:picLocks noChangeAspect="1"/>
          </p:cNvPicPr>
          <p:nvPr/>
        </p:nvPicPr>
        <p:blipFill>
          <a:blip r:embed="rId32"/>
          <a:stretch>
            <a:fillRect/>
          </a:stretch>
        </p:blipFill>
        <p:spPr>
          <a:xfrm>
            <a:off x="4530599" y="5881523"/>
            <a:ext cx="140208" cy="198424"/>
          </a:xfrm>
          <a:prstGeom prst="rect">
            <a:avLst/>
          </a:prstGeom>
          <a:noFill/>
        </p:spPr>
      </p:pic>
      <p:pic>
        <p:nvPicPr>
          <p:cNvPr id="60" name="Image571">
            <a:extLst>
              <a:ext uri="{FF2B5EF4-FFF2-40B4-BE49-F238E27FC236}">
                <a16:creationId xmlns:a16="http://schemas.microsoft.com/office/drawing/2014/main" id="{65139C96-46BB-D646-8B56-69122F3EF576}"/>
              </a:ext>
            </a:extLst>
          </p:cNvPr>
          <p:cNvPicPr>
            <a:picLocks noChangeAspect="1"/>
          </p:cNvPicPr>
          <p:nvPr/>
        </p:nvPicPr>
        <p:blipFill>
          <a:blip r:embed="rId31"/>
          <a:stretch>
            <a:fillRect/>
          </a:stretch>
        </p:blipFill>
        <p:spPr>
          <a:xfrm>
            <a:off x="6326378" y="5881523"/>
            <a:ext cx="140209" cy="198424"/>
          </a:xfrm>
          <a:prstGeom prst="rect">
            <a:avLst/>
          </a:prstGeom>
          <a:noFill/>
        </p:spPr>
      </p:pic>
      <p:pic>
        <p:nvPicPr>
          <p:cNvPr id="61" name="Image572">
            <a:extLst>
              <a:ext uri="{FF2B5EF4-FFF2-40B4-BE49-F238E27FC236}">
                <a16:creationId xmlns:a16="http://schemas.microsoft.com/office/drawing/2014/main" id="{6E37C367-0A14-BC47-B4FF-2A2592FF69AB}"/>
              </a:ext>
            </a:extLst>
          </p:cNvPr>
          <p:cNvPicPr>
            <a:picLocks noChangeAspect="1"/>
          </p:cNvPicPr>
          <p:nvPr/>
        </p:nvPicPr>
        <p:blipFill>
          <a:blip r:embed="rId32"/>
          <a:stretch>
            <a:fillRect/>
          </a:stretch>
        </p:blipFill>
        <p:spPr>
          <a:xfrm>
            <a:off x="7914132" y="5881523"/>
            <a:ext cx="140208" cy="198424"/>
          </a:xfrm>
          <a:prstGeom prst="rect">
            <a:avLst/>
          </a:prstGeom>
          <a:noFill/>
        </p:spPr>
      </p:pic>
      <p:pic>
        <p:nvPicPr>
          <p:cNvPr id="62" name="Image573">
            <a:extLst>
              <a:ext uri="{FF2B5EF4-FFF2-40B4-BE49-F238E27FC236}">
                <a16:creationId xmlns:a16="http://schemas.microsoft.com/office/drawing/2014/main" id="{7AA7DCD0-24E5-7E40-AF4B-61B8DBE152FF}"/>
              </a:ext>
            </a:extLst>
          </p:cNvPr>
          <p:cNvPicPr>
            <a:picLocks noChangeAspect="1"/>
          </p:cNvPicPr>
          <p:nvPr/>
        </p:nvPicPr>
        <p:blipFill>
          <a:blip r:embed="rId32"/>
          <a:stretch>
            <a:fillRect/>
          </a:stretch>
        </p:blipFill>
        <p:spPr>
          <a:xfrm>
            <a:off x="9655810" y="5881523"/>
            <a:ext cx="140208" cy="198424"/>
          </a:xfrm>
          <a:prstGeom prst="rect">
            <a:avLst/>
          </a:prstGeom>
          <a:noFill/>
        </p:spPr>
      </p:pic>
      <p:pic>
        <p:nvPicPr>
          <p:cNvPr id="63" name="Image574">
            <a:extLst>
              <a:ext uri="{FF2B5EF4-FFF2-40B4-BE49-F238E27FC236}">
                <a16:creationId xmlns:a16="http://schemas.microsoft.com/office/drawing/2014/main" id="{675374AA-2FB3-FC44-B5DB-3BA3E9FF2F22}"/>
              </a:ext>
            </a:extLst>
          </p:cNvPr>
          <p:cNvPicPr>
            <a:picLocks noChangeAspect="1"/>
          </p:cNvPicPr>
          <p:nvPr/>
        </p:nvPicPr>
        <p:blipFill>
          <a:blip r:embed="rId40"/>
          <a:stretch>
            <a:fillRect/>
          </a:stretch>
        </p:blipFill>
        <p:spPr>
          <a:xfrm>
            <a:off x="10837800" y="5881523"/>
            <a:ext cx="527684" cy="198424"/>
          </a:xfrm>
          <a:prstGeom prst="rect">
            <a:avLst/>
          </a:prstGeom>
          <a:noFill/>
        </p:spPr>
      </p:pic>
      <p:grpSp>
        <p:nvGrpSpPr>
          <p:cNvPr id="64" name="Group575">
            <a:extLst>
              <a:ext uri="{FF2B5EF4-FFF2-40B4-BE49-F238E27FC236}">
                <a16:creationId xmlns:a16="http://schemas.microsoft.com/office/drawing/2014/main" id="{1F7DE3B8-E76C-DA49-9FA1-75649D200F0D}"/>
              </a:ext>
            </a:extLst>
          </p:cNvPr>
          <p:cNvGrpSpPr/>
          <p:nvPr/>
        </p:nvGrpSpPr>
        <p:grpSpPr>
          <a:xfrm>
            <a:off x="6061202" y="3192272"/>
            <a:ext cx="747548" cy="396240"/>
            <a:chOff x="6061202" y="3212592"/>
            <a:chExt cx="747548" cy="396240"/>
          </a:xfrm>
        </p:grpSpPr>
        <p:pic>
          <p:nvPicPr>
            <p:cNvPr id="65" name="Image576">
              <a:extLst>
                <a:ext uri="{FF2B5EF4-FFF2-40B4-BE49-F238E27FC236}">
                  <a16:creationId xmlns:a16="http://schemas.microsoft.com/office/drawing/2014/main" id="{9A2BFB88-F69A-F54D-8126-8F9F5F2B7F48}"/>
                </a:ext>
              </a:extLst>
            </p:cNvPr>
            <p:cNvPicPr>
              <a:picLocks noChangeAspect="1"/>
            </p:cNvPicPr>
            <p:nvPr/>
          </p:nvPicPr>
          <p:blipFill>
            <a:blip r:embed="rId42"/>
            <a:stretch>
              <a:fillRect/>
            </a:stretch>
          </p:blipFill>
          <p:spPr>
            <a:xfrm>
              <a:off x="6061202" y="3212592"/>
              <a:ext cx="747548" cy="198120"/>
            </a:xfrm>
            <a:prstGeom prst="rect">
              <a:avLst/>
            </a:prstGeom>
            <a:noFill/>
          </p:spPr>
        </p:pic>
        <p:pic>
          <p:nvPicPr>
            <p:cNvPr id="66" name="Image577">
              <a:extLst>
                <a:ext uri="{FF2B5EF4-FFF2-40B4-BE49-F238E27FC236}">
                  <a16:creationId xmlns:a16="http://schemas.microsoft.com/office/drawing/2014/main" id="{2D25A2C7-EDE5-AB49-8780-D359429BD5F1}"/>
                </a:ext>
              </a:extLst>
            </p:cNvPr>
            <p:cNvPicPr>
              <a:picLocks noChangeAspect="1"/>
            </p:cNvPicPr>
            <p:nvPr/>
          </p:nvPicPr>
          <p:blipFill>
            <a:blip r:embed="rId43"/>
            <a:stretch>
              <a:fillRect/>
            </a:stretch>
          </p:blipFill>
          <p:spPr>
            <a:xfrm>
              <a:off x="6175502" y="3410712"/>
              <a:ext cx="462916" cy="198120"/>
            </a:xfrm>
            <a:prstGeom prst="rect">
              <a:avLst/>
            </a:prstGeom>
            <a:noFill/>
          </p:spPr>
        </p:pic>
      </p:grpSp>
      <p:grpSp>
        <p:nvGrpSpPr>
          <p:cNvPr id="67" name="Group578">
            <a:extLst>
              <a:ext uri="{FF2B5EF4-FFF2-40B4-BE49-F238E27FC236}">
                <a16:creationId xmlns:a16="http://schemas.microsoft.com/office/drawing/2014/main" id="{AA2A912A-20EB-3B48-BC00-6AC442CA4A57}"/>
              </a:ext>
            </a:extLst>
          </p:cNvPr>
          <p:cNvGrpSpPr/>
          <p:nvPr/>
        </p:nvGrpSpPr>
        <p:grpSpPr>
          <a:xfrm>
            <a:off x="615086" y="4511421"/>
            <a:ext cx="1681328" cy="396240"/>
            <a:chOff x="615086" y="4531741"/>
            <a:chExt cx="1681328" cy="396240"/>
          </a:xfrm>
        </p:grpSpPr>
        <p:pic>
          <p:nvPicPr>
            <p:cNvPr id="68" name="Image579">
              <a:extLst>
                <a:ext uri="{FF2B5EF4-FFF2-40B4-BE49-F238E27FC236}">
                  <a16:creationId xmlns:a16="http://schemas.microsoft.com/office/drawing/2014/main" id="{12AF4AED-B748-A142-A721-9B0A903207F5}"/>
                </a:ext>
              </a:extLst>
            </p:cNvPr>
            <p:cNvPicPr>
              <a:picLocks noChangeAspect="1"/>
            </p:cNvPicPr>
            <p:nvPr/>
          </p:nvPicPr>
          <p:blipFill>
            <a:blip r:embed="rId44"/>
            <a:stretch>
              <a:fillRect/>
            </a:stretch>
          </p:blipFill>
          <p:spPr>
            <a:xfrm>
              <a:off x="615086" y="4531741"/>
              <a:ext cx="1304926" cy="198120"/>
            </a:xfrm>
            <a:prstGeom prst="rect">
              <a:avLst/>
            </a:prstGeom>
            <a:noFill/>
          </p:spPr>
        </p:pic>
        <p:pic>
          <p:nvPicPr>
            <p:cNvPr id="69" name="Image580">
              <a:extLst>
                <a:ext uri="{FF2B5EF4-FFF2-40B4-BE49-F238E27FC236}">
                  <a16:creationId xmlns:a16="http://schemas.microsoft.com/office/drawing/2014/main" id="{E2F63B42-3BFA-D24F-89E4-1B0611333073}"/>
                </a:ext>
              </a:extLst>
            </p:cNvPr>
            <p:cNvPicPr>
              <a:picLocks noChangeAspect="1"/>
            </p:cNvPicPr>
            <p:nvPr/>
          </p:nvPicPr>
          <p:blipFill>
            <a:blip r:embed="rId45"/>
            <a:stretch>
              <a:fillRect/>
            </a:stretch>
          </p:blipFill>
          <p:spPr>
            <a:xfrm>
              <a:off x="615086" y="4729861"/>
              <a:ext cx="1107821" cy="198120"/>
            </a:xfrm>
            <a:prstGeom prst="rect">
              <a:avLst/>
            </a:prstGeom>
            <a:noFill/>
          </p:spPr>
        </p:pic>
        <p:pic>
          <p:nvPicPr>
            <p:cNvPr id="70" name="Image581">
              <a:extLst>
                <a:ext uri="{FF2B5EF4-FFF2-40B4-BE49-F238E27FC236}">
                  <a16:creationId xmlns:a16="http://schemas.microsoft.com/office/drawing/2014/main" id="{84BFAB3D-58A6-C245-804C-203AB833653E}"/>
                </a:ext>
              </a:extLst>
            </p:cNvPr>
            <p:cNvPicPr>
              <a:picLocks noChangeAspect="1"/>
            </p:cNvPicPr>
            <p:nvPr/>
          </p:nvPicPr>
          <p:blipFill>
            <a:blip r:embed="rId46"/>
            <a:stretch>
              <a:fillRect/>
            </a:stretch>
          </p:blipFill>
          <p:spPr>
            <a:xfrm>
              <a:off x="1638046" y="4729861"/>
              <a:ext cx="658368" cy="198120"/>
            </a:xfrm>
            <a:prstGeom prst="rect">
              <a:avLst/>
            </a:prstGeom>
            <a:noFill/>
          </p:spPr>
        </p:pic>
      </p:grpSp>
      <p:grpSp>
        <p:nvGrpSpPr>
          <p:cNvPr id="71" name="Group582">
            <a:extLst>
              <a:ext uri="{FF2B5EF4-FFF2-40B4-BE49-F238E27FC236}">
                <a16:creationId xmlns:a16="http://schemas.microsoft.com/office/drawing/2014/main" id="{0089188B-075D-4F4A-9350-2D9C5EC0BCF4}"/>
              </a:ext>
            </a:extLst>
          </p:cNvPr>
          <p:cNvGrpSpPr/>
          <p:nvPr/>
        </p:nvGrpSpPr>
        <p:grpSpPr>
          <a:xfrm>
            <a:off x="615086" y="5881523"/>
            <a:ext cx="1460323" cy="198424"/>
            <a:chOff x="615086" y="5901843"/>
            <a:chExt cx="1460323" cy="198424"/>
          </a:xfrm>
        </p:grpSpPr>
        <p:pic>
          <p:nvPicPr>
            <p:cNvPr id="72" name="Image583">
              <a:extLst>
                <a:ext uri="{FF2B5EF4-FFF2-40B4-BE49-F238E27FC236}">
                  <a16:creationId xmlns:a16="http://schemas.microsoft.com/office/drawing/2014/main" id="{E479037B-2644-2047-914D-D1F007C1D5CD}"/>
                </a:ext>
              </a:extLst>
            </p:cNvPr>
            <p:cNvPicPr>
              <a:picLocks noChangeAspect="1"/>
            </p:cNvPicPr>
            <p:nvPr/>
          </p:nvPicPr>
          <p:blipFill>
            <a:blip r:embed="rId47"/>
            <a:stretch>
              <a:fillRect/>
            </a:stretch>
          </p:blipFill>
          <p:spPr>
            <a:xfrm>
              <a:off x="615086" y="5901843"/>
              <a:ext cx="527685" cy="198424"/>
            </a:xfrm>
            <a:prstGeom prst="rect">
              <a:avLst/>
            </a:prstGeom>
            <a:noFill/>
          </p:spPr>
        </p:pic>
        <p:pic>
          <p:nvPicPr>
            <p:cNvPr id="73" name="Image584">
              <a:extLst>
                <a:ext uri="{FF2B5EF4-FFF2-40B4-BE49-F238E27FC236}">
                  <a16:creationId xmlns:a16="http://schemas.microsoft.com/office/drawing/2014/main" id="{C7B4EC86-1CCC-294B-BD57-89C59D6F1FF3}"/>
                </a:ext>
              </a:extLst>
            </p:cNvPr>
            <p:cNvPicPr>
              <a:picLocks noChangeAspect="1"/>
            </p:cNvPicPr>
            <p:nvPr/>
          </p:nvPicPr>
          <p:blipFill>
            <a:blip r:embed="rId48"/>
            <a:stretch>
              <a:fillRect/>
            </a:stretch>
          </p:blipFill>
          <p:spPr>
            <a:xfrm>
              <a:off x="1087526" y="5901843"/>
              <a:ext cx="987883" cy="198424"/>
            </a:xfrm>
            <a:prstGeom prst="rect">
              <a:avLst/>
            </a:prstGeom>
            <a:noFill/>
          </p:spPr>
        </p:pic>
      </p:grpSp>
      <p:graphicFrame>
        <p:nvGraphicFramePr>
          <p:cNvPr id="74" name="Table585">
            <a:extLst>
              <a:ext uri="{FF2B5EF4-FFF2-40B4-BE49-F238E27FC236}">
                <a16:creationId xmlns:a16="http://schemas.microsoft.com/office/drawing/2014/main" id="{0B224BE1-B1D7-984B-949B-7561C61744C5}"/>
              </a:ext>
            </a:extLst>
          </p:cNvPr>
          <p:cNvGraphicFramePr>
            <a:graphicFrameLocks noGrp="1"/>
          </p:cNvGraphicFramePr>
          <p:nvPr/>
        </p:nvGraphicFramePr>
        <p:xfrm>
          <a:off x="523596" y="3138043"/>
          <a:ext cx="11144783" cy="3045447"/>
        </p:xfrm>
        <a:graphic>
          <a:graphicData uri="http://schemas.openxmlformats.org/drawingml/2006/table">
            <a:tbl>
              <a:tblPr>
                <a:tableStyleId>{2D5ABB26-0587-4C30-8999-92F81FD0307C}</a:tableStyleId>
              </a:tblPr>
              <a:tblGrid>
                <a:gridCol w="191671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2420493">
                  <a:extLst>
                    <a:ext uri="{9D8B030D-6E8A-4147-A177-3AD203B41FA5}">
                      <a16:colId xmlns:a16="http://schemas.microsoft.com/office/drawing/2014/main" val="20002"/>
                    </a:ext>
                  </a:extLst>
                </a:gridCol>
                <a:gridCol w="1171067">
                  <a:extLst>
                    <a:ext uri="{9D8B030D-6E8A-4147-A177-3AD203B41FA5}">
                      <a16:colId xmlns:a16="http://schemas.microsoft.com/office/drawing/2014/main" val="20003"/>
                    </a:ext>
                  </a:extLst>
                </a:gridCol>
                <a:gridCol w="2005202">
                  <a:extLst>
                    <a:ext uri="{9D8B030D-6E8A-4147-A177-3AD203B41FA5}">
                      <a16:colId xmlns:a16="http://schemas.microsoft.com/office/drawing/2014/main" val="20004"/>
                    </a:ext>
                  </a:extLst>
                </a:gridCol>
                <a:gridCol w="1475867">
                  <a:extLst>
                    <a:ext uri="{9D8B030D-6E8A-4147-A177-3AD203B41FA5}">
                      <a16:colId xmlns:a16="http://schemas.microsoft.com/office/drawing/2014/main" val="20005"/>
                    </a:ext>
                  </a:extLst>
                </a:gridCol>
                <a:gridCol w="1241044">
                  <a:extLst>
                    <a:ext uri="{9D8B030D-6E8A-4147-A177-3AD203B41FA5}">
                      <a16:colId xmlns:a16="http://schemas.microsoft.com/office/drawing/2014/main" val="20006"/>
                    </a:ext>
                  </a:extLst>
                </a:gridCol>
              </a:tblGrid>
              <a:tr h="502920">
                <a:tc>
                  <a:txBody>
                    <a:bodyPr/>
                    <a:lstStyle/>
                    <a:p>
                      <a:pPr>
                        <a:lnSpc>
                          <a:spcPct val="100000"/>
                        </a:lnSpc>
                      </a:pPr>
                      <a:endParaRPr sz="600"/>
                    </a:p>
                  </a:txBody>
                  <a:tcPr marL="0" marR="0" marT="0" marB="0">
                    <a:lnL w="3175">
                      <a:solidFill>
                        <a:srgbClr val="000000">
                          <a:alpha val="100000"/>
                        </a:srgbClr>
                      </a:solidFill>
                      <a:prstDash val="solid"/>
                    </a:lnL>
                    <a:lnR w="3175">
                      <a:solidFill>
                        <a:srgbClr val="000000">
                          <a:alpha val="100000"/>
                        </a:srgbClr>
                      </a:solidFill>
                      <a:prstDash val="solid"/>
                    </a:lnR>
                    <a:lnT w="3175">
                      <a:solidFill>
                        <a:srgbClr val="000000">
                          <a:alpha val="100000"/>
                        </a:srgbClr>
                      </a:solidFill>
                      <a:prstDash val="solid"/>
                    </a:lnT>
                    <a:lnB w="3175">
                      <a:solidFill>
                        <a:srgbClr val="F05A28">
                          <a:alpha val="100000"/>
                        </a:srgbClr>
                      </a:solidFill>
                      <a:prstDash val="solid"/>
                    </a:lnB>
                  </a:tcPr>
                </a:tc>
                <a:tc>
                  <a:txBody>
                    <a:bodyPr/>
                    <a:lstStyle/>
                    <a:p>
                      <a:pPr>
                        <a:lnSpc>
                          <a:spcPct val="100000"/>
                        </a:lnSpc>
                      </a:pPr>
                      <a:endParaRPr sz="600" dirty="0"/>
                    </a:p>
                  </a:txBody>
                  <a:tcPr marL="0" marR="0" marT="0" marB="0">
                    <a:lnL w="3175">
                      <a:solidFill>
                        <a:srgbClr val="000000">
                          <a:alpha val="100000"/>
                        </a:srgbClr>
                      </a:solidFill>
                      <a:prstDash val="solid"/>
                    </a:lnL>
                    <a:lnR w="3175">
                      <a:solidFill>
                        <a:srgbClr val="000000">
                          <a:alpha val="100000"/>
                        </a:srgbClr>
                      </a:solidFill>
                      <a:prstDash val="solid"/>
                    </a:lnR>
                    <a:lnT w="3175">
                      <a:solidFill>
                        <a:srgbClr val="000000">
                          <a:alpha val="100000"/>
                        </a:srgbClr>
                      </a:solidFill>
                      <a:prstDash val="solid"/>
                    </a:lnT>
                    <a:lnB w="3175">
                      <a:solidFill>
                        <a:srgbClr val="F05A28">
                          <a:alpha val="100000"/>
                        </a:srgbClr>
                      </a:solidFill>
                      <a:prstDash val="solid"/>
                    </a:lnB>
                  </a:tcPr>
                </a:tc>
                <a:tc>
                  <a:txBody>
                    <a:bodyPr/>
                    <a:lstStyle/>
                    <a:p>
                      <a:pPr>
                        <a:lnSpc>
                          <a:spcPct val="100000"/>
                        </a:lnSpc>
                      </a:pPr>
                      <a:endParaRPr sz="600" dirty="0"/>
                    </a:p>
                  </a:txBody>
                  <a:tcPr marL="0" marR="0" marT="0" marB="0">
                    <a:lnL w="3175">
                      <a:solidFill>
                        <a:srgbClr val="000000">
                          <a:alpha val="100000"/>
                        </a:srgbClr>
                      </a:solidFill>
                      <a:prstDash val="solid"/>
                    </a:lnL>
                    <a:lnR w="3175">
                      <a:solidFill>
                        <a:srgbClr val="000000">
                          <a:alpha val="100000"/>
                        </a:srgbClr>
                      </a:solidFill>
                      <a:prstDash val="solid"/>
                    </a:lnR>
                    <a:lnT w="3175">
                      <a:solidFill>
                        <a:srgbClr val="000000">
                          <a:alpha val="100000"/>
                        </a:srgbClr>
                      </a:solidFill>
                      <a:prstDash val="solid"/>
                    </a:lnT>
                    <a:lnB w="3175">
                      <a:solidFill>
                        <a:srgbClr val="F05A28">
                          <a:alpha val="100000"/>
                        </a:srgbClr>
                      </a:solidFill>
                      <a:prstDash val="solid"/>
                    </a:lnB>
                  </a:tcPr>
                </a:tc>
                <a:tc>
                  <a:txBody>
                    <a:bodyPr/>
                    <a:lstStyle/>
                    <a:p>
                      <a:pPr>
                        <a:lnSpc>
                          <a:spcPct val="100000"/>
                        </a:lnSpc>
                      </a:pPr>
                      <a:endParaRPr sz="600"/>
                    </a:p>
                  </a:txBody>
                  <a:tcPr marL="0" marR="0" marT="0" marB="0">
                    <a:lnL w="3175">
                      <a:solidFill>
                        <a:srgbClr val="000000">
                          <a:alpha val="100000"/>
                        </a:srgbClr>
                      </a:solidFill>
                      <a:prstDash val="solid"/>
                    </a:lnL>
                    <a:lnR w="3175">
                      <a:solidFill>
                        <a:srgbClr val="000000">
                          <a:alpha val="100000"/>
                        </a:srgbClr>
                      </a:solidFill>
                      <a:prstDash val="solid"/>
                    </a:lnR>
                    <a:lnT w="3175">
                      <a:solidFill>
                        <a:srgbClr val="000000">
                          <a:alpha val="100000"/>
                        </a:srgbClr>
                      </a:solidFill>
                      <a:prstDash val="solid"/>
                    </a:lnT>
                    <a:lnB w="3175">
                      <a:solidFill>
                        <a:srgbClr val="F05A28">
                          <a:alpha val="100000"/>
                        </a:srgbClr>
                      </a:solidFill>
                      <a:prstDash val="solid"/>
                    </a:lnB>
                  </a:tcPr>
                </a:tc>
                <a:tc>
                  <a:txBody>
                    <a:bodyPr/>
                    <a:lstStyle/>
                    <a:p>
                      <a:pPr>
                        <a:lnSpc>
                          <a:spcPct val="100000"/>
                        </a:lnSpc>
                      </a:pPr>
                      <a:endParaRPr sz="600"/>
                    </a:p>
                  </a:txBody>
                  <a:tcPr marL="0" marR="0" marT="0" marB="0">
                    <a:lnL w="3175">
                      <a:solidFill>
                        <a:srgbClr val="000000">
                          <a:alpha val="100000"/>
                        </a:srgbClr>
                      </a:solidFill>
                      <a:prstDash val="solid"/>
                    </a:lnL>
                    <a:lnR w="3175">
                      <a:solidFill>
                        <a:srgbClr val="000000">
                          <a:alpha val="100000"/>
                        </a:srgbClr>
                      </a:solidFill>
                      <a:prstDash val="solid"/>
                    </a:lnR>
                    <a:lnT w="3175">
                      <a:solidFill>
                        <a:srgbClr val="000000">
                          <a:alpha val="100000"/>
                        </a:srgbClr>
                      </a:solidFill>
                      <a:prstDash val="solid"/>
                    </a:lnT>
                    <a:lnB w="3175">
                      <a:solidFill>
                        <a:srgbClr val="F05A28">
                          <a:alpha val="100000"/>
                        </a:srgbClr>
                      </a:solidFill>
                      <a:prstDash val="solid"/>
                    </a:lnB>
                  </a:tcPr>
                </a:tc>
                <a:tc>
                  <a:txBody>
                    <a:bodyPr/>
                    <a:lstStyle/>
                    <a:p>
                      <a:pPr>
                        <a:lnSpc>
                          <a:spcPct val="100000"/>
                        </a:lnSpc>
                      </a:pPr>
                      <a:endParaRPr sz="600"/>
                    </a:p>
                  </a:txBody>
                  <a:tcPr marL="0" marR="0" marT="0" marB="0">
                    <a:lnL w="3175">
                      <a:solidFill>
                        <a:srgbClr val="000000">
                          <a:alpha val="100000"/>
                        </a:srgbClr>
                      </a:solidFill>
                      <a:prstDash val="solid"/>
                    </a:lnL>
                    <a:lnR w="3175">
                      <a:solidFill>
                        <a:srgbClr val="000000">
                          <a:alpha val="100000"/>
                        </a:srgbClr>
                      </a:solidFill>
                      <a:prstDash val="solid"/>
                    </a:lnR>
                    <a:lnT w="3175">
                      <a:solidFill>
                        <a:srgbClr val="000000">
                          <a:alpha val="100000"/>
                        </a:srgbClr>
                      </a:solidFill>
                      <a:prstDash val="solid"/>
                    </a:lnT>
                    <a:lnB w="3175">
                      <a:solidFill>
                        <a:srgbClr val="F05A28">
                          <a:alpha val="100000"/>
                        </a:srgbClr>
                      </a:solidFill>
                      <a:prstDash val="solid"/>
                    </a:lnB>
                  </a:tcPr>
                </a:tc>
                <a:tc>
                  <a:txBody>
                    <a:bodyPr/>
                    <a:lstStyle/>
                    <a:p>
                      <a:pPr>
                        <a:lnSpc>
                          <a:spcPct val="100000"/>
                        </a:lnSpc>
                      </a:pPr>
                      <a:endParaRPr sz="600"/>
                    </a:p>
                  </a:txBody>
                  <a:tcPr marL="0" marR="0" marT="0" marB="0">
                    <a:lnL w="3175">
                      <a:solidFill>
                        <a:srgbClr val="000000">
                          <a:alpha val="100000"/>
                        </a:srgbClr>
                      </a:solidFill>
                      <a:prstDash val="solid"/>
                    </a:lnL>
                    <a:lnR w="3175">
                      <a:solidFill>
                        <a:srgbClr val="000000">
                          <a:alpha val="100000"/>
                        </a:srgbClr>
                      </a:solidFill>
                      <a:prstDash val="solid"/>
                    </a:lnR>
                    <a:lnT w="3175">
                      <a:solidFill>
                        <a:srgbClr val="000000">
                          <a:alpha val="100000"/>
                        </a:srgbClr>
                      </a:solidFill>
                      <a:prstDash val="solid"/>
                    </a:lnT>
                    <a:lnB w="3175">
                      <a:solidFill>
                        <a:srgbClr val="F05A28">
                          <a:alpha val="100000"/>
                        </a:srgbClr>
                      </a:solidFill>
                      <a:prstDash val="solid"/>
                    </a:lnB>
                  </a:tcPr>
                </a:tc>
                <a:extLst>
                  <a:ext uri="{0D108BD9-81ED-4DB2-BD59-A6C34878D82A}">
                    <a16:rowId xmlns:a16="http://schemas.microsoft.com/office/drawing/2014/main" val="10000"/>
                  </a:ext>
                </a:extLst>
              </a:tr>
              <a:tr h="407924">
                <a:tc>
                  <a:txBody>
                    <a:bodyPr/>
                    <a:lstStyle/>
                    <a:p>
                      <a:pPr>
                        <a:lnSpc>
                          <a:spcPct val="100000"/>
                        </a:lnSpc>
                      </a:pPr>
                      <a:endParaRPr sz="600" dirty="0"/>
                    </a:p>
                  </a:txBody>
                  <a:tcPr marL="0" marR="0" marT="0" marB="0">
                    <a:lnL w="3175">
                      <a:solidFill>
                        <a:srgbClr val="FFFFFF">
                          <a:alpha val="100000"/>
                        </a:srgbClr>
                      </a:solidFill>
                      <a:prstDash val="solid"/>
                    </a:lnL>
                    <a:lnR w="3175">
                      <a:solidFill>
                        <a:srgbClr val="7F7F7F">
                          <a:alpha val="100000"/>
                        </a:srgbClr>
                      </a:solidFill>
                      <a:prstDash val="solid"/>
                    </a:lnR>
                    <a:lnT w="3175">
                      <a:solidFill>
                        <a:srgbClr val="F05A28">
                          <a:alpha val="100000"/>
                        </a:srgbClr>
                      </a:solidFill>
                      <a:prstDash val="solid"/>
                    </a:lnT>
                    <a:lnB w="3175">
                      <a:solidFill>
                        <a:srgbClr val="FFFFFF">
                          <a:alpha val="100000"/>
                        </a:srgbClr>
                      </a:solidFill>
                      <a:prstDash val="solid"/>
                    </a:lnB>
                    <a:solidFill>
                      <a:srgbClr val="E5E5E5"/>
                    </a:solidFill>
                  </a:tcPr>
                </a:tc>
                <a:tc>
                  <a:txBody>
                    <a:bodyPr/>
                    <a:lstStyle/>
                    <a:p>
                      <a:pPr>
                        <a:lnSpc>
                          <a:spcPct val="100000"/>
                        </a:lnSpc>
                      </a:pPr>
                      <a:endParaRPr sz="600"/>
                    </a:p>
                  </a:txBody>
                  <a:tcPr marL="0" marR="0" marT="0" marB="0">
                    <a:lnL w="3175">
                      <a:solidFill>
                        <a:srgbClr val="7F7F7F">
                          <a:alpha val="100000"/>
                        </a:srgbClr>
                      </a:solidFill>
                      <a:prstDash val="solid"/>
                    </a:lnL>
                    <a:lnR w="3175">
                      <a:solidFill>
                        <a:srgbClr val="7F7F7F">
                          <a:alpha val="100000"/>
                        </a:srgbClr>
                      </a:solidFill>
                      <a:prstDash val="solid"/>
                    </a:lnR>
                    <a:lnT w="3175">
                      <a:solidFill>
                        <a:srgbClr val="F05A28">
                          <a:alpha val="100000"/>
                        </a:srgbClr>
                      </a:solidFill>
                      <a:prstDash val="solid"/>
                    </a:lnT>
                    <a:lnB w="3175">
                      <a:solidFill>
                        <a:srgbClr val="FFFFFF">
                          <a:alpha val="100000"/>
                        </a:srgbClr>
                      </a:solidFill>
                      <a:prstDash val="solid"/>
                    </a:lnB>
                    <a:solidFill>
                      <a:srgbClr val="E5E5E5"/>
                    </a:solidFill>
                  </a:tcPr>
                </a:tc>
                <a:tc>
                  <a:txBody>
                    <a:bodyPr/>
                    <a:lstStyle/>
                    <a:p>
                      <a:pPr>
                        <a:lnSpc>
                          <a:spcPct val="100000"/>
                        </a:lnSpc>
                      </a:pPr>
                      <a:endParaRPr sz="600"/>
                    </a:p>
                  </a:txBody>
                  <a:tcPr marL="0" marR="0" marT="0" marB="0">
                    <a:lnL w="3175">
                      <a:solidFill>
                        <a:srgbClr val="7F7F7F">
                          <a:alpha val="100000"/>
                        </a:srgbClr>
                      </a:solidFill>
                      <a:prstDash val="solid"/>
                    </a:lnL>
                    <a:lnR w="3175">
                      <a:solidFill>
                        <a:srgbClr val="7F7F7F">
                          <a:alpha val="100000"/>
                        </a:srgbClr>
                      </a:solidFill>
                      <a:prstDash val="solid"/>
                    </a:lnR>
                    <a:lnT w="3175">
                      <a:solidFill>
                        <a:srgbClr val="F05A28">
                          <a:alpha val="100000"/>
                        </a:srgbClr>
                      </a:solidFill>
                      <a:prstDash val="solid"/>
                    </a:lnT>
                    <a:lnB w="3175">
                      <a:solidFill>
                        <a:srgbClr val="FFFFFF">
                          <a:alpha val="100000"/>
                        </a:srgbClr>
                      </a:solidFill>
                      <a:prstDash val="solid"/>
                    </a:lnB>
                    <a:solidFill>
                      <a:srgbClr val="E5E5E5"/>
                    </a:solidFill>
                  </a:tcPr>
                </a:tc>
                <a:tc>
                  <a:txBody>
                    <a:bodyPr/>
                    <a:lstStyle/>
                    <a:p>
                      <a:pPr>
                        <a:lnSpc>
                          <a:spcPct val="100000"/>
                        </a:lnSpc>
                      </a:pPr>
                      <a:endParaRPr sz="600"/>
                    </a:p>
                  </a:txBody>
                  <a:tcPr marL="0" marR="0" marT="0" marB="0">
                    <a:lnL w="3175">
                      <a:solidFill>
                        <a:srgbClr val="7F7F7F">
                          <a:alpha val="100000"/>
                        </a:srgbClr>
                      </a:solidFill>
                      <a:prstDash val="solid"/>
                    </a:lnL>
                    <a:lnR w="3175">
                      <a:solidFill>
                        <a:srgbClr val="7F7F7F">
                          <a:alpha val="100000"/>
                        </a:srgbClr>
                      </a:solidFill>
                      <a:prstDash val="solid"/>
                    </a:lnR>
                    <a:lnT w="3175">
                      <a:solidFill>
                        <a:srgbClr val="F05A28">
                          <a:alpha val="100000"/>
                        </a:srgbClr>
                      </a:solidFill>
                      <a:prstDash val="solid"/>
                    </a:lnT>
                    <a:lnB w="3175">
                      <a:solidFill>
                        <a:srgbClr val="FFFFFF">
                          <a:alpha val="100000"/>
                        </a:srgbClr>
                      </a:solidFill>
                      <a:prstDash val="solid"/>
                    </a:lnB>
                    <a:solidFill>
                      <a:srgbClr val="E5E5E5"/>
                    </a:solidFill>
                  </a:tcPr>
                </a:tc>
                <a:tc>
                  <a:txBody>
                    <a:bodyPr/>
                    <a:lstStyle/>
                    <a:p>
                      <a:pPr>
                        <a:lnSpc>
                          <a:spcPct val="100000"/>
                        </a:lnSpc>
                      </a:pPr>
                      <a:endParaRPr sz="600"/>
                    </a:p>
                  </a:txBody>
                  <a:tcPr marL="0" marR="0" marT="0" marB="0">
                    <a:lnL w="3175">
                      <a:solidFill>
                        <a:srgbClr val="7F7F7F">
                          <a:alpha val="100000"/>
                        </a:srgbClr>
                      </a:solidFill>
                      <a:prstDash val="solid"/>
                    </a:lnL>
                    <a:lnR w="3175">
                      <a:solidFill>
                        <a:srgbClr val="7F7F7F">
                          <a:alpha val="100000"/>
                        </a:srgbClr>
                      </a:solidFill>
                      <a:prstDash val="solid"/>
                    </a:lnR>
                    <a:lnT w="3175">
                      <a:solidFill>
                        <a:srgbClr val="F05A28">
                          <a:alpha val="100000"/>
                        </a:srgbClr>
                      </a:solidFill>
                      <a:prstDash val="solid"/>
                    </a:lnT>
                    <a:lnB w="3175">
                      <a:solidFill>
                        <a:srgbClr val="FFFFFF">
                          <a:alpha val="100000"/>
                        </a:srgbClr>
                      </a:solidFill>
                      <a:prstDash val="solid"/>
                    </a:lnB>
                    <a:solidFill>
                      <a:srgbClr val="E5E5E5"/>
                    </a:solidFill>
                  </a:tcPr>
                </a:tc>
                <a:tc>
                  <a:txBody>
                    <a:bodyPr/>
                    <a:lstStyle/>
                    <a:p>
                      <a:pPr>
                        <a:lnSpc>
                          <a:spcPct val="100000"/>
                        </a:lnSpc>
                      </a:pPr>
                      <a:endParaRPr sz="600"/>
                    </a:p>
                  </a:txBody>
                  <a:tcPr marL="0" marR="0" marT="0" marB="0">
                    <a:lnL w="3175">
                      <a:solidFill>
                        <a:srgbClr val="7F7F7F">
                          <a:alpha val="100000"/>
                        </a:srgbClr>
                      </a:solidFill>
                      <a:prstDash val="solid"/>
                    </a:lnL>
                    <a:lnR w="3175">
                      <a:solidFill>
                        <a:srgbClr val="7F7F7F">
                          <a:alpha val="100000"/>
                        </a:srgbClr>
                      </a:solidFill>
                      <a:prstDash val="solid"/>
                    </a:lnR>
                    <a:lnT w="3175">
                      <a:solidFill>
                        <a:srgbClr val="F05A28">
                          <a:alpha val="100000"/>
                        </a:srgbClr>
                      </a:solidFill>
                      <a:prstDash val="solid"/>
                    </a:lnT>
                    <a:lnB w="3175">
                      <a:solidFill>
                        <a:srgbClr val="FFFFFF">
                          <a:alpha val="100000"/>
                        </a:srgbClr>
                      </a:solidFill>
                      <a:prstDash val="solid"/>
                    </a:lnB>
                    <a:solidFill>
                      <a:srgbClr val="E5E5E5"/>
                    </a:solidFill>
                  </a:tcPr>
                </a:tc>
                <a:tc>
                  <a:txBody>
                    <a:bodyPr/>
                    <a:lstStyle/>
                    <a:p>
                      <a:pPr>
                        <a:lnSpc>
                          <a:spcPct val="100000"/>
                        </a:lnSpc>
                      </a:pPr>
                      <a:endParaRPr sz="600"/>
                    </a:p>
                  </a:txBody>
                  <a:tcPr marL="0" marR="0" marT="0" marB="0">
                    <a:lnL w="3175">
                      <a:solidFill>
                        <a:srgbClr val="7F7F7F">
                          <a:alpha val="100000"/>
                        </a:srgbClr>
                      </a:solidFill>
                      <a:prstDash val="solid"/>
                    </a:lnL>
                    <a:lnR w="3175">
                      <a:solidFill>
                        <a:srgbClr val="FFFFFF">
                          <a:alpha val="100000"/>
                        </a:srgbClr>
                      </a:solidFill>
                      <a:prstDash val="solid"/>
                    </a:lnR>
                    <a:lnT w="3175">
                      <a:solidFill>
                        <a:srgbClr val="F05A28">
                          <a:alpha val="100000"/>
                        </a:srgbClr>
                      </a:solidFill>
                      <a:prstDash val="solid"/>
                    </a:lnT>
                    <a:lnB w="3175">
                      <a:solidFill>
                        <a:srgbClr val="FFFFFF">
                          <a:alpha val="100000"/>
                        </a:srgbClr>
                      </a:solidFill>
                      <a:prstDash val="solid"/>
                    </a:lnB>
                    <a:solidFill>
                      <a:srgbClr val="E5E5E5"/>
                    </a:solidFill>
                  </a:tcPr>
                </a:tc>
                <a:extLst>
                  <a:ext uri="{0D108BD9-81ED-4DB2-BD59-A6C34878D82A}">
                    <a16:rowId xmlns:a16="http://schemas.microsoft.com/office/drawing/2014/main" val="10001"/>
                  </a:ext>
                </a:extLst>
              </a:tr>
              <a:tr h="407924">
                <a:tc>
                  <a:txBody>
                    <a:bodyPr/>
                    <a:lstStyle/>
                    <a:p>
                      <a:pPr>
                        <a:lnSpc>
                          <a:spcPct val="100000"/>
                        </a:lnSpc>
                      </a:pPr>
                      <a:endParaRPr sz="600" dirty="0"/>
                    </a:p>
                  </a:txBody>
                  <a:tcPr marL="0" marR="0" marT="0" marB="0">
                    <a:lnL w="3175">
                      <a:solidFill>
                        <a:srgbClr val="000000">
                          <a:alpha val="100000"/>
                        </a:srgbClr>
                      </a:solidFill>
                      <a:prstDash val="solid"/>
                    </a:lnL>
                    <a:lnR w="3175" cap="flat" cmpd="sng" algn="ctr">
                      <a:solidFill>
                        <a:srgbClr val="7F7F7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a:solidFill>
                        <a:srgbClr val="000000">
                          <a:alpha val="100000"/>
                        </a:srgbClr>
                      </a:solidFill>
                      <a:prstDash val="solid"/>
                    </a:lnB>
                  </a:tcPr>
                </a:tc>
                <a:tc>
                  <a:txBody>
                    <a:bodyPr/>
                    <a:lstStyle/>
                    <a:p>
                      <a:pPr>
                        <a:lnSpc>
                          <a:spcPct val="100000"/>
                        </a:lnSpc>
                      </a:pPr>
                      <a:endParaRPr sz="600"/>
                    </a:p>
                  </a:txBody>
                  <a:tcPr marL="0" marR="0" marT="0" marB="0">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a:solidFill>
                        <a:srgbClr val="000000">
                          <a:alpha val="100000"/>
                        </a:srgbClr>
                      </a:solidFill>
                      <a:prstDash val="solid"/>
                    </a:lnB>
                  </a:tcPr>
                </a:tc>
                <a:tc>
                  <a:txBody>
                    <a:bodyPr/>
                    <a:lstStyle/>
                    <a:p>
                      <a:pPr>
                        <a:lnSpc>
                          <a:spcPct val="100000"/>
                        </a:lnSpc>
                      </a:pPr>
                      <a:endParaRPr sz="600"/>
                    </a:p>
                  </a:txBody>
                  <a:tcPr marL="0" marR="0" marT="0" marB="0">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a:solidFill>
                        <a:srgbClr val="000000">
                          <a:alpha val="100000"/>
                        </a:srgbClr>
                      </a:solidFill>
                      <a:prstDash val="solid"/>
                    </a:lnB>
                  </a:tcPr>
                </a:tc>
                <a:tc>
                  <a:txBody>
                    <a:bodyPr/>
                    <a:lstStyle/>
                    <a:p>
                      <a:pPr>
                        <a:lnSpc>
                          <a:spcPct val="100000"/>
                        </a:lnSpc>
                      </a:pPr>
                      <a:endParaRPr sz="600"/>
                    </a:p>
                  </a:txBody>
                  <a:tcPr marL="0" marR="0" marT="0" marB="0">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a:solidFill>
                        <a:srgbClr val="000000">
                          <a:alpha val="100000"/>
                        </a:srgbClr>
                      </a:solidFill>
                      <a:prstDash val="solid"/>
                    </a:lnB>
                  </a:tcPr>
                </a:tc>
                <a:tc>
                  <a:txBody>
                    <a:bodyPr/>
                    <a:lstStyle/>
                    <a:p>
                      <a:pPr>
                        <a:lnSpc>
                          <a:spcPct val="100000"/>
                        </a:lnSpc>
                      </a:pPr>
                      <a:endParaRPr sz="600"/>
                    </a:p>
                  </a:txBody>
                  <a:tcPr marL="0" marR="0" marT="0" marB="0">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a:solidFill>
                        <a:srgbClr val="000000">
                          <a:alpha val="100000"/>
                        </a:srgbClr>
                      </a:solidFill>
                      <a:prstDash val="solid"/>
                    </a:lnB>
                  </a:tcPr>
                </a:tc>
                <a:tc>
                  <a:txBody>
                    <a:bodyPr/>
                    <a:lstStyle/>
                    <a:p>
                      <a:pPr>
                        <a:lnSpc>
                          <a:spcPct val="100000"/>
                        </a:lnSpc>
                      </a:pPr>
                      <a:endParaRPr sz="600"/>
                    </a:p>
                  </a:txBody>
                  <a:tcPr marL="0" marR="0" marT="0" marB="0">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a:solidFill>
                        <a:srgbClr val="000000">
                          <a:alpha val="100000"/>
                        </a:srgbClr>
                      </a:solidFill>
                      <a:prstDash val="solid"/>
                    </a:lnB>
                  </a:tcPr>
                </a:tc>
                <a:tc>
                  <a:txBody>
                    <a:bodyPr/>
                    <a:lstStyle/>
                    <a:p>
                      <a:pPr>
                        <a:lnSpc>
                          <a:spcPct val="100000"/>
                        </a:lnSpc>
                      </a:pPr>
                      <a:endParaRPr sz="600" dirty="0"/>
                    </a:p>
                  </a:txBody>
                  <a:tcPr marL="0" marR="0" marT="0" marB="0">
                    <a:lnL w="3175" cap="flat" cmpd="sng" algn="ctr">
                      <a:solidFill>
                        <a:srgbClr val="7F7F7F"/>
                      </a:solidFill>
                      <a:prstDash val="solid"/>
                      <a:round/>
                      <a:headEnd type="none" w="med" len="med"/>
                      <a:tailEnd type="none" w="med" len="med"/>
                    </a:lnL>
                    <a:lnR w="3175">
                      <a:solidFill>
                        <a:srgbClr val="000000">
                          <a:alpha val="100000"/>
                        </a:srgbClr>
                      </a:solidFill>
                      <a:prstDash val="solid"/>
                    </a:lnR>
                    <a:lnT w="3175" cap="flat" cmpd="sng" algn="ctr">
                      <a:solidFill>
                        <a:srgbClr val="FFFFFF"/>
                      </a:solidFill>
                      <a:prstDash val="solid"/>
                      <a:round/>
                      <a:headEnd type="none" w="med" len="med"/>
                      <a:tailEnd type="none" w="med" len="med"/>
                    </a:lnT>
                    <a:lnB w="3175">
                      <a:solidFill>
                        <a:srgbClr val="000000">
                          <a:alpha val="100000"/>
                        </a:srgbClr>
                      </a:solidFill>
                      <a:prstDash val="solid"/>
                    </a:lnB>
                  </a:tcPr>
                </a:tc>
                <a:extLst>
                  <a:ext uri="{0D108BD9-81ED-4DB2-BD59-A6C34878D82A}">
                    <a16:rowId xmlns:a16="http://schemas.microsoft.com/office/drawing/2014/main" val="10002"/>
                  </a:ext>
                </a:extLst>
              </a:tr>
              <a:tr h="502920">
                <a:tc>
                  <a:txBody>
                    <a:bodyPr/>
                    <a:lstStyle/>
                    <a:p>
                      <a:pPr>
                        <a:lnSpc>
                          <a:spcPct val="100000"/>
                        </a:lnSpc>
                      </a:pPr>
                      <a:endParaRPr sz="600" dirty="0"/>
                    </a:p>
                  </a:txBody>
                  <a:tcPr marL="0" marR="0" marT="0" marB="0">
                    <a:lnL w="3175">
                      <a:solidFill>
                        <a:srgbClr val="FFFFFF">
                          <a:alpha val="100000"/>
                        </a:srgbClr>
                      </a:solidFill>
                      <a:prstDash val="solid"/>
                    </a:lnL>
                    <a:lnR w="3175">
                      <a:solidFill>
                        <a:srgbClr val="7F7F7F">
                          <a:alpha val="100000"/>
                        </a:srgbClr>
                      </a:solidFill>
                      <a:prstDash val="solid"/>
                    </a:lnR>
                    <a:lnT w="3175" cap="flat" cmpd="sng" algn="ctr">
                      <a:solidFill>
                        <a:srgbClr val="000000"/>
                      </a:solidFill>
                      <a:prstDash val="solid"/>
                      <a:round/>
                      <a:headEnd type="none" w="med" len="med"/>
                      <a:tailEnd type="none" w="med" len="med"/>
                    </a:lnT>
                    <a:lnB w="3175">
                      <a:solidFill>
                        <a:srgbClr val="FFFFFF">
                          <a:alpha val="100000"/>
                        </a:srgbClr>
                      </a:solidFill>
                      <a:prstDash val="solid"/>
                    </a:lnB>
                    <a:solidFill>
                      <a:srgbClr val="E5E5E5"/>
                    </a:solidFill>
                  </a:tcPr>
                </a:tc>
                <a:tc>
                  <a:txBody>
                    <a:bodyPr/>
                    <a:lstStyle/>
                    <a:p>
                      <a:pPr>
                        <a:lnSpc>
                          <a:spcPct val="100000"/>
                        </a:lnSpc>
                      </a:pPr>
                      <a:endParaRPr sz="600"/>
                    </a:p>
                  </a:txBody>
                  <a:tcPr marL="0" marR="0" marT="0" marB="0">
                    <a:lnL w="3175">
                      <a:solidFill>
                        <a:srgbClr val="7F7F7F">
                          <a:alpha val="100000"/>
                        </a:srgbClr>
                      </a:solidFill>
                      <a:prstDash val="solid"/>
                    </a:lnL>
                    <a:lnR w="3175">
                      <a:solidFill>
                        <a:srgbClr val="7F7F7F">
                          <a:alpha val="100000"/>
                        </a:srgbClr>
                      </a:solidFill>
                      <a:prstDash val="solid"/>
                    </a:lnR>
                    <a:lnT w="3175" cap="flat" cmpd="sng" algn="ctr">
                      <a:solidFill>
                        <a:srgbClr val="000000"/>
                      </a:solidFill>
                      <a:prstDash val="solid"/>
                      <a:round/>
                      <a:headEnd type="none" w="med" len="med"/>
                      <a:tailEnd type="none" w="med" len="med"/>
                    </a:lnT>
                    <a:lnB w="3175">
                      <a:solidFill>
                        <a:srgbClr val="FFFFFF">
                          <a:alpha val="100000"/>
                        </a:srgbClr>
                      </a:solidFill>
                      <a:prstDash val="solid"/>
                    </a:lnB>
                    <a:solidFill>
                      <a:srgbClr val="E5E5E5"/>
                    </a:solidFill>
                  </a:tcPr>
                </a:tc>
                <a:tc>
                  <a:txBody>
                    <a:bodyPr/>
                    <a:lstStyle/>
                    <a:p>
                      <a:pPr>
                        <a:lnSpc>
                          <a:spcPct val="100000"/>
                        </a:lnSpc>
                      </a:pPr>
                      <a:endParaRPr sz="600"/>
                    </a:p>
                  </a:txBody>
                  <a:tcPr marL="0" marR="0" marT="0" marB="0">
                    <a:lnL w="3175">
                      <a:solidFill>
                        <a:srgbClr val="7F7F7F">
                          <a:alpha val="100000"/>
                        </a:srgbClr>
                      </a:solidFill>
                      <a:prstDash val="solid"/>
                    </a:lnL>
                    <a:lnR w="3175">
                      <a:solidFill>
                        <a:srgbClr val="7F7F7F">
                          <a:alpha val="100000"/>
                        </a:srgbClr>
                      </a:solidFill>
                      <a:prstDash val="solid"/>
                    </a:lnR>
                    <a:lnT w="3175" cap="flat" cmpd="sng" algn="ctr">
                      <a:solidFill>
                        <a:srgbClr val="000000"/>
                      </a:solidFill>
                      <a:prstDash val="solid"/>
                      <a:round/>
                      <a:headEnd type="none" w="med" len="med"/>
                      <a:tailEnd type="none" w="med" len="med"/>
                    </a:lnT>
                    <a:lnB w="3175">
                      <a:solidFill>
                        <a:srgbClr val="FFFFFF">
                          <a:alpha val="100000"/>
                        </a:srgbClr>
                      </a:solidFill>
                      <a:prstDash val="solid"/>
                    </a:lnB>
                    <a:solidFill>
                      <a:srgbClr val="E5E5E5"/>
                    </a:solidFill>
                  </a:tcPr>
                </a:tc>
                <a:tc>
                  <a:txBody>
                    <a:bodyPr/>
                    <a:lstStyle/>
                    <a:p>
                      <a:pPr>
                        <a:lnSpc>
                          <a:spcPct val="100000"/>
                        </a:lnSpc>
                      </a:pPr>
                      <a:endParaRPr sz="600"/>
                    </a:p>
                  </a:txBody>
                  <a:tcPr marL="0" marR="0" marT="0" marB="0">
                    <a:lnL w="3175">
                      <a:solidFill>
                        <a:srgbClr val="7F7F7F">
                          <a:alpha val="100000"/>
                        </a:srgbClr>
                      </a:solidFill>
                      <a:prstDash val="solid"/>
                    </a:lnL>
                    <a:lnR w="3175">
                      <a:solidFill>
                        <a:srgbClr val="7F7F7F">
                          <a:alpha val="100000"/>
                        </a:srgbClr>
                      </a:solidFill>
                      <a:prstDash val="solid"/>
                    </a:lnR>
                    <a:lnT w="3175" cap="flat" cmpd="sng" algn="ctr">
                      <a:solidFill>
                        <a:srgbClr val="000000"/>
                      </a:solidFill>
                      <a:prstDash val="solid"/>
                      <a:round/>
                      <a:headEnd type="none" w="med" len="med"/>
                      <a:tailEnd type="none" w="med" len="med"/>
                    </a:lnT>
                    <a:lnB w="3175">
                      <a:solidFill>
                        <a:srgbClr val="FFFFFF">
                          <a:alpha val="100000"/>
                        </a:srgbClr>
                      </a:solidFill>
                      <a:prstDash val="solid"/>
                    </a:lnB>
                    <a:solidFill>
                      <a:srgbClr val="E5E5E5"/>
                    </a:solidFill>
                  </a:tcPr>
                </a:tc>
                <a:tc>
                  <a:txBody>
                    <a:bodyPr/>
                    <a:lstStyle/>
                    <a:p>
                      <a:pPr>
                        <a:lnSpc>
                          <a:spcPct val="100000"/>
                        </a:lnSpc>
                      </a:pPr>
                      <a:endParaRPr sz="600"/>
                    </a:p>
                  </a:txBody>
                  <a:tcPr marL="0" marR="0" marT="0" marB="0">
                    <a:lnL w="3175">
                      <a:solidFill>
                        <a:srgbClr val="7F7F7F">
                          <a:alpha val="100000"/>
                        </a:srgbClr>
                      </a:solidFill>
                      <a:prstDash val="solid"/>
                    </a:lnL>
                    <a:lnR w="3175">
                      <a:solidFill>
                        <a:srgbClr val="7F7F7F">
                          <a:alpha val="100000"/>
                        </a:srgbClr>
                      </a:solidFill>
                      <a:prstDash val="solid"/>
                    </a:lnR>
                    <a:lnT w="3175" cap="flat" cmpd="sng" algn="ctr">
                      <a:solidFill>
                        <a:srgbClr val="000000"/>
                      </a:solidFill>
                      <a:prstDash val="solid"/>
                      <a:round/>
                      <a:headEnd type="none" w="med" len="med"/>
                      <a:tailEnd type="none" w="med" len="med"/>
                    </a:lnT>
                    <a:lnB w="3175">
                      <a:solidFill>
                        <a:srgbClr val="FFFFFF">
                          <a:alpha val="100000"/>
                        </a:srgbClr>
                      </a:solidFill>
                      <a:prstDash val="solid"/>
                    </a:lnB>
                    <a:solidFill>
                      <a:srgbClr val="E5E5E5"/>
                    </a:solidFill>
                  </a:tcPr>
                </a:tc>
                <a:tc>
                  <a:txBody>
                    <a:bodyPr/>
                    <a:lstStyle/>
                    <a:p>
                      <a:pPr>
                        <a:lnSpc>
                          <a:spcPct val="100000"/>
                        </a:lnSpc>
                      </a:pPr>
                      <a:endParaRPr sz="600"/>
                    </a:p>
                  </a:txBody>
                  <a:tcPr marL="0" marR="0" marT="0" marB="0">
                    <a:lnL w="3175">
                      <a:solidFill>
                        <a:srgbClr val="7F7F7F">
                          <a:alpha val="100000"/>
                        </a:srgbClr>
                      </a:solidFill>
                      <a:prstDash val="solid"/>
                    </a:lnL>
                    <a:lnR w="3175">
                      <a:solidFill>
                        <a:srgbClr val="7F7F7F">
                          <a:alpha val="100000"/>
                        </a:srgbClr>
                      </a:solidFill>
                      <a:prstDash val="solid"/>
                    </a:lnR>
                    <a:lnT w="3175" cap="flat" cmpd="sng" algn="ctr">
                      <a:solidFill>
                        <a:srgbClr val="000000"/>
                      </a:solidFill>
                      <a:prstDash val="solid"/>
                      <a:round/>
                      <a:headEnd type="none" w="med" len="med"/>
                      <a:tailEnd type="none" w="med" len="med"/>
                    </a:lnT>
                    <a:lnB w="3175">
                      <a:solidFill>
                        <a:srgbClr val="FFFFFF">
                          <a:alpha val="100000"/>
                        </a:srgbClr>
                      </a:solidFill>
                      <a:prstDash val="solid"/>
                    </a:lnB>
                    <a:solidFill>
                      <a:srgbClr val="E5E5E5"/>
                    </a:solidFill>
                  </a:tcPr>
                </a:tc>
                <a:tc>
                  <a:txBody>
                    <a:bodyPr/>
                    <a:lstStyle/>
                    <a:p>
                      <a:pPr>
                        <a:lnSpc>
                          <a:spcPct val="100000"/>
                        </a:lnSpc>
                      </a:pPr>
                      <a:endParaRPr sz="600"/>
                    </a:p>
                  </a:txBody>
                  <a:tcPr marL="0" marR="0" marT="0" marB="0">
                    <a:lnL w="3175">
                      <a:solidFill>
                        <a:srgbClr val="7F7F7F">
                          <a:alpha val="100000"/>
                        </a:srgbClr>
                      </a:solidFill>
                      <a:prstDash val="solid"/>
                    </a:lnL>
                    <a:lnR w="3175">
                      <a:solidFill>
                        <a:srgbClr val="FFFFFF">
                          <a:alpha val="100000"/>
                        </a:srgbClr>
                      </a:solidFill>
                      <a:prstDash val="solid"/>
                    </a:lnR>
                    <a:lnT w="3175" cap="flat" cmpd="sng" algn="ctr">
                      <a:solidFill>
                        <a:srgbClr val="000000"/>
                      </a:solidFill>
                      <a:prstDash val="solid"/>
                      <a:round/>
                      <a:headEnd type="none" w="med" len="med"/>
                      <a:tailEnd type="none" w="med" len="med"/>
                    </a:lnT>
                    <a:lnB w="3175">
                      <a:solidFill>
                        <a:srgbClr val="FFFFFF">
                          <a:alpha val="100000"/>
                        </a:srgbClr>
                      </a:solidFill>
                      <a:prstDash val="solid"/>
                    </a:lnB>
                    <a:solidFill>
                      <a:srgbClr val="E5E5E5"/>
                    </a:solidFill>
                  </a:tcPr>
                </a:tc>
                <a:extLst>
                  <a:ext uri="{0D108BD9-81ED-4DB2-BD59-A6C34878D82A}">
                    <a16:rowId xmlns:a16="http://schemas.microsoft.com/office/drawing/2014/main" val="10003"/>
                  </a:ext>
                </a:extLst>
              </a:tr>
              <a:tr h="407924">
                <a:tc>
                  <a:txBody>
                    <a:bodyPr/>
                    <a:lstStyle/>
                    <a:p>
                      <a:pPr>
                        <a:lnSpc>
                          <a:spcPct val="100000"/>
                        </a:lnSpc>
                      </a:pPr>
                      <a:endParaRPr sz="600" dirty="0"/>
                    </a:p>
                  </a:txBody>
                  <a:tcPr marL="0" marR="0" marT="0" marB="0">
                    <a:lnL w="3175">
                      <a:solidFill>
                        <a:srgbClr val="000000">
                          <a:alpha val="100000"/>
                        </a:srgbClr>
                      </a:solidFill>
                      <a:prstDash val="solid"/>
                    </a:lnL>
                    <a:lnR w="3175" cap="flat" cmpd="sng" algn="ctr">
                      <a:solidFill>
                        <a:srgbClr val="7F7F7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a:solidFill>
                        <a:srgbClr val="000000">
                          <a:alpha val="100000"/>
                        </a:srgbClr>
                      </a:solidFill>
                      <a:prstDash val="solid"/>
                    </a:lnB>
                  </a:tcPr>
                </a:tc>
                <a:tc>
                  <a:txBody>
                    <a:bodyPr/>
                    <a:lstStyle/>
                    <a:p>
                      <a:pPr>
                        <a:lnSpc>
                          <a:spcPct val="100000"/>
                        </a:lnSpc>
                      </a:pPr>
                      <a:endParaRPr sz="600"/>
                    </a:p>
                  </a:txBody>
                  <a:tcPr marL="0" marR="0" marT="0" marB="0">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a:solidFill>
                        <a:srgbClr val="000000">
                          <a:alpha val="100000"/>
                        </a:srgbClr>
                      </a:solidFill>
                      <a:prstDash val="solid"/>
                    </a:lnB>
                  </a:tcPr>
                </a:tc>
                <a:tc>
                  <a:txBody>
                    <a:bodyPr/>
                    <a:lstStyle/>
                    <a:p>
                      <a:pPr>
                        <a:lnSpc>
                          <a:spcPct val="100000"/>
                        </a:lnSpc>
                      </a:pPr>
                      <a:endParaRPr sz="600"/>
                    </a:p>
                  </a:txBody>
                  <a:tcPr marL="0" marR="0" marT="0" marB="0">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a:solidFill>
                        <a:srgbClr val="000000">
                          <a:alpha val="100000"/>
                        </a:srgbClr>
                      </a:solidFill>
                      <a:prstDash val="solid"/>
                    </a:lnB>
                  </a:tcPr>
                </a:tc>
                <a:tc>
                  <a:txBody>
                    <a:bodyPr/>
                    <a:lstStyle/>
                    <a:p>
                      <a:pPr>
                        <a:lnSpc>
                          <a:spcPct val="100000"/>
                        </a:lnSpc>
                      </a:pPr>
                      <a:endParaRPr sz="600"/>
                    </a:p>
                  </a:txBody>
                  <a:tcPr marL="0" marR="0" marT="0" marB="0">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a:solidFill>
                        <a:srgbClr val="000000">
                          <a:alpha val="100000"/>
                        </a:srgbClr>
                      </a:solidFill>
                      <a:prstDash val="solid"/>
                    </a:lnB>
                  </a:tcPr>
                </a:tc>
                <a:tc>
                  <a:txBody>
                    <a:bodyPr/>
                    <a:lstStyle/>
                    <a:p>
                      <a:pPr>
                        <a:lnSpc>
                          <a:spcPct val="100000"/>
                        </a:lnSpc>
                      </a:pPr>
                      <a:endParaRPr sz="600"/>
                    </a:p>
                  </a:txBody>
                  <a:tcPr marL="0" marR="0" marT="0" marB="0">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a:solidFill>
                        <a:srgbClr val="000000">
                          <a:alpha val="100000"/>
                        </a:srgbClr>
                      </a:solidFill>
                      <a:prstDash val="solid"/>
                    </a:lnB>
                  </a:tcPr>
                </a:tc>
                <a:tc>
                  <a:txBody>
                    <a:bodyPr/>
                    <a:lstStyle/>
                    <a:p>
                      <a:pPr>
                        <a:lnSpc>
                          <a:spcPct val="100000"/>
                        </a:lnSpc>
                      </a:pPr>
                      <a:endParaRPr sz="600"/>
                    </a:p>
                  </a:txBody>
                  <a:tcPr marL="0" marR="0" marT="0" marB="0">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a:solidFill>
                        <a:srgbClr val="000000">
                          <a:alpha val="100000"/>
                        </a:srgbClr>
                      </a:solidFill>
                      <a:prstDash val="solid"/>
                    </a:lnB>
                  </a:tcPr>
                </a:tc>
                <a:tc>
                  <a:txBody>
                    <a:bodyPr/>
                    <a:lstStyle/>
                    <a:p>
                      <a:pPr>
                        <a:lnSpc>
                          <a:spcPct val="100000"/>
                        </a:lnSpc>
                      </a:pPr>
                      <a:endParaRPr sz="600" dirty="0"/>
                    </a:p>
                  </a:txBody>
                  <a:tcPr marL="0" marR="0" marT="0" marB="0">
                    <a:lnL w="3175" cap="flat" cmpd="sng" algn="ctr">
                      <a:solidFill>
                        <a:srgbClr val="7F7F7F"/>
                      </a:solidFill>
                      <a:prstDash val="solid"/>
                      <a:round/>
                      <a:headEnd type="none" w="med" len="med"/>
                      <a:tailEnd type="none" w="med" len="med"/>
                    </a:lnL>
                    <a:lnR w="3175">
                      <a:solidFill>
                        <a:srgbClr val="000000">
                          <a:alpha val="100000"/>
                        </a:srgbClr>
                      </a:solidFill>
                      <a:prstDash val="solid"/>
                    </a:lnR>
                    <a:lnT w="3175" cap="flat" cmpd="sng" algn="ctr">
                      <a:solidFill>
                        <a:srgbClr val="FFFFFF"/>
                      </a:solidFill>
                      <a:prstDash val="solid"/>
                      <a:round/>
                      <a:headEnd type="none" w="med" len="med"/>
                      <a:tailEnd type="none" w="med" len="med"/>
                    </a:lnT>
                    <a:lnB w="3175">
                      <a:solidFill>
                        <a:srgbClr val="000000">
                          <a:alpha val="100000"/>
                        </a:srgbClr>
                      </a:solidFill>
                      <a:prstDash val="solid"/>
                    </a:lnB>
                  </a:tcPr>
                </a:tc>
                <a:extLst>
                  <a:ext uri="{0D108BD9-81ED-4DB2-BD59-A6C34878D82A}">
                    <a16:rowId xmlns:a16="http://schemas.microsoft.com/office/drawing/2014/main" val="10004"/>
                  </a:ext>
                </a:extLst>
              </a:tr>
              <a:tr h="407911">
                <a:tc>
                  <a:txBody>
                    <a:bodyPr/>
                    <a:lstStyle/>
                    <a:p>
                      <a:pPr>
                        <a:lnSpc>
                          <a:spcPct val="100000"/>
                        </a:lnSpc>
                      </a:pPr>
                      <a:endParaRPr sz="600" dirty="0"/>
                    </a:p>
                  </a:txBody>
                  <a:tcPr marL="0" marR="0" marT="0" marB="0">
                    <a:lnL w="3175">
                      <a:solidFill>
                        <a:srgbClr val="FFFFFF">
                          <a:alpha val="100000"/>
                        </a:srgbClr>
                      </a:solidFill>
                      <a:prstDash val="solid"/>
                    </a:lnL>
                    <a:lnR w="3175">
                      <a:solidFill>
                        <a:srgbClr val="7F7F7F">
                          <a:alpha val="100000"/>
                        </a:srgbClr>
                      </a:solidFill>
                      <a:prstDash val="solid"/>
                    </a:lnR>
                    <a:lnT w="3175" cap="flat" cmpd="sng" algn="ctr">
                      <a:solidFill>
                        <a:srgbClr val="000000"/>
                      </a:solidFill>
                      <a:prstDash val="solid"/>
                      <a:round/>
                      <a:headEnd type="none" w="med" len="med"/>
                      <a:tailEnd type="none" w="med" len="med"/>
                    </a:lnT>
                    <a:lnB w="3175">
                      <a:solidFill>
                        <a:srgbClr val="FFFFFF">
                          <a:alpha val="100000"/>
                        </a:srgbClr>
                      </a:solidFill>
                      <a:prstDash val="solid"/>
                    </a:lnB>
                    <a:solidFill>
                      <a:srgbClr val="E5E5E5"/>
                    </a:solidFill>
                  </a:tcPr>
                </a:tc>
                <a:tc>
                  <a:txBody>
                    <a:bodyPr/>
                    <a:lstStyle/>
                    <a:p>
                      <a:pPr>
                        <a:lnSpc>
                          <a:spcPct val="100000"/>
                        </a:lnSpc>
                      </a:pPr>
                      <a:endParaRPr sz="600"/>
                    </a:p>
                  </a:txBody>
                  <a:tcPr marL="0" marR="0" marT="0" marB="0">
                    <a:lnL w="3175">
                      <a:solidFill>
                        <a:srgbClr val="7F7F7F">
                          <a:alpha val="100000"/>
                        </a:srgbClr>
                      </a:solidFill>
                      <a:prstDash val="solid"/>
                    </a:lnL>
                    <a:lnR w="3175">
                      <a:solidFill>
                        <a:srgbClr val="7F7F7F">
                          <a:alpha val="100000"/>
                        </a:srgbClr>
                      </a:solidFill>
                      <a:prstDash val="solid"/>
                    </a:lnR>
                    <a:lnT w="3175" cap="flat" cmpd="sng" algn="ctr">
                      <a:solidFill>
                        <a:srgbClr val="000000"/>
                      </a:solidFill>
                      <a:prstDash val="solid"/>
                      <a:round/>
                      <a:headEnd type="none" w="med" len="med"/>
                      <a:tailEnd type="none" w="med" len="med"/>
                    </a:lnT>
                    <a:lnB w="3175">
                      <a:solidFill>
                        <a:srgbClr val="FFFFFF">
                          <a:alpha val="100000"/>
                        </a:srgbClr>
                      </a:solidFill>
                      <a:prstDash val="solid"/>
                    </a:lnB>
                    <a:solidFill>
                      <a:srgbClr val="E5E5E5"/>
                    </a:solidFill>
                  </a:tcPr>
                </a:tc>
                <a:tc>
                  <a:txBody>
                    <a:bodyPr/>
                    <a:lstStyle/>
                    <a:p>
                      <a:pPr>
                        <a:lnSpc>
                          <a:spcPct val="100000"/>
                        </a:lnSpc>
                      </a:pPr>
                      <a:endParaRPr sz="600"/>
                    </a:p>
                  </a:txBody>
                  <a:tcPr marL="0" marR="0" marT="0" marB="0">
                    <a:lnL w="3175">
                      <a:solidFill>
                        <a:srgbClr val="7F7F7F">
                          <a:alpha val="100000"/>
                        </a:srgbClr>
                      </a:solidFill>
                      <a:prstDash val="solid"/>
                    </a:lnL>
                    <a:lnR w="3175">
                      <a:solidFill>
                        <a:srgbClr val="7F7F7F">
                          <a:alpha val="100000"/>
                        </a:srgbClr>
                      </a:solidFill>
                      <a:prstDash val="solid"/>
                    </a:lnR>
                    <a:lnT w="3175" cap="flat" cmpd="sng" algn="ctr">
                      <a:solidFill>
                        <a:srgbClr val="000000"/>
                      </a:solidFill>
                      <a:prstDash val="solid"/>
                      <a:round/>
                      <a:headEnd type="none" w="med" len="med"/>
                      <a:tailEnd type="none" w="med" len="med"/>
                    </a:lnT>
                    <a:lnB w="3175">
                      <a:solidFill>
                        <a:srgbClr val="FFFFFF">
                          <a:alpha val="100000"/>
                        </a:srgbClr>
                      </a:solidFill>
                      <a:prstDash val="solid"/>
                    </a:lnB>
                    <a:solidFill>
                      <a:srgbClr val="E5E5E5"/>
                    </a:solidFill>
                  </a:tcPr>
                </a:tc>
                <a:tc>
                  <a:txBody>
                    <a:bodyPr/>
                    <a:lstStyle/>
                    <a:p>
                      <a:pPr>
                        <a:lnSpc>
                          <a:spcPct val="100000"/>
                        </a:lnSpc>
                      </a:pPr>
                      <a:endParaRPr sz="600"/>
                    </a:p>
                  </a:txBody>
                  <a:tcPr marL="0" marR="0" marT="0" marB="0">
                    <a:lnL w="3175">
                      <a:solidFill>
                        <a:srgbClr val="7F7F7F">
                          <a:alpha val="100000"/>
                        </a:srgbClr>
                      </a:solidFill>
                      <a:prstDash val="solid"/>
                    </a:lnL>
                    <a:lnR w="3175">
                      <a:solidFill>
                        <a:srgbClr val="7F7F7F">
                          <a:alpha val="100000"/>
                        </a:srgbClr>
                      </a:solidFill>
                      <a:prstDash val="solid"/>
                    </a:lnR>
                    <a:lnT w="3175" cap="flat" cmpd="sng" algn="ctr">
                      <a:solidFill>
                        <a:srgbClr val="000000"/>
                      </a:solidFill>
                      <a:prstDash val="solid"/>
                      <a:round/>
                      <a:headEnd type="none" w="med" len="med"/>
                      <a:tailEnd type="none" w="med" len="med"/>
                    </a:lnT>
                    <a:lnB w="3175">
                      <a:solidFill>
                        <a:srgbClr val="FFFFFF">
                          <a:alpha val="100000"/>
                        </a:srgbClr>
                      </a:solidFill>
                      <a:prstDash val="solid"/>
                    </a:lnB>
                    <a:solidFill>
                      <a:srgbClr val="E5E5E5"/>
                    </a:solidFill>
                  </a:tcPr>
                </a:tc>
                <a:tc>
                  <a:txBody>
                    <a:bodyPr/>
                    <a:lstStyle/>
                    <a:p>
                      <a:pPr>
                        <a:lnSpc>
                          <a:spcPct val="100000"/>
                        </a:lnSpc>
                      </a:pPr>
                      <a:endParaRPr sz="600"/>
                    </a:p>
                  </a:txBody>
                  <a:tcPr marL="0" marR="0" marT="0" marB="0">
                    <a:lnL w="3175">
                      <a:solidFill>
                        <a:srgbClr val="7F7F7F">
                          <a:alpha val="100000"/>
                        </a:srgbClr>
                      </a:solidFill>
                      <a:prstDash val="solid"/>
                    </a:lnL>
                    <a:lnR w="3175">
                      <a:solidFill>
                        <a:srgbClr val="7F7F7F">
                          <a:alpha val="100000"/>
                        </a:srgbClr>
                      </a:solidFill>
                      <a:prstDash val="solid"/>
                    </a:lnR>
                    <a:lnT w="3175" cap="flat" cmpd="sng" algn="ctr">
                      <a:solidFill>
                        <a:srgbClr val="000000"/>
                      </a:solidFill>
                      <a:prstDash val="solid"/>
                      <a:round/>
                      <a:headEnd type="none" w="med" len="med"/>
                      <a:tailEnd type="none" w="med" len="med"/>
                    </a:lnT>
                    <a:lnB w="3175">
                      <a:solidFill>
                        <a:srgbClr val="FFFFFF">
                          <a:alpha val="100000"/>
                        </a:srgbClr>
                      </a:solidFill>
                      <a:prstDash val="solid"/>
                    </a:lnB>
                    <a:solidFill>
                      <a:srgbClr val="E5E5E5"/>
                    </a:solidFill>
                  </a:tcPr>
                </a:tc>
                <a:tc>
                  <a:txBody>
                    <a:bodyPr/>
                    <a:lstStyle/>
                    <a:p>
                      <a:pPr>
                        <a:lnSpc>
                          <a:spcPct val="100000"/>
                        </a:lnSpc>
                      </a:pPr>
                      <a:endParaRPr sz="600"/>
                    </a:p>
                  </a:txBody>
                  <a:tcPr marL="0" marR="0" marT="0" marB="0">
                    <a:lnL w="3175">
                      <a:solidFill>
                        <a:srgbClr val="7F7F7F">
                          <a:alpha val="100000"/>
                        </a:srgbClr>
                      </a:solidFill>
                      <a:prstDash val="solid"/>
                    </a:lnL>
                    <a:lnR w="3175">
                      <a:solidFill>
                        <a:srgbClr val="7F7F7F">
                          <a:alpha val="100000"/>
                        </a:srgbClr>
                      </a:solidFill>
                      <a:prstDash val="solid"/>
                    </a:lnR>
                    <a:lnT w="3175" cap="flat" cmpd="sng" algn="ctr">
                      <a:solidFill>
                        <a:srgbClr val="000000"/>
                      </a:solidFill>
                      <a:prstDash val="solid"/>
                      <a:round/>
                      <a:headEnd type="none" w="med" len="med"/>
                      <a:tailEnd type="none" w="med" len="med"/>
                    </a:lnT>
                    <a:lnB w="3175">
                      <a:solidFill>
                        <a:srgbClr val="FFFFFF">
                          <a:alpha val="100000"/>
                        </a:srgbClr>
                      </a:solidFill>
                      <a:prstDash val="solid"/>
                    </a:lnB>
                    <a:solidFill>
                      <a:srgbClr val="E5E5E5"/>
                    </a:solidFill>
                  </a:tcPr>
                </a:tc>
                <a:tc>
                  <a:txBody>
                    <a:bodyPr/>
                    <a:lstStyle/>
                    <a:p>
                      <a:pPr>
                        <a:lnSpc>
                          <a:spcPct val="100000"/>
                        </a:lnSpc>
                      </a:pPr>
                      <a:endParaRPr sz="600"/>
                    </a:p>
                  </a:txBody>
                  <a:tcPr marL="0" marR="0" marT="0" marB="0">
                    <a:lnL w="3175">
                      <a:solidFill>
                        <a:srgbClr val="7F7F7F">
                          <a:alpha val="100000"/>
                        </a:srgbClr>
                      </a:solidFill>
                      <a:prstDash val="solid"/>
                    </a:lnL>
                    <a:lnR w="3175">
                      <a:solidFill>
                        <a:srgbClr val="FFFFFF">
                          <a:alpha val="100000"/>
                        </a:srgbClr>
                      </a:solidFill>
                      <a:prstDash val="solid"/>
                    </a:lnR>
                    <a:lnT w="3175" cap="flat" cmpd="sng" algn="ctr">
                      <a:solidFill>
                        <a:srgbClr val="000000"/>
                      </a:solidFill>
                      <a:prstDash val="solid"/>
                      <a:round/>
                      <a:headEnd type="none" w="med" len="med"/>
                      <a:tailEnd type="none" w="med" len="med"/>
                    </a:lnT>
                    <a:lnB w="3175">
                      <a:solidFill>
                        <a:srgbClr val="FFFFFF">
                          <a:alpha val="100000"/>
                        </a:srgbClr>
                      </a:solidFill>
                      <a:prstDash val="solid"/>
                    </a:lnB>
                    <a:solidFill>
                      <a:srgbClr val="E5E5E5"/>
                    </a:solidFill>
                  </a:tcPr>
                </a:tc>
                <a:extLst>
                  <a:ext uri="{0D108BD9-81ED-4DB2-BD59-A6C34878D82A}">
                    <a16:rowId xmlns:a16="http://schemas.microsoft.com/office/drawing/2014/main" val="10005"/>
                  </a:ext>
                </a:extLst>
              </a:tr>
              <a:tr h="407924">
                <a:tc>
                  <a:txBody>
                    <a:bodyPr/>
                    <a:lstStyle/>
                    <a:p>
                      <a:pPr>
                        <a:lnSpc>
                          <a:spcPct val="100000"/>
                        </a:lnSpc>
                      </a:pPr>
                      <a:endParaRPr sz="600" dirty="0"/>
                    </a:p>
                  </a:txBody>
                  <a:tcPr marL="0" marR="0" marT="0" marB="0">
                    <a:lnL w="3175">
                      <a:solidFill>
                        <a:srgbClr val="000000">
                          <a:alpha val="100000"/>
                        </a:srgbClr>
                      </a:solidFill>
                      <a:prstDash val="solid"/>
                    </a:lnL>
                    <a:lnR w="3175" cap="flat" cmpd="sng" algn="ctr">
                      <a:solidFill>
                        <a:srgbClr val="7F7F7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a:solidFill>
                        <a:srgbClr val="000000">
                          <a:alpha val="100000"/>
                        </a:srgbClr>
                      </a:solidFill>
                      <a:prstDash val="solid"/>
                    </a:lnB>
                  </a:tcPr>
                </a:tc>
                <a:tc>
                  <a:txBody>
                    <a:bodyPr/>
                    <a:lstStyle/>
                    <a:p>
                      <a:pPr>
                        <a:lnSpc>
                          <a:spcPct val="100000"/>
                        </a:lnSpc>
                      </a:pPr>
                      <a:endParaRPr sz="600"/>
                    </a:p>
                  </a:txBody>
                  <a:tcPr marL="0" marR="0" marT="0" marB="0">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a:solidFill>
                        <a:srgbClr val="000000">
                          <a:alpha val="100000"/>
                        </a:srgbClr>
                      </a:solidFill>
                      <a:prstDash val="solid"/>
                    </a:lnB>
                  </a:tcPr>
                </a:tc>
                <a:tc>
                  <a:txBody>
                    <a:bodyPr/>
                    <a:lstStyle/>
                    <a:p>
                      <a:pPr>
                        <a:lnSpc>
                          <a:spcPct val="100000"/>
                        </a:lnSpc>
                      </a:pPr>
                      <a:endParaRPr sz="600"/>
                    </a:p>
                  </a:txBody>
                  <a:tcPr marL="0" marR="0" marT="0" marB="0">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a:solidFill>
                        <a:srgbClr val="000000">
                          <a:alpha val="100000"/>
                        </a:srgbClr>
                      </a:solidFill>
                      <a:prstDash val="solid"/>
                    </a:lnB>
                  </a:tcPr>
                </a:tc>
                <a:tc>
                  <a:txBody>
                    <a:bodyPr/>
                    <a:lstStyle/>
                    <a:p>
                      <a:pPr>
                        <a:lnSpc>
                          <a:spcPct val="100000"/>
                        </a:lnSpc>
                      </a:pPr>
                      <a:endParaRPr sz="600"/>
                    </a:p>
                  </a:txBody>
                  <a:tcPr marL="0" marR="0" marT="0" marB="0">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a:solidFill>
                        <a:srgbClr val="000000">
                          <a:alpha val="100000"/>
                        </a:srgbClr>
                      </a:solidFill>
                      <a:prstDash val="solid"/>
                    </a:lnB>
                  </a:tcPr>
                </a:tc>
                <a:tc>
                  <a:txBody>
                    <a:bodyPr/>
                    <a:lstStyle/>
                    <a:p>
                      <a:pPr>
                        <a:lnSpc>
                          <a:spcPct val="100000"/>
                        </a:lnSpc>
                      </a:pPr>
                      <a:endParaRPr sz="600"/>
                    </a:p>
                  </a:txBody>
                  <a:tcPr marL="0" marR="0" marT="0" marB="0">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a:solidFill>
                        <a:srgbClr val="000000">
                          <a:alpha val="100000"/>
                        </a:srgbClr>
                      </a:solidFill>
                      <a:prstDash val="solid"/>
                    </a:lnB>
                  </a:tcPr>
                </a:tc>
                <a:tc>
                  <a:txBody>
                    <a:bodyPr/>
                    <a:lstStyle/>
                    <a:p>
                      <a:pPr>
                        <a:lnSpc>
                          <a:spcPct val="100000"/>
                        </a:lnSpc>
                      </a:pPr>
                      <a:endParaRPr sz="600"/>
                    </a:p>
                  </a:txBody>
                  <a:tcPr marL="0" marR="0" marT="0" marB="0">
                    <a:lnL w="3175" cap="flat" cmpd="sng" algn="ctr">
                      <a:solidFill>
                        <a:srgbClr val="7F7F7F"/>
                      </a:solidFill>
                      <a:prstDash val="solid"/>
                      <a:round/>
                      <a:headEnd type="none" w="med" len="med"/>
                      <a:tailEnd type="none" w="med" len="med"/>
                    </a:lnL>
                    <a:lnR w="3175" cap="flat" cmpd="sng" algn="ctr">
                      <a:solidFill>
                        <a:srgbClr val="7F7F7F"/>
                      </a:solidFill>
                      <a:prstDash val="solid"/>
                      <a:round/>
                      <a:headEnd type="none" w="med" len="med"/>
                      <a:tailEnd type="none" w="med" len="med"/>
                    </a:lnR>
                    <a:lnT w="3175" cap="flat" cmpd="sng" algn="ctr">
                      <a:solidFill>
                        <a:srgbClr val="FFFFFF"/>
                      </a:solidFill>
                      <a:prstDash val="solid"/>
                      <a:round/>
                      <a:headEnd type="none" w="med" len="med"/>
                      <a:tailEnd type="none" w="med" len="med"/>
                    </a:lnT>
                    <a:lnB w="3175">
                      <a:solidFill>
                        <a:srgbClr val="000000">
                          <a:alpha val="100000"/>
                        </a:srgbClr>
                      </a:solidFill>
                      <a:prstDash val="solid"/>
                    </a:lnB>
                  </a:tcPr>
                </a:tc>
                <a:tc>
                  <a:txBody>
                    <a:bodyPr/>
                    <a:lstStyle/>
                    <a:p>
                      <a:pPr>
                        <a:lnSpc>
                          <a:spcPct val="100000"/>
                        </a:lnSpc>
                      </a:pPr>
                      <a:endParaRPr sz="600" dirty="0"/>
                    </a:p>
                  </a:txBody>
                  <a:tcPr marL="0" marR="0" marT="0" marB="0">
                    <a:lnL w="3175" cap="flat" cmpd="sng" algn="ctr">
                      <a:solidFill>
                        <a:srgbClr val="7F7F7F"/>
                      </a:solidFill>
                      <a:prstDash val="solid"/>
                      <a:round/>
                      <a:headEnd type="none" w="med" len="med"/>
                      <a:tailEnd type="none" w="med" len="med"/>
                    </a:lnL>
                    <a:lnR w="3175">
                      <a:solidFill>
                        <a:srgbClr val="000000">
                          <a:alpha val="100000"/>
                        </a:srgbClr>
                      </a:solidFill>
                      <a:prstDash val="solid"/>
                    </a:lnR>
                    <a:lnT w="3175" cap="flat" cmpd="sng" algn="ctr">
                      <a:solidFill>
                        <a:srgbClr val="FFFFFF"/>
                      </a:solidFill>
                      <a:prstDash val="solid"/>
                      <a:round/>
                      <a:headEnd type="none" w="med" len="med"/>
                      <a:tailEnd type="none" w="med" len="med"/>
                    </a:lnT>
                    <a:lnB w="3175">
                      <a:solidFill>
                        <a:srgbClr val="000000">
                          <a:alpha val="100000"/>
                        </a:srgbClr>
                      </a:solidFill>
                      <a:prstDash val="solid"/>
                    </a:lnB>
                  </a:tcPr>
                </a:tc>
                <a:extLst>
                  <a:ext uri="{0D108BD9-81ED-4DB2-BD59-A6C34878D82A}">
                    <a16:rowId xmlns:a16="http://schemas.microsoft.com/office/drawing/2014/main" val="10006"/>
                  </a:ext>
                </a:extLst>
              </a:tr>
            </a:tbl>
          </a:graphicData>
        </a:graphic>
      </p:graphicFrame>
      <p:sp>
        <p:nvSpPr>
          <p:cNvPr id="75" name="object 3">
            <a:extLst>
              <a:ext uri="{FF2B5EF4-FFF2-40B4-BE49-F238E27FC236}">
                <a16:creationId xmlns:a16="http://schemas.microsoft.com/office/drawing/2014/main" id="{8BCAE6EB-D560-894B-AA1F-ADBC6207CF34}"/>
              </a:ext>
            </a:extLst>
          </p:cNvPr>
          <p:cNvSpPr txBox="1"/>
          <p:nvPr/>
        </p:nvSpPr>
        <p:spPr>
          <a:xfrm>
            <a:off x="1722907" y="1153490"/>
            <a:ext cx="9798050" cy="1387559"/>
          </a:xfrm>
          <a:prstGeom prst="rect">
            <a:avLst/>
          </a:prstGeom>
        </p:spPr>
        <p:txBody>
          <a:bodyPr vert="horz" wrap="square" lIns="0" tIns="43180" rIns="0" bIns="0" rtlCol="0">
            <a:spAutoFit/>
          </a:bodyPr>
          <a:lstStyle/>
          <a:p>
            <a:pPr marL="241300" indent="-228600">
              <a:lnSpc>
                <a:spcPct val="100000"/>
              </a:lnSpc>
              <a:spcBef>
                <a:spcPts val="340"/>
              </a:spcBef>
              <a:buFont typeface="Arial"/>
              <a:buChar char="•"/>
              <a:tabLst>
                <a:tab pos="241300" algn="l"/>
              </a:tabLst>
            </a:pPr>
            <a:r>
              <a:rPr lang="en-US" sz="2800" spc="-10" dirty="0">
                <a:latin typeface="Nirmala UI Semilight" panose="020B0402040204020203" pitchFamily="34" charset="0"/>
                <a:ea typeface="Nirmala UI Semilight" panose="020B0402040204020203" pitchFamily="34" charset="0"/>
                <a:cs typeface="Nirmala UI Semilight" panose="020B0402040204020203" pitchFamily="34" charset="0"/>
              </a:rPr>
              <a:t>Rules are combined in a NSG</a:t>
            </a:r>
            <a:endParaRPr sz="2800"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241300" indent="-228600">
              <a:spcBef>
                <a:spcPts val="204"/>
              </a:spcBef>
              <a:buFont typeface="Arial"/>
              <a:buChar char="•"/>
              <a:tabLst>
                <a:tab pos="698500" algn="l"/>
              </a:tabLst>
            </a:pPr>
            <a:r>
              <a:rPr lang="en-US" sz="2800" spc="-10" dirty="0">
                <a:solidFill>
                  <a:srgbClr val="000000"/>
                </a:solidFill>
                <a:latin typeface="Nirmala UI Semilight" panose="020B0402040204020203" pitchFamily="34" charset="0"/>
                <a:ea typeface="Nirmala UI Semilight" panose="020B0402040204020203" pitchFamily="34" charset="0"/>
                <a:cs typeface="Nirmala UI Semilight" panose="020B0402040204020203" pitchFamily="34" charset="0"/>
              </a:rPr>
              <a:t>Based on the priority flexible configurations are possible</a:t>
            </a:r>
          </a:p>
          <a:p>
            <a:pPr marL="241300" indent="-228600">
              <a:spcBef>
                <a:spcPts val="204"/>
              </a:spcBef>
              <a:buFont typeface="Arial"/>
              <a:buChar char="•"/>
              <a:tabLst>
                <a:tab pos="698500" algn="l"/>
              </a:tabLst>
            </a:pPr>
            <a:r>
              <a:rPr lang="en-US" sz="2800" spc="-10" dirty="0">
                <a:solidFill>
                  <a:srgbClr val="000000"/>
                </a:solidFill>
                <a:latin typeface="Nirmala UI Semilight" panose="020B0402040204020203" pitchFamily="34" charset="0"/>
                <a:ea typeface="Nirmala UI Semilight" panose="020B0402040204020203" pitchFamily="34" charset="0"/>
                <a:cs typeface="Nirmala UI Semilight" panose="020B0402040204020203" pitchFamily="34" charset="0"/>
              </a:rPr>
              <a:t>Lower priority number means higher priority</a:t>
            </a:r>
            <a:endParaRPr lang="en-US" sz="2400" dirty="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Tree>
    <p:extLst>
      <p:ext uri="{BB962C8B-B14F-4D97-AF65-F5344CB8AC3E}">
        <p14:creationId xmlns:p14="http://schemas.microsoft.com/office/powerpoint/2010/main" val="6737670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Title 1"/>
          <p:cNvSpPr txBox="1">
            <a:spLocks noGrp="1"/>
          </p:cNvSpPr>
          <p:nvPr>
            <p:ph type="title"/>
          </p:nvPr>
        </p:nvSpPr>
        <p:spPr>
          <a:prstGeom prst="rect">
            <a:avLst/>
          </a:prstGeom>
        </p:spPr>
        <p:txBody>
          <a:bodyPr/>
          <a:lstStyle>
            <a:lvl1pPr defTabSz="905255">
              <a:defRPr sz="3564" spc="-99"/>
            </a:lvl1pPr>
          </a:lstStyle>
          <a:p>
            <a:r>
              <a:rPr lang="en-US" dirty="0"/>
              <a:t>Application security groups</a:t>
            </a:r>
            <a:endParaRPr dirty="0"/>
          </a:p>
        </p:txBody>
      </p:sp>
      <p:sp>
        <p:nvSpPr>
          <p:cNvPr id="415" name="Slide Number Placeholder 4"/>
          <p:cNvSpPr txBox="1">
            <a:spLocks noGrp="1"/>
          </p:cNvSpPr>
          <p:nvPr>
            <p:ph type="sldNum" sz="quarter" idx="12"/>
          </p:nvPr>
        </p:nvSpPr>
        <p:spPr>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D1282E"/>
                </a:solidFill>
                <a:effectLst/>
                <a:uFillTx/>
                <a:latin typeface="Arial"/>
                <a:ea typeface="Arial"/>
                <a:cs typeface="Arial"/>
                <a:sym typeface="Arial"/>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n-US" smtClean="0"/>
              <a:pPr/>
              <a:t>16</a:t>
            </a:fld>
            <a:endParaRPr/>
          </a:p>
        </p:txBody>
      </p:sp>
      <p:sp>
        <p:nvSpPr>
          <p:cNvPr id="5" name="Path72">
            <a:extLst>
              <a:ext uri="{FF2B5EF4-FFF2-40B4-BE49-F238E27FC236}">
                <a16:creationId xmlns:a16="http://schemas.microsoft.com/office/drawing/2014/main" id="{4B30C7DB-C8AC-2145-9861-353091EE435D}"/>
              </a:ext>
            </a:extLst>
          </p:cNvPr>
          <p:cNvSpPr/>
          <p:nvPr/>
        </p:nvSpPr>
        <p:spPr>
          <a:xfrm>
            <a:off x="0" y="0"/>
            <a:ext cx="0" cy="0"/>
          </a:xfrm>
          <a:custGeom>
            <a:avLst/>
            <a:gdLst/>
            <a:ahLst/>
            <a:cxnLst/>
            <a:rect l="l" t="t" r="r" b="b"/>
            <a:pathLst>
              <a:path/>
            </a:pathLst>
          </a:custGeom>
          <a:solidFill/>
          <a:ln>
            <a:solidFill/>
            <a:prstDash/>
          </a:ln>
        </p:spPr>
        <p:txBody>
          <a:bodyPr rtlCol="0" anchor="ctr"/>
          <a:lstStyle/>
          <a:p>
            <a:pPr algn="ctr"/>
            <a:endParaRPr lang="en-US" altLang="zh-CN"/>
          </a:p>
        </p:txBody>
      </p:sp>
      <p:sp>
        <p:nvSpPr>
          <p:cNvPr id="9" name="Path405">
            <a:extLst>
              <a:ext uri="{FF2B5EF4-FFF2-40B4-BE49-F238E27FC236}">
                <a16:creationId xmlns:a16="http://schemas.microsoft.com/office/drawing/2014/main" id="{548021A8-597F-7D4A-9E0F-A4457AD28BDE}"/>
              </a:ext>
            </a:extLst>
          </p:cNvPr>
          <p:cNvSpPr/>
          <p:nvPr/>
        </p:nvSpPr>
        <p:spPr>
          <a:xfrm>
            <a:off x="3287465" y="1392651"/>
            <a:ext cx="51816" cy="4182758"/>
          </a:xfrm>
          <a:custGeom>
            <a:avLst/>
            <a:gdLst/>
            <a:ahLst/>
            <a:cxnLst/>
            <a:rect l="l" t="t" r="r" b="b"/>
            <a:pathLst>
              <a:path w="51816" h="4182758">
                <a:moveTo>
                  <a:pt x="25908" y="25908"/>
                </a:moveTo>
                <a:lnTo>
                  <a:pt x="25908" y="4156850"/>
                </a:lnTo>
              </a:path>
            </a:pathLst>
          </a:custGeom>
          <a:solidFill>
            <a:srgbClr val="000000">
              <a:alpha val="0"/>
            </a:srgbClr>
          </a:solidFill>
          <a:ln w="25908" cap="sq">
            <a:solidFill>
              <a:srgbClr val="F05A28"/>
            </a:solidFill>
            <a:prstDash val="solid"/>
          </a:ln>
        </p:spPr>
        <p:txBody>
          <a:bodyPr rtlCol="0" anchor="ctr"/>
          <a:lstStyle/>
          <a:p>
            <a:pPr algn="ctr"/>
            <a:endParaRPr lang="en-US" altLang="zh-CN"/>
          </a:p>
        </p:txBody>
      </p:sp>
      <p:pic>
        <p:nvPicPr>
          <p:cNvPr id="2050" name="Picture 2" descr="Microsoft Azure – Application Security Groups-Everything related to DevOps  and the cloud.">
            <a:extLst>
              <a:ext uri="{FF2B5EF4-FFF2-40B4-BE49-F238E27FC236}">
                <a16:creationId xmlns:a16="http://schemas.microsoft.com/office/drawing/2014/main" id="{33BDE3A2-75C7-6459-04BF-45A7919E4D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822" y="2215535"/>
            <a:ext cx="2857500" cy="2857500"/>
          </a:xfrm>
          <a:prstGeom prst="rect">
            <a:avLst/>
          </a:prstGeom>
          <a:noFill/>
          <a:extLst>
            <a:ext uri="{909E8E84-426E-40DD-AFC4-6F175D3DCCD1}">
              <a14:hiddenFill xmlns:a14="http://schemas.microsoft.com/office/drawing/2010/main">
                <a:solidFill>
                  <a:srgbClr val="FFFFFF"/>
                </a:solidFill>
              </a14:hiddenFill>
            </a:ext>
          </a:extLst>
        </p:spPr>
      </p:pic>
      <p:sp>
        <p:nvSpPr>
          <p:cNvPr id="2" name="object 3">
            <a:extLst>
              <a:ext uri="{FF2B5EF4-FFF2-40B4-BE49-F238E27FC236}">
                <a16:creationId xmlns:a16="http://schemas.microsoft.com/office/drawing/2014/main" id="{B0E2C287-DBEF-8546-F0C4-9010CA65B2FD}"/>
              </a:ext>
            </a:extLst>
          </p:cNvPr>
          <p:cNvSpPr txBox="1"/>
          <p:nvPr/>
        </p:nvSpPr>
        <p:spPr>
          <a:xfrm>
            <a:off x="3456424" y="1557862"/>
            <a:ext cx="7765029" cy="3852337"/>
          </a:xfrm>
          <a:prstGeom prst="rect">
            <a:avLst/>
          </a:prstGeom>
        </p:spPr>
        <p:txBody>
          <a:bodyPr vert="horz" wrap="square" lIns="0" tIns="43180" rIns="0" bIns="0" rtlCol="0">
            <a:spAutoFit/>
          </a:bodyPr>
          <a:lstStyle/>
          <a:p>
            <a:pPr marL="12700">
              <a:lnSpc>
                <a:spcPct val="100000"/>
              </a:lnSpc>
              <a:spcBef>
                <a:spcPts val="340"/>
              </a:spcBef>
              <a:tabLst>
                <a:tab pos="241300" algn="l"/>
              </a:tabLst>
            </a:pPr>
            <a:r>
              <a:rPr lang="en-US" sz="2000" dirty="0">
                <a:latin typeface="+mj-lt"/>
              </a:rPr>
              <a:t>Simplify NSG Management in Dynamic Environments</a:t>
            </a:r>
          </a:p>
          <a:p>
            <a:pPr marL="298450" indent="-285750">
              <a:spcBef>
                <a:spcPts val="340"/>
              </a:spcBef>
              <a:buFont typeface="Arial" panose="020B0604020202020204" pitchFamily="34" charset="0"/>
              <a:buChar char="•"/>
              <a:tabLst>
                <a:tab pos="241300" algn="l"/>
              </a:tabLst>
            </a:pPr>
            <a:r>
              <a:rPr lang="en-US" sz="2000" dirty="0"/>
              <a:t>NSGs traditionally rely on IP address ranges, which can be hard to manage as environments grow.</a:t>
            </a:r>
          </a:p>
          <a:p>
            <a:pPr marL="298450" indent="-285750">
              <a:spcBef>
                <a:spcPts val="340"/>
              </a:spcBef>
              <a:buFont typeface="Arial" panose="020B0604020202020204" pitchFamily="34" charset="0"/>
              <a:buChar char="•"/>
              <a:tabLst>
                <a:tab pos="241300" algn="l"/>
              </a:tabLst>
            </a:pPr>
            <a:r>
              <a:rPr lang="en-US" sz="2000" dirty="0"/>
              <a:t>Application Security Groups (ASGs) let you group VMs logically by role:</a:t>
            </a:r>
          </a:p>
          <a:p>
            <a:pPr marL="469900" lvl="1">
              <a:lnSpc>
                <a:spcPct val="150000"/>
              </a:lnSpc>
              <a:spcBef>
                <a:spcPts val="340"/>
              </a:spcBef>
              <a:tabLst>
                <a:tab pos="241300" algn="l"/>
              </a:tabLst>
            </a:pPr>
            <a:r>
              <a:rPr lang="en-US" sz="2000" b="1" dirty="0"/>
              <a:t>Example groups:</a:t>
            </a:r>
            <a:r>
              <a:rPr lang="en-US" sz="2000" dirty="0"/>
              <a:t> Web, App, Database</a:t>
            </a:r>
          </a:p>
          <a:p>
            <a:pPr marL="298450" indent="-285750">
              <a:spcBef>
                <a:spcPts val="340"/>
              </a:spcBef>
              <a:buFont typeface="Arial" panose="020B0604020202020204" pitchFamily="34" charset="0"/>
              <a:buChar char="•"/>
              <a:tabLst>
                <a:tab pos="241300" algn="l"/>
              </a:tabLst>
            </a:pPr>
            <a:endParaRPr lang="en-US" sz="2000" dirty="0"/>
          </a:p>
          <a:p>
            <a:pPr marL="298450" indent="-285750">
              <a:spcBef>
                <a:spcPts val="340"/>
              </a:spcBef>
              <a:buFont typeface="Arial" panose="020B0604020202020204" pitchFamily="34" charset="0"/>
              <a:buChar char="•"/>
              <a:tabLst>
                <a:tab pos="241300" algn="l"/>
              </a:tabLst>
            </a:pPr>
            <a:r>
              <a:rPr lang="en-US" sz="2000" dirty="0"/>
              <a:t>Each VM NIC can be assigned to one or more ASGs.</a:t>
            </a:r>
          </a:p>
          <a:p>
            <a:pPr marL="298450" indent="-285750">
              <a:spcBef>
                <a:spcPts val="340"/>
              </a:spcBef>
              <a:buFont typeface="Arial" panose="020B0604020202020204" pitchFamily="34" charset="0"/>
              <a:buChar char="•"/>
              <a:tabLst>
                <a:tab pos="241300" algn="l"/>
              </a:tabLst>
            </a:pPr>
            <a:r>
              <a:rPr lang="en-US" sz="2000" dirty="0"/>
              <a:t>You can reference ASGs in NSG rules instead of IPs or CIDRs.</a:t>
            </a:r>
          </a:p>
          <a:p>
            <a:pPr marL="298450" indent="-285750">
              <a:spcBef>
                <a:spcPts val="340"/>
              </a:spcBef>
              <a:buFont typeface="Arial" panose="020B0604020202020204" pitchFamily="34" charset="0"/>
              <a:buChar char="•"/>
              <a:tabLst>
                <a:tab pos="241300" algn="l"/>
              </a:tabLst>
            </a:pPr>
            <a:r>
              <a:rPr lang="en-US" sz="2000" dirty="0"/>
              <a:t>ASGs work alongside NSG features like service tags and priority rules.</a:t>
            </a:r>
            <a:endParaRPr lang="en-US" dirty="0"/>
          </a:p>
        </p:txBody>
      </p:sp>
    </p:spTree>
    <p:extLst>
      <p:ext uri="{BB962C8B-B14F-4D97-AF65-F5344CB8AC3E}">
        <p14:creationId xmlns:p14="http://schemas.microsoft.com/office/powerpoint/2010/main" val="25550394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Title 1"/>
          <p:cNvSpPr txBox="1">
            <a:spLocks noGrp="1"/>
          </p:cNvSpPr>
          <p:nvPr>
            <p:ph type="title"/>
          </p:nvPr>
        </p:nvSpPr>
        <p:spPr>
          <a:xfrm>
            <a:off x="599186" y="0"/>
            <a:ext cx="10515600" cy="1325563"/>
          </a:xfrm>
          <a:prstGeom prst="rect">
            <a:avLst/>
          </a:prstGeom>
        </p:spPr>
        <p:txBody>
          <a:bodyPr/>
          <a:lstStyle>
            <a:lvl1pPr defTabSz="905255">
              <a:defRPr sz="3564" spc="-99"/>
            </a:lvl1pPr>
          </a:lstStyle>
          <a:p>
            <a:r>
              <a:rPr lang="en-US" dirty="0"/>
              <a:t>ASG Example</a:t>
            </a:r>
            <a:endParaRPr dirty="0"/>
          </a:p>
        </p:txBody>
      </p:sp>
      <p:sp>
        <p:nvSpPr>
          <p:cNvPr id="415" name="Slide Number Placeholder 4"/>
          <p:cNvSpPr txBox="1">
            <a:spLocks noGrp="1"/>
          </p:cNvSpPr>
          <p:nvPr>
            <p:ph type="sldNum" sz="quarter" idx="12"/>
          </p:nvPr>
        </p:nvSpPr>
        <p:spPr>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D1282E"/>
                </a:solidFill>
                <a:effectLst/>
                <a:uFillTx/>
                <a:latin typeface="Arial"/>
                <a:ea typeface="Arial"/>
                <a:cs typeface="Arial"/>
                <a:sym typeface="Arial"/>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n-US" smtClean="0"/>
              <a:pPr/>
              <a:t>17</a:t>
            </a:fld>
            <a:endParaRPr/>
          </a:p>
        </p:txBody>
      </p:sp>
      <p:sp>
        <p:nvSpPr>
          <p:cNvPr id="5" name="Path72">
            <a:extLst>
              <a:ext uri="{FF2B5EF4-FFF2-40B4-BE49-F238E27FC236}">
                <a16:creationId xmlns:a16="http://schemas.microsoft.com/office/drawing/2014/main" id="{4B30C7DB-C8AC-2145-9861-353091EE435D}"/>
              </a:ext>
            </a:extLst>
          </p:cNvPr>
          <p:cNvSpPr/>
          <p:nvPr/>
        </p:nvSpPr>
        <p:spPr>
          <a:xfrm>
            <a:off x="0" y="0"/>
            <a:ext cx="0" cy="0"/>
          </a:xfrm>
          <a:custGeom>
            <a:avLst/>
            <a:gdLst/>
            <a:ahLst/>
            <a:cxnLst/>
            <a:rect l="l" t="t" r="r" b="b"/>
            <a:pathLst>
              <a:path/>
            </a:pathLst>
          </a:custGeom>
          <a:solidFill/>
          <a:ln>
            <a:solidFill/>
            <a:prstDash/>
          </a:ln>
        </p:spPr>
        <p:txBody>
          <a:bodyPr rtlCol="0" anchor="ctr"/>
          <a:lstStyle/>
          <a:p>
            <a:pPr algn="ctr"/>
            <a:endParaRPr lang="en-US" altLang="zh-CN"/>
          </a:p>
        </p:txBody>
      </p:sp>
      <p:pic>
        <p:nvPicPr>
          <p:cNvPr id="6" name="Image610">
            <a:extLst>
              <a:ext uri="{FF2B5EF4-FFF2-40B4-BE49-F238E27FC236}">
                <a16:creationId xmlns:a16="http://schemas.microsoft.com/office/drawing/2014/main" id="{1D52F06A-E844-334F-A690-15E83A4503D1}"/>
              </a:ext>
            </a:extLst>
          </p:cNvPr>
          <p:cNvPicPr>
            <a:picLocks noChangeAspect="1"/>
          </p:cNvPicPr>
          <p:nvPr/>
        </p:nvPicPr>
        <p:blipFill>
          <a:blip r:embed="rId3"/>
          <a:stretch>
            <a:fillRect/>
          </a:stretch>
        </p:blipFill>
        <p:spPr>
          <a:xfrm>
            <a:off x="599186" y="987552"/>
            <a:ext cx="11022330" cy="5524500"/>
          </a:xfrm>
          <a:prstGeom prst="rect">
            <a:avLst/>
          </a:prstGeom>
          <a:noFill/>
        </p:spPr>
      </p:pic>
      <p:pic>
        <p:nvPicPr>
          <p:cNvPr id="7" name="Image610">
            <a:extLst>
              <a:ext uri="{FF2B5EF4-FFF2-40B4-BE49-F238E27FC236}">
                <a16:creationId xmlns:a16="http://schemas.microsoft.com/office/drawing/2014/main" id="{32548403-E789-2B40-99BD-078D3B8A461D}"/>
              </a:ext>
            </a:extLst>
          </p:cNvPr>
          <p:cNvPicPr>
            <a:picLocks noChangeAspect="1"/>
          </p:cNvPicPr>
          <p:nvPr/>
        </p:nvPicPr>
        <p:blipFill>
          <a:blip r:embed="rId3"/>
          <a:stretch>
            <a:fillRect/>
          </a:stretch>
        </p:blipFill>
        <p:spPr>
          <a:xfrm>
            <a:off x="581238" y="926592"/>
            <a:ext cx="11022330" cy="5524500"/>
          </a:xfrm>
          <a:prstGeom prst="rect">
            <a:avLst/>
          </a:prstGeom>
          <a:noFill/>
        </p:spPr>
      </p:pic>
      <p:sp>
        <p:nvSpPr>
          <p:cNvPr id="2" name="Oval 1">
            <a:extLst>
              <a:ext uri="{FF2B5EF4-FFF2-40B4-BE49-F238E27FC236}">
                <a16:creationId xmlns:a16="http://schemas.microsoft.com/office/drawing/2014/main" id="{6D6B31CD-8977-F945-899A-D73EE61631BE}"/>
              </a:ext>
            </a:extLst>
          </p:cNvPr>
          <p:cNvSpPr/>
          <p:nvPr/>
        </p:nvSpPr>
        <p:spPr>
          <a:xfrm>
            <a:off x="10993120" y="5931408"/>
            <a:ext cx="646344" cy="626619"/>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38321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21F78-4902-206C-3E28-5FADFA20DE6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A534680-9F56-6B1A-D55F-7A42D75A2BF0}"/>
              </a:ext>
            </a:extLst>
          </p:cNvPr>
          <p:cNvSpPr txBox="1"/>
          <p:nvPr/>
        </p:nvSpPr>
        <p:spPr>
          <a:xfrm>
            <a:off x="2947924" y="240889"/>
            <a:ext cx="7738364" cy="774382"/>
          </a:xfrm>
          <a:prstGeom prst="rect">
            <a:avLst/>
          </a:prstGeom>
        </p:spPr>
        <p:txBody>
          <a:bodyPr vert="horz" lIns="91440" tIns="45720" rIns="91440" bIns="45720" rtlCol="0" anchor="b">
            <a:normAutofit/>
          </a:bodyPr>
          <a:lstStyle/>
          <a:p>
            <a:pPr marL="12700">
              <a:spcBef>
                <a:spcPct val="0"/>
              </a:spcBef>
              <a:spcAft>
                <a:spcPts val="600"/>
              </a:spcAft>
            </a:pPr>
            <a:endParaRPr lang="en-US" sz="3600" cap="all" spc="-60" dirty="0">
              <a:solidFill>
                <a:schemeClr val="tx1">
                  <a:lumMod val="85000"/>
                  <a:lumOff val="15000"/>
                </a:schemeClr>
              </a:solidFill>
              <a:latin typeface="Leelawadee UI Semilight" panose="020B0402040204020203" pitchFamily="34" charset="-34"/>
              <a:ea typeface="+mj-ea"/>
              <a:cs typeface="Leelawadee UI Semilight" panose="020B0402040204020203" pitchFamily="34" charset="-34"/>
            </a:endParaRPr>
          </a:p>
        </p:txBody>
      </p:sp>
      <p:sp>
        <p:nvSpPr>
          <p:cNvPr id="9" name="Title 8">
            <a:extLst>
              <a:ext uri="{FF2B5EF4-FFF2-40B4-BE49-F238E27FC236}">
                <a16:creationId xmlns:a16="http://schemas.microsoft.com/office/drawing/2014/main" id="{190CEFE1-AFFC-867E-B30C-E414A3D44F88}"/>
              </a:ext>
            </a:extLst>
          </p:cNvPr>
          <p:cNvSpPr>
            <a:spLocks noGrp="1"/>
          </p:cNvSpPr>
          <p:nvPr>
            <p:ph type="title"/>
          </p:nvPr>
        </p:nvSpPr>
        <p:spPr/>
        <p:txBody>
          <a:bodyPr/>
          <a:lstStyle/>
          <a:p>
            <a:r>
              <a:rPr lang="en-US" b="1" dirty="0">
                <a:latin typeface="Nirmala UI Semilight" panose="020B0402040204020203" pitchFamily="34" charset="0"/>
                <a:ea typeface="Nirmala UI Semilight" panose="020B0402040204020203" pitchFamily="34" charset="0"/>
                <a:cs typeface="Nirmala UI Semilight" panose="020B0402040204020203" pitchFamily="34" charset="0"/>
              </a:rPr>
              <a:t>Pop quiz:</a:t>
            </a:r>
            <a:endParaRPr lang="en-CA" b="1" dirty="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4" name="Slide Number Placeholder 3">
            <a:extLst>
              <a:ext uri="{FF2B5EF4-FFF2-40B4-BE49-F238E27FC236}">
                <a16:creationId xmlns:a16="http://schemas.microsoft.com/office/drawing/2014/main" id="{033AF088-6D86-7F06-FF6B-A670177583A0}"/>
              </a:ext>
            </a:extLst>
          </p:cNvPr>
          <p:cNvSpPr>
            <a:spLocks noGrp="1"/>
          </p:cNvSpPr>
          <p:nvPr>
            <p:ph type="sldNum" sz="quarter" idx="12"/>
          </p:nvPr>
        </p:nvSpPr>
        <p:spPr/>
        <p:txBody>
          <a:bodyPr/>
          <a:lstStyle/>
          <a:p>
            <a:fld id="{D99624C5-FDF6-4954-B8C3-64918F306FAA}" type="slidenum">
              <a:rPr lang="en-US" smtClean="0"/>
              <a:t>18</a:t>
            </a:fld>
            <a:endParaRPr lang="en-US"/>
          </a:p>
        </p:txBody>
      </p:sp>
      <p:sp>
        <p:nvSpPr>
          <p:cNvPr id="3" name="object 3">
            <a:extLst>
              <a:ext uri="{FF2B5EF4-FFF2-40B4-BE49-F238E27FC236}">
                <a16:creationId xmlns:a16="http://schemas.microsoft.com/office/drawing/2014/main" id="{289380A1-F340-5BDF-74C2-B98252C56D1A}"/>
              </a:ext>
            </a:extLst>
          </p:cNvPr>
          <p:cNvSpPr txBox="1"/>
          <p:nvPr/>
        </p:nvSpPr>
        <p:spPr>
          <a:xfrm>
            <a:off x="609600" y="2348074"/>
            <a:ext cx="10539125" cy="1998056"/>
          </a:xfrm>
          <a:prstGeom prst="rect">
            <a:avLst/>
          </a:prstGeom>
        </p:spPr>
        <p:txBody>
          <a:bodyPr vert="horz" lIns="91440" tIns="45720" rIns="91440" bIns="45720" rtlCol="0">
            <a:normAutofit fontScale="92500" lnSpcReduction="20000"/>
          </a:bodyPr>
          <a:lstStyle/>
          <a:p>
            <a:r>
              <a:rPr lang="en-US" b="1" dirty="0">
                <a:latin typeface="+mj-lt"/>
                <a:ea typeface="Nirmala UI Semilight" panose="020B0402040204020203" pitchFamily="34" charset="0"/>
                <a:cs typeface="Nirmala UI Semilight" panose="020B0402040204020203" pitchFamily="34" charset="0"/>
              </a:rPr>
              <a:t>Scenario:</a:t>
            </a:r>
            <a:br>
              <a:rPr lang="en-US" dirty="0">
                <a:latin typeface="Nirmala UI Semilight" panose="020B0402040204020203" pitchFamily="34" charset="0"/>
                <a:ea typeface="Nirmala UI Semilight" panose="020B0402040204020203" pitchFamily="34" charset="0"/>
                <a:cs typeface="Nirmala UI Semilight" panose="020B0402040204020203" pitchFamily="34" charset="0"/>
              </a:rPr>
            </a:br>
            <a:r>
              <a:rPr lang="en-US" dirty="0" err="1">
                <a:ea typeface="Nirmala UI Semilight" panose="020B0402040204020203" pitchFamily="34" charset="0"/>
                <a:cs typeface="Nirmala UI Semilight" panose="020B0402040204020203" pitchFamily="34" charset="0"/>
              </a:rPr>
              <a:t>VNet-EastUS</a:t>
            </a:r>
            <a:r>
              <a:rPr lang="en-US" dirty="0">
                <a:ea typeface="Nirmala UI Semilight" panose="020B0402040204020203" pitchFamily="34" charset="0"/>
                <a:cs typeface="Nirmala UI Semilight" panose="020B0402040204020203" pitchFamily="34" charset="0"/>
              </a:rPr>
              <a:t> (10.1.0.0/24) is peered with </a:t>
            </a:r>
            <a:r>
              <a:rPr lang="en-US" dirty="0" err="1">
                <a:ea typeface="Nirmala UI Semilight" panose="020B0402040204020203" pitchFamily="34" charset="0"/>
                <a:cs typeface="Nirmala UI Semilight" panose="020B0402040204020203" pitchFamily="34" charset="0"/>
              </a:rPr>
              <a:t>VNet-WestEurope</a:t>
            </a:r>
            <a:r>
              <a:rPr lang="en-US" dirty="0">
                <a:ea typeface="Nirmala UI Semilight" panose="020B0402040204020203" pitchFamily="34" charset="0"/>
                <a:cs typeface="Nirmala UI Semilight" panose="020B0402040204020203" pitchFamily="34" charset="0"/>
              </a:rPr>
              <a:t> (10.2.0.0/24). You want only DB servers in </a:t>
            </a:r>
            <a:r>
              <a:rPr lang="en-US" dirty="0" err="1">
                <a:ea typeface="Nirmala UI Semilight" panose="020B0402040204020203" pitchFamily="34" charset="0"/>
                <a:cs typeface="Nirmala UI Semilight" panose="020B0402040204020203" pitchFamily="34" charset="0"/>
              </a:rPr>
              <a:t>WestEurope</a:t>
            </a:r>
            <a:r>
              <a:rPr lang="en-US" dirty="0">
                <a:ea typeface="Nirmala UI Semilight" panose="020B0402040204020203" pitchFamily="34" charset="0"/>
                <a:cs typeface="Nirmala UI Semilight" panose="020B0402040204020203" pitchFamily="34" charset="0"/>
              </a:rPr>
              <a:t> to talk to App servers in </a:t>
            </a:r>
            <a:r>
              <a:rPr lang="en-US" dirty="0" err="1">
                <a:ea typeface="Nirmala UI Semilight" panose="020B0402040204020203" pitchFamily="34" charset="0"/>
                <a:cs typeface="Nirmala UI Semilight" panose="020B0402040204020203" pitchFamily="34" charset="0"/>
              </a:rPr>
              <a:t>EastUS</a:t>
            </a:r>
            <a:r>
              <a:rPr lang="en-US" dirty="0">
                <a:ea typeface="Nirmala UI Semilight" panose="020B0402040204020203" pitchFamily="34" charset="0"/>
                <a:cs typeface="Nirmala UI Semilight" panose="020B0402040204020203" pitchFamily="34" charset="0"/>
              </a:rPr>
              <a:t>—nothing else should cross the peering.</a:t>
            </a:r>
          </a:p>
          <a:p>
            <a:endParaRPr lang="en-US" dirty="0">
              <a:latin typeface="Nirmala UI Semilight" panose="020B0402040204020203" pitchFamily="34" charset="0"/>
              <a:ea typeface="Nirmala UI Semilight" panose="020B0402040204020203" pitchFamily="34" charset="0"/>
              <a:cs typeface="Nirmala UI Semilight" panose="020B0402040204020203" pitchFamily="34" charset="0"/>
            </a:endParaRPr>
          </a:p>
          <a:p>
            <a:r>
              <a:rPr lang="en-US" b="1" dirty="0">
                <a:latin typeface="+mj-lt"/>
                <a:ea typeface="Nirmala UI Semilight" panose="020B0402040204020203" pitchFamily="34" charset="0"/>
                <a:cs typeface="Nirmala UI Semilight" panose="020B0402040204020203" pitchFamily="34" charset="0"/>
              </a:rPr>
              <a:t>What is the </a:t>
            </a:r>
            <a:r>
              <a:rPr lang="en-US" b="1" i="1" dirty="0">
                <a:latin typeface="+mj-lt"/>
                <a:ea typeface="Nirmala UI Semilight" panose="020B0402040204020203" pitchFamily="34" charset="0"/>
                <a:cs typeface="Nirmala UI Semilight" panose="020B0402040204020203" pitchFamily="34" charset="0"/>
              </a:rPr>
              <a:t>simplest and most secure</a:t>
            </a:r>
            <a:r>
              <a:rPr lang="en-US" b="1" dirty="0">
                <a:latin typeface="+mj-lt"/>
                <a:ea typeface="Nirmala UI Semilight" panose="020B0402040204020203" pitchFamily="34" charset="0"/>
                <a:cs typeface="Nirmala UI Semilight" panose="020B0402040204020203" pitchFamily="34" charset="0"/>
              </a:rPr>
              <a:t> way to enforce this?</a:t>
            </a:r>
            <a:endParaRPr lang="en-US" dirty="0">
              <a:latin typeface="+mj-lt"/>
              <a:ea typeface="Nirmala UI Semilight" panose="020B0402040204020203" pitchFamily="34" charset="0"/>
              <a:cs typeface="Nirmala UI Semilight" panose="020B0402040204020203" pitchFamily="34" charset="0"/>
            </a:endParaRPr>
          </a:p>
          <a:p>
            <a:r>
              <a:rPr lang="en-US" dirty="0">
                <a:ea typeface="Nirmala UI Semilight" panose="020B0402040204020203" pitchFamily="34" charset="0"/>
                <a:cs typeface="Nirmala UI Semilight" panose="020B0402040204020203" pitchFamily="34" charset="0"/>
              </a:rPr>
              <a:t>A. Deploy Azure Firewall in </a:t>
            </a:r>
            <a:r>
              <a:rPr lang="en-US" dirty="0" err="1">
                <a:ea typeface="Nirmala UI Semilight" panose="020B0402040204020203" pitchFamily="34" charset="0"/>
                <a:cs typeface="Nirmala UI Semilight" panose="020B0402040204020203" pitchFamily="34" charset="0"/>
              </a:rPr>
              <a:t>EastUS</a:t>
            </a:r>
            <a:r>
              <a:rPr lang="en-US" dirty="0">
                <a:ea typeface="Nirmala UI Semilight" panose="020B0402040204020203" pitchFamily="34" charset="0"/>
                <a:cs typeface="Nirmala UI Semilight" panose="020B0402040204020203" pitchFamily="34" charset="0"/>
              </a:rPr>
              <a:t> to filter peered traffic</a:t>
            </a:r>
            <a:br>
              <a:rPr lang="en-US" dirty="0">
                <a:ea typeface="Nirmala UI Semilight" panose="020B0402040204020203" pitchFamily="34" charset="0"/>
                <a:cs typeface="Nirmala UI Semilight" panose="020B0402040204020203" pitchFamily="34" charset="0"/>
              </a:rPr>
            </a:br>
            <a:r>
              <a:rPr lang="en-US" dirty="0">
                <a:ea typeface="Nirmala UI Semilight" panose="020B0402040204020203" pitchFamily="34" charset="0"/>
                <a:cs typeface="Nirmala UI Semilight" panose="020B0402040204020203" pitchFamily="34" charset="0"/>
              </a:rPr>
              <a:t>B. Use “Block traffic to remote </a:t>
            </a:r>
            <a:r>
              <a:rPr lang="en-US" dirty="0" err="1">
                <a:ea typeface="Nirmala UI Semilight" panose="020B0402040204020203" pitchFamily="34" charset="0"/>
                <a:cs typeface="Nirmala UI Semilight" panose="020B0402040204020203" pitchFamily="34" charset="0"/>
              </a:rPr>
              <a:t>VNet</a:t>
            </a:r>
            <a:r>
              <a:rPr lang="en-US" dirty="0">
                <a:ea typeface="Nirmala UI Semilight" panose="020B0402040204020203" pitchFamily="34" charset="0"/>
                <a:cs typeface="Nirmala UI Semilight" panose="020B0402040204020203" pitchFamily="34" charset="0"/>
              </a:rPr>
              <a:t>” on </a:t>
            </a:r>
            <a:r>
              <a:rPr lang="en-US" dirty="0" err="1">
                <a:ea typeface="Nirmala UI Semilight" panose="020B0402040204020203" pitchFamily="34" charset="0"/>
                <a:cs typeface="Nirmala UI Semilight" panose="020B0402040204020203" pitchFamily="34" charset="0"/>
              </a:rPr>
              <a:t>WestEurope</a:t>
            </a:r>
            <a:r>
              <a:rPr lang="en-US" dirty="0">
                <a:ea typeface="Nirmala UI Semilight" panose="020B0402040204020203" pitchFamily="34" charset="0"/>
                <a:cs typeface="Nirmala UI Semilight" panose="020B0402040204020203" pitchFamily="34" charset="0"/>
              </a:rPr>
              <a:t> peering + NSG allow only DB subnet</a:t>
            </a:r>
            <a:br>
              <a:rPr lang="en-US" dirty="0">
                <a:ea typeface="Nirmala UI Semilight" panose="020B0402040204020203" pitchFamily="34" charset="0"/>
                <a:cs typeface="Nirmala UI Semilight" panose="020B0402040204020203" pitchFamily="34" charset="0"/>
              </a:rPr>
            </a:br>
            <a:r>
              <a:rPr lang="en-US" dirty="0">
                <a:ea typeface="Nirmala UI Semilight" panose="020B0402040204020203" pitchFamily="34" charset="0"/>
                <a:cs typeface="Nirmala UI Semilight" panose="020B0402040204020203" pitchFamily="34" charset="0"/>
              </a:rPr>
              <a:t>C. Apply NSG on </a:t>
            </a:r>
            <a:r>
              <a:rPr lang="en-US" dirty="0" err="1">
                <a:ea typeface="Nirmala UI Semilight" panose="020B0402040204020203" pitchFamily="34" charset="0"/>
                <a:cs typeface="Nirmala UI Semilight" panose="020B0402040204020203" pitchFamily="34" charset="0"/>
              </a:rPr>
              <a:t>EastUS</a:t>
            </a:r>
            <a:r>
              <a:rPr lang="en-US" dirty="0">
                <a:ea typeface="Nirmala UI Semilight" panose="020B0402040204020203" pitchFamily="34" charset="0"/>
                <a:cs typeface="Nirmala UI Semilight" panose="020B0402040204020203" pitchFamily="34" charset="0"/>
              </a:rPr>
              <a:t> subnet allowing only 10.2.0.0/24 → 10.1.0.0/24</a:t>
            </a:r>
            <a:br>
              <a:rPr lang="en-US" dirty="0">
                <a:ea typeface="Nirmala UI Semilight" panose="020B0402040204020203" pitchFamily="34" charset="0"/>
                <a:cs typeface="Nirmala UI Semilight" panose="020B0402040204020203" pitchFamily="34" charset="0"/>
              </a:rPr>
            </a:br>
            <a:r>
              <a:rPr lang="en-US" dirty="0">
                <a:ea typeface="Nirmala UI Semilight" panose="020B0402040204020203" pitchFamily="34" charset="0"/>
                <a:cs typeface="Nirmala UI Semilight" panose="020B0402040204020203" pitchFamily="34" charset="0"/>
              </a:rPr>
              <a:t>D. Use User Defined Route to drop all remote </a:t>
            </a:r>
            <a:r>
              <a:rPr lang="en-US" dirty="0" err="1">
                <a:ea typeface="Nirmala UI Semilight" panose="020B0402040204020203" pitchFamily="34" charset="0"/>
                <a:cs typeface="Nirmala UI Semilight" panose="020B0402040204020203" pitchFamily="34" charset="0"/>
              </a:rPr>
              <a:t>VNet</a:t>
            </a:r>
            <a:r>
              <a:rPr lang="en-US" dirty="0">
                <a:ea typeface="Nirmala UI Semilight" panose="020B0402040204020203" pitchFamily="34" charset="0"/>
                <a:cs typeface="Nirmala UI Semilight" panose="020B0402040204020203" pitchFamily="34" charset="0"/>
              </a:rPr>
              <a:t> IP ranges except the DB subnet</a:t>
            </a:r>
          </a:p>
        </p:txBody>
      </p:sp>
    </p:spTree>
    <p:extLst>
      <p:ext uri="{BB962C8B-B14F-4D97-AF65-F5344CB8AC3E}">
        <p14:creationId xmlns:p14="http://schemas.microsoft.com/office/powerpoint/2010/main" val="15166603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6CBC5-F726-8B13-1842-828CBB61CEF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A4E9A4E-FFA5-7097-B03F-7607C95D9625}"/>
              </a:ext>
            </a:extLst>
          </p:cNvPr>
          <p:cNvSpPr txBox="1"/>
          <p:nvPr/>
        </p:nvSpPr>
        <p:spPr>
          <a:xfrm>
            <a:off x="2947924" y="240889"/>
            <a:ext cx="7738364" cy="774382"/>
          </a:xfrm>
          <a:prstGeom prst="rect">
            <a:avLst/>
          </a:prstGeom>
        </p:spPr>
        <p:txBody>
          <a:bodyPr vert="horz" lIns="91440" tIns="45720" rIns="91440" bIns="45720" rtlCol="0" anchor="b">
            <a:normAutofit/>
          </a:bodyPr>
          <a:lstStyle/>
          <a:p>
            <a:pPr marL="12700">
              <a:spcBef>
                <a:spcPct val="0"/>
              </a:spcBef>
              <a:spcAft>
                <a:spcPts val="600"/>
              </a:spcAft>
            </a:pPr>
            <a:endParaRPr lang="en-US" sz="3600" cap="all" spc="-60" dirty="0">
              <a:solidFill>
                <a:schemeClr val="tx1">
                  <a:lumMod val="85000"/>
                  <a:lumOff val="15000"/>
                </a:schemeClr>
              </a:solidFill>
              <a:latin typeface="Leelawadee UI Semilight" panose="020B0402040204020203" pitchFamily="34" charset="-34"/>
              <a:ea typeface="+mj-ea"/>
              <a:cs typeface="Leelawadee UI Semilight" panose="020B0402040204020203" pitchFamily="34" charset="-34"/>
            </a:endParaRPr>
          </a:p>
        </p:txBody>
      </p:sp>
      <p:sp>
        <p:nvSpPr>
          <p:cNvPr id="9" name="Title 8">
            <a:extLst>
              <a:ext uri="{FF2B5EF4-FFF2-40B4-BE49-F238E27FC236}">
                <a16:creationId xmlns:a16="http://schemas.microsoft.com/office/drawing/2014/main" id="{661AB267-287F-9A96-4E00-ADAD9D8F7DC9}"/>
              </a:ext>
            </a:extLst>
          </p:cNvPr>
          <p:cNvSpPr>
            <a:spLocks noGrp="1"/>
          </p:cNvSpPr>
          <p:nvPr>
            <p:ph type="title"/>
          </p:nvPr>
        </p:nvSpPr>
        <p:spPr/>
        <p:txBody>
          <a:bodyPr/>
          <a:lstStyle/>
          <a:p>
            <a:r>
              <a:rPr lang="en-US" b="1" dirty="0">
                <a:latin typeface="Nirmala UI Semilight" panose="020B0402040204020203" pitchFamily="34" charset="0"/>
                <a:ea typeface="Nirmala UI Semilight" panose="020B0402040204020203" pitchFamily="34" charset="0"/>
                <a:cs typeface="Nirmala UI Semilight" panose="020B0402040204020203" pitchFamily="34" charset="0"/>
              </a:rPr>
              <a:t>Pop quiz:</a:t>
            </a:r>
            <a:endParaRPr lang="en-CA" b="1" dirty="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4" name="Slide Number Placeholder 3">
            <a:extLst>
              <a:ext uri="{FF2B5EF4-FFF2-40B4-BE49-F238E27FC236}">
                <a16:creationId xmlns:a16="http://schemas.microsoft.com/office/drawing/2014/main" id="{44BABC52-8E63-581A-AC34-9BF47A05BEC9}"/>
              </a:ext>
            </a:extLst>
          </p:cNvPr>
          <p:cNvSpPr>
            <a:spLocks noGrp="1"/>
          </p:cNvSpPr>
          <p:nvPr>
            <p:ph type="sldNum" sz="quarter" idx="12"/>
          </p:nvPr>
        </p:nvSpPr>
        <p:spPr/>
        <p:txBody>
          <a:bodyPr/>
          <a:lstStyle/>
          <a:p>
            <a:fld id="{D99624C5-FDF6-4954-B8C3-64918F306FAA}" type="slidenum">
              <a:rPr lang="en-US" smtClean="0"/>
              <a:t>19</a:t>
            </a:fld>
            <a:endParaRPr lang="en-US"/>
          </a:p>
        </p:txBody>
      </p:sp>
      <p:sp>
        <p:nvSpPr>
          <p:cNvPr id="5" name="object 3">
            <a:extLst>
              <a:ext uri="{FF2B5EF4-FFF2-40B4-BE49-F238E27FC236}">
                <a16:creationId xmlns:a16="http://schemas.microsoft.com/office/drawing/2014/main" id="{8EB7BD97-09E5-D8BB-CFC6-9D851597DCDD}"/>
              </a:ext>
            </a:extLst>
          </p:cNvPr>
          <p:cNvSpPr txBox="1"/>
          <p:nvPr/>
        </p:nvSpPr>
        <p:spPr>
          <a:xfrm>
            <a:off x="609600" y="2348074"/>
            <a:ext cx="10539125" cy="1998056"/>
          </a:xfrm>
          <a:prstGeom prst="rect">
            <a:avLst/>
          </a:prstGeom>
        </p:spPr>
        <p:txBody>
          <a:bodyPr vert="horz" lIns="91440" tIns="45720" rIns="91440" bIns="45720" rtlCol="0">
            <a:normAutofit fontScale="92500" lnSpcReduction="20000"/>
          </a:bodyPr>
          <a:lstStyle/>
          <a:p>
            <a:r>
              <a:rPr lang="en-US" b="1" dirty="0">
                <a:latin typeface="+mj-lt"/>
                <a:ea typeface="Nirmala UI Semilight" panose="020B0402040204020203" pitchFamily="34" charset="0"/>
                <a:cs typeface="Nirmala UI Semilight" panose="020B0402040204020203" pitchFamily="34" charset="0"/>
              </a:rPr>
              <a:t>Scenario:</a:t>
            </a:r>
            <a:br>
              <a:rPr lang="en-US" dirty="0">
                <a:latin typeface="Nirmala UI Semilight" panose="020B0402040204020203" pitchFamily="34" charset="0"/>
                <a:ea typeface="Nirmala UI Semilight" panose="020B0402040204020203" pitchFamily="34" charset="0"/>
                <a:cs typeface="Nirmala UI Semilight" panose="020B0402040204020203" pitchFamily="34" charset="0"/>
              </a:rPr>
            </a:br>
            <a:r>
              <a:rPr lang="en-US" dirty="0" err="1">
                <a:ea typeface="Nirmala UI Semilight" panose="020B0402040204020203" pitchFamily="34" charset="0"/>
                <a:cs typeface="Nirmala UI Semilight" panose="020B0402040204020203" pitchFamily="34" charset="0"/>
              </a:rPr>
              <a:t>VNet-EastUS</a:t>
            </a:r>
            <a:r>
              <a:rPr lang="en-US" dirty="0">
                <a:ea typeface="Nirmala UI Semilight" panose="020B0402040204020203" pitchFamily="34" charset="0"/>
                <a:cs typeface="Nirmala UI Semilight" panose="020B0402040204020203" pitchFamily="34" charset="0"/>
              </a:rPr>
              <a:t> (10.1.0.0/24) is peered with </a:t>
            </a:r>
            <a:r>
              <a:rPr lang="en-US" dirty="0" err="1">
                <a:ea typeface="Nirmala UI Semilight" panose="020B0402040204020203" pitchFamily="34" charset="0"/>
                <a:cs typeface="Nirmala UI Semilight" panose="020B0402040204020203" pitchFamily="34" charset="0"/>
              </a:rPr>
              <a:t>VNet-WestEurope</a:t>
            </a:r>
            <a:r>
              <a:rPr lang="en-US" dirty="0">
                <a:ea typeface="Nirmala UI Semilight" panose="020B0402040204020203" pitchFamily="34" charset="0"/>
                <a:cs typeface="Nirmala UI Semilight" panose="020B0402040204020203" pitchFamily="34" charset="0"/>
              </a:rPr>
              <a:t> (10.2.0.0/24). You want only DB servers in </a:t>
            </a:r>
            <a:r>
              <a:rPr lang="en-US" dirty="0" err="1">
                <a:ea typeface="Nirmala UI Semilight" panose="020B0402040204020203" pitchFamily="34" charset="0"/>
                <a:cs typeface="Nirmala UI Semilight" panose="020B0402040204020203" pitchFamily="34" charset="0"/>
              </a:rPr>
              <a:t>WestEurope</a:t>
            </a:r>
            <a:r>
              <a:rPr lang="en-US" dirty="0">
                <a:ea typeface="Nirmala UI Semilight" panose="020B0402040204020203" pitchFamily="34" charset="0"/>
                <a:cs typeface="Nirmala UI Semilight" panose="020B0402040204020203" pitchFamily="34" charset="0"/>
              </a:rPr>
              <a:t> to talk to App servers in </a:t>
            </a:r>
            <a:r>
              <a:rPr lang="en-US" dirty="0" err="1">
                <a:ea typeface="Nirmala UI Semilight" panose="020B0402040204020203" pitchFamily="34" charset="0"/>
                <a:cs typeface="Nirmala UI Semilight" panose="020B0402040204020203" pitchFamily="34" charset="0"/>
              </a:rPr>
              <a:t>EastUS</a:t>
            </a:r>
            <a:r>
              <a:rPr lang="en-US" dirty="0">
                <a:ea typeface="Nirmala UI Semilight" panose="020B0402040204020203" pitchFamily="34" charset="0"/>
                <a:cs typeface="Nirmala UI Semilight" panose="020B0402040204020203" pitchFamily="34" charset="0"/>
              </a:rPr>
              <a:t>—nothing else should cross the peering.</a:t>
            </a:r>
          </a:p>
          <a:p>
            <a:endParaRPr lang="en-US" dirty="0">
              <a:latin typeface="Nirmala UI Semilight" panose="020B0402040204020203" pitchFamily="34" charset="0"/>
              <a:ea typeface="Nirmala UI Semilight" panose="020B0402040204020203" pitchFamily="34" charset="0"/>
              <a:cs typeface="Nirmala UI Semilight" panose="020B0402040204020203" pitchFamily="34" charset="0"/>
            </a:endParaRPr>
          </a:p>
          <a:p>
            <a:r>
              <a:rPr lang="en-US" b="1" dirty="0">
                <a:latin typeface="+mj-lt"/>
                <a:ea typeface="Nirmala UI Semilight" panose="020B0402040204020203" pitchFamily="34" charset="0"/>
                <a:cs typeface="Nirmala UI Semilight" panose="020B0402040204020203" pitchFamily="34" charset="0"/>
              </a:rPr>
              <a:t>What is the </a:t>
            </a:r>
            <a:r>
              <a:rPr lang="en-US" b="1" i="1" dirty="0">
                <a:latin typeface="+mj-lt"/>
                <a:ea typeface="Nirmala UI Semilight" panose="020B0402040204020203" pitchFamily="34" charset="0"/>
                <a:cs typeface="Nirmala UI Semilight" panose="020B0402040204020203" pitchFamily="34" charset="0"/>
              </a:rPr>
              <a:t>simplest and most secure</a:t>
            </a:r>
            <a:r>
              <a:rPr lang="en-US" b="1" dirty="0">
                <a:latin typeface="+mj-lt"/>
                <a:ea typeface="Nirmala UI Semilight" panose="020B0402040204020203" pitchFamily="34" charset="0"/>
                <a:cs typeface="Nirmala UI Semilight" panose="020B0402040204020203" pitchFamily="34" charset="0"/>
              </a:rPr>
              <a:t> way to enforce this?</a:t>
            </a:r>
            <a:endParaRPr lang="en-US" dirty="0">
              <a:latin typeface="+mj-lt"/>
              <a:ea typeface="Nirmala UI Semilight" panose="020B0402040204020203" pitchFamily="34" charset="0"/>
              <a:cs typeface="Nirmala UI Semilight" panose="020B0402040204020203" pitchFamily="34" charset="0"/>
            </a:endParaRPr>
          </a:p>
          <a:p>
            <a:r>
              <a:rPr lang="en-US" dirty="0">
                <a:ea typeface="Nirmala UI Semilight" panose="020B0402040204020203" pitchFamily="34" charset="0"/>
                <a:cs typeface="Nirmala UI Semilight" panose="020B0402040204020203" pitchFamily="34" charset="0"/>
              </a:rPr>
              <a:t>A. Deploy Azure Firewall in </a:t>
            </a:r>
            <a:r>
              <a:rPr lang="en-US" dirty="0" err="1">
                <a:ea typeface="Nirmala UI Semilight" panose="020B0402040204020203" pitchFamily="34" charset="0"/>
                <a:cs typeface="Nirmala UI Semilight" panose="020B0402040204020203" pitchFamily="34" charset="0"/>
              </a:rPr>
              <a:t>EastUS</a:t>
            </a:r>
            <a:r>
              <a:rPr lang="en-US" dirty="0">
                <a:ea typeface="Nirmala UI Semilight" panose="020B0402040204020203" pitchFamily="34" charset="0"/>
                <a:cs typeface="Nirmala UI Semilight" panose="020B0402040204020203" pitchFamily="34" charset="0"/>
              </a:rPr>
              <a:t> to filter peered traffic</a:t>
            </a:r>
            <a:br>
              <a:rPr lang="en-US" dirty="0">
                <a:ea typeface="Nirmala UI Semilight" panose="020B0402040204020203" pitchFamily="34" charset="0"/>
                <a:cs typeface="Nirmala UI Semilight" panose="020B0402040204020203" pitchFamily="34" charset="0"/>
              </a:rPr>
            </a:br>
            <a:r>
              <a:rPr lang="en-US" dirty="0">
                <a:highlight>
                  <a:srgbClr val="FFFF00"/>
                </a:highlight>
                <a:ea typeface="Nirmala UI Semilight" panose="020B0402040204020203" pitchFamily="34" charset="0"/>
                <a:cs typeface="Nirmala UI Semilight" panose="020B0402040204020203" pitchFamily="34" charset="0"/>
              </a:rPr>
              <a:t>B. Use “Block traffic to remote </a:t>
            </a:r>
            <a:r>
              <a:rPr lang="en-US" dirty="0" err="1">
                <a:highlight>
                  <a:srgbClr val="FFFF00"/>
                </a:highlight>
                <a:ea typeface="Nirmala UI Semilight" panose="020B0402040204020203" pitchFamily="34" charset="0"/>
                <a:cs typeface="Nirmala UI Semilight" panose="020B0402040204020203" pitchFamily="34" charset="0"/>
              </a:rPr>
              <a:t>VNet</a:t>
            </a:r>
            <a:r>
              <a:rPr lang="en-US" dirty="0">
                <a:highlight>
                  <a:srgbClr val="FFFF00"/>
                </a:highlight>
                <a:ea typeface="Nirmala UI Semilight" panose="020B0402040204020203" pitchFamily="34" charset="0"/>
                <a:cs typeface="Nirmala UI Semilight" panose="020B0402040204020203" pitchFamily="34" charset="0"/>
              </a:rPr>
              <a:t>” on </a:t>
            </a:r>
            <a:r>
              <a:rPr lang="en-US" dirty="0" err="1">
                <a:highlight>
                  <a:srgbClr val="FFFF00"/>
                </a:highlight>
                <a:ea typeface="Nirmala UI Semilight" panose="020B0402040204020203" pitchFamily="34" charset="0"/>
                <a:cs typeface="Nirmala UI Semilight" panose="020B0402040204020203" pitchFamily="34" charset="0"/>
              </a:rPr>
              <a:t>WestEurope</a:t>
            </a:r>
            <a:r>
              <a:rPr lang="en-US" dirty="0">
                <a:highlight>
                  <a:srgbClr val="FFFF00"/>
                </a:highlight>
                <a:ea typeface="Nirmala UI Semilight" panose="020B0402040204020203" pitchFamily="34" charset="0"/>
                <a:cs typeface="Nirmala UI Semilight" panose="020B0402040204020203" pitchFamily="34" charset="0"/>
              </a:rPr>
              <a:t> peering + NSG allow only DB subnet</a:t>
            </a:r>
            <a:br>
              <a:rPr lang="en-US" dirty="0">
                <a:ea typeface="Nirmala UI Semilight" panose="020B0402040204020203" pitchFamily="34" charset="0"/>
                <a:cs typeface="Nirmala UI Semilight" panose="020B0402040204020203" pitchFamily="34" charset="0"/>
              </a:rPr>
            </a:br>
            <a:r>
              <a:rPr lang="en-US" dirty="0">
                <a:ea typeface="Nirmala UI Semilight" panose="020B0402040204020203" pitchFamily="34" charset="0"/>
                <a:cs typeface="Nirmala UI Semilight" panose="020B0402040204020203" pitchFamily="34" charset="0"/>
              </a:rPr>
              <a:t>C. Apply NSG on </a:t>
            </a:r>
            <a:r>
              <a:rPr lang="en-US" dirty="0" err="1">
                <a:ea typeface="Nirmala UI Semilight" panose="020B0402040204020203" pitchFamily="34" charset="0"/>
                <a:cs typeface="Nirmala UI Semilight" panose="020B0402040204020203" pitchFamily="34" charset="0"/>
              </a:rPr>
              <a:t>EastUS</a:t>
            </a:r>
            <a:r>
              <a:rPr lang="en-US" dirty="0">
                <a:ea typeface="Nirmala UI Semilight" panose="020B0402040204020203" pitchFamily="34" charset="0"/>
                <a:cs typeface="Nirmala UI Semilight" panose="020B0402040204020203" pitchFamily="34" charset="0"/>
              </a:rPr>
              <a:t> subnet allowing only 10.2.0.0/24 → 10.1.0.0/24</a:t>
            </a:r>
            <a:br>
              <a:rPr lang="en-US" dirty="0">
                <a:ea typeface="Nirmala UI Semilight" panose="020B0402040204020203" pitchFamily="34" charset="0"/>
                <a:cs typeface="Nirmala UI Semilight" panose="020B0402040204020203" pitchFamily="34" charset="0"/>
              </a:rPr>
            </a:br>
            <a:r>
              <a:rPr lang="en-US" dirty="0">
                <a:ea typeface="Nirmala UI Semilight" panose="020B0402040204020203" pitchFamily="34" charset="0"/>
                <a:cs typeface="Nirmala UI Semilight" panose="020B0402040204020203" pitchFamily="34" charset="0"/>
              </a:rPr>
              <a:t>D. Use User Defined Route to drop all remote </a:t>
            </a:r>
            <a:r>
              <a:rPr lang="en-US" dirty="0" err="1">
                <a:ea typeface="Nirmala UI Semilight" panose="020B0402040204020203" pitchFamily="34" charset="0"/>
                <a:cs typeface="Nirmala UI Semilight" panose="020B0402040204020203" pitchFamily="34" charset="0"/>
              </a:rPr>
              <a:t>VNet</a:t>
            </a:r>
            <a:r>
              <a:rPr lang="en-US" dirty="0">
                <a:ea typeface="Nirmala UI Semilight" panose="020B0402040204020203" pitchFamily="34" charset="0"/>
                <a:cs typeface="Nirmala UI Semilight" panose="020B0402040204020203" pitchFamily="34" charset="0"/>
              </a:rPr>
              <a:t> IP ranges except the DB subnet</a:t>
            </a:r>
          </a:p>
        </p:txBody>
      </p:sp>
    </p:spTree>
    <p:extLst>
      <p:ext uri="{BB962C8B-B14F-4D97-AF65-F5344CB8AC3E}">
        <p14:creationId xmlns:p14="http://schemas.microsoft.com/office/powerpoint/2010/main" val="6172669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1485</TotalTime>
  <Words>4661</Words>
  <Application>Microsoft Office PowerPoint</Application>
  <PresentationFormat>Widescreen</PresentationFormat>
  <Paragraphs>325</Paragraphs>
  <Slides>19</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vt:lpstr>
      <vt:lpstr>Aptos Display</vt:lpstr>
      <vt:lpstr>Arial</vt:lpstr>
      <vt:lpstr>Leelawadee UI Semilight</vt:lpstr>
      <vt:lpstr>Nirmala UI Semilight</vt:lpstr>
      <vt:lpstr>Wingdings</vt:lpstr>
      <vt:lpstr>Office Theme</vt:lpstr>
      <vt:lpstr>Azure Virtual networks (Vnet)</vt:lpstr>
      <vt:lpstr>Vnet diagrams</vt:lpstr>
      <vt:lpstr>Vnet diagrams</vt:lpstr>
      <vt:lpstr>Vnet Capabilities</vt:lpstr>
      <vt:lpstr>Vnet Capabilities</vt:lpstr>
      <vt:lpstr>Vnet diagrams</vt:lpstr>
      <vt:lpstr>Vnet Reserved IPs</vt:lpstr>
      <vt:lpstr>Vnet protocol support and limitations</vt:lpstr>
      <vt:lpstr>Traffic flow in a VNet</vt:lpstr>
      <vt:lpstr>Traffic flow in a VNet</vt:lpstr>
      <vt:lpstr>Network security groups</vt:lpstr>
      <vt:lpstr>NSG Rules</vt:lpstr>
      <vt:lpstr>NSG Rule Scope with CIDR &amp; Tags</vt:lpstr>
      <vt:lpstr>NSG Example</vt:lpstr>
      <vt:lpstr>NSG Example</vt:lpstr>
      <vt:lpstr>Application security groups</vt:lpstr>
      <vt:lpstr>ASG Example</vt:lpstr>
      <vt:lpstr>Pop quiz:</vt:lpstr>
      <vt:lpstr>Pop quiz:</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Tim Patrick</dc:creator>
  <cp:lastModifiedBy>Tim Patrick</cp:lastModifiedBy>
  <cp:revision>5</cp:revision>
  <dcterms:created xsi:type="dcterms:W3CDTF">2025-08-05T16:10:54Z</dcterms:created>
  <dcterms:modified xsi:type="dcterms:W3CDTF">2025-08-06T17:02:34Z</dcterms:modified>
</cp:coreProperties>
</file>