
<file path=[Content_Types].xml><?xml version="1.0" encoding="utf-8"?>
<Types xmlns="http://schemas.openxmlformats.org/package/2006/content-types">
  <Default Extension="jpeg" ContentType="image/jpeg"/>
  <Default Extension="jpg" ContentType="application/octet-stream"/>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642" r:id="rId2"/>
    <p:sldId id="2639" r:id="rId3"/>
    <p:sldId id="2640" r:id="rId4"/>
    <p:sldId id="2641" r:id="rId5"/>
    <p:sldId id="2616" r:id="rId6"/>
    <p:sldId id="2617" r:id="rId7"/>
    <p:sldId id="2619" r:id="rId8"/>
    <p:sldId id="2620" r:id="rId9"/>
    <p:sldId id="2631" r:id="rId10"/>
    <p:sldId id="2632" r:id="rId11"/>
    <p:sldId id="2623" r:id="rId12"/>
    <p:sldId id="264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0" autoAdjust="0"/>
    <p:restoredTop sz="94660"/>
  </p:normalViewPr>
  <p:slideViewPr>
    <p:cSldViewPr snapToGrid="0">
      <p:cViewPr varScale="1">
        <p:scale>
          <a:sx n="61" d="100"/>
          <a:sy n="61" d="100"/>
        </p:scale>
        <p:origin x="108" y="10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EA489F-5452-4814-88CB-C2C754E1A16E}" type="doc">
      <dgm:prSet loTypeId="urn:microsoft.com/office/officeart/2005/8/layout/venn2" loCatId="relationship" qsTypeId="urn:microsoft.com/office/officeart/2005/8/quickstyle/simple5" qsCatId="simple" csTypeId="urn:microsoft.com/office/officeart/2005/8/colors/colorful1" csCatId="colorful" phldr="1"/>
      <dgm:spPr/>
      <dgm:t>
        <a:bodyPr/>
        <a:lstStyle/>
        <a:p>
          <a:endParaRPr lang="en-US"/>
        </a:p>
      </dgm:t>
    </dgm:pt>
    <dgm:pt modelId="{16231594-6315-4959-877D-417222A162CB}">
      <dgm:prSet phldrT="[Text]" custT="1"/>
      <dgm:spPr/>
      <dgm:t>
        <a:bodyPr/>
        <a:lstStyle/>
        <a:p>
          <a:r>
            <a:rPr lang="en-US" sz="2000" b="1" dirty="0"/>
            <a:t>Management Group</a:t>
          </a:r>
        </a:p>
      </dgm:t>
    </dgm:pt>
    <dgm:pt modelId="{32D82D3A-2FA6-4137-AD29-16480D486478}" type="parTrans" cxnId="{039A5930-0888-4F77-B6A9-250A6FB5EBC6}">
      <dgm:prSet/>
      <dgm:spPr/>
      <dgm:t>
        <a:bodyPr/>
        <a:lstStyle/>
        <a:p>
          <a:endParaRPr lang="en-US"/>
        </a:p>
      </dgm:t>
    </dgm:pt>
    <dgm:pt modelId="{658299B1-0A82-48A5-9452-B23DF94CF4E9}" type="sibTrans" cxnId="{039A5930-0888-4F77-B6A9-250A6FB5EBC6}">
      <dgm:prSet/>
      <dgm:spPr/>
      <dgm:t>
        <a:bodyPr/>
        <a:lstStyle/>
        <a:p>
          <a:endParaRPr lang="en-US"/>
        </a:p>
      </dgm:t>
    </dgm:pt>
    <dgm:pt modelId="{B1D61E70-F271-4601-A4DE-1FD9FB7A1237}">
      <dgm:prSet phldrT="[Text]" custT="1"/>
      <dgm:spPr/>
      <dgm:t>
        <a:bodyPr/>
        <a:lstStyle/>
        <a:p>
          <a:r>
            <a:rPr lang="en-US" sz="2000" b="1" dirty="0"/>
            <a:t>Subscription</a:t>
          </a:r>
          <a:endParaRPr lang="en-US" sz="1600" b="1" dirty="0"/>
        </a:p>
      </dgm:t>
    </dgm:pt>
    <dgm:pt modelId="{166FEBEB-0AF8-48E8-A436-3A387E2B1E71}" type="parTrans" cxnId="{772086A4-A3D5-49BA-B5A7-12FD6FD07D05}">
      <dgm:prSet/>
      <dgm:spPr/>
      <dgm:t>
        <a:bodyPr/>
        <a:lstStyle/>
        <a:p>
          <a:endParaRPr lang="en-US"/>
        </a:p>
      </dgm:t>
    </dgm:pt>
    <dgm:pt modelId="{7B0B86D3-4ABA-4B7A-8156-9618B30BEE0D}" type="sibTrans" cxnId="{772086A4-A3D5-49BA-B5A7-12FD6FD07D05}">
      <dgm:prSet/>
      <dgm:spPr/>
      <dgm:t>
        <a:bodyPr/>
        <a:lstStyle/>
        <a:p>
          <a:endParaRPr lang="en-US"/>
        </a:p>
      </dgm:t>
    </dgm:pt>
    <dgm:pt modelId="{79B829D5-2ED1-4843-AE84-032CAA7BC56D}">
      <dgm:prSet phldrT="[Text]" custT="1"/>
      <dgm:spPr/>
      <dgm:t>
        <a:bodyPr/>
        <a:lstStyle/>
        <a:p>
          <a:r>
            <a:rPr lang="en-US" sz="1800" b="1" dirty="0"/>
            <a:t>Resource Group</a:t>
          </a:r>
        </a:p>
      </dgm:t>
    </dgm:pt>
    <dgm:pt modelId="{4EF26F7F-F56F-4699-807D-28620CF411AE}" type="parTrans" cxnId="{0F30D130-291F-4C97-8893-FC94548F033D}">
      <dgm:prSet/>
      <dgm:spPr/>
      <dgm:t>
        <a:bodyPr/>
        <a:lstStyle/>
        <a:p>
          <a:endParaRPr lang="en-US"/>
        </a:p>
      </dgm:t>
    </dgm:pt>
    <dgm:pt modelId="{1224223C-3FF7-495F-A1FB-BD32567EE781}" type="sibTrans" cxnId="{0F30D130-291F-4C97-8893-FC94548F033D}">
      <dgm:prSet/>
      <dgm:spPr/>
      <dgm:t>
        <a:bodyPr/>
        <a:lstStyle/>
        <a:p>
          <a:endParaRPr lang="en-US"/>
        </a:p>
      </dgm:t>
    </dgm:pt>
    <dgm:pt modelId="{C155EF95-37C7-4FC1-ADB3-C7F5F118D93A}">
      <dgm:prSet phldrT="[Text]" custT="1"/>
      <dgm:spPr/>
      <dgm:t>
        <a:bodyPr/>
        <a:lstStyle/>
        <a:p>
          <a:r>
            <a:rPr lang="en-US" sz="1600" b="1" dirty="0"/>
            <a:t>Virtual Networks</a:t>
          </a:r>
        </a:p>
      </dgm:t>
    </dgm:pt>
    <dgm:pt modelId="{BF051BF1-10E7-41B9-B029-8811294BF57A}" type="parTrans" cxnId="{2E93DA39-CD12-4116-982E-7A257B323429}">
      <dgm:prSet/>
      <dgm:spPr/>
      <dgm:t>
        <a:bodyPr/>
        <a:lstStyle/>
        <a:p>
          <a:endParaRPr lang="en-US"/>
        </a:p>
      </dgm:t>
    </dgm:pt>
    <dgm:pt modelId="{EDDCE0D6-3930-4A0D-8EFB-5C42404CAA4D}" type="sibTrans" cxnId="{2E93DA39-CD12-4116-982E-7A257B323429}">
      <dgm:prSet/>
      <dgm:spPr/>
      <dgm:t>
        <a:bodyPr/>
        <a:lstStyle/>
        <a:p>
          <a:endParaRPr lang="en-US"/>
        </a:p>
      </dgm:t>
    </dgm:pt>
    <dgm:pt modelId="{043FE6EB-97C1-4223-84EF-E1048855A86C}">
      <dgm:prSet phldrT="[Text]" custT="1"/>
      <dgm:spPr/>
      <dgm:t>
        <a:bodyPr/>
        <a:lstStyle/>
        <a:p>
          <a:r>
            <a:rPr lang="en-US" sz="1600" b="1" dirty="0"/>
            <a:t>Virtual Machines</a:t>
          </a:r>
        </a:p>
      </dgm:t>
    </dgm:pt>
    <dgm:pt modelId="{15A6607A-FAA6-4C72-9470-0FA18BE22454}" type="parTrans" cxnId="{15477E60-FD3B-40E4-917A-02F3AF2B9FE7}">
      <dgm:prSet/>
      <dgm:spPr/>
      <dgm:t>
        <a:bodyPr/>
        <a:lstStyle/>
        <a:p>
          <a:endParaRPr lang="en-US"/>
        </a:p>
      </dgm:t>
    </dgm:pt>
    <dgm:pt modelId="{CC2DEC9A-5EB7-4147-A83B-E666DF066A92}" type="sibTrans" cxnId="{15477E60-FD3B-40E4-917A-02F3AF2B9FE7}">
      <dgm:prSet/>
      <dgm:spPr/>
      <dgm:t>
        <a:bodyPr/>
        <a:lstStyle/>
        <a:p>
          <a:endParaRPr lang="en-US"/>
        </a:p>
      </dgm:t>
    </dgm:pt>
    <dgm:pt modelId="{0AB50B94-4A65-421E-8DA8-86AE64491CF9}">
      <dgm:prSet phldrT="[Text]" custT="1"/>
      <dgm:spPr/>
      <dgm:t>
        <a:bodyPr/>
        <a:lstStyle/>
        <a:p>
          <a:r>
            <a:rPr lang="en-US" sz="1600" b="1" dirty="0"/>
            <a:t>Storage Accounts</a:t>
          </a:r>
        </a:p>
      </dgm:t>
    </dgm:pt>
    <dgm:pt modelId="{3801A7AC-AE78-44C0-A517-CF7D9E11FB94}" type="parTrans" cxnId="{BFFA796B-3F85-4152-BA32-89B1ADDB37B6}">
      <dgm:prSet/>
      <dgm:spPr/>
      <dgm:t>
        <a:bodyPr/>
        <a:lstStyle/>
        <a:p>
          <a:endParaRPr lang="en-US"/>
        </a:p>
      </dgm:t>
    </dgm:pt>
    <dgm:pt modelId="{75628389-DD56-496B-915C-1146D3145F01}" type="sibTrans" cxnId="{BFFA796B-3F85-4152-BA32-89B1ADDB37B6}">
      <dgm:prSet/>
      <dgm:spPr/>
      <dgm:t>
        <a:bodyPr/>
        <a:lstStyle/>
        <a:p>
          <a:endParaRPr lang="en-US"/>
        </a:p>
      </dgm:t>
    </dgm:pt>
    <dgm:pt modelId="{A0BE124D-4E91-43D1-BB6A-F226D51109D3}">
      <dgm:prSet phldrT="[Text]" custT="1"/>
      <dgm:spPr/>
      <dgm:t>
        <a:bodyPr/>
        <a:lstStyle/>
        <a:p>
          <a:r>
            <a:rPr lang="en-US" sz="1600" b="1" dirty="0"/>
            <a:t>And all other Resources</a:t>
          </a:r>
        </a:p>
      </dgm:t>
    </dgm:pt>
    <dgm:pt modelId="{B86DBC2D-D374-4CD5-BC90-7A12BC84BDB9}" type="parTrans" cxnId="{C616DAA0-50C2-4D46-9282-B133B8B90BC4}">
      <dgm:prSet/>
      <dgm:spPr/>
      <dgm:t>
        <a:bodyPr/>
        <a:lstStyle/>
        <a:p>
          <a:endParaRPr lang="en-US"/>
        </a:p>
      </dgm:t>
    </dgm:pt>
    <dgm:pt modelId="{3E246B5E-5F54-4DA0-A18C-2D14F429541C}" type="sibTrans" cxnId="{C616DAA0-50C2-4D46-9282-B133B8B90BC4}">
      <dgm:prSet/>
      <dgm:spPr/>
      <dgm:t>
        <a:bodyPr/>
        <a:lstStyle/>
        <a:p>
          <a:endParaRPr lang="en-US"/>
        </a:p>
      </dgm:t>
    </dgm:pt>
    <dgm:pt modelId="{34BAB8C2-D440-424B-A305-86E5FDEAD229}" type="pres">
      <dgm:prSet presAssocID="{C3EA489F-5452-4814-88CB-C2C754E1A16E}" presName="Name0" presStyleCnt="0">
        <dgm:presLayoutVars>
          <dgm:chMax val="7"/>
          <dgm:resizeHandles val="exact"/>
        </dgm:presLayoutVars>
      </dgm:prSet>
      <dgm:spPr/>
    </dgm:pt>
    <dgm:pt modelId="{981A816B-3162-46B3-A8F6-A9A7DDDA48D5}" type="pres">
      <dgm:prSet presAssocID="{C3EA489F-5452-4814-88CB-C2C754E1A16E}" presName="comp1" presStyleCnt="0"/>
      <dgm:spPr/>
    </dgm:pt>
    <dgm:pt modelId="{9228B0E8-5F1F-4732-BDCB-0EEE6BF469F0}" type="pres">
      <dgm:prSet presAssocID="{C3EA489F-5452-4814-88CB-C2C754E1A16E}" presName="circle1" presStyleLbl="node1" presStyleIdx="0" presStyleCnt="3"/>
      <dgm:spPr/>
    </dgm:pt>
    <dgm:pt modelId="{B005098D-8F4F-4EEC-8C38-ACB7314850CC}" type="pres">
      <dgm:prSet presAssocID="{C3EA489F-5452-4814-88CB-C2C754E1A16E}" presName="c1text" presStyleLbl="node1" presStyleIdx="0" presStyleCnt="3">
        <dgm:presLayoutVars>
          <dgm:bulletEnabled val="1"/>
        </dgm:presLayoutVars>
      </dgm:prSet>
      <dgm:spPr/>
    </dgm:pt>
    <dgm:pt modelId="{1D4C9625-C2AE-4693-A4A6-44280E5875D6}" type="pres">
      <dgm:prSet presAssocID="{C3EA489F-5452-4814-88CB-C2C754E1A16E}" presName="comp2" presStyleCnt="0"/>
      <dgm:spPr/>
    </dgm:pt>
    <dgm:pt modelId="{99EFCBB5-40A9-4431-B29B-90B030DADB15}" type="pres">
      <dgm:prSet presAssocID="{C3EA489F-5452-4814-88CB-C2C754E1A16E}" presName="circle2" presStyleLbl="node1" presStyleIdx="1" presStyleCnt="3"/>
      <dgm:spPr/>
    </dgm:pt>
    <dgm:pt modelId="{0F54CB56-D27A-4F2C-BD10-EF156997ACD2}" type="pres">
      <dgm:prSet presAssocID="{C3EA489F-5452-4814-88CB-C2C754E1A16E}" presName="c2text" presStyleLbl="node1" presStyleIdx="1" presStyleCnt="3">
        <dgm:presLayoutVars>
          <dgm:bulletEnabled val="1"/>
        </dgm:presLayoutVars>
      </dgm:prSet>
      <dgm:spPr/>
    </dgm:pt>
    <dgm:pt modelId="{AD9B9BCC-4DD9-4688-A9F3-C7A00A907615}" type="pres">
      <dgm:prSet presAssocID="{C3EA489F-5452-4814-88CB-C2C754E1A16E}" presName="comp3" presStyleCnt="0"/>
      <dgm:spPr/>
    </dgm:pt>
    <dgm:pt modelId="{10E26A48-82F2-483F-B6D5-9B1884CB3E6A}" type="pres">
      <dgm:prSet presAssocID="{C3EA489F-5452-4814-88CB-C2C754E1A16E}" presName="circle3" presStyleLbl="node1" presStyleIdx="2" presStyleCnt="3" custScaleX="112112" custScaleY="105038"/>
      <dgm:spPr/>
    </dgm:pt>
    <dgm:pt modelId="{41E249B3-3B9D-435F-85D0-8894C53B2202}" type="pres">
      <dgm:prSet presAssocID="{C3EA489F-5452-4814-88CB-C2C754E1A16E}" presName="c3text" presStyleLbl="node1" presStyleIdx="2" presStyleCnt="3">
        <dgm:presLayoutVars>
          <dgm:bulletEnabled val="1"/>
        </dgm:presLayoutVars>
      </dgm:prSet>
      <dgm:spPr/>
    </dgm:pt>
  </dgm:ptLst>
  <dgm:cxnLst>
    <dgm:cxn modelId="{8146BF09-A7BB-4482-AF05-A7691E58AB34}" type="presOf" srcId="{16231594-6315-4959-877D-417222A162CB}" destId="{9228B0E8-5F1F-4732-BDCB-0EEE6BF469F0}" srcOrd="0" destOrd="0" presId="urn:microsoft.com/office/officeart/2005/8/layout/venn2"/>
    <dgm:cxn modelId="{39477623-C9CD-415B-BD9F-FBF6E28BD807}" type="presOf" srcId="{B1D61E70-F271-4601-A4DE-1FD9FB7A1237}" destId="{99EFCBB5-40A9-4431-B29B-90B030DADB15}" srcOrd="0" destOrd="0" presId="urn:microsoft.com/office/officeart/2005/8/layout/venn2"/>
    <dgm:cxn modelId="{039A5930-0888-4F77-B6A9-250A6FB5EBC6}" srcId="{C3EA489F-5452-4814-88CB-C2C754E1A16E}" destId="{16231594-6315-4959-877D-417222A162CB}" srcOrd="0" destOrd="0" parTransId="{32D82D3A-2FA6-4137-AD29-16480D486478}" sibTransId="{658299B1-0A82-48A5-9452-B23DF94CF4E9}"/>
    <dgm:cxn modelId="{0F30D130-291F-4C97-8893-FC94548F033D}" srcId="{C3EA489F-5452-4814-88CB-C2C754E1A16E}" destId="{79B829D5-2ED1-4843-AE84-032CAA7BC56D}" srcOrd="2" destOrd="0" parTransId="{4EF26F7F-F56F-4699-807D-28620CF411AE}" sibTransId="{1224223C-3FF7-495F-A1FB-BD32567EE781}"/>
    <dgm:cxn modelId="{2E93DA39-CD12-4116-982E-7A257B323429}" srcId="{79B829D5-2ED1-4843-AE84-032CAA7BC56D}" destId="{C155EF95-37C7-4FC1-ADB3-C7F5F118D93A}" srcOrd="0" destOrd="0" parTransId="{BF051BF1-10E7-41B9-B029-8811294BF57A}" sibTransId="{EDDCE0D6-3930-4A0D-8EFB-5C42404CAA4D}"/>
    <dgm:cxn modelId="{E1899D5C-3363-42B5-9E72-AA635D3EADCC}" type="presOf" srcId="{C155EF95-37C7-4FC1-ADB3-C7F5F118D93A}" destId="{41E249B3-3B9D-435F-85D0-8894C53B2202}" srcOrd="1" destOrd="1" presId="urn:microsoft.com/office/officeart/2005/8/layout/venn2"/>
    <dgm:cxn modelId="{15477E60-FD3B-40E4-917A-02F3AF2B9FE7}" srcId="{79B829D5-2ED1-4843-AE84-032CAA7BC56D}" destId="{043FE6EB-97C1-4223-84EF-E1048855A86C}" srcOrd="1" destOrd="0" parTransId="{15A6607A-FAA6-4C72-9470-0FA18BE22454}" sibTransId="{CC2DEC9A-5EB7-4147-A83B-E666DF066A92}"/>
    <dgm:cxn modelId="{BFFA796B-3F85-4152-BA32-89B1ADDB37B6}" srcId="{79B829D5-2ED1-4843-AE84-032CAA7BC56D}" destId="{0AB50B94-4A65-421E-8DA8-86AE64491CF9}" srcOrd="2" destOrd="0" parTransId="{3801A7AC-AE78-44C0-A517-CF7D9E11FB94}" sibTransId="{75628389-DD56-496B-915C-1146D3145F01}"/>
    <dgm:cxn modelId="{A6F5C450-8422-41B8-9291-FA6582BE3A9C}" type="presOf" srcId="{A0BE124D-4E91-43D1-BB6A-F226D51109D3}" destId="{41E249B3-3B9D-435F-85D0-8894C53B2202}" srcOrd="1" destOrd="4" presId="urn:microsoft.com/office/officeart/2005/8/layout/venn2"/>
    <dgm:cxn modelId="{1F891780-5BD7-46F1-A54C-8A3346910980}" type="presOf" srcId="{B1D61E70-F271-4601-A4DE-1FD9FB7A1237}" destId="{0F54CB56-D27A-4F2C-BD10-EF156997ACD2}" srcOrd="1" destOrd="0" presId="urn:microsoft.com/office/officeart/2005/8/layout/venn2"/>
    <dgm:cxn modelId="{8BC7A384-1AB7-44A3-BDBB-8D9C21CDB33D}" type="presOf" srcId="{A0BE124D-4E91-43D1-BB6A-F226D51109D3}" destId="{10E26A48-82F2-483F-B6D5-9B1884CB3E6A}" srcOrd="0" destOrd="4" presId="urn:microsoft.com/office/officeart/2005/8/layout/venn2"/>
    <dgm:cxn modelId="{C616DAA0-50C2-4D46-9282-B133B8B90BC4}" srcId="{79B829D5-2ED1-4843-AE84-032CAA7BC56D}" destId="{A0BE124D-4E91-43D1-BB6A-F226D51109D3}" srcOrd="3" destOrd="0" parTransId="{B86DBC2D-D374-4CD5-BC90-7A12BC84BDB9}" sibTransId="{3E246B5E-5F54-4DA0-A18C-2D14F429541C}"/>
    <dgm:cxn modelId="{772086A4-A3D5-49BA-B5A7-12FD6FD07D05}" srcId="{C3EA489F-5452-4814-88CB-C2C754E1A16E}" destId="{B1D61E70-F271-4601-A4DE-1FD9FB7A1237}" srcOrd="1" destOrd="0" parTransId="{166FEBEB-0AF8-48E8-A436-3A387E2B1E71}" sibTransId="{7B0B86D3-4ABA-4B7A-8156-9618B30BEE0D}"/>
    <dgm:cxn modelId="{74571EB5-43A3-4207-AB85-987CB2249108}" type="presOf" srcId="{C155EF95-37C7-4FC1-ADB3-C7F5F118D93A}" destId="{10E26A48-82F2-483F-B6D5-9B1884CB3E6A}" srcOrd="0" destOrd="1" presId="urn:microsoft.com/office/officeart/2005/8/layout/venn2"/>
    <dgm:cxn modelId="{58C11BBB-8C37-42AA-8BE8-271E928C6777}" type="presOf" srcId="{79B829D5-2ED1-4843-AE84-032CAA7BC56D}" destId="{10E26A48-82F2-483F-B6D5-9B1884CB3E6A}" srcOrd="0" destOrd="0" presId="urn:microsoft.com/office/officeart/2005/8/layout/venn2"/>
    <dgm:cxn modelId="{45D95FBB-4DEC-411E-A923-0233650F013F}" type="presOf" srcId="{043FE6EB-97C1-4223-84EF-E1048855A86C}" destId="{10E26A48-82F2-483F-B6D5-9B1884CB3E6A}" srcOrd="0" destOrd="2" presId="urn:microsoft.com/office/officeart/2005/8/layout/venn2"/>
    <dgm:cxn modelId="{294D1FC5-7E0F-45D5-B0C2-6782EE9686B3}" type="presOf" srcId="{0AB50B94-4A65-421E-8DA8-86AE64491CF9}" destId="{10E26A48-82F2-483F-B6D5-9B1884CB3E6A}" srcOrd="0" destOrd="3" presId="urn:microsoft.com/office/officeart/2005/8/layout/venn2"/>
    <dgm:cxn modelId="{A8625BCE-0EF0-499F-9A96-7EB6802519AB}" type="presOf" srcId="{16231594-6315-4959-877D-417222A162CB}" destId="{B005098D-8F4F-4EEC-8C38-ACB7314850CC}" srcOrd="1" destOrd="0" presId="urn:microsoft.com/office/officeart/2005/8/layout/venn2"/>
    <dgm:cxn modelId="{FE638CE3-16CE-47CB-865B-342AE4E144DA}" type="presOf" srcId="{043FE6EB-97C1-4223-84EF-E1048855A86C}" destId="{41E249B3-3B9D-435F-85D0-8894C53B2202}" srcOrd="1" destOrd="2" presId="urn:microsoft.com/office/officeart/2005/8/layout/venn2"/>
    <dgm:cxn modelId="{C7F9F8EE-7102-4676-A1FE-4FB042096DA0}" type="presOf" srcId="{0AB50B94-4A65-421E-8DA8-86AE64491CF9}" destId="{41E249B3-3B9D-435F-85D0-8894C53B2202}" srcOrd="1" destOrd="3" presId="urn:microsoft.com/office/officeart/2005/8/layout/venn2"/>
    <dgm:cxn modelId="{467921F4-8476-4EEB-8F7D-D441862C65E4}" type="presOf" srcId="{79B829D5-2ED1-4843-AE84-032CAA7BC56D}" destId="{41E249B3-3B9D-435F-85D0-8894C53B2202}" srcOrd="1" destOrd="0" presId="urn:microsoft.com/office/officeart/2005/8/layout/venn2"/>
    <dgm:cxn modelId="{62B0D1F5-B801-4895-959E-C1472628AF95}" type="presOf" srcId="{C3EA489F-5452-4814-88CB-C2C754E1A16E}" destId="{34BAB8C2-D440-424B-A305-86E5FDEAD229}" srcOrd="0" destOrd="0" presId="urn:microsoft.com/office/officeart/2005/8/layout/venn2"/>
    <dgm:cxn modelId="{0C279770-27ED-4E32-A96E-C5C5D64473B0}" type="presParOf" srcId="{34BAB8C2-D440-424B-A305-86E5FDEAD229}" destId="{981A816B-3162-46B3-A8F6-A9A7DDDA48D5}" srcOrd="0" destOrd="0" presId="urn:microsoft.com/office/officeart/2005/8/layout/venn2"/>
    <dgm:cxn modelId="{665106CC-A412-4A25-AA12-C30DA3411444}" type="presParOf" srcId="{981A816B-3162-46B3-A8F6-A9A7DDDA48D5}" destId="{9228B0E8-5F1F-4732-BDCB-0EEE6BF469F0}" srcOrd="0" destOrd="0" presId="urn:microsoft.com/office/officeart/2005/8/layout/venn2"/>
    <dgm:cxn modelId="{B6510E67-8C56-4758-92A0-FFCBD1C8A3B3}" type="presParOf" srcId="{981A816B-3162-46B3-A8F6-A9A7DDDA48D5}" destId="{B005098D-8F4F-4EEC-8C38-ACB7314850CC}" srcOrd="1" destOrd="0" presId="urn:microsoft.com/office/officeart/2005/8/layout/venn2"/>
    <dgm:cxn modelId="{FA35D0E1-705C-43A0-AC3A-F86FCDAB214A}" type="presParOf" srcId="{34BAB8C2-D440-424B-A305-86E5FDEAD229}" destId="{1D4C9625-C2AE-4693-A4A6-44280E5875D6}" srcOrd="1" destOrd="0" presId="urn:microsoft.com/office/officeart/2005/8/layout/venn2"/>
    <dgm:cxn modelId="{61A0D084-5D5A-4B2C-9110-C3FC4B01BE3B}" type="presParOf" srcId="{1D4C9625-C2AE-4693-A4A6-44280E5875D6}" destId="{99EFCBB5-40A9-4431-B29B-90B030DADB15}" srcOrd="0" destOrd="0" presId="urn:microsoft.com/office/officeart/2005/8/layout/venn2"/>
    <dgm:cxn modelId="{7732BC41-09EB-4CB9-9DC1-73B2D8B5233A}" type="presParOf" srcId="{1D4C9625-C2AE-4693-A4A6-44280E5875D6}" destId="{0F54CB56-D27A-4F2C-BD10-EF156997ACD2}" srcOrd="1" destOrd="0" presId="urn:microsoft.com/office/officeart/2005/8/layout/venn2"/>
    <dgm:cxn modelId="{FFD04C41-E0B0-4D3D-A74E-82F1203B4926}" type="presParOf" srcId="{34BAB8C2-D440-424B-A305-86E5FDEAD229}" destId="{AD9B9BCC-4DD9-4688-A9F3-C7A00A907615}" srcOrd="2" destOrd="0" presId="urn:microsoft.com/office/officeart/2005/8/layout/venn2"/>
    <dgm:cxn modelId="{6B645647-8FBB-4672-A2C7-3E04B0D131E0}" type="presParOf" srcId="{AD9B9BCC-4DD9-4688-A9F3-C7A00A907615}" destId="{10E26A48-82F2-483F-B6D5-9B1884CB3E6A}" srcOrd="0" destOrd="0" presId="urn:microsoft.com/office/officeart/2005/8/layout/venn2"/>
    <dgm:cxn modelId="{2C3C9866-5D89-4BD6-8A2B-B6B6CF2C7734}" type="presParOf" srcId="{AD9B9BCC-4DD9-4688-A9F3-C7A00A907615}" destId="{41E249B3-3B9D-435F-85D0-8894C53B2202}"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28B0E8-5F1F-4732-BDCB-0EEE6BF469F0}">
      <dsp:nvSpPr>
        <dsp:cNvPr id="0" name=""/>
        <dsp:cNvSpPr/>
      </dsp:nvSpPr>
      <dsp:spPr>
        <a:xfrm>
          <a:off x="1354666" y="-34124"/>
          <a:ext cx="5418667" cy="5418667"/>
        </a:xfrm>
        <a:prstGeom prst="ellips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dirty="0"/>
            <a:t>Management Group</a:t>
          </a:r>
        </a:p>
      </dsp:txBody>
      <dsp:txXfrm>
        <a:off x="3117087" y="236809"/>
        <a:ext cx="1893824" cy="812800"/>
      </dsp:txXfrm>
    </dsp:sp>
    <dsp:sp modelId="{99EFCBB5-40A9-4431-B29B-90B030DADB15}">
      <dsp:nvSpPr>
        <dsp:cNvPr id="0" name=""/>
        <dsp:cNvSpPr/>
      </dsp:nvSpPr>
      <dsp:spPr>
        <a:xfrm>
          <a:off x="2031999" y="1320542"/>
          <a:ext cx="4064000" cy="4064000"/>
        </a:xfrm>
        <a:prstGeom prst="ellips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dirty="0"/>
            <a:t>Subscription</a:t>
          </a:r>
          <a:endParaRPr lang="en-US" sz="1600" b="1" kern="1200" dirty="0"/>
        </a:p>
      </dsp:txBody>
      <dsp:txXfrm>
        <a:off x="3117087" y="1574542"/>
        <a:ext cx="1893824" cy="762000"/>
      </dsp:txXfrm>
    </dsp:sp>
    <dsp:sp modelId="{10E26A48-82F2-483F-B6D5-9B1884CB3E6A}">
      <dsp:nvSpPr>
        <dsp:cNvPr id="0" name=""/>
        <dsp:cNvSpPr/>
      </dsp:nvSpPr>
      <dsp:spPr>
        <a:xfrm>
          <a:off x="2545256" y="2606961"/>
          <a:ext cx="3037487" cy="2845829"/>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8016" tIns="128016" rIns="128016" bIns="128016" numCol="1" spcCol="1270" anchor="t" anchorCtr="0">
          <a:noAutofit/>
        </a:bodyPr>
        <a:lstStyle/>
        <a:p>
          <a:pPr marL="0" lvl="0" indent="0" algn="l" defTabSz="800100">
            <a:lnSpc>
              <a:spcPct val="90000"/>
            </a:lnSpc>
            <a:spcBef>
              <a:spcPct val="0"/>
            </a:spcBef>
            <a:spcAft>
              <a:spcPct val="35000"/>
            </a:spcAft>
            <a:buNone/>
          </a:pPr>
          <a:r>
            <a:rPr lang="en-US" sz="1800" b="1" kern="1200" dirty="0"/>
            <a:t>Resource Group</a:t>
          </a:r>
        </a:p>
        <a:p>
          <a:pPr marL="171450" lvl="1" indent="-171450" algn="l" defTabSz="711200">
            <a:lnSpc>
              <a:spcPct val="90000"/>
            </a:lnSpc>
            <a:spcBef>
              <a:spcPct val="0"/>
            </a:spcBef>
            <a:spcAft>
              <a:spcPct val="15000"/>
            </a:spcAft>
            <a:buChar char="•"/>
          </a:pPr>
          <a:r>
            <a:rPr lang="en-US" sz="1600" b="1" kern="1200" dirty="0"/>
            <a:t>Virtual Networks</a:t>
          </a:r>
        </a:p>
        <a:p>
          <a:pPr marL="171450" lvl="1" indent="-171450" algn="l" defTabSz="711200">
            <a:lnSpc>
              <a:spcPct val="90000"/>
            </a:lnSpc>
            <a:spcBef>
              <a:spcPct val="0"/>
            </a:spcBef>
            <a:spcAft>
              <a:spcPct val="15000"/>
            </a:spcAft>
            <a:buChar char="•"/>
          </a:pPr>
          <a:r>
            <a:rPr lang="en-US" sz="1600" b="1" kern="1200" dirty="0"/>
            <a:t>Virtual Machines</a:t>
          </a:r>
        </a:p>
        <a:p>
          <a:pPr marL="171450" lvl="1" indent="-171450" algn="l" defTabSz="711200">
            <a:lnSpc>
              <a:spcPct val="90000"/>
            </a:lnSpc>
            <a:spcBef>
              <a:spcPct val="0"/>
            </a:spcBef>
            <a:spcAft>
              <a:spcPct val="15000"/>
            </a:spcAft>
            <a:buChar char="•"/>
          </a:pPr>
          <a:r>
            <a:rPr lang="en-US" sz="1600" b="1" kern="1200" dirty="0"/>
            <a:t>Storage Accounts</a:t>
          </a:r>
        </a:p>
        <a:p>
          <a:pPr marL="171450" lvl="1" indent="-171450" algn="l" defTabSz="711200">
            <a:lnSpc>
              <a:spcPct val="90000"/>
            </a:lnSpc>
            <a:spcBef>
              <a:spcPct val="0"/>
            </a:spcBef>
            <a:spcAft>
              <a:spcPct val="15000"/>
            </a:spcAft>
            <a:buChar char="•"/>
          </a:pPr>
          <a:r>
            <a:rPr lang="en-US" sz="1600" b="1" kern="1200" dirty="0"/>
            <a:t>And all other Resources</a:t>
          </a:r>
        </a:p>
      </dsp:txBody>
      <dsp:txXfrm>
        <a:off x="2990085" y="3318418"/>
        <a:ext cx="2147828" cy="1422914"/>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E86772-F0A8-4E1B-B561-FD8ABFE46209}" type="datetimeFigureOut">
              <a:rPr lang="en-US" smtClean="0"/>
              <a:t>8/6/2025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98E7FC-2AA1-4EB0-90EC-47484AA400A1}" type="slidenum">
              <a:rPr lang="en-US" smtClean="0"/>
              <a:t>‹#›</a:t>
            </a:fld>
            <a:endParaRPr lang="en-US"/>
          </a:p>
        </p:txBody>
      </p:sp>
    </p:spTree>
    <p:extLst>
      <p:ext uri="{BB962C8B-B14F-4D97-AF65-F5344CB8AC3E}">
        <p14:creationId xmlns:p14="http://schemas.microsoft.com/office/powerpoint/2010/main" val="26250272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introduces the core concepts of </a:t>
            </a:r>
            <a:r>
              <a:rPr lang="en-US" sz="1200" b="1" i="0" kern="1200" dirty="0">
                <a:solidFill>
                  <a:schemeClr val="tx1"/>
                </a:solidFill>
                <a:effectLst/>
                <a:latin typeface="+mn-lt"/>
                <a:ea typeface="+mn-ea"/>
                <a:cs typeface="+mn-cs"/>
              </a:rPr>
              <a:t>Azure Resource Manager (ARM)</a:t>
            </a:r>
            <a:r>
              <a:rPr lang="en-US" sz="1200" b="0" i="0" kern="1200" dirty="0">
                <a:solidFill>
                  <a:schemeClr val="tx1"/>
                </a:solidFill>
                <a:effectLst/>
                <a:latin typeface="+mn-lt"/>
                <a:ea typeface="+mn-ea"/>
                <a:cs typeface="+mn-cs"/>
              </a:rPr>
              <a:t>—the deployment and management layer for all Azure services.</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Modern JSON-Based API (Purple Box)</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ARM provides a </a:t>
            </a:r>
            <a:r>
              <a:rPr lang="en-US" sz="1200" b="1" i="0" kern="1200" dirty="0">
                <a:solidFill>
                  <a:schemeClr val="tx1"/>
                </a:solidFill>
                <a:effectLst/>
                <a:latin typeface="+mn-lt"/>
                <a:ea typeface="+mn-ea"/>
                <a:cs typeface="+mn-cs"/>
              </a:rPr>
              <a:t>RESTful, JSON-based API</a:t>
            </a:r>
            <a:r>
              <a:rPr lang="en-US" sz="1200" b="0" i="0" kern="1200" dirty="0">
                <a:solidFill>
                  <a:schemeClr val="tx1"/>
                </a:solidFill>
                <a:effectLst/>
                <a:latin typeface="+mn-lt"/>
                <a:ea typeface="+mn-ea"/>
                <a:cs typeface="+mn-cs"/>
              </a:rPr>
              <a:t> that interacts with </a:t>
            </a:r>
            <a:r>
              <a:rPr lang="en-US" sz="1200" b="1" i="0" kern="1200" dirty="0">
                <a:solidFill>
                  <a:schemeClr val="tx1"/>
                </a:solidFill>
                <a:effectLst/>
                <a:latin typeface="+mn-lt"/>
                <a:ea typeface="+mn-ea"/>
                <a:cs typeface="+mn-cs"/>
              </a:rPr>
              <a:t>resource providers</a:t>
            </a:r>
            <a:r>
              <a:rPr lang="en-US" sz="1200" b="0" i="0" kern="1200" dirty="0">
                <a:solidFill>
                  <a:schemeClr val="tx1"/>
                </a:solidFill>
                <a:effectLst/>
                <a:latin typeface="+mn-lt"/>
                <a:ea typeface="+mn-ea"/>
                <a:cs typeface="+mn-cs"/>
              </a:rPr>
              <a:t> like </a:t>
            </a:r>
            <a:r>
              <a:rPr lang="en-US" sz="1200" b="0" i="0" kern="1200" dirty="0" err="1">
                <a:solidFill>
                  <a:schemeClr val="tx1"/>
                </a:solidFill>
                <a:effectLst/>
                <a:latin typeface="+mn-lt"/>
                <a:ea typeface="+mn-ea"/>
                <a:cs typeface="+mn-cs"/>
              </a:rPr>
              <a:t>Microsoft.Compute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Microsoft.Network</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Microsoft.Storage</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This API is the foundation for tools like the Azure Portal, CLI, PowerShell, and SDKs.</a:t>
            </a:r>
          </a:p>
          <a:p>
            <a:r>
              <a:rPr lang="en-US" sz="1200" b="0" i="0" kern="1200" dirty="0">
                <a:solidFill>
                  <a:schemeClr val="tx1"/>
                </a:solidFill>
                <a:effectLst/>
                <a:latin typeface="+mn-lt"/>
                <a:ea typeface="+mn-ea"/>
                <a:cs typeface="+mn-cs"/>
              </a:rPr>
              <a:t>It supports </a:t>
            </a:r>
            <a:r>
              <a:rPr lang="en-US" sz="1200" b="1" i="0" kern="1200" dirty="0">
                <a:solidFill>
                  <a:schemeClr val="tx1"/>
                </a:solidFill>
                <a:effectLst/>
                <a:latin typeface="+mn-lt"/>
                <a:ea typeface="+mn-ea"/>
                <a:cs typeface="+mn-cs"/>
              </a:rPr>
              <a:t>fine-grained RBAC</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activity logging</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tagging</a:t>
            </a:r>
            <a:r>
              <a:rPr lang="en-US" sz="1200" b="0" i="0" kern="1200" dirty="0">
                <a:solidFill>
                  <a:schemeClr val="tx1"/>
                </a:solidFill>
                <a:effectLst/>
                <a:latin typeface="+mn-lt"/>
                <a:ea typeface="+mn-ea"/>
                <a:cs typeface="+mn-cs"/>
              </a:rPr>
              <a:t>, enabling enterprise-grade governance and automation.</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Resource Groups and Lifecycle (Red Box)</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All resources in Azure are deployed into </a:t>
            </a:r>
            <a:r>
              <a:rPr lang="en-US" sz="1200" b="1" i="0" kern="1200" dirty="0">
                <a:solidFill>
                  <a:schemeClr val="tx1"/>
                </a:solidFill>
                <a:effectLst/>
                <a:latin typeface="+mn-lt"/>
                <a:ea typeface="+mn-ea"/>
                <a:cs typeface="+mn-cs"/>
              </a:rPr>
              <a:t>resource groups</a:t>
            </a:r>
            <a:r>
              <a:rPr lang="en-US" sz="1200" b="0" i="0" kern="1200" dirty="0">
                <a:solidFill>
                  <a:schemeClr val="tx1"/>
                </a:solidFill>
                <a:effectLst/>
                <a:latin typeface="+mn-lt"/>
                <a:ea typeface="+mn-ea"/>
                <a:cs typeface="+mn-cs"/>
              </a:rPr>
              <a:t>, which act as logical containers.</a:t>
            </a:r>
          </a:p>
          <a:p>
            <a:r>
              <a:rPr lang="en-US" sz="1200" b="0" i="0" kern="1200" dirty="0">
                <a:solidFill>
                  <a:schemeClr val="tx1"/>
                </a:solidFill>
                <a:effectLst/>
                <a:latin typeface="+mn-lt"/>
                <a:ea typeface="+mn-ea"/>
                <a:cs typeface="+mn-cs"/>
              </a:rPr>
              <a:t>Resources in a group share a </a:t>
            </a:r>
            <a:r>
              <a:rPr lang="en-US" sz="1200" b="1" i="0" kern="1200" dirty="0">
                <a:solidFill>
                  <a:schemeClr val="tx1"/>
                </a:solidFill>
                <a:effectLst/>
                <a:latin typeface="+mn-lt"/>
                <a:ea typeface="+mn-ea"/>
                <a:cs typeface="+mn-cs"/>
              </a:rPr>
              <a:t>common lifecycle</a:t>
            </a:r>
            <a:r>
              <a:rPr lang="en-US" sz="1200" b="0" i="0" kern="1200" dirty="0">
                <a:solidFill>
                  <a:schemeClr val="tx1"/>
                </a:solidFill>
                <a:effectLst/>
                <a:latin typeface="+mn-lt"/>
                <a:ea typeface="+mn-ea"/>
                <a:cs typeface="+mn-cs"/>
              </a:rPr>
              <a:t>—you can deploy, update, or delete them together.</a:t>
            </a:r>
          </a:p>
          <a:p>
            <a:r>
              <a:rPr lang="en-US" sz="1200" b="0" i="0" kern="1200" dirty="0">
                <a:solidFill>
                  <a:schemeClr val="tx1"/>
                </a:solidFill>
                <a:effectLst/>
                <a:latin typeface="+mn-lt"/>
                <a:ea typeface="+mn-ea"/>
                <a:cs typeface="+mn-cs"/>
              </a:rPr>
              <a:t>This grouping also supports </a:t>
            </a:r>
            <a:r>
              <a:rPr lang="en-US" sz="1200" b="1" i="0" kern="1200" dirty="0">
                <a:solidFill>
                  <a:schemeClr val="tx1"/>
                </a:solidFill>
                <a:effectLst/>
                <a:latin typeface="+mn-lt"/>
                <a:ea typeface="+mn-ea"/>
                <a:cs typeface="+mn-cs"/>
              </a:rPr>
              <a:t>cost management</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access control</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monitoring</a:t>
            </a:r>
            <a:r>
              <a:rPr lang="en-US" sz="1200" b="0" i="0" kern="1200" dirty="0">
                <a:solidFill>
                  <a:schemeClr val="tx1"/>
                </a:solidFill>
                <a:effectLst/>
                <a:latin typeface="+mn-lt"/>
                <a:ea typeface="+mn-ea"/>
                <a:cs typeface="+mn-cs"/>
              </a:rPr>
              <a:t> at a granular level.</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Cloud Services and IaaS/PaaS (Orange Box)</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Traditional </a:t>
            </a:r>
            <a:r>
              <a:rPr lang="en-US" sz="1200" b="1" i="0" kern="1200" dirty="0">
                <a:solidFill>
                  <a:schemeClr val="tx1"/>
                </a:solidFill>
                <a:effectLst/>
                <a:latin typeface="+mn-lt"/>
                <a:ea typeface="+mn-ea"/>
                <a:cs typeface="+mn-cs"/>
              </a:rPr>
              <a:t>Cloud Services (classic)</a:t>
            </a:r>
            <a:r>
              <a:rPr lang="en-US" sz="1200" b="0" i="0" kern="1200" dirty="0">
                <a:solidFill>
                  <a:schemeClr val="tx1"/>
                </a:solidFill>
                <a:effectLst/>
                <a:latin typeface="+mn-lt"/>
                <a:ea typeface="+mn-ea"/>
                <a:cs typeface="+mn-cs"/>
              </a:rPr>
              <a:t> are no longer used for IaaS deployments.</a:t>
            </a:r>
          </a:p>
          <a:p>
            <a:r>
              <a:rPr lang="en-US" sz="1200" b="0" i="0" kern="1200" dirty="0">
                <a:solidFill>
                  <a:schemeClr val="tx1"/>
                </a:solidFill>
                <a:effectLst/>
                <a:latin typeface="+mn-lt"/>
                <a:ea typeface="+mn-ea"/>
                <a:cs typeface="+mn-cs"/>
              </a:rPr>
              <a:t>However, they are still relevant for some </a:t>
            </a:r>
            <a:r>
              <a:rPr lang="en-US" sz="1200" b="1" i="0" kern="1200" dirty="0">
                <a:solidFill>
                  <a:schemeClr val="tx1"/>
                </a:solidFill>
                <a:effectLst/>
                <a:latin typeface="+mn-lt"/>
                <a:ea typeface="+mn-ea"/>
                <a:cs typeface="+mn-cs"/>
              </a:rPr>
              <a:t>PaaS workloads</a:t>
            </a:r>
            <a:r>
              <a:rPr lang="en-US" sz="1200" b="0" i="0" kern="1200" dirty="0">
                <a:solidFill>
                  <a:schemeClr val="tx1"/>
                </a:solidFill>
                <a:effectLst/>
                <a:latin typeface="+mn-lt"/>
                <a:ea typeface="+mn-ea"/>
                <a:cs typeface="+mn-cs"/>
              </a:rPr>
              <a:t>, especially legacy applications.</a:t>
            </a:r>
          </a:p>
          <a:p>
            <a:r>
              <a:rPr lang="en-US" sz="1200" b="0" i="0" kern="1200" dirty="0">
                <a:solidFill>
                  <a:schemeClr val="tx1"/>
                </a:solidFill>
                <a:effectLst/>
                <a:latin typeface="+mn-lt"/>
                <a:ea typeface="+mn-ea"/>
                <a:cs typeface="+mn-cs"/>
              </a:rPr>
              <a:t>Modern PaaS solutions like </a:t>
            </a:r>
            <a:r>
              <a:rPr lang="en-US" sz="1200" b="1" i="0" kern="1200" dirty="0">
                <a:solidFill>
                  <a:schemeClr val="tx1"/>
                </a:solidFill>
                <a:effectLst/>
                <a:latin typeface="+mn-lt"/>
                <a:ea typeface="+mn-ea"/>
                <a:cs typeface="+mn-cs"/>
              </a:rPr>
              <a:t>App Service</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AKS</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Azure Functions</a:t>
            </a:r>
            <a:r>
              <a:rPr lang="en-US" sz="1200" b="0" i="0" kern="1200" dirty="0">
                <a:solidFill>
                  <a:schemeClr val="tx1"/>
                </a:solidFill>
                <a:effectLst/>
                <a:latin typeface="+mn-lt"/>
                <a:ea typeface="+mn-ea"/>
                <a:cs typeface="+mn-cs"/>
              </a:rPr>
              <a:t> are fully ARM-integrated.</a:t>
            </a:r>
          </a:p>
          <a:p>
            <a:endParaRPr lang="en-US" sz="1200" b="1"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Declarative, Idempotent Deployments (Green Box)</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ARM templates are </a:t>
            </a:r>
            <a:r>
              <a:rPr lang="en-US" sz="1200" b="1" i="0" kern="1200" dirty="0">
                <a:solidFill>
                  <a:schemeClr val="tx1"/>
                </a:solidFill>
                <a:effectLst/>
                <a:latin typeface="+mn-lt"/>
                <a:ea typeface="+mn-ea"/>
                <a:cs typeface="+mn-cs"/>
              </a:rPr>
              <a:t>declarative</a:t>
            </a:r>
            <a:r>
              <a:rPr lang="en-US" sz="1200" b="0" i="0" kern="1200" dirty="0">
                <a:solidFill>
                  <a:schemeClr val="tx1"/>
                </a:solidFill>
                <a:effectLst/>
                <a:latin typeface="+mn-lt"/>
                <a:ea typeface="+mn-ea"/>
                <a:cs typeface="+mn-cs"/>
              </a:rPr>
              <a:t>: you define </a:t>
            </a:r>
            <a:r>
              <a:rPr lang="en-US" sz="1200" b="0" i="1" kern="1200" dirty="0">
                <a:solidFill>
                  <a:schemeClr val="tx1"/>
                </a:solidFill>
                <a:effectLst/>
                <a:latin typeface="+mn-lt"/>
                <a:ea typeface="+mn-ea"/>
                <a:cs typeface="+mn-cs"/>
              </a:rPr>
              <a:t>what</a:t>
            </a:r>
            <a:r>
              <a:rPr lang="en-US" sz="1200" b="0" i="0" kern="1200" dirty="0">
                <a:solidFill>
                  <a:schemeClr val="tx1"/>
                </a:solidFill>
                <a:effectLst/>
                <a:latin typeface="+mn-lt"/>
                <a:ea typeface="+mn-ea"/>
                <a:cs typeface="+mn-cs"/>
              </a:rPr>
              <a:t> you want, not </a:t>
            </a:r>
            <a:r>
              <a:rPr lang="en-US" sz="1200" b="0" i="1" kern="1200" dirty="0">
                <a:solidFill>
                  <a:schemeClr val="tx1"/>
                </a:solidFill>
                <a:effectLst/>
                <a:latin typeface="+mn-lt"/>
                <a:ea typeface="+mn-ea"/>
                <a:cs typeface="+mn-cs"/>
              </a:rPr>
              <a:t>how</a:t>
            </a:r>
            <a:r>
              <a:rPr lang="en-US" sz="1200" b="0" i="0" kern="1200" dirty="0">
                <a:solidFill>
                  <a:schemeClr val="tx1"/>
                </a:solidFill>
                <a:effectLst/>
                <a:latin typeface="+mn-lt"/>
                <a:ea typeface="+mn-ea"/>
                <a:cs typeface="+mn-cs"/>
              </a:rPr>
              <a:t> to create it.</a:t>
            </a:r>
          </a:p>
          <a:p>
            <a:r>
              <a:rPr lang="en-US" sz="1200" b="0" i="0" kern="1200" dirty="0">
                <a:solidFill>
                  <a:schemeClr val="tx1"/>
                </a:solidFill>
                <a:effectLst/>
                <a:latin typeface="+mn-lt"/>
                <a:ea typeface="+mn-ea"/>
                <a:cs typeface="+mn-cs"/>
              </a:rPr>
              <a:t>They are </a:t>
            </a:r>
            <a:r>
              <a:rPr lang="en-US" sz="1200" b="1" i="0" kern="1200" dirty="0">
                <a:solidFill>
                  <a:schemeClr val="tx1"/>
                </a:solidFill>
                <a:effectLst/>
                <a:latin typeface="+mn-lt"/>
                <a:ea typeface="+mn-ea"/>
                <a:cs typeface="+mn-cs"/>
              </a:rPr>
              <a:t>idempotent</a:t>
            </a:r>
            <a:r>
              <a:rPr lang="en-US" sz="1200" b="0" i="0" kern="1200" dirty="0">
                <a:solidFill>
                  <a:schemeClr val="tx1"/>
                </a:solidFill>
                <a:effectLst/>
                <a:latin typeface="+mn-lt"/>
                <a:ea typeface="+mn-ea"/>
                <a:cs typeface="+mn-cs"/>
              </a:rPr>
              <a:t>, meaning repeated deployments yield the same result—ideal for CI/CD pipelines.</a:t>
            </a:r>
          </a:p>
          <a:p>
            <a:r>
              <a:rPr lang="en-US" sz="1200" b="0" i="0" kern="1200" dirty="0">
                <a:solidFill>
                  <a:schemeClr val="tx1"/>
                </a:solidFill>
                <a:effectLst/>
                <a:latin typeface="+mn-lt"/>
                <a:ea typeface="+mn-ea"/>
                <a:cs typeface="+mn-cs"/>
              </a:rPr>
              <a:t>ARM understands </a:t>
            </a:r>
            <a:r>
              <a:rPr lang="en-US" sz="1200" b="1" i="0" kern="1200" dirty="0">
                <a:solidFill>
                  <a:schemeClr val="tx1"/>
                </a:solidFill>
                <a:effectLst/>
                <a:latin typeface="+mn-lt"/>
                <a:ea typeface="+mn-ea"/>
                <a:cs typeface="+mn-cs"/>
              </a:rPr>
              <a:t>resource dependencies</a:t>
            </a:r>
            <a:r>
              <a:rPr lang="en-US" sz="1200" b="0" i="0" kern="1200" dirty="0">
                <a:solidFill>
                  <a:schemeClr val="tx1"/>
                </a:solidFill>
                <a:effectLst/>
                <a:latin typeface="+mn-lt"/>
                <a:ea typeface="+mn-ea"/>
                <a:cs typeface="+mn-cs"/>
              </a:rPr>
              <a:t>, ensuring resources are created in the correct order.</a:t>
            </a:r>
          </a:p>
          <a:p>
            <a:r>
              <a:rPr lang="en-US" sz="1200" b="0" i="0" kern="1200" dirty="0">
                <a:solidFill>
                  <a:schemeClr val="tx1"/>
                </a:solidFill>
                <a:effectLst/>
                <a:latin typeface="+mn-lt"/>
                <a:ea typeface="+mn-ea"/>
                <a:cs typeface="+mn-cs"/>
              </a:rPr>
              <a:t>This enables </a:t>
            </a:r>
            <a:r>
              <a:rPr lang="en-US" sz="1200" b="1" i="0" kern="1200" dirty="0">
                <a:solidFill>
                  <a:schemeClr val="tx1"/>
                </a:solidFill>
                <a:effectLst/>
                <a:latin typeface="+mn-lt"/>
                <a:ea typeface="+mn-ea"/>
                <a:cs typeface="+mn-cs"/>
              </a:rPr>
              <a:t>repeatable, consistent, and automated infrastructure deployments</a:t>
            </a:r>
            <a:r>
              <a:rPr lang="en-US" sz="1200" b="0" i="0" kern="1200" dirty="0">
                <a:solidFill>
                  <a:schemeClr val="tx1"/>
                </a:solidFill>
                <a:effectLst/>
                <a:latin typeface="+mn-lt"/>
                <a:ea typeface="+mn-ea"/>
                <a:cs typeface="+mn-cs"/>
              </a:rPr>
              <a:t> across environments.</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Tip:</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ARM templates can be authored in </a:t>
            </a:r>
            <a:r>
              <a:rPr lang="en-US" sz="1200" b="1" i="0" kern="1200" dirty="0">
                <a:solidFill>
                  <a:schemeClr val="tx1"/>
                </a:solidFill>
                <a:effectLst/>
                <a:latin typeface="+mn-lt"/>
                <a:ea typeface="+mn-ea"/>
                <a:cs typeface="+mn-cs"/>
              </a:rPr>
              <a:t>Bicep</a:t>
            </a:r>
            <a:r>
              <a:rPr lang="en-US" sz="1200" b="0" i="0" kern="1200" dirty="0">
                <a:solidFill>
                  <a:schemeClr val="tx1"/>
                </a:solidFill>
                <a:effectLst/>
                <a:latin typeface="+mn-lt"/>
                <a:ea typeface="+mn-ea"/>
                <a:cs typeface="+mn-cs"/>
              </a:rPr>
              <a:t>, a domain-specific language that simplifies JSON syntax while compiling down to ARM templates.</a:t>
            </a:r>
          </a:p>
          <a:p>
            <a:r>
              <a:rPr lang="en-US" sz="1200" b="0" i="0" kern="1200" dirty="0">
                <a:solidFill>
                  <a:schemeClr val="tx1"/>
                </a:solidFill>
                <a:effectLst/>
                <a:latin typeface="+mn-lt"/>
                <a:ea typeface="+mn-ea"/>
                <a:cs typeface="+mn-cs"/>
              </a:rPr>
              <a:t>Bicep improves readability, modularity, and reusability—making it the preferred choice for infrastructure-as-code in Azure.</a:t>
            </a:r>
          </a:p>
          <a:p>
            <a:endParaRPr lang="en-US" dirty="0"/>
          </a:p>
        </p:txBody>
      </p:sp>
      <p:sp>
        <p:nvSpPr>
          <p:cNvPr id="4" name="Slide Number Placeholder 3"/>
          <p:cNvSpPr>
            <a:spLocks noGrp="1"/>
          </p:cNvSpPr>
          <p:nvPr>
            <p:ph type="sldNum" sz="quarter" idx="5"/>
          </p:nvPr>
        </p:nvSpPr>
        <p:spPr/>
        <p:txBody>
          <a:bodyPr/>
          <a:lstStyle/>
          <a:p>
            <a:fld id="{DAC03921-7077-42B0-8C81-48C0A93EA22E}" type="slidenum">
              <a:rPr lang="en-US" smtClean="0"/>
              <a:t>5</a:t>
            </a:fld>
            <a:endParaRPr lang="en-US"/>
          </a:p>
        </p:txBody>
      </p:sp>
    </p:spTree>
    <p:extLst>
      <p:ext uri="{BB962C8B-B14F-4D97-AF65-F5344CB8AC3E}">
        <p14:creationId xmlns:p14="http://schemas.microsoft.com/office/powerpoint/2010/main" val="3203877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Let’s look at three additional capabilities that enhance scalability, organization, and usability.</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Massive Parallelism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ARM supports parallel deployment of resources, significantly reducing provisioning time for complex environments.</a:t>
            </a:r>
          </a:p>
          <a:p>
            <a:r>
              <a:rPr lang="en-US" sz="1200" b="0" i="0" kern="1200" dirty="0">
                <a:solidFill>
                  <a:schemeClr val="tx1"/>
                </a:solidFill>
                <a:effectLst/>
                <a:latin typeface="+mn-lt"/>
                <a:ea typeface="+mn-ea"/>
                <a:cs typeface="+mn-cs"/>
              </a:rPr>
              <a:t>When dependencies are clearly defined in templates (or Bicep), ARM can deploy multiple resources simultaneously.</a:t>
            </a:r>
          </a:p>
          <a:p>
            <a:r>
              <a:rPr lang="en-US" sz="1200" b="0" i="0" kern="1200" dirty="0">
                <a:solidFill>
                  <a:schemeClr val="tx1"/>
                </a:solidFill>
                <a:effectLst/>
                <a:latin typeface="+mn-lt"/>
                <a:ea typeface="+mn-ea"/>
                <a:cs typeface="+mn-cs"/>
              </a:rPr>
              <a:t>This is especially powerful in CI/CD pipelines and large-scale infrastructure rollouts, where speed and efficiency are critical.</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Tags for Organization and Billing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Tags are key-value pairs that help you organize, categorize, and manage Azure resources.</a:t>
            </a:r>
          </a:p>
          <a:p>
            <a:r>
              <a:rPr lang="en-US" sz="1200" b="0" i="0" kern="1200" dirty="0">
                <a:solidFill>
                  <a:schemeClr val="tx1"/>
                </a:solidFill>
                <a:effectLst/>
                <a:latin typeface="+mn-lt"/>
                <a:ea typeface="+mn-ea"/>
                <a:cs typeface="+mn-cs"/>
              </a:rPr>
              <a:t>Common tag examples include Environment, Department, </a:t>
            </a:r>
            <a:r>
              <a:rPr lang="en-US" sz="1200" b="0" i="0" kern="1200" dirty="0" err="1">
                <a:solidFill>
                  <a:schemeClr val="tx1"/>
                </a:solidFill>
                <a:effectLst/>
                <a:latin typeface="+mn-lt"/>
                <a:ea typeface="+mn-ea"/>
                <a:cs typeface="+mn-cs"/>
              </a:rPr>
              <a:t>CostCenter</a:t>
            </a:r>
            <a:r>
              <a:rPr lang="en-US" sz="1200" b="0" i="0" kern="1200" dirty="0">
                <a:solidFill>
                  <a:schemeClr val="tx1"/>
                </a:solidFill>
                <a:effectLst/>
                <a:latin typeface="+mn-lt"/>
                <a:ea typeface="+mn-ea"/>
                <a:cs typeface="+mn-cs"/>
              </a:rPr>
              <a:t>, and Project.</a:t>
            </a:r>
          </a:p>
          <a:p>
            <a:r>
              <a:rPr lang="en-US" sz="1200" b="0" i="0" kern="1200" dirty="0">
                <a:solidFill>
                  <a:schemeClr val="tx1"/>
                </a:solidFill>
                <a:effectLst/>
                <a:latin typeface="+mn-lt"/>
                <a:ea typeface="+mn-ea"/>
                <a:cs typeface="+mn-cs"/>
              </a:rPr>
              <a:t>Tags are not just for organization—they are also visible in Azure Cost Management and billing reports, enabling chargeback and </a:t>
            </a:r>
            <a:r>
              <a:rPr lang="en-US" sz="1200" b="0" i="0" kern="1200" dirty="0" err="1">
                <a:solidFill>
                  <a:schemeClr val="tx1"/>
                </a:solidFill>
                <a:effectLst/>
                <a:latin typeface="+mn-lt"/>
                <a:ea typeface="+mn-ea"/>
                <a:cs typeface="+mn-cs"/>
              </a:rPr>
              <a:t>showback</a:t>
            </a:r>
            <a:r>
              <a:rPr lang="en-US" sz="1200" b="0" i="0" kern="1200" dirty="0">
                <a:solidFill>
                  <a:schemeClr val="tx1"/>
                </a:solidFill>
                <a:effectLst/>
                <a:latin typeface="+mn-lt"/>
                <a:ea typeface="+mn-ea"/>
                <a:cs typeface="+mn-cs"/>
              </a:rPr>
              <a:t> models for internal cost accountability.</a:t>
            </a:r>
          </a:p>
          <a:p>
            <a:r>
              <a:rPr lang="en-US" sz="1200" b="0" i="0" kern="1200" dirty="0">
                <a:solidFill>
                  <a:schemeClr val="tx1"/>
                </a:solidFill>
                <a:effectLst/>
                <a:latin typeface="+mn-lt"/>
                <a:ea typeface="+mn-ea"/>
                <a:cs typeface="+mn-cs"/>
              </a:rPr>
              <a:t>Azure Policy can enforce tag usage to ensure compliance across your organization.</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PowerShell and Azure Portal Support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ARM is accessible through multiple interfaces:</a:t>
            </a:r>
          </a:p>
          <a:p>
            <a:pPr lvl="1"/>
            <a:r>
              <a:rPr lang="en-US" sz="1200" b="0" i="0" kern="1200" dirty="0">
                <a:solidFill>
                  <a:schemeClr val="tx1"/>
                </a:solidFill>
                <a:effectLst/>
                <a:latin typeface="+mn-lt"/>
                <a:ea typeface="+mn-ea"/>
                <a:cs typeface="+mn-cs"/>
              </a:rPr>
              <a:t>Azure PowerShell: Ideal for scripting and automation.</a:t>
            </a:r>
          </a:p>
          <a:p>
            <a:pPr lvl="1"/>
            <a:r>
              <a:rPr lang="en-US" sz="1200" b="0" i="0" kern="1200" dirty="0">
                <a:solidFill>
                  <a:schemeClr val="tx1"/>
                </a:solidFill>
                <a:effectLst/>
                <a:latin typeface="+mn-lt"/>
                <a:ea typeface="+mn-ea"/>
                <a:cs typeface="+mn-cs"/>
              </a:rPr>
              <a:t>Azure CLI: Lightweight and cross-platform.</a:t>
            </a:r>
          </a:p>
          <a:p>
            <a:pPr lvl="1"/>
            <a:r>
              <a:rPr lang="en-US" sz="1200" b="0" i="0" kern="1200" dirty="0">
                <a:solidFill>
                  <a:schemeClr val="tx1"/>
                </a:solidFill>
                <a:effectLst/>
                <a:latin typeface="+mn-lt"/>
                <a:ea typeface="+mn-ea"/>
                <a:cs typeface="+mn-cs"/>
              </a:rPr>
              <a:t>Azure Portal: A modern, user-friendly interface for managing resources visually.</a:t>
            </a:r>
          </a:p>
          <a:p>
            <a:r>
              <a:rPr lang="en-US" sz="1200" b="0" i="0" kern="1200" dirty="0">
                <a:solidFill>
                  <a:schemeClr val="tx1"/>
                </a:solidFill>
                <a:effectLst/>
                <a:latin typeface="+mn-lt"/>
                <a:ea typeface="+mn-ea"/>
                <a:cs typeface="+mn-cs"/>
              </a:rPr>
              <a:t>All these tools interact with the same ARM API, ensuring consistency and repeatability regardless of the interface used.</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Tip:</a:t>
            </a:r>
          </a:p>
          <a:p>
            <a:r>
              <a:rPr lang="en-US" sz="1200" b="0" i="0" kern="1200" dirty="0">
                <a:solidFill>
                  <a:schemeClr val="tx1"/>
                </a:solidFill>
                <a:effectLst/>
                <a:latin typeface="+mn-lt"/>
                <a:ea typeface="+mn-ea"/>
                <a:cs typeface="+mn-cs"/>
              </a:rPr>
              <a:t>Combine tags with Azure Policy and Management Groups to enforce governance at scale.</a:t>
            </a:r>
          </a:p>
          <a:p>
            <a:r>
              <a:rPr lang="en-US" sz="1200" b="0" i="0" kern="1200" dirty="0">
                <a:solidFill>
                  <a:schemeClr val="tx1"/>
                </a:solidFill>
                <a:effectLst/>
                <a:latin typeface="+mn-lt"/>
                <a:ea typeface="+mn-ea"/>
                <a:cs typeface="+mn-cs"/>
              </a:rPr>
              <a:t>Use ARM templates or Bicep with deployment scripts to automate tagging and parallel resource creation.</a:t>
            </a:r>
          </a:p>
          <a:p>
            <a:br>
              <a:rPr lang="en-US" b="0" dirty="0"/>
            </a:br>
            <a:endParaRPr lang="en-US" b="0" dirty="0"/>
          </a:p>
        </p:txBody>
      </p:sp>
      <p:sp>
        <p:nvSpPr>
          <p:cNvPr id="4" name="Slide Number Placeholder 3"/>
          <p:cNvSpPr>
            <a:spLocks noGrp="1"/>
          </p:cNvSpPr>
          <p:nvPr>
            <p:ph type="sldNum" sz="quarter" idx="5"/>
          </p:nvPr>
        </p:nvSpPr>
        <p:spPr/>
        <p:txBody>
          <a:bodyPr/>
          <a:lstStyle/>
          <a:p>
            <a:fld id="{DAC03921-7077-42B0-8C81-48C0A93EA22E}" type="slidenum">
              <a:rPr lang="en-US" smtClean="0"/>
              <a:t>6</a:t>
            </a:fld>
            <a:endParaRPr lang="en-US"/>
          </a:p>
        </p:txBody>
      </p:sp>
    </p:spTree>
    <p:extLst>
      <p:ext uri="{BB962C8B-B14F-4D97-AF65-F5344CB8AC3E}">
        <p14:creationId xmlns:p14="http://schemas.microsoft.com/office/powerpoint/2010/main" val="36256966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Every Azure Resource Manager (ARM) resource must belong to exactly one resource group. Whether it's a VM, database, storage account, or function app—each resource sits in one dedicated container known as a resource group.</a:t>
            </a:r>
          </a:p>
          <a:p>
            <a:endParaRPr lang="en-US" b="0" dirty="0"/>
          </a:p>
          <a:p>
            <a:r>
              <a:rPr lang="en-US" b="0" dirty="0"/>
              <a:t>You do assign a location when creating a resource group, but that location only determines where its metadata is stored—not the location of its resources. </a:t>
            </a:r>
          </a:p>
          <a:p>
            <a:endParaRPr lang="en-US" b="0" dirty="0"/>
          </a:p>
          <a:p>
            <a:r>
              <a:rPr lang="en-US" b="0" dirty="0"/>
              <a:t>In fact:</a:t>
            </a:r>
          </a:p>
          <a:p>
            <a:endParaRPr lang="en-US" b="0" dirty="0"/>
          </a:p>
          <a:p>
            <a:r>
              <a:rPr lang="en-US" b="0" dirty="0"/>
              <a:t>The group’s location affects where control-plane operations are routed.</a:t>
            </a:r>
          </a:p>
          <a:p>
            <a:endParaRPr lang="en-US" b="0" dirty="0"/>
          </a:p>
          <a:p>
            <a:r>
              <a:rPr lang="en-US" b="0" dirty="0"/>
              <a:t>You can include resources from multiple Azure regions within the same resource group.</a:t>
            </a:r>
          </a:p>
          <a:p>
            <a:endParaRPr lang="en-US" b="0" dirty="0"/>
          </a:p>
          <a:p>
            <a:r>
              <a:rPr lang="en-US" b="0" dirty="0"/>
              <a:t>Be aware, though: if the region hosting the resource group goes offline, you won’t be able to manage or update the group (even though the actual resources continue to run).</a:t>
            </a:r>
          </a:p>
          <a:p>
            <a:endParaRPr lang="en-US" b="0" dirty="0"/>
          </a:p>
          <a:p>
            <a:r>
              <a:rPr lang="en-US" b="0" dirty="0"/>
              <a:t>Lastly—and this is often overlooked—you can move resources between resource groups within the same subscription (or even across subscriptions if they share the same Microsoft Entra tenant). The resource’s physical region does not change unless you invoke a region move scenario.</a:t>
            </a:r>
          </a:p>
        </p:txBody>
      </p:sp>
      <p:sp>
        <p:nvSpPr>
          <p:cNvPr id="4" name="Slide Number Placeholder 3"/>
          <p:cNvSpPr>
            <a:spLocks noGrp="1"/>
          </p:cNvSpPr>
          <p:nvPr>
            <p:ph type="sldNum" sz="quarter" idx="5"/>
          </p:nvPr>
        </p:nvSpPr>
        <p:spPr/>
        <p:txBody>
          <a:bodyPr/>
          <a:lstStyle/>
          <a:p>
            <a:fld id="{DAC03921-7077-42B0-8C81-48C0A93EA22E}" type="slidenum">
              <a:rPr lang="en-US" smtClean="0"/>
              <a:t>7</a:t>
            </a:fld>
            <a:endParaRPr lang="en-US"/>
          </a:p>
        </p:txBody>
      </p:sp>
    </p:spTree>
    <p:extLst>
      <p:ext uri="{BB962C8B-B14F-4D97-AF65-F5344CB8AC3E}">
        <p14:creationId xmlns:p14="http://schemas.microsoft.com/office/powerpoint/2010/main" val="1047346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Shared lifecycle within a group</a:t>
            </a:r>
          </a:p>
          <a:p>
            <a:br>
              <a:rPr lang="en-US" dirty="0"/>
            </a:br>
            <a:r>
              <a:rPr lang="en-US" dirty="0"/>
              <a:t>All resources in a resource group typically share the same deployment, update, and deletion cycle. You manage them as a unit—deploy together, update together, delete together. If one resource has a different lifecycle, consider placing it in a separate group.</a:t>
            </a:r>
          </a:p>
          <a:p>
            <a:endParaRPr lang="en-US" dirty="0"/>
          </a:p>
          <a:p>
            <a:r>
              <a:rPr lang="en-US" b="1" dirty="0"/>
              <a:t>Heterogeneous or homogeneous composition</a:t>
            </a:r>
          </a:p>
          <a:p>
            <a:br>
              <a:rPr lang="en-US" dirty="0"/>
            </a:br>
            <a:r>
              <a:rPr lang="en-US" dirty="0"/>
              <a:t>A resource group can be </a:t>
            </a:r>
            <a:r>
              <a:rPr lang="en-US" b="1" dirty="0"/>
              <a:t>homogeneous</a:t>
            </a:r>
            <a:r>
              <a:rPr lang="en-US" dirty="0"/>
              <a:t> (all resources related to a single app or environment) or </a:t>
            </a:r>
            <a:r>
              <a:rPr lang="en-US" b="1" dirty="0"/>
              <a:t>heterogeneous</a:t>
            </a:r>
            <a:r>
              <a:rPr lang="en-US" dirty="0"/>
              <a:t> (resources serving different apps or roles). The key is lifecycle alignment, not similarity of resource types.</a:t>
            </a:r>
          </a:p>
          <a:p>
            <a:endParaRPr lang="en-US" dirty="0"/>
          </a:p>
          <a:p>
            <a:r>
              <a:rPr lang="en-US" b="1" dirty="0"/>
              <a:t>Region-agnostic content</a:t>
            </a:r>
          </a:p>
          <a:p>
            <a:br>
              <a:rPr lang="en-US" dirty="0"/>
            </a:br>
            <a:r>
              <a:rPr lang="en-US" dirty="0"/>
              <a:t>While you assign a region when creating the group, this location only stores metadata—it doesn't restrict where resources reside. You can mix resources from different Azure regions under one group .</a:t>
            </a:r>
          </a:p>
          <a:p>
            <a:endParaRPr lang="en-US" b="1" dirty="0"/>
          </a:p>
          <a:p>
            <a:r>
              <a:rPr lang="en-US" b="1" dirty="0"/>
              <a:t>Resource mobility</a:t>
            </a:r>
            <a:br>
              <a:rPr lang="en-US" dirty="0"/>
            </a:br>
            <a:endParaRPr lang="en-US" dirty="0"/>
          </a:p>
          <a:p>
            <a:r>
              <a:rPr lang="en-US" dirty="0"/>
              <a:t>You can </a:t>
            </a:r>
            <a:r>
              <a:rPr lang="en-US" b="1" dirty="0"/>
              <a:t>move resources between resource groups</a:t>
            </a:r>
            <a:r>
              <a:rPr lang="en-US" dirty="0"/>
              <a:t> (and even subscriptions within the same tenant) without affecting their deployed region—although some services might briefly go offline during the move.</a:t>
            </a:r>
          </a:p>
          <a:p>
            <a:endParaRPr lang="en-US" dirty="0"/>
          </a:p>
          <a:p>
            <a:r>
              <a:rPr lang="en-US" b="1" dirty="0"/>
              <a:t>Access boundaries</a:t>
            </a:r>
          </a:p>
          <a:p>
            <a:br>
              <a:rPr lang="en-US" dirty="0"/>
            </a:br>
            <a:r>
              <a:rPr lang="en-US" dirty="0"/>
              <a:t>Resource groups are </a:t>
            </a:r>
            <a:r>
              <a:rPr lang="en-US" b="1" dirty="0"/>
              <a:t>not an absolute security boundary</a:t>
            </a:r>
            <a:r>
              <a:rPr lang="en-US" dirty="0"/>
              <a:t>. Although you manage RBAC roles at the group level, users granted access to a resource group can see and manage all resources inside it—but they </a:t>
            </a:r>
            <a:r>
              <a:rPr lang="en-US" b="1" dirty="0"/>
              <a:t>do not see resources in other groups</a:t>
            </a:r>
            <a:r>
              <a:rPr lang="en-US" dirty="0"/>
              <a:t>, even in the same subscription, unless granted access .</a:t>
            </a:r>
          </a:p>
          <a:p>
            <a:endParaRPr lang="en-US" dirty="0"/>
          </a:p>
        </p:txBody>
      </p:sp>
      <p:sp>
        <p:nvSpPr>
          <p:cNvPr id="4" name="Slide Number Placeholder 3"/>
          <p:cNvSpPr>
            <a:spLocks noGrp="1"/>
          </p:cNvSpPr>
          <p:nvPr>
            <p:ph type="sldNum" sz="quarter" idx="5"/>
          </p:nvPr>
        </p:nvSpPr>
        <p:spPr/>
        <p:txBody>
          <a:bodyPr/>
          <a:lstStyle/>
          <a:p>
            <a:fld id="{DAC03921-7077-42B0-8C81-48C0A93EA22E}" type="slidenum">
              <a:rPr lang="en-US" smtClean="0"/>
              <a:t>8</a:t>
            </a:fld>
            <a:endParaRPr lang="en-US"/>
          </a:p>
        </p:txBody>
      </p:sp>
    </p:spTree>
    <p:extLst>
      <p:ext uri="{BB962C8B-B14F-4D97-AF65-F5344CB8AC3E}">
        <p14:creationId xmlns:p14="http://schemas.microsoft.com/office/powerpoint/2010/main" val="175374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provides a high-level overview of the </a:t>
            </a:r>
            <a:r>
              <a:rPr lang="en-US" sz="1200" b="1" i="0" kern="1200" dirty="0">
                <a:solidFill>
                  <a:schemeClr val="tx1"/>
                </a:solidFill>
                <a:effectLst/>
                <a:latin typeface="+mn-lt"/>
                <a:ea typeface="+mn-ea"/>
                <a:cs typeface="+mn-cs"/>
              </a:rPr>
              <a:t>Azure Resource Manager (ARM) architecture</a:t>
            </a:r>
            <a:r>
              <a:rPr lang="en-US" sz="1200" b="0" i="0" kern="1200" dirty="0">
                <a:solidFill>
                  <a:schemeClr val="tx1"/>
                </a:solidFill>
                <a:effectLst/>
                <a:latin typeface="+mn-lt"/>
                <a:ea typeface="+mn-ea"/>
                <a:cs typeface="+mn-cs"/>
              </a:rPr>
              <a:t>, which is the unified deployment and management layer for all Azure services.</a:t>
            </a:r>
          </a:p>
          <a:p>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PaaS and IaaS Workloads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At the top, we see two categories of workloads:</a:t>
            </a:r>
          </a:p>
          <a:p>
            <a:pPr lvl="1"/>
            <a:r>
              <a:rPr lang="en-US" sz="1200" b="1" i="0" kern="1200" dirty="0">
                <a:solidFill>
                  <a:schemeClr val="tx1"/>
                </a:solidFill>
                <a:effectLst/>
                <a:latin typeface="+mn-lt"/>
                <a:ea typeface="+mn-ea"/>
                <a:cs typeface="+mn-cs"/>
              </a:rPr>
              <a:t>PaaS Workloads</a:t>
            </a:r>
            <a:r>
              <a:rPr lang="en-US" sz="1200" b="0" i="0" kern="1200" dirty="0">
                <a:solidFill>
                  <a:schemeClr val="tx1"/>
                </a:solidFill>
                <a:effectLst/>
                <a:latin typeface="+mn-lt"/>
                <a:ea typeface="+mn-ea"/>
                <a:cs typeface="+mn-cs"/>
              </a:rPr>
              <a:t>: These include services like </a:t>
            </a:r>
            <a:r>
              <a:rPr lang="en-US" sz="1200" b="1" i="0" kern="1200" dirty="0">
                <a:solidFill>
                  <a:schemeClr val="tx1"/>
                </a:solidFill>
                <a:effectLst/>
                <a:latin typeface="+mn-lt"/>
                <a:ea typeface="+mn-ea"/>
                <a:cs typeface="+mn-cs"/>
              </a:rPr>
              <a:t>App Services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Azure SQL Database</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Storage Accounts</a:t>
            </a:r>
            <a:r>
              <a:rPr lang="en-US" sz="1200" b="0" i="0" kern="1200" dirty="0">
                <a:solidFill>
                  <a:schemeClr val="tx1"/>
                </a:solidFill>
                <a:effectLst/>
                <a:latin typeface="+mn-lt"/>
                <a:ea typeface="+mn-ea"/>
                <a:cs typeface="+mn-cs"/>
              </a:rPr>
              <a:t>. These are fully managed by Azure and abstract away infrastructure concerns.</a:t>
            </a:r>
          </a:p>
          <a:p>
            <a:pPr lvl="1"/>
            <a:r>
              <a:rPr lang="en-US" sz="1200" b="1" i="0" kern="1200" dirty="0">
                <a:solidFill>
                  <a:schemeClr val="tx1"/>
                </a:solidFill>
                <a:effectLst/>
                <a:latin typeface="+mn-lt"/>
                <a:ea typeface="+mn-ea"/>
                <a:cs typeface="+mn-cs"/>
              </a:rPr>
              <a:t>IaaS Workloads</a:t>
            </a:r>
            <a:r>
              <a:rPr lang="en-US" sz="1200" b="0" i="0" kern="1200" dirty="0">
                <a:solidFill>
                  <a:schemeClr val="tx1"/>
                </a:solidFill>
                <a:effectLst/>
                <a:latin typeface="+mn-lt"/>
                <a:ea typeface="+mn-ea"/>
                <a:cs typeface="+mn-cs"/>
              </a:rPr>
              <a:t>: These include </a:t>
            </a:r>
            <a:r>
              <a:rPr lang="en-US" sz="1200" b="1" i="0" kern="1200" dirty="0">
                <a:solidFill>
                  <a:schemeClr val="tx1"/>
                </a:solidFill>
                <a:effectLst/>
                <a:latin typeface="+mn-lt"/>
                <a:ea typeface="+mn-ea"/>
                <a:cs typeface="+mn-cs"/>
              </a:rPr>
              <a:t>Virtual Machines</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Virtual Networks</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Load Balancers</a:t>
            </a:r>
            <a:r>
              <a:rPr lang="en-US" sz="1200" b="0" i="0" kern="1200" dirty="0">
                <a:solidFill>
                  <a:schemeClr val="tx1"/>
                </a:solidFill>
                <a:effectLst/>
                <a:latin typeface="+mn-lt"/>
                <a:ea typeface="+mn-ea"/>
                <a:cs typeface="+mn-cs"/>
              </a:rPr>
              <a:t>. These offer more control and are ideal for lift-and-shift or custom infrastructure scenarios.</a:t>
            </a:r>
          </a:p>
          <a:p>
            <a:endParaRPr lang="en-US" dirty="0"/>
          </a:p>
          <a:p>
            <a:r>
              <a:rPr lang="en-CA" sz="1200" b="1" i="0" kern="1200" dirty="0">
                <a:solidFill>
                  <a:schemeClr val="tx1"/>
                </a:solidFill>
                <a:effectLst/>
                <a:latin typeface="+mn-lt"/>
                <a:ea typeface="+mn-ea"/>
                <a:cs typeface="+mn-cs"/>
              </a:rPr>
              <a:t>ARM Resource Providers</a:t>
            </a:r>
          </a:p>
          <a:p>
            <a:endParaRPr lang="en-CA" sz="1200" b="0" i="0" kern="1200" dirty="0">
              <a:solidFill>
                <a:schemeClr val="tx1"/>
              </a:solidFill>
              <a:effectLst/>
              <a:latin typeface="+mn-lt"/>
              <a:ea typeface="+mn-ea"/>
              <a:cs typeface="+mn-cs"/>
            </a:endParaRPr>
          </a:p>
          <a:p>
            <a:r>
              <a:rPr lang="en-CA" sz="1200" b="0" i="0" kern="1200" dirty="0">
                <a:solidFill>
                  <a:schemeClr val="tx1"/>
                </a:solidFill>
                <a:effectLst/>
                <a:latin typeface="+mn-lt"/>
                <a:ea typeface="+mn-ea"/>
                <a:cs typeface="+mn-cs"/>
              </a:rPr>
              <a:t>Each Azure service is managed by a </a:t>
            </a:r>
            <a:r>
              <a:rPr lang="en-CA" sz="1200" b="1" i="0" kern="1200" dirty="0">
                <a:solidFill>
                  <a:schemeClr val="tx1"/>
                </a:solidFill>
                <a:effectLst/>
                <a:latin typeface="+mn-lt"/>
                <a:ea typeface="+mn-ea"/>
                <a:cs typeface="+mn-cs"/>
              </a:rPr>
              <a:t>resource provider</a:t>
            </a:r>
            <a:r>
              <a:rPr lang="en-CA" sz="1200" b="0" i="0" kern="1200" dirty="0">
                <a:solidFill>
                  <a:schemeClr val="tx1"/>
                </a:solidFill>
                <a:effectLst/>
                <a:latin typeface="+mn-lt"/>
                <a:ea typeface="+mn-ea"/>
                <a:cs typeface="+mn-cs"/>
              </a:rPr>
              <a:t> (e.g., </a:t>
            </a:r>
            <a:r>
              <a:rPr lang="en-CA" sz="1200" b="0" i="0" kern="1200" dirty="0" err="1">
                <a:solidFill>
                  <a:schemeClr val="tx1"/>
                </a:solidFill>
                <a:effectLst/>
                <a:latin typeface="+mn-lt"/>
                <a:ea typeface="+mn-ea"/>
                <a:cs typeface="+mn-cs"/>
              </a:rPr>
              <a:t>Microsoft.Compute</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Microsoft.Web</a:t>
            </a:r>
            <a:r>
              <a:rPr lang="en-CA" sz="1200" b="0" i="0" kern="1200" dirty="0">
                <a:solidFill>
                  <a:schemeClr val="tx1"/>
                </a:solidFill>
                <a:effectLst/>
                <a:latin typeface="+mn-lt"/>
                <a:ea typeface="+mn-ea"/>
                <a:cs typeface="+mn-cs"/>
              </a:rPr>
              <a:t>, </a:t>
            </a:r>
            <a:r>
              <a:rPr lang="en-CA" sz="1200" b="0" i="0" kern="1200" dirty="0" err="1">
                <a:solidFill>
                  <a:schemeClr val="tx1"/>
                </a:solidFill>
                <a:effectLst/>
                <a:latin typeface="+mn-lt"/>
                <a:ea typeface="+mn-ea"/>
                <a:cs typeface="+mn-cs"/>
              </a:rPr>
              <a:t>Microsoft.Sql</a:t>
            </a:r>
            <a:r>
              <a:rPr lang="en-CA" sz="1200" b="0" i="0" kern="1200" dirty="0">
                <a:solidFill>
                  <a:schemeClr val="tx1"/>
                </a:solidFill>
                <a:effectLst/>
                <a:latin typeface="+mn-lt"/>
                <a:ea typeface="+mn-ea"/>
                <a:cs typeface="+mn-cs"/>
              </a:rPr>
              <a:t>).</a:t>
            </a:r>
          </a:p>
          <a:p>
            <a:r>
              <a:rPr lang="en-CA" sz="1200" b="0" i="0" kern="1200" dirty="0">
                <a:solidFill>
                  <a:schemeClr val="tx1"/>
                </a:solidFill>
                <a:effectLst/>
                <a:latin typeface="+mn-lt"/>
                <a:ea typeface="+mn-ea"/>
                <a:cs typeface="+mn-cs"/>
              </a:rPr>
              <a:t>These providers expose </a:t>
            </a:r>
            <a:r>
              <a:rPr lang="en-CA" sz="1200" b="1" i="0" kern="1200" dirty="0">
                <a:solidFill>
                  <a:schemeClr val="tx1"/>
                </a:solidFill>
                <a:effectLst/>
                <a:latin typeface="+mn-lt"/>
                <a:ea typeface="+mn-ea"/>
                <a:cs typeface="+mn-cs"/>
              </a:rPr>
              <a:t>resource types</a:t>
            </a:r>
            <a:r>
              <a:rPr lang="en-CA" sz="1200" b="0" i="0" kern="1200" dirty="0">
                <a:solidFill>
                  <a:schemeClr val="tx1"/>
                </a:solidFill>
                <a:effectLst/>
                <a:latin typeface="+mn-lt"/>
                <a:ea typeface="+mn-ea"/>
                <a:cs typeface="+mn-cs"/>
              </a:rPr>
              <a:t> and operations that ARM uses to provision and manage services.</a:t>
            </a:r>
          </a:p>
          <a:p>
            <a:r>
              <a:rPr lang="en-CA" sz="1200" b="0" i="0" kern="1200" dirty="0">
                <a:solidFill>
                  <a:schemeClr val="tx1"/>
                </a:solidFill>
                <a:effectLst/>
                <a:latin typeface="+mn-lt"/>
                <a:ea typeface="+mn-ea"/>
                <a:cs typeface="+mn-cs"/>
              </a:rPr>
              <a:t>For example, </a:t>
            </a:r>
            <a:r>
              <a:rPr lang="en-CA" sz="1200" b="0" i="0" kern="1200" dirty="0" err="1">
                <a:solidFill>
                  <a:schemeClr val="tx1"/>
                </a:solidFill>
                <a:effectLst/>
                <a:latin typeface="+mn-lt"/>
                <a:ea typeface="+mn-ea"/>
                <a:cs typeface="+mn-cs"/>
              </a:rPr>
              <a:t>Microsoft.Compute</a:t>
            </a:r>
            <a:r>
              <a:rPr lang="en-CA" sz="1200" b="0" i="0" kern="1200" dirty="0">
                <a:solidFill>
                  <a:schemeClr val="tx1"/>
                </a:solidFill>
                <a:effectLst/>
                <a:latin typeface="+mn-lt"/>
                <a:ea typeface="+mn-ea"/>
                <a:cs typeface="+mn-cs"/>
              </a:rPr>
              <a:t>/</a:t>
            </a:r>
            <a:r>
              <a:rPr lang="en-CA" sz="1200" b="0" i="0" kern="1200" dirty="0" err="1">
                <a:solidFill>
                  <a:schemeClr val="tx1"/>
                </a:solidFill>
                <a:effectLst/>
                <a:latin typeface="+mn-lt"/>
                <a:ea typeface="+mn-ea"/>
                <a:cs typeface="+mn-cs"/>
              </a:rPr>
              <a:t>virtualMachines</a:t>
            </a:r>
            <a:r>
              <a:rPr lang="en-CA" sz="1200" b="0" i="0" kern="1200" dirty="0">
                <a:solidFill>
                  <a:schemeClr val="tx1"/>
                </a:solidFill>
                <a:effectLst/>
                <a:latin typeface="+mn-lt"/>
                <a:ea typeface="+mn-ea"/>
                <a:cs typeface="+mn-cs"/>
              </a:rPr>
              <a:t> is the resource type for VMs.</a:t>
            </a:r>
          </a:p>
          <a:p>
            <a:endParaRPr lang="en-CA"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Azure Resource Manager (ARM)</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ARM is the </a:t>
            </a:r>
            <a:r>
              <a:rPr lang="en-US" sz="1200" b="1" i="0" kern="1200" dirty="0">
                <a:solidFill>
                  <a:schemeClr val="tx1"/>
                </a:solidFill>
                <a:effectLst/>
                <a:latin typeface="+mn-lt"/>
                <a:ea typeface="+mn-ea"/>
                <a:cs typeface="+mn-cs"/>
              </a:rPr>
              <a:t>central orchestration engine</a:t>
            </a:r>
            <a:r>
              <a:rPr lang="en-US" sz="1200" b="0" i="0" kern="1200" dirty="0">
                <a:solidFill>
                  <a:schemeClr val="tx1"/>
                </a:solidFill>
                <a:effectLst/>
                <a:latin typeface="+mn-lt"/>
                <a:ea typeface="+mn-ea"/>
                <a:cs typeface="+mn-cs"/>
              </a:rPr>
              <a:t> that processes all deployment requests.</a:t>
            </a:r>
          </a:p>
          <a:p>
            <a:r>
              <a:rPr lang="en-US" sz="1200" b="0" i="0" kern="1200" dirty="0">
                <a:solidFill>
                  <a:schemeClr val="tx1"/>
                </a:solidFill>
                <a:effectLst/>
                <a:latin typeface="+mn-lt"/>
                <a:ea typeface="+mn-ea"/>
                <a:cs typeface="+mn-cs"/>
              </a:rPr>
              <a:t>It ensures that resources are deployed in the correct order, respects dependencies, and applies policies and RBAC.</a:t>
            </a:r>
          </a:p>
          <a:p>
            <a:r>
              <a:rPr lang="en-US" sz="1200" b="0" i="0" kern="1200" dirty="0">
                <a:solidFill>
                  <a:schemeClr val="tx1"/>
                </a:solidFill>
                <a:effectLst/>
                <a:latin typeface="+mn-lt"/>
                <a:ea typeface="+mn-ea"/>
                <a:cs typeface="+mn-cs"/>
              </a:rPr>
              <a:t>ARM supports </a:t>
            </a:r>
            <a:r>
              <a:rPr lang="en-US" sz="1200" b="1" i="0" kern="1200" dirty="0">
                <a:solidFill>
                  <a:schemeClr val="tx1"/>
                </a:solidFill>
                <a:effectLst/>
                <a:latin typeface="+mn-lt"/>
                <a:ea typeface="+mn-ea"/>
                <a:cs typeface="+mn-cs"/>
              </a:rPr>
              <a:t>declarative templates</a:t>
            </a:r>
            <a:r>
              <a:rPr lang="en-US" sz="1200" b="0" i="0" kern="1200" dirty="0">
                <a:solidFill>
                  <a:schemeClr val="tx1"/>
                </a:solidFill>
                <a:effectLst/>
                <a:latin typeface="+mn-lt"/>
                <a:ea typeface="+mn-ea"/>
                <a:cs typeface="+mn-cs"/>
              </a:rPr>
              <a:t> (JSON or Bicep), </a:t>
            </a:r>
            <a:r>
              <a:rPr lang="en-US" sz="1200" b="1" i="0" kern="1200" dirty="0">
                <a:solidFill>
                  <a:schemeClr val="tx1"/>
                </a:solidFill>
                <a:effectLst/>
                <a:latin typeface="+mn-lt"/>
                <a:ea typeface="+mn-ea"/>
                <a:cs typeface="+mn-cs"/>
              </a:rPr>
              <a:t>idempotent deployments</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parallel execution</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ARM REST APIs</a:t>
            </a:r>
          </a:p>
          <a:p>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All interactions with Azure—whether through the </a:t>
            </a:r>
            <a:r>
              <a:rPr lang="en-US" sz="1200" b="1" i="0" kern="1200" dirty="0">
                <a:solidFill>
                  <a:schemeClr val="tx1"/>
                </a:solidFill>
                <a:effectLst/>
                <a:latin typeface="+mn-lt"/>
                <a:ea typeface="+mn-ea"/>
                <a:cs typeface="+mn-cs"/>
              </a:rPr>
              <a:t>Portal</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CLI</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PowerShell</a:t>
            </a:r>
            <a:r>
              <a:rPr lang="en-US" sz="1200" b="0" i="0" kern="1200" dirty="0">
                <a:solidFill>
                  <a:schemeClr val="tx1"/>
                </a:solidFill>
                <a:effectLst/>
                <a:latin typeface="+mn-lt"/>
                <a:ea typeface="+mn-ea"/>
                <a:cs typeface="+mn-cs"/>
              </a:rPr>
              <a:t>, or </a:t>
            </a:r>
            <a:r>
              <a:rPr lang="en-US" sz="1200" b="1" i="0" kern="1200" dirty="0">
                <a:solidFill>
                  <a:schemeClr val="tx1"/>
                </a:solidFill>
                <a:effectLst/>
                <a:latin typeface="+mn-lt"/>
                <a:ea typeface="+mn-ea"/>
                <a:cs typeface="+mn-cs"/>
              </a:rPr>
              <a:t>SDKs</a:t>
            </a:r>
            <a:r>
              <a:rPr lang="en-US" sz="1200" b="0" i="0" kern="1200" dirty="0">
                <a:solidFill>
                  <a:schemeClr val="tx1"/>
                </a:solidFill>
                <a:effectLst/>
                <a:latin typeface="+mn-lt"/>
                <a:ea typeface="+mn-ea"/>
                <a:cs typeface="+mn-cs"/>
              </a:rPr>
              <a:t>—ultimately go through the </a:t>
            </a:r>
            <a:r>
              <a:rPr lang="en-US" sz="1200" b="1" i="0" kern="1200" dirty="0">
                <a:solidFill>
                  <a:schemeClr val="tx1"/>
                </a:solidFill>
                <a:effectLst/>
                <a:latin typeface="+mn-lt"/>
                <a:ea typeface="+mn-ea"/>
                <a:cs typeface="+mn-cs"/>
              </a:rPr>
              <a:t>ARM REST API</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This ensures a </a:t>
            </a:r>
            <a:r>
              <a:rPr lang="en-US" sz="1200" b="1" i="0" kern="1200" dirty="0">
                <a:solidFill>
                  <a:schemeClr val="tx1"/>
                </a:solidFill>
                <a:effectLst/>
                <a:latin typeface="+mn-lt"/>
                <a:ea typeface="+mn-ea"/>
                <a:cs typeface="+mn-cs"/>
              </a:rPr>
              <a:t>consistent and unified management experience</a:t>
            </a:r>
            <a:r>
              <a:rPr lang="en-US" sz="1200" b="0" i="0" kern="1200" dirty="0">
                <a:solidFill>
                  <a:schemeClr val="tx1"/>
                </a:solidFill>
                <a:effectLst/>
                <a:latin typeface="+mn-lt"/>
                <a:ea typeface="+mn-ea"/>
                <a:cs typeface="+mn-cs"/>
              </a:rPr>
              <a:t> across tools and services.</a:t>
            </a:r>
          </a:p>
          <a:p>
            <a:endParaRPr lang="en-US" sz="1200" b="0" i="0" kern="1200" dirty="0">
              <a:solidFill>
                <a:schemeClr val="tx1"/>
              </a:solidFill>
              <a:effectLst/>
              <a:latin typeface="+mn-lt"/>
              <a:ea typeface="+mn-ea"/>
              <a:cs typeface="+mn-cs"/>
            </a:endParaRPr>
          </a:p>
          <a:p>
            <a:endParaRPr lang="en-CA"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DAC03921-7077-42B0-8C81-48C0A93EA22E}" type="slidenum">
              <a:rPr lang="en-US" smtClean="0"/>
              <a:t>9</a:t>
            </a:fld>
            <a:endParaRPr lang="en-US"/>
          </a:p>
        </p:txBody>
      </p:sp>
    </p:spTree>
    <p:extLst>
      <p:ext uri="{BB962C8B-B14F-4D97-AF65-F5344CB8AC3E}">
        <p14:creationId xmlns:p14="http://schemas.microsoft.com/office/powerpoint/2010/main" val="406121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Understanding Dependencies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In Azure, resources often depend on one another. ARM templates and Bicep files allow you to define these relationships explicitly.</a:t>
            </a:r>
          </a:p>
          <a:p>
            <a:r>
              <a:rPr lang="en-US" sz="1200" b="0" i="0" kern="1200" dirty="0">
                <a:solidFill>
                  <a:schemeClr val="tx1"/>
                </a:solidFill>
                <a:effectLst/>
                <a:latin typeface="+mn-lt"/>
                <a:ea typeface="+mn-ea"/>
                <a:cs typeface="+mn-cs"/>
              </a:rPr>
              <a:t>This ensures that resources are created in the correct order and that configurations are applied consistently.</a:t>
            </a:r>
          </a:p>
          <a:p>
            <a:endParaRPr lang="en-US" dirty="0"/>
          </a:p>
          <a:p>
            <a:r>
              <a:rPr lang="en-US" sz="1200" b="1" i="0" kern="1200" dirty="0">
                <a:solidFill>
                  <a:schemeClr val="tx1"/>
                </a:solidFill>
                <a:effectLst/>
                <a:latin typeface="+mn-lt"/>
                <a:ea typeface="+mn-ea"/>
                <a:cs typeface="+mn-cs"/>
              </a:rPr>
              <a:t>Key Components in the Diagram</a:t>
            </a:r>
          </a:p>
          <a:p>
            <a:r>
              <a:rPr lang="en-US" sz="1200" b="1" i="0" kern="1200" dirty="0">
                <a:solidFill>
                  <a:schemeClr val="tx1"/>
                </a:solidFill>
                <a:effectLst/>
                <a:latin typeface="+mn-lt"/>
                <a:ea typeface="+mn-ea"/>
                <a:cs typeface="+mn-cs"/>
              </a:rPr>
              <a:t>Storage Account</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Used to store VM disks, diagnostics logs, and other data.</a:t>
            </a:r>
          </a:p>
          <a:p>
            <a:pPr lvl="1"/>
            <a:r>
              <a:rPr lang="en-US" sz="1200" b="0" i="0" kern="1200" dirty="0">
                <a:solidFill>
                  <a:schemeClr val="tx1"/>
                </a:solidFill>
                <a:effectLst/>
                <a:latin typeface="+mn-lt"/>
                <a:ea typeface="+mn-ea"/>
                <a:cs typeface="+mn-cs"/>
              </a:rPr>
              <a:t>Must exist before VMs or extensions that rely on it are deployed.</a:t>
            </a:r>
          </a:p>
          <a:p>
            <a:r>
              <a:rPr lang="en-US" sz="1200" b="1" i="0" kern="1200" dirty="0">
                <a:solidFill>
                  <a:schemeClr val="tx1"/>
                </a:solidFill>
                <a:effectLst/>
                <a:latin typeface="+mn-lt"/>
                <a:ea typeface="+mn-ea"/>
                <a:cs typeface="+mn-cs"/>
              </a:rPr>
              <a:t>Virtual Machine (VM)</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Central compute resource.</a:t>
            </a:r>
          </a:p>
          <a:p>
            <a:pPr lvl="1"/>
            <a:r>
              <a:rPr lang="en-US" sz="1200" b="0" i="0" kern="1200" dirty="0">
                <a:solidFill>
                  <a:schemeClr val="tx1"/>
                </a:solidFill>
                <a:effectLst/>
                <a:latin typeface="+mn-lt"/>
                <a:ea typeface="+mn-ea"/>
                <a:cs typeface="+mn-cs"/>
              </a:rPr>
              <a:t>Depends on a </a:t>
            </a:r>
            <a:r>
              <a:rPr lang="en-US" sz="1200" b="1" i="0" kern="1200" dirty="0">
                <a:solidFill>
                  <a:schemeClr val="tx1"/>
                </a:solidFill>
                <a:effectLst/>
                <a:latin typeface="+mn-lt"/>
                <a:ea typeface="+mn-ea"/>
                <a:cs typeface="+mn-cs"/>
              </a:rPr>
              <a:t>Network Interface</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Availability Set</a:t>
            </a:r>
            <a:r>
              <a:rPr lang="en-US" sz="1200" b="0" i="0" kern="1200" dirty="0">
                <a:solidFill>
                  <a:schemeClr val="tx1"/>
                </a:solidFill>
                <a:effectLst/>
                <a:latin typeface="+mn-lt"/>
                <a:ea typeface="+mn-ea"/>
                <a:cs typeface="+mn-cs"/>
              </a:rPr>
              <a:t>, and optionally a </a:t>
            </a:r>
            <a:r>
              <a:rPr lang="en-US" sz="1200" b="1" i="0" kern="1200" dirty="0">
                <a:solidFill>
                  <a:schemeClr val="tx1"/>
                </a:solidFill>
                <a:effectLst/>
                <a:latin typeface="+mn-lt"/>
                <a:ea typeface="+mn-ea"/>
                <a:cs typeface="+mn-cs"/>
              </a:rPr>
              <a:t>VM Extension</a:t>
            </a:r>
            <a:r>
              <a:rPr lang="en-US" sz="1200" b="0" i="0" kern="1200" dirty="0">
                <a:solidFill>
                  <a:schemeClr val="tx1"/>
                </a:solidFill>
                <a:effectLst/>
                <a:latin typeface="+mn-lt"/>
                <a:ea typeface="+mn-ea"/>
                <a:cs typeface="+mn-cs"/>
              </a:rPr>
              <a:t> for post-deployment configuration.</a:t>
            </a:r>
          </a:p>
          <a:p>
            <a:r>
              <a:rPr lang="en-US" sz="1200" b="1" i="0" kern="1200" dirty="0">
                <a:solidFill>
                  <a:schemeClr val="tx1"/>
                </a:solidFill>
                <a:effectLst/>
                <a:latin typeface="+mn-lt"/>
                <a:ea typeface="+mn-ea"/>
                <a:cs typeface="+mn-cs"/>
              </a:rPr>
              <a:t>VM Extension</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Scripts or agents that run on the VM after deployment.</a:t>
            </a:r>
          </a:p>
          <a:p>
            <a:pPr lvl="1"/>
            <a:r>
              <a:rPr lang="en-US" sz="1200" b="0" i="0" kern="1200" dirty="0">
                <a:solidFill>
                  <a:schemeClr val="tx1"/>
                </a:solidFill>
                <a:effectLst/>
                <a:latin typeface="+mn-lt"/>
                <a:ea typeface="+mn-ea"/>
                <a:cs typeface="+mn-cs"/>
              </a:rPr>
              <a:t>Depends on the VM and often the Storage Account for script storage.</a:t>
            </a:r>
          </a:p>
          <a:p>
            <a:r>
              <a:rPr lang="en-US" sz="1200" b="1" i="0" kern="1200" dirty="0">
                <a:solidFill>
                  <a:schemeClr val="tx1"/>
                </a:solidFill>
                <a:effectLst/>
                <a:latin typeface="+mn-lt"/>
                <a:ea typeface="+mn-ea"/>
                <a:cs typeface="+mn-cs"/>
              </a:rPr>
              <a:t>Availability Set</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Ensures high availability by distributing VMs across fault and update domains.</a:t>
            </a:r>
          </a:p>
          <a:p>
            <a:pPr lvl="1"/>
            <a:r>
              <a:rPr lang="en-US" sz="1200" b="0" i="0" kern="1200" dirty="0">
                <a:solidFill>
                  <a:schemeClr val="tx1"/>
                </a:solidFill>
                <a:effectLst/>
                <a:latin typeface="+mn-lt"/>
                <a:ea typeface="+mn-ea"/>
                <a:cs typeface="+mn-cs"/>
              </a:rPr>
              <a:t>Must be created before the VMs that will be part of it.</a:t>
            </a:r>
          </a:p>
          <a:p>
            <a:r>
              <a:rPr lang="en-US" sz="1200" b="1" i="0" kern="1200" dirty="0">
                <a:solidFill>
                  <a:schemeClr val="tx1"/>
                </a:solidFill>
                <a:effectLst/>
                <a:latin typeface="+mn-lt"/>
                <a:ea typeface="+mn-ea"/>
                <a:cs typeface="+mn-cs"/>
              </a:rPr>
              <a:t>Network Interface (NIC)</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Connects the VM to the network.</a:t>
            </a:r>
          </a:p>
          <a:p>
            <a:pPr lvl="1"/>
            <a:r>
              <a:rPr lang="en-US" sz="1200" b="0" i="0" kern="1200" dirty="0">
                <a:solidFill>
                  <a:schemeClr val="tx1"/>
                </a:solidFill>
                <a:effectLst/>
                <a:latin typeface="+mn-lt"/>
                <a:ea typeface="+mn-ea"/>
                <a:cs typeface="+mn-cs"/>
              </a:rPr>
              <a:t>Depends on a </a:t>
            </a:r>
            <a:r>
              <a:rPr lang="en-US" sz="1200" b="1" i="0" kern="1200" dirty="0">
                <a:solidFill>
                  <a:schemeClr val="tx1"/>
                </a:solidFill>
                <a:effectLst/>
                <a:latin typeface="+mn-lt"/>
                <a:ea typeface="+mn-ea"/>
                <a:cs typeface="+mn-cs"/>
              </a:rPr>
              <a:t>Subnet</a:t>
            </a:r>
            <a:r>
              <a:rPr lang="en-US" sz="1200" b="0" i="0" kern="1200" dirty="0">
                <a:solidFill>
                  <a:schemeClr val="tx1"/>
                </a:solidFill>
                <a:effectLst/>
                <a:latin typeface="+mn-lt"/>
                <a:ea typeface="+mn-ea"/>
                <a:cs typeface="+mn-cs"/>
              </a:rPr>
              <a:t>, which is part of a </a:t>
            </a:r>
            <a:r>
              <a:rPr lang="en-US" sz="1200" b="1" i="0" kern="1200" dirty="0">
                <a:solidFill>
                  <a:schemeClr val="tx1"/>
                </a:solidFill>
                <a:effectLst/>
                <a:latin typeface="+mn-lt"/>
                <a:ea typeface="+mn-ea"/>
                <a:cs typeface="+mn-cs"/>
              </a:rPr>
              <a:t>Virtual Network (</a:t>
            </a:r>
            <a:r>
              <a:rPr lang="en-US" sz="1200" b="1" i="0" kern="1200" dirty="0" err="1">
                <a:solidFill>
                  <a:schemeClr val="tx1"/>
                </a:solidFill>
                <a:effectLst/>
                <a:latin typeface="+mn-lt"/>
                <a:ea typeface="+mn-ea"/>
                <a:cs typeface="+mn-cs"/>
              </a:rPr>
              <a:t>VNet</a:t>
            </a:r>
            <a:r>
              <a:rPr lang="en-US" sz="1200" b="1"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Subnet and Virtual Network</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Provide IP addressing and isolation.</a:t>
            </a:r>
          </a:p>
          <a:p>
            <a:pPr lvl="1"/>
            <a:r>
              <a:rPr lang="en-US" sz="1200" b="0" i="0" kern="1200" dirty="0">
                <a:solidFill>
                  <a:schemeClr val="tx1"/>
                </a:solidFill>
                <a:effectLst/>
                <a:latin typeface="+mn-lt"/>
                <a:ea typeface="+mn-ea"/>
                <a:cs typeface="+mn-cs"/>
              </a:rPr>
              <a:t>Must be created before NICs and VMs.</a:t>
            </a:r>
          </a:p>
          <a:p>
            <a:r>
              <a:rPr lang="en-US" sz="1200" b="1" i="0" kern="1200" dirty="0">
                <a:solidFill>
                  <a:schemeClr val="tx1"/>
                </a:solidFill>
                <a:effectLst/>
                <a:latin typeface="+mn-lt"/>
                <a:ea typeface="+mn-ea"/>
                <a:cs typeface="+mn-cs"/>
              </a:rPr>
              <a:t>Load Balancer with Public IP</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Distributes traffic across multiple VMs.</a:t>
            </a:r>
          </a:p>
          <a:p>
            <a:pPr lvl="1"/>
            <a:r>
              <a:rPr lang="en-US" sz="1200" b="0" i="0" kern="1200" dirty="0">
                <a:solidFill>
                  <a:schemeClr val="tx1"/>
                </a:solidFill>
                <a:effectLst/>
                <a:latin typeface="+mn-lt"/>
                <a:ea typeface="+mn-ea"/>
                <a:cs typeface="+mn-cs"/>
              </a:rPr>
              <a:t>Depends on NICs and VMs being in place to configure backend pools.</a:t>
            </a:r>
          </a:p>
          <a:p>
            <a:endParaRPr lang="en-US" dirty="0"/>
          </a:p>
          <a:p>
            <a:r>
              <a:rPr lang="en-US" b="1" dirty="0"/>
              <a:t>Tips:</a:t>
            </a:r>
            <a:br>
              <a:rPr lang="en-US" b="1" dirty="0"/>
            </a:br>
            <a:br>
              <a:rPr lang="en-US" b="1" dirty="0"/>
            </a:br>
            <a:r>
              <a:rPr lang="en-US" sz="1200" b="0" i="0" kern="1200" dirty="0">
                <a:solidFill>
                  <a:schemeClr val="tx1"/>
                </a:solidFill>
                <a:effectLst/>
                <a:latin typeface="+mn-lt"/>
                <a:ea typeface="+mn-ea"/>
                <a:cs typeface="+mn-cs"/>
              </a:rPr>
              <a:t>Use the dependsOn property in ARM templates or implicit dependencies in Bicep to control deployment order.</a:t>
            </a:r>
          </a:p>
          <a:p>
            <a:r>
              <a:rPr lang="en-US" sz="1200" b="0" i="0" kern="1200" dirty="0">
                <a:solidFill>
                  <a:schemeClr val="tx1"/>
                </a:solidFill>
                <a:effectLst/>
                <a:latin typeface="+mn-lt"/>
                <a:ea typeface="+mn-ea"/>
                <a:cs typeface="+mn-cs"/>
              </a:rPr>
              <a:t>For large deployments, leverage </a:t>
            </a:r>
            <a:r>
              <a:rPr lang="en-US" sz="1200" b="1" i="0" kern="1200" dirty="0">
                <a:solidFill>
                  <a:schemeClr val="tx1"/>
                </a:solidFill>
                <a:effectLst/>
                <a:latin typeface="+mn-lt"/>
                <a:ea typeface="+mn-ea"/>
                <a:cs typeface="+mn-cs"/>
              </a:rPr>
              <a:t>deployment scripts</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nested templates</a:t>
            </a:r>
            <a:r>
              <a:rPr lang="en-US" sz="1200" b="0" i="0" kern="1200" dirty="0">
                <a:solidFill>
                  <a:schemeClr val="tx1"/>
                </a:solidFill>
                <a:effectLst/>
                <a:latin typeface="+mn-lt"/>
                <a:ea typeface="+mn-ea"/>
                <a:cs typeface="+mn-cs"/>
              </a:rPr>
              <a:t> to modularize and manage complexity.</a:t>
            </a:r>
          </a:p>
          <a:p>
            <a:r>
              <a:rPr lang="en-US" sz="1200" b="0" i="0" kern="1200" dirty="0">
                <a:solidFill>
                  <a:schemeClr val="tx1"/>
                </a:solidFill>
                <a:effectLst/>
                <a:latin typeface="+mn-lt"/>
                <a:ea typeface="+mn-ea"/>
                <a:cs typeface="+mn-cs"/>
              </a:rPr>
              <a:t>Monitor deployment progress and troubleshoot issues using </a:t>
            </a:r>
            <a:r>
              <a:rPr lang="en-US" sz="1200" b="1" i="0" kern="1200" dirty="0">
                <a:solidFill>
                  <a:schemeClr val="tx1"/>
                </a:solidFill>
                <a:effectLst/>
                <a:latin typeface="+mn-lt"/>
                <a:ea typeface="+mn-ea"/>
                <a:cs typeface="+mn-cs"/>
              </a:rPr>
              <a:t>Azure Activity Logs</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Resource Graph Explorer</a:t>
            </a:r>
            <a:r>
              <a:rPr lang="en-US" sz="1200" b="0" i="0" kern="1200" dirty="0">
                <a:solidFill>
                  <a:schemeClr val="tx1"/>
                </a:solidFill>
                <a:effectLst/>
                <a:latin typeface="+mn-lt"/>
                <a:ea typeface="+mn-ea"/>
                <a:cs typeface="+mn-cs"/>
              </a:rPr>
              <a:t>.</a:t>
            </a:r>
          </a:p>
          <a:p>
            <a:endParaRPr lang="en-US" b="1" dirty="0"/>
          </a:p>
        </p:txBody>
      </p:sp>
      <p:sp>
        <p:nvSpPr>
          <p:cNvPr id="4" name="Slide Number Placeholder 3"/>
          <p:cNvSpPr>
            <a:spLocks noGrp="1"/>
          </p:cNvSpPr>
          <p:nvPr>
            <p:ph type="sldNum" sz="quarter" idx="5"/>
          </p:nvPr>
        </p:nvSpPr>
        <p:spPr/>
        <p:txBody>
          <a:bodyPr/>
          <a:lstStyle/>
          <a:p>
            <a:fld id="{DAC03921-7077-42B0-8C81-48C0A93EA22E}" type="slidenum">
              <a:rPr lang="en-US" smtClean="0"/>
              <a:t>10</a:t>
            </a:fld>
            <a:endParaRPr lang="en-US"/>
          </a:p>
        </p:txBody>
      </p:sp>
    </p:spTree>
    <p:extLst>
      <p:ext uri="{BB962C8B-B14F-4D97-AF65-F5344CB8AC3E}">
        <p14:creationId xmlns:p14="http://schemas.microsoft.com/office/powerpoint/2010/main" val="736264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Resource Group Limits</a:t>
            </a:r>
          </a:p>
          <a:p>
            <a:r>
              <a:rPr lang="en-US" sz="1200" b="1" i="0" kern="1200" dirty="0">
                <a:solidFill>
                  <a:schemeClr val="tx1"/>
                </a:solidFill>
                <a:effectLst/>
                <a:latin typeface="+mn-lt"/>
                <a:ea typeface="+mn-ea"/>
                <a:cs typeface="+mn-cs"/>
              </a:rPr>
              <a:t>800 Resource Groups per Subscription</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This is the maximum number of resource groups you can create in a single Azure subscription.</a:t>
            </a:r>
          </a:p>
          <a:p>
            <a:pPr lvl="1"/>
            <a:r>
              <a:rPr lang="en-US" sz="1200" b="0" i="0" kern="1200" dirty="0">
                <a:solidFill>
                  <a:schemeClr val="tx1"/>
                </a:solidFill>
                <a:effectLst/>
                <a:latin typeface="+mn-lt"/>
                <a:ea typeface="+mn-ea"/>
                <a:cs typeface="+mn-cs"/>
              </a:rPr>
              <a:t>While this is sufficient for most organizations, large enterprises or multi-tenant environments may need to segment workloads across multiple subscriptions.</a:t>
            </a:r>
          </a:p>
          <a:p>
            <a:r>
              <a:rPr lang="en-US" sz="1200" b="1" i="0" kern="1200" dirty="0">
                <a:solidFill>
                  <a:schemeClr val="tx1"/>
                </a:solidFill>
                <a:effectLst/>
                <a:latin typeface="+mn-lt"/>
                <a:ea typeface="+mn-ea"/>
                <a:cs typeface="+mn-cs"/>
              </a:rPr>
              <a:t>800 Resources per Resource Type per Resource Group</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This limit applies </a:t>
            </a:r>
            <a:r>
              <a:rPr lang="en-US" sz="1200" b="1" i="0" kern="1200" dirty="0">
                <a:solidFill>
                  <a:schemeClr val="tx1"/>
                </a:solidFill>
                <a:effectLst/>
                <a:latin typeface="+mn-lt"/>
                <a:ea typeface="+mn-ea"/>
                <a:cs typeface="+mn-cs"/>
              </a:rPr>
              <a:t>per resource type</a:t>
            </a:r>
            <a:r>
              <a:rPr lang="en-US" sz="1200" b="0" i="0" kern="1200" dirty="0">
                <a:solidFill>
                  <a:schemeClr val="tx1"/>
                </a:solidFill>
                <a:effectLst/>
                <a:latin typeface="+mn-lt"/>
                <a:ea typeface="+mn-ea"/>
                <a:cs typeface="+mn-cs"/>
              </a:rPr>
              <a:t>. For example, you can have up to 800 virtual machines or 800 storage accounts in a single resource group.</a:t>
            </a:r>
          </a:p>
          <a:p>
            <a:pPr lvl="1"/>
            <a:r>
              <a:rPr lang="en-US" sz="1200" b="0" i="0" kern="1200" dirty="0">
                <a:solidFill>
                  <a:schemeClr val="tx1"/>
                </a:solidFill>
                <a:effectLst/>
                <a:latin typeface="+mn-lt"/>
                <a:ea typeface="+mn-ea"/>
                <a:cs typeface="+mn-cs"/>
              </a:rPr>
              <a:t>This allows for high-density deployments while maintaining logical grouping.</a:t>
            </a:r>
          </a:p>
          <a:p>
            <a:r>
              <a:rPr lang="en-US" sz="1200" b="1" i="0" kern="1200" dirty="0">
                <a:solidFill>
                  <a:schemeClr val="tx1"/>
                </a:solidFill>
                <a:effectLst/>
                <a:latin typeface="+mn-lt"/>
                <a:ea typeface="+mn-ea"/>
                <a:cs typeface="+mn-cs"/>
              </a:rPr>
              <a:t>15 Tags per Resource Group</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Each resource group can have up to 15 </a:t>
            </a:r>
            <a:r>
              <a:rPr lang="en-US" sz="1200" b="1" i="0" kern="1200" dirty="0">
                <a:solidFill>
                  <a:schemeClr val="tx1"/>
                </a:solidFill>
                <a:effectLst/>
                <a:latin typeface="+mn-lt"/>
                <a:ea typeface="+mn-ea"/>
                <a:cs typeface="+mn-cs"/>
              </a:rPr>
              <a:t>key-value tag pairs</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Tags are critical for cost tracking, automation, and governance.</a:t>
            </a:r>
          </a:p>
          <a:p>
            <a:pPr lvl="1"/>
            <a:r>
              <a:rPr lang="en-US" sz="1200" b="0" i="0" kern="1200" dirty="0">
                <a:solidFill>
                  <a:schemeClr val="tx1"/>
                </a:solidFill>
                <a:effectLst/>
                <a:latin typeface="+mn-lt"/>
                <a:ea typeface="+mn-ea"/>
                <a:cs typeface="+mn-cs"/>
              </a:rPr>
              <a:t>Use </a:t>
            </a:r>
            <a:r>
              <a:rPr lang="en-US" sz="1200" b="1" i="0" kern="1200" dirty="0">
                <a:solidFill>
                  <a:schemeClr val="tx1"/>
                </a:solidFill>
                <a:effectLst/>
                <a:latin typeface="+mn-lt"/>
                <a:ea typeface="+mn-ea"/>
                <a:cs typeface="+mn-cs"/>
              </a:rPr>
              <a:t>Azure Policy</a:t>
            </a:r>
            <a:r>
              <a:rPr lang="en-US" sz="1200" b="0" i="0" kern="1200" dirty="0">
                <a:solidFill>
                  <a:schemeClr val="tx1"/>
                </a:solidFill>
                <a:effectLst/>
                <a:latin typeface="+mn-lt"/>
                <a:ea typeface="+mn-ea"/>
                <a:cs typeface="+mn-cs"/>
              </a:rPr>
              <a:t> to enforce consistent tagging across your environment.</a:t>
            </a:r>
          </a:p>
          <a:p>
            <a:r>
              <a:rPr lang="en-US" sz="1200" b="1" i="0" kern="1200" dirty="0">
                <a:solidFill>
                  <a:schemeClr val="tx1"/>
                </a:solidFill>
                <a:effectLst/>
                <a:latin typeface="+mn-lt"/>
                <a:ea typeface="+mn-ea"/>
                <a:cs typeface="+mn-cs"/>
              </a:rPr>
              <a:t>Bound by Subscription</a:t>
            </a:r>
            <a:r>
              <a:rPr lang="en-US" sz="1200" b="0" i="0" kern="1200" dirty="0">
                <a:solidFill>
                  <a:schemeClr val="tx1"/>
                </a:solidFill>
                <a:effectLst/>
                <a:latin typeface="+mn-lt"/>
                <a:ea typeface="+mn-ea"/>
                <a:cs typeface="+mn-cs"/>
              </a:rPr>
              <a:t>:</a:t>
            </a:r>
          </a:p>
          <a:p>
            <a:pPr lvl="1"/>
            <a:r>
              <a:rPr lang="en-US" sz="1200" b="0" i="0" kern="1200" dirty="0">
                <a:solidFill>
                  <a:schemeClr val="tx1"/>
                </a:solidFill>
                <a:effectLst/>
                <a:latin typeface="+mn-lt"/>
                <a:ea typeface="+mn-ea"/>
                <a:cs typeface="+mn-cs"/>
              </a:rPr>
              <a:t>Resource groups are scoped to a single subscription.</a:t>
            </a:r>
          </a:p>
          <a:p>
            <a:pPr lvl="1"/>
            <a:r>
              <a:rPr lang="en-US" sz="1200" b="0" i="0" kern="1200" dirty="0">
                <a:solidFill>
                  <a:schemeClr val="tx1"/>
                </a:solidFill>
                <a:effectLst/>
                <a:latin typeface="+mn-lt"/>
                <a:ea typeface="+mn-ea"/>
                <a:cs typeface="+mn-cs"/>
              </a:rPr>
              <a:t>You cannot span a resource group across multiple subscriptions, but you can use </a:t>
            </a:r>
            <a:r>
              <a:rPr lang="en-US" sz="1200" b="1" i="0" kern="1200" dirty="0">
                <a:solidFill>
                  <a:schemeClr val="tx1"/>
                </a:solidFill>
                <a:effectLst/>
                <a:latin typeface="+mn-lt"/>
                <a:ea typeface="+mn-ea"/>
                <a:cs typeface="+mn-cs"/>
              </a:rPr>
              <a:t>Management Groups</a:t>
            </a:r>
            <a:r>
              <a:rPr lang="en-US" sz="1200" b="0" i="0" kern="1200" dirty="0">
                <a:solidFill>
                  <a:schemeClr val="tx1"/>
                </a:solidFill>
                <a:effectLst/>
                <a:latin typeface="+mn-lt"/>
                <a:ea typeface="+mn-ea"/>
                <a:cs typeface="+mn-cs"/>
              </a:rPr>
              <a:t> and </a:t>
            </a:r>
            <a:r>
              <a:rPr lang="en-US" sz="1200" b="1" i="0" kern="1200" dirty="0">
                <a:solidFill>
                  <a:schemeClr val="tx1"/>
                </a:solidFill>
                <a:effectLst/>
                <a:latin typeface="+mn-lt"/>
                <a:ea typeface="+mn-ea"/>
                <a:cs typeface="+mn-cs"/>
              </a:rPr>
              <a:t>Azure Lighthouse</a:t>
            </a:r>
            <a:r>
              <a:rPr lang="en-US" sz="1200" b="0" i="0" kern="1200" dirty="0">
                <a:solidFill>
                  <a:schemeClr val="tx1"/>
                </a:solidFill>
                <a:effectLst/>
                <a:latin typeface="+mn-lt"/>
                <a:ea typeface="+mn-ea"/>
                <a:cs typeface="+mn-cs"/>
              </a:rPr>
              <a:t> for cross-subscription governance and visibility.</a:t>
            </a:r>
          </a:p>
          <a:p>
            <a:endParaRPr lang="en-US" dirty="0"/>
          </a:p>
          <a:p>
            <a:endParaRPr lang="en-US" dirty="0"/>
          </a:p>
          <a:p>
            <a:r>
              <a:rPr lang="en-CA" sz="1200" b="0" i="0" kern="1200" dirty="0">
                <a:solidFill>
                  <a:schemeClr val="tx1"/>
                </a:solidFill>
                <a:effectLst/>
                <a:latin typeface="+mn-lt"/>
                <a:ea typeface="+mn-ea"/>
                <a:cs typeface="+mn-cs"/>
              </a:rPr>
              <a:t>For large-scale environments, consider using </a:t>
            </a:r>
            <a:r>
              <a:rPr lang="en-CA" sz="1200" b="1" i="0" kern="1200" dirty="0">
                <a:solidFill>
                  <a:schemeClr val="tx1"/>
                </a:solidFill>
                <a:effectLst/>
                <a:latin typeface="+mn-lt"/>
                <a:ea typeface="+mn-ea"/>
                <a:cs typeface="+mn-cs"/>
              </a:rPr>
              <a:t>Azure Landing Zones</a:t>
            </a:r>
            <a:r>
              <a:rPr lang="en-CA" sz="1200" b="0" i="0" kern="1200" dirty="0">
                <a:solidFill>
                  <a:schemeClr val="tx1"/>
                </a:solidFill>
                <a:effectLst/>
                <a:latin typeface="+mn-lt"/>
                <a:ea typeface="+mn-ea"/>
                <a:cs typeface="+mn-cs"/>
              </a:rPr>
              <a:t> and </a:t>
            </a:r>
            <a:r>
              <a:rPr lang="en-CA" sz="1200" b="1" i="0" kern="1200" dirty="0">
                <a:solidFill>
                  <a:schemeClr val="tx1"/>
                </a:solidFill>
                <a:effectLst/>
                <a:latin typeface="+mn-lt"/>
                <a:ea typeface="+mn-ea"/>
                <a:cs typeface="+mn-cs"/>
              </a:rPr>
              <a:t>Infrastructure-as-Code (</a:t>
            </a:r>
            <a:r>
              <a:rPr lang="en-CA" sz="1200" b="1" i="0" kern="1200" dirty="0" err="1">
                <a:solidFill>
                  <a:schemeClr val="tx1"/>
                </a:solidFill>
                <a:effectLst/>
                <a:latin typeface="+mn-lt"/>
                <a:ea typeface="+mn-ea"/>
                <a:cs typeface="+mn-cs"/>
              </a:rPr>
              <a:t>IaC</a:t>
            </a:r>
            <a:r>
              <a:rPr lang="en-CA" sz="1200" b="1" i="0" kern="1200" dirty="0">
                <a:solidFill>
                  <a:schemeClr val="tx1"/>
                </a:solidFill>
                <a:effectLst/>
                <a:latin typeface="+mn-lt"/>
                <a:ea typeface="+mn-ea"/>
                <a:cs typeface="+mn-cs"/>
              </a:rPr>
              <a:t>)</a:t>
            </a:r>
            <a:r>
              <a:rPr lang="en-CA" sz="1200" b="0" i="0" kern="1200" dirty="0">
                <a:solidFill>
                  <a:schemeClr val="tx1"/>
                </a:solidFill>
                <a:effectLst/>
                <a:latin typeface="+mn-lt"/>
                <a:ea typeface="+mn-ea"/>
                <a:cs typeface="+mn-cs"/>
              </a:rPr>
              <a:t> to manage resource group creation and enforce naming/tagging standards.</a:t>
            </a:r>
          </a:p>
          <a:p>
            <a:r>
              <a:rPr lang="en-CA" sz="1200" b="0" i="0" kern="1200" dirty="0">
                <a:solidFill>
                  <a:schemeClr val="tx1"/>
                </a:solidFill>
                <a:effectLst/>
                <a:latin typeface="+mn-lt"/>
                <a:ea typeface="+mn-ea"/>
                <a:cs typeface="+mn-cs"/>
              </a:rPr>
              <a:t>Monitor usage with </a:t>
            </a:r>
            <a:r>
              <a:rPr lang="en-CA" sz="1200" b="1" i="0" kern="1200" dirty="0">
                <a:solidFill>
                  <a:schemeClr val="tx1"/>
                </a:solidFill>
                <a:effectLst/>
                <a:latin typeface="+mn-lt"/>
                <a:ea typeface="+mn-ea"/>
                <a:cs typeface="+mn-cs"/>
              </a:rPr>
              <a:t>Azure Resource Graph</a:t>
            </a:r>
            <a:r>
              <a:rPr lang="en-CA" sz="1200" b="0" i="0" kern="1200" dirty="0">
                <a:solidFill>
                  <a:schemeClr val="tx1"/>
                </a:solidFill>
                <a:effectLst/>
                <a:latin typeface="+mn-lt"/>
                <a:ea typeface="+mn-ea"/>
                <a:cs typeface="+mn-cs"/>
              </a:rPr>
              <a:t> to avoid hitting soft limits and proactively plan for scale.</a:t>
            </a:r>
          </a:p>
          <a:p>
            <a:endParaRPr lang="en-US" dirty="0"/>
          </a:p>
        </p:txBody>
      </p:sp>
      <p:sp>
        <p:nvSpPr>
          <p:cNvPr id="4" name="Slide Number Placeholder 3"/>
          <p:cNvSpPr>
            <a:spLocks noGrp="1"/>
          </p:cNvSpPr>
          <p:nvPr>
            <p:ph type="sldNum" sz="quarter" idx="5"/>
          </p:nvPr>
        </p:nvSpPr>
        <p:spPr/>
        <p:txBody>
          <a:bodyPr/>
          <a:lstStyle/>
          <a:p>
            <a:fld id="{DAC03921-7077-42B0-8C81-48C0A93EA22E}" type="slidenum">
              <a:rPr lang="en-US" smtClean="0"/>
              <a:t>11</a:t>
            </a:fld>
            <a:endParaRPr lang="en-US"/>
          </a:p>
        </p:txBody>
      </p:sp>
    </p:spTree>
    <p:extLst>
      <p:ext uri="{BB962C8B-B14F-4D97-AF65-F5344CB8AC3E}">
        <p14:creationId xmlns:p14="http://schemas.microsoft.com/office/powerpoint/2010/main" val="17856221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2A1E9-A8AA-3860-CD07-1D7C2052F9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7DD87E3-668A-796F-144C-6F56ED9EF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DFA11F-A0D3-1D03-A5E3-41D78F89F9D9}"/>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88475E71-108A-4D92-CC95-BAE2B90858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80EC0B-1C13-EEC5-8528-0A7793226F3E}"/>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2903513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9C739-C60E-3E75-06E6-EA89534B25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A12E80-B5A7-B890-6C54-11D994F469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FEFD7E-807A-BB92-00C8-2B66E396DF9A}"/>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536FF171-0FA3-E048-6A3B-D2824FC16B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17481C-2396-6BC8-3F4F-3842E927F32C}"/>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28660822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A0E7E-5C67-86A2-F94C-0AEC36EA1B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179D8-E1B1-F13E-C785-DABE470038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A383DF-2492-4C7F-41AE-41427048516B}"/>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AE043BB2-4D6A-9160-E887-AC6629AAC6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21B46F-CBB3-13B6-A260-676A6C771857}"/>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7586333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31FD0-EA11-49FF-653E-9F061021B1A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BF0F0E-964D-4D89-1493-535D8DA70B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711CB3C-4651-E9CB-9BF2-6A745FDC1BA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E075D31-0B42-9837-5C9A-0A66618DDF07}"/>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6" name="Footer Placeholder 5">
            <a:extLst>
              <a:ext uri="{FF2B5EF4-FFF2-40B4-BE49-F238E27FC236}">
                <a16:creationId xmlns:a16="http://schemas.microsoft.com/office/drawing/2014/main" id="{872ECD61-FD66-A8AC-81B4-4738F41701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3D4A6D-625F-D9D3-FEDD-2D301EC61B41}"/>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43190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06DAA-681D-D25F-481B-67159F87DC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7D58AF-85B8-F13A-F2EC-DBD160F9CC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9BD893-9F9D-44B9-9303-F5464A8A254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4F7DB7-E549-A495-2F8D-0049C90528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FA4AA0-1CE0-CC17-4735-9F15FA36B25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4C86518-E65B-122F-6EB7-75CCE37CE4AC}"/>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8" name="Footer Placeholder 7">
            <a:extLst>
              <a:ext uri="{FF2B5EF4-FFF2-40B4-BE49-F238E27FC236}">
                <a16:creationId xmlns:a16="http://schemas.microsoft.com/office/drawing/2014/main" id="{548E2AD4-70C5-1069-3F15-7B754CC2C6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76DC05F-EF39-7D52-BDDB-4E0A559D17AE}"/>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4293867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93E42-741E-4D6A-18B3-ACC2B09206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F30EEB8-D6A4-BBB0-99A5-BC804F62E2FA}"/>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4" name="Footer Placeholder 3">
            <a:extLst>
              <a:ext uri="{FF2B5EF4-FFF2-40B4-BE49-F238E27FC236}">
                <a16:creationId xmlns:a16="http://schemas.microsoft.com/office/drawing/2014/main" id="{224A5090-A45F-2CC4-6CA5-27BEE5AA45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4C30FD-C592-5040-9F44-D02B86BD5C60}"/>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1717936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7A2CE4-EAA6-9B97-98C8-A70239771AE9}"/>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3" name="Footer Placeholder 2">
            <a:extLst>
              <a:ext uri="{FF2B5EF4-FFF2-40B4-BE49-F238E27FC236}">
                <a16:creationId xmlns:a16="http://schemas.microsoft.com/office/drawing/2014/main" id="{B8C70285-33B1-D196-749B-31DDC979BB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D3E1CB-8CB0-BBC2-8739-D9D30A6ABE54}"/>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3176367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16D09-73FB-8CBB-D2A3-A5F8A0E47A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199165-DD0C-114F-ED3C-28A7A9E973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BF4D51-C00E-C5D4-C230-046843913E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99B66A-7C58-E384-3B5F-9534418BD3E3}"/>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6" name="Footer Placeholder 5">
            <a:extLst>
              <a:ext uri="{FF2B5EF4-FFF2-40B4-BE49-F238E27FC236}">
                <a16:creationId xmlns:a16="http://schemas.microsoft.com/office/drawing/2014/main" id="{348A507C-2B1D-9691-F387-68DCBC492E6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6709F08-FFAA-AAAD-0C4F-0CBEE27A4E35}"/>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22173777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7A684-A3A2-6FFD-3977-969535D42B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C0130D-E79A-FE64-C83D-EC89BEDD08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9F21B9-5041-AC50-456E-37907CE5D8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577F6B-59D6-9265-904D-4553B27E5B28}"/>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6" name="Footer Placeholder 5">
            <a:extLst>
              <a:ext uri="{FF2B5EF4-FFF2-40B4-BE49-F238E27FC236}">
                <a16:creationId xmlns:a16="http://schemas.microsoft.com/office/drawing/2014/main" id="{4A54E094-3637-2F6F-31EB-8613EB7FB3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E7CAB2-8653-C646-7A6D-5CF8641654E1}"/>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4007036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727E4-1FC4-B2E8-F973-C09556E917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5FB15E4-E06F-4015-0BD9-FCD2D3AEF98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2BDF46-1A4E-6542-0366-EE9C9948B1FD}"/>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23DF2226-C6DC-F038-7F38-C17217894A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1A631B-DC50-F506-5B18-93EDD937E5D4}"/>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477599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105F01-5005-92FB-FE31-D140E72839E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150FFA-7F39-84DC-2D42-58998DE5B7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AD50EE-A48F-2526-0746-3BA5EA8E9F14}"/>
              </a:ext>
            </a:extLst>
          </p:cNvPr>
          <p:cNvSpPr>
            <a:spLocks noGrp="1"/>
          </p:cNvSpPr>
          <p:nvPr>
            <p:ph type="dt" sz="half" idx="10"/>
          </p:nvPr>
        </p:nvSpPr>
        <p:spPr/>
        <p:txBody>
          <a:body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E3FD16EB-9688-29B1-070E-F02F8CA472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0CFC3DB-1AB4-58A6-07C6-A6D984281802}"/>
              </a:ext>
            </a:extLst>
          </p:cNvPr>
          <p:cNvSpPr>
            <a:spLocks noGrp="1"/>
          </p:cNvSpPr>
          <p:nvPr>
            <p:ph type="sldNum" sz="quarter" idx="12"/>
          </p:nvPr>
        </p:nvSpPr>
        <p:spPr/>
        <p:txBody>
          <a:bodyPr/>
          <a:lstStyle/>
          <a:p>
            <a:fld id="{6EAEDD4E-A360-415A-BD24-1532F9C934D0}" type="slidenum">
              <a:rPr lang="en-US" smtClean="0"/>
              <a:t>‹#›</a:t>
            </a:fld>
            <a:endParaRPr lang="en-US"/>
          </a:p>
        </p:txBody>
      </p:sp>
    </p:spTree>
    <p:extLst>
      <p:ext uri="{BB962C8B-B14F-4D97-AF65-F5344CB8AC3E}">
        <p14:creationId xmlns:p14="http://schemas.microsoft.com/office/powerpoint/2010/main" val="4055085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721196" y="437282"/>
            <a:ext cx="8013405" cy="729784"/>
          </a:xfrm>
        </p:spPr>
        <p:txBody>
          <a:bodyPr/>
          <a:lstStyle>
            <a:lvl1pPr algn="r">
              <a:defRPr>
                <a:latin typeface="Leelawadee" panose="020B0502040204020203" pitchFamily="34" charset="-34"/>
                <a:cs typeface="Leelawadee" panose="020B0502040204020203" pitchFamily="34" charset="-34"/>
              </a:defRPr>
            </a:lvl1pPr>
          </a:lstStyle>
          <a:p>
            <a:r>
              <a:rPr lang="en-US" dirty="0"/>
              <a:t>Click to edit Master title</a:t>
            </a:r>
          </a:p>
        </p:txBody>
      </p:sp>
      <p:sp>
        <p:nvSpPr>
          <p:cNvPr id="9" name="TextBox 8">
            <a:extLst>
              <a:ext uri="{FF2B5EF4-FFF2-40B4-BE49-F238E27FC236}">
                <a16:creationId xmlns:a16="http://schemas.microsoft.com/office/drawing/2014/main" id="{82EBB876-AD82-6640-9B9E-C4D87C53B3FE}"/>
              </a:ext>
            </a:extLst>
          </p:cNvPr>
          <p:cNvSpPr txBox="1"/>
          <p:nvPr userDrawn="1"/>
        </p:nvSpPr>
        <p:spPr>
          <a:xfrm>
            <a:off x="506675" y="6154609"/>
            <a:ext cx="3683444" cy="400110"/>
          </a:xfrm>
          <a:prstGeom prst="rect">
            <a:avLst/>
          </a:prstGeom>
          <a:noFill/>
        </p:spPr>
        <p:txBody>
          <a:bodyPr wrap="none" rtlCol="0">
            <a:spAutoFit/>
          </a:bodyPr>
          <a:lstStyle/>
          <a:p>
            <a:r>
              <a:rPr lang="en-US" sz="2000" dirty="0">
                <a:solidFill>
                  <a:srgbClr val="E2902F"/>
                </a:solidFill>
                <a:latin typeface="Gadugi" panose="020B0502040204020203" pitchFamily="34" charset="0"/>
                <a:ea typeface="Calibri" panose="020F0502020204030204" pitchFamily="34" charset="0"/>
                <a:cs typeface="Leelawadee UI Semilight" panose="020B0402040204020203" pitchFamily="34" charset="-34"/>
              </a:rPr>
              <a:t>Develop a passion for learning.</a:t>
            </a:r>
            <a:endParaRPr lang="en-US" sz="1000" dirty="0">
              <a:solidFill>
                <a:srgbClr val="E2902F"/>
              </a:solidFill>
            </a:endParaRPr>
          </a:p>
        </p:txBody>
      </p:sp>
      <p:sp>
        <p:nvSpPr>
          <p:cNvPr id="11" name="Footer Placeholder 1">
            <a:extLst>
              <a:ext uri="{FF2B5EF4-FFF2-40B4-BE49-F238E27FC236}">
                <a16:creationId xmlns:a16="http://schemas.microsoft.com/office/drawing/2014/main" id="{F5BC6B56-12EC-3047-A242-968A3B571C2A}"/>
              </a:ext>
            </a:extLst>
          </p:cNvPr>
          <p:cNvSpPr txBox="1">
            <a:spLocks/>
          </p:cNvSpPr>
          <p:nvPr userDrawn="1"/>
        </p:nvSpPr>
        <p:spPr>
          <a:xfrm>
            <a:off x="506675" y="6554719"/>
            <a:ext cx="4572000" cy="283845"/>
          </a:xfrm>
          <a:prstGeom prst="rect">
            <a:avLst/>
          </a:prstGeom>
        </p:spPr>
        <p:txBody>
          <a:bodyPr vert="horz" lIns="91440" tIns="45720" rIns="91440" bIns="45720" rtlCol="0" anchor="t"/>
          <a:lstStyle>
            <a:defPPr>
              <a:defRPr lang="en-US"/>
            </a:defPPr>
            <a:lvl1pPr marL="0" algn="l" defTabSz="914400" rtl="0" eaLnBrk="1" latinLnBrk="0" hangingPunct="1">
              <a:defRPr sz="10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2025 by Innovation In Software Corporation</a:t>
            </a:r>
          </a:p>
        </p:txBody>
      </p:sp>
    </p:spTree>
    <p:extLst>
      <p:ext uri="{BB962C8B-B14F-4D97-AF65-F5344CB8AC3E}">
        <p14:creationId xmlns:p14="http://schemas.microsoft.com/office/powerpoint/2010/main" val="37712288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6AF518-45B1-BF92-84F9-E5611079D2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C4F6CA0-997E-1531-296D-F763878B39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1C2A68-9ABE-2D7E-B580-B4EF7173C61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F7C1C5-2B25-475A-8FFD-378930511B3E}" type="datetimeFigureOut">
              <a:rPr lang="en-US" smtClean="0"/>
              <a:t>8/6/2025</a:t>
            </a:fld>
            <a:endParaRPr lang="en-US"/>
          </a:p>
        </p:txBody>
      </p:sp>
      <p:sp>
        <p:nvSpPr>
          <p:cNvPr id="5" name="Footer Placeholder 4">
            <a:extLst>
              <a:ext uri="{FF2B5EF4-FFF2-40B4-BE49-F238E27FC236}">
                <a16:creationId xmlns:a16="http://schemas.microsoft.com/office/drawing/2014/main" id="{C0ADA864-63D4-452C-AD02-01544A062A6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C5034E6-3652-E2AF-4BAF-35215F3E01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AEDD4E-A360-415A-BD24-1532F9C934D0}" type="slidenum">
              <a:rPr lang="en-US" smtClean="0"/>
              <a:t>‹#›</a:t>
            </a:fld>
            <a:endParaRPr lang="en-US"/>
          </a:p>
        </p:txBody>
      </p:sp>
    </p:spTree>
    <p:extLst>
      <p:ext uri="{BB962C8B-B14F-4D97-AF65-F5344CB8AC3E}">
        <p14:creationId xmlns:p14="http://schemas.microsoft.com/office/powerpoint/2010/main" val="2219603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8" Type="http://schemas.openxmlformats.org/officeDocument/2006/relationships/image" Target="../media/image6.jpg"/><Relationship Id="rId13" Type="http://schemas.openxmlformats.org/officeDocument/2006/relationships/image" Target="../media/image11.jpg"/><Relationship Id="rId3" Type="http://schemas.openxmlformats.org/officeDocument/2006/relationships/image" Target="../media/image1.jpg"/><Relationship Id="rId7" Type="http://schemas.openxmlformats.org/officeDocument/2006/relationships/image" Target="../media/image5.jpg"/><Relationship Id="rId12" Type="http://schemas.openxmlformats.org/officeDocument/2006/relationships/image" Target="../media/image10.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jpg"/><Relationship Id="rId11" Type="http://schemas.openxmlformats.org/officeDocument/2006/relationships/image" Target="../media/image9.jpg"/><Relationship Id="rId5" Type="http://schemas.openxmlformats.org/officeDocument/2006/relationships/image" Target="../media/image3.jpg"/><Relationship Id="rId15" Type="http://schemas.openxmlformats.org/officeDocument/2006/relationships/image" Target="../media/image1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jpg"/><Relationship Id="rId14" Type="http://schemas.openxmlformats.org/officeDocument/2006/relationships/image" Target="../media/image12.jpg"/></Relationships>
</file>

<file path=ppt/slides/_rels/slide6.xml.rels><?xml version="1.0" encoding="UTF-8" standalone="yes"?>
<Relationships xmlns="http://schemas.openxmlformats.org/package/2006/relationships"><Relationship Id="rId8" Type="http://schemas.openxmlformats.org/officeDocument/2006/relationships/image" Target="../media/image19.jpg"/><Relationship Id="rId13" Type="http://schemas.openxmlformats.org/officeDocument/2006/relationships/image" Target="../media/image24.jpg"/><Relationship Id="rId3" Type="http://schemas.openxmlformats.org/officeDocument/2006/relationships/image" Target="../media/image14.jpg"/><Relationship Id="rId7" Type="http://schemas.openxmlformats.org/officeDocument/2006/relationships/image" Target="../media/image18.jpg"/><Relationship Id="rId12" Type="http://schemas.openxmlformats.org/officeDocument/2006/relationships/image" Target="../media/image23.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7.jpg"/><Relationship Id="rId11" Type="http://schemas.openxmlformats.org/officeDocument/2006/relationships/image" Target="../media/image22.jpg"/><Relationship Id="rId5" Type="http://schemas.openxmlformats.org/officeDocument/2006/relationships/image" Target="../media/image16.jpg"/><Relationship Id="rId10" Type="http://schemas.openxmlformats.org/officeDocument/2006/relationships/image" Target="../media/image21.jpg"/><Relationship Id="rId4" Type="http://schemas.openxmlformats.org/officeDocument/2006/relationships/image" Target="../media/image15.jpg"/><Relationship Id="rId9" Type="http://schemas.openxmlformats.org/officeDocument/2006/relationships/image" Target="../media/image20.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5.jpg"/><Relationship Id="rId7" Type="http://schemas.openxmlformats.org/officeDocument/2006/relationships/image" Target="../media/image29.jp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8.jpg"/><Relationship Id="rId5" Type="http://schemas.openxmlformats.org/officeDocument/2006/relationships/image" Target="../media/image27.jpg"/><Relationship Id="rId4" Type="http://schemas.openxmlformats.org/officeDocument/2006/relationships/image" Target="../media/image26.jpg"/></Relationships>
</file>

<file path=ppt/slides/_rels/slide1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AC60F-CB02-FA03-DA1C-5E6A87310E7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DCD2F62E-C139-9E7D-06D1-25A59F83C23D}"/>
              </a:ext>
            </a:extLst>
          </p:cNvPr>
          <p:cNvSpPr txBox="1">
            <a:spLocks noGrp="1"/>
          </p:cNvSpPr>
          <p:nvPr>
            <p:ph type="title"/>
          </p:nvPr>
        </p:nvSpPr>
        <p:spPr>
          <a:xfrm>
            <a:off x="182100" y="0"/>
            <a:ext cx="11706912" cy="1325563"/>
          </a:xfrm>
          <a:prstGeom prst="rect">
            <a:avLst/>
          </a:prstGeom>
        </p:spPr>
        <p:txBody>
          <a:bodyPr>
            <a:normAutofit/>
          </a:bodyPr>
          <a:lstStyle>
            <a:lvl1pPr defTabSz="905255">
              <a:defRPr sz="3564" spc="-99"/>
            </a:lvl1pPr>
          </a:lstStyle>
          <a:p>
            <a:pPr algn="l"/>
            <a:r>
              <a:rPr lang="en-US" sz="4000" b="1" dirty="0">
                <a:solidFill>
                  <a:schemeClr val="accent2"/>
                </a:solidFill>
                <a:latin typeface="+mn-lt"/>
                <a:ea typeface="Nirmala UI Semilight" panose="020B0402040204020203" pitchFamily="34" charset="0"/>
                <a:cs typeface="Nirmala UI Semilight" panose="020B0402040204020203" pitchFamily="34" charset="0"/>
              </a:rPr>
              <a:t>What is Azure?</a:t>
            </a:r>
            <a:endParaRPr sz="4000" dirty="0">
              <a:solidFill>
                <a:schemeClr val="accent2"/>
              </a:solidFill>
              <a:latin typeface="+mn-lt"/>
              <a:ea typeface="Nirmala UI Semilight" panose="020B0402040204020203" pitchFamily="34" charset="0"/>
              <a:cs typeface="Nirmala UI Semilight" panose="020B0402040204020203" pitchFamily="34" charset="0"/>
            </a:endParaRPr>
          </a:p>
        </p:txBody>
      </p:sp>
      <p:sp>
        <p:nvSpPr>
          <p:cNvPr id="4" name="object 3">
            <a:extLst>
              <a:ext uri="{FF2B5EF4-FFF2-40B4-BE49-F238E27FC236}">
                <a16:creationId xmlns:a16="http://schemas.microsoft.com/office/drawing/2014/main" id="{18C71AF8-9412-90E8-9256-A0A434EF49A3}"/>
              </a:ext>
            </a:extLst>
          </p:cNvPr>
          <p:cNvSpPr txBox="1"/>
          <p:nvPr/>
        </p:nvSpPr>
        <p:spPr>
          <a:xfrm>
            <a:off x="302988" y="1325563"/>
            <a:ext cx="11403924" cy="2513509"/>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800" b="1" spc="-10" dirty="0">
                <a:solidFill>
                  <a:schemeClr val="tx2">
                    <a:lumMod val="50000"/>
                    <a:lumOff val="50000"/>
                  </a:schemeClr>
                </a:solidFill>
                <a:ea typeface="Nirmala UI Semilight" panose="020B0402040204020203" pitchFamily="34" charset="0"/>
                <a:cs typeface="Nirmala UI Semilight" panose="020B0402040204020203" pitchFamily="34" charset="0"/>
              </a:rPr>
              <a:t>Azure is Microsoft’s cloud platform—your data center, on demand.</a:t>
            </a:r>
          </a:p>
          <a:p>
            <a:pPr marL="355600" indent="-342900">
              <a:lnSpc>
                <a:spcPct val="100000"/>
              </a:lnSpc>
              <a:spcBef>
                <a:spcPts val="340"/>
              </a:spcBef>
              <a:buFont typeface="Arial" panose="020B0604020202020204" pitchFamily="34" charset="0"/>
              <a:buChar char="•"/>
              <a:tabLst>
                <a:tab pos="241300" algn="l"/>
              </a:tabLst>
            </a:pPr>
            <a:r>
              <a:rPr lang="en-US" sz="2400" b="1" spc="-10" dirty="0">
                <a:ea typeface="Nirmala UI Semilight" panose="020B0402040204020203" pitchFamily="34" charset="0"/>
                <a:cs typeface="Nirmala UI Semilight" panose="020B0402040204020203" pitchFamily="34" charset="0"/>
              </a:rPr>
              <a:t>A Global Network of Microsoft-Managed Data Centers</a:t>
            </a:r>
          </a:p>
          <a:p>
            <a:pPr marL="355600" indent="-342900">
              <a:lnSpc>
                <a:spcPct val="100000"/>
              </a:lnSpc>
              <a:spcBef>
                <a:spcPts val="340"/>
              </a:spcBef>
              <a:buFont typeface="Arial" panose="020B0604020202020204" pitchFamily="34" charset="0"/>
              <a:buChar char="•"/>
              <a:tabLst>
                <a:tab pos="241300" algn="l"/>
              </a:tabLst>
            </a:pPr>
            <a:r>
              <a:rPr lang="en-US" sz="2400" b="1" spc="-10" dirty="0">
                <a:ea typeface="Nirmala UI Semilight" panose="020B0402040204020203" pitchFamily="34" charset="0"/>
                <a:cs typeface="Nirmala UI Semilight" panose="020B0402040204020203" pitchFamily="34" charset="0"/>
              </a:rPr>
              <a:t>Let’s you Build, Deploy, and Scale Applications, Services, and Infrastructure</a:t>
            </a:r>
          </a:p>
          <a:p>
            <a:pPr marL="355600" indent="-342900">
              <a:lnSpc>
                <a:spcPct val="100000"/>
              </a:lnSpc>
              <a:spcBef>
                <a:spcPts val="340"/>
              </a:spcBef>
              <a:buFont typeface="Arial" panose="020B0604020202020204" pitchFamily="34" charset="0"/>
              <a:buChar char="•"/>
              <a:tabLst>
                <a:tab pos="241300" algn="l"/>
              </a:tabLst>
            </a:pPr>
            <a:r>
              <a:rPr lang="en-US" sz="2400" b="1" spc="-10" dirty="0">
                <a:ea typeface="Nirmala UI Semilight" panose="020B0402040204020203" pitchFamily="34" charset="0"/>
                <a:cs typeface="Nirmala UI Semilight" panose="020B0402040204020203" pitchFamily="34" charset="0"/>
              </a:rPr>
              <a:t>Pay only for what you use--compute, storage, networking, identity, and more</a:t>
            </a:r>
          </a:p>
          <a:p>
            <a:pPr marL="355600" indent="-342900">
              <a:lnSpc>
                <a:spcPct val="100000"/>
              </a:lnSpc>
              <a:spcBef>
                <a:spcPts val="340"/>
              </a:spcBef>
              <a:buFont typeface="Arial" panose="020B0604020202020204" pitchFamily="34" charset="0"/>
              <a:buChar char="•"/>
              <a:tabLst>
                <a:tab pos="241300" algn="l"/>
              </a:tabLst>
            </a:pPr>
            <a:r>
              <a:rPr lang="en-US" sz="2400" b="1" spc="-10" dirty="0">
                <a:ea typeface="Nirmala UI Semilight" panose="020B0402040204020203" pitchFamily="34" charset="0"/>
                <a:cs typeface="Nirmala UI Semilight" panose="020B0402040204020203" pitchFamily="34" charset="0"/>
              </a:rPr>
              <a:t>Offers Thousands of Services: From VMs to AI to Kubernetes</a:t>
            </a:r>
          </a:p>
          <a:p>
            <a:pPr marL="355600" indent="-342900">
              <a:lnSpc>
                <a:spcPct val="100000"/>
              </a:lnSpc>
              <a:spcBef>
                <a:spcPts val="340"/>
              </a:spcBef>
              <a:buFont typeface="Arial" panose="020B0604020202020204" pitchFamily="34" charset="0"/>
              <a:buChar char="•"/>
              <a:tabLst>
                <a:tab pos="241300" algn="l"/>
              </a:tabLst>
            </a:pPr>
            <a:r>
              <a:rPr lang="en-US" sz="2400" b="1" spc="-10" dirty="0">
                <a:ea typeface="Nirmala UI Semilight" panose="020B0402040204020203" pitchFamily="34" charset="0"/>
                <a:cs typeface="Nirmala UI Semilight" panose="020B0402040204020203" pitchFamily="34" charset="0"/>
              </a:rPr>
              <a:t>Accessible via Portal, CLI, APIs, or Code</a:t>
            </a:r>
          </a:p>
        </p:txBody>
      </p:sp>
      <p:sp>
        <p:nvSpPr>
          <p:cNvPr id="32" name="Slide Number Placeholder 4">
            <a:extLst>
              <a:ext uri="{FF2B5EF4-FFF2-40B4-BE49-F238E27FC236}">
                <a16:creationId xmlns:a16="http://schemas.microsoft.com/office/drawing/2014/main" id="{81F13E12-DF81-2D79-3621-04D9818F01D1}"/>
              </a:ext>
            </a:extLst>
          </p:cNvPr>
          <p:cNvSpPr txBox="1">
            <a:spLocks/>
          </p:cNvSpPr>
          <p:nvPr/>
        </p:nvSpPr>
        <p:spPr>
          <a:xfrm>
            <a:off x="8610600" y="6356350"/>
            <a:ext cx="2743200" cy="3651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2400" b="1" i="0" u="none" strike="noStrike" kern="1200" cap="none" spc="0" normalizeH="0" baseline="0">
                <a:ln>
                  <a:noFill/>
                </a:ln>
                <a:solidFill>
                  <a:srgbClr val="D1282E"/>
                </a:solidFill>
                <a:effectLst/>
                <a:uFillTx/>
                <a:latin typeface="Arial"/>
                <a:ea typeface="Arial"/>
                <a:cs typeface="Arial"/>
                <a:sym typeface="Arial"/>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a:t>
            </a:fld>
            <a:endParaRPr lang="en-US" dirty="0"/>
          </a:p>
        </p:txBody>
      </p:sp>
      <p:sp>
        <p:nvSpPr>
          <p:cNvPr id="2" name="TextBox 1">
            <a:extLst>
              <a:ext uri="{FF2B5EF4-FFF2-40B4-BE49-F238E27FC236}">
                <a16:creationId xmlns:a16="http://schemas.microsoft.com/office/drawing/2014/main" id="{7920AF49-533A-2FDF-E08E-F60202D27DA6}"/>
              </a:ext>
            </a:extLst>
          </p:cNvPr>
          <p:cNvSpPr txBox="1"/>
          <p:nvPr/>
        </p:nvSpPr>
        <p:spPr>
          <a:xfrm>
            <a:off x="3863561" y="4655431"/>
            <a:ext cx="4464877" cy="584775"/>
          </a:xfrm>
          <a:prstGeom prst="rect">
            <a:avLst/>
          </a:prstGeom>
          <a:noFill/>
        </p:spPr>
        <p:txBody>
          <a:bodyPr wrap="none" rtlCol="0">
            <a:spAutoFit/>
          </a:bodyPr>
          <a:lstStyle/>
          <a:p>
            <a:pPr algn="l"/>
            <a:r>
              <a:rPr lang="en-US" sz="3200" b="1" dirty="0">
                <a:solidFill>
                  <a:schemeClr val="accent2"/>
                </a:solidFill>
              </a:rPr>
              <a:t>Resources On Demand</a:t>
            </a:r>
            <a:endParaRPr lang="en-US" b="1" dirty="0">
              <a:solidFill>
                <a:schemeClr val="accent2"/>
              </a:solidFill>
            </a:endParaRPr>
          </a:p>
        </p:txBody>
      </p:sp>
      <p:sp>
        <p:nvSpPr>
          <p:cNvPr id="11" name="TextBox 10">
            <a:extLst>
              <a:ext uri="{FF2B5EF4-FFF2-40B4-BE49-F238E27FC236}">
                <a16:creationId xmlns:a16="http://schemas.microsoft.com/office/drawing/2014/main" id="{B5F5854B-BED9-98E9-E673-9AE53A2140E7}"/>
              </a:ext>
            </a:extLst>
          </p:cNvPr>
          <p:cNvSpPr txBox="1"/>
          <p:nvPr/>
        </p:nvSpPr>
        <p:spPr>
          <a:xfrm>
            <a:off x="397468" y="5149402"/>
            <a:ext cx="11491544" cy="830997"/>
          </a:xfrm>
          <a:prstGeom prst="rect">
            <a:avLst/>
          </a:prstGeom>
          <a:noFill/>
        </p:spPr>
        <p:txBody>
          <a:bodyPr wrap="square" rtlCol="0">
            <a:spAutoFit/>
          </a:bodyPr>
          <a:lstStyle/>
          <a:p>
            <a:pPr algn="ctr"/>
            <a:r>
              <a:rPr lang="en-US" sz="2400" b="1" dirty="0"/>
              <a:t>Azure is where you rent compute, storage, and services by the minute, instead of building your own data center</a:t>
            </a:r>
          </a:p>
        </p:txBody>
      </p:sp>
    </p:spTree>
    <p:extLst>
      <p:ext uri="{BB962C8B-B14F-4D97-AF65-F5344CB8AC3E}">
        <p14:creationId xmlns:p14="http://schemas.microsoft.com/office/powerpoint/2010/main" val="2476792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CAC4ED1-0AA7-0C2D-4FA9-E17184331483}"/>
              </a:ext>
            </a:extLst>
          </p:cNvPr>
          <p:cNvSpPr txBox="1">
            <a:spLocks noGrp="1"/>
          </p:cNvSpPr>
          <p:nvPr>
            <p:ph type="title"/>
          </p:nvPr>
        </p:nvSpPr>
        <p:spPr>
          <a:xfrm>
            <a:off x="182100" y="0"/>
            <a:ext cx="11706912" cy="1325563"/>
          </a:xfrm>
          <a:prstGeom prst="rect">
            <a:avLst/>
          </a:prstGeom>
        </p:spPr>
        <p:txBody>
          <a:bodyPr>
            <a:normAutofit/>
          </a:bodyPr>
          <a:lstStyle>
            <a:lvl1pPr defTabSz="905255">
              <a:defRPr sz="3564" spc="-99"/>
            </a:lvl1pPr>
          </a:lstStyle>
          <a:p>
            <a:pPr algn="l"/>
            <a:r>
              <a:rPr lang="en-US" sz="4000" b="1" dirty="0">
                <a:solidFill>
                  <a:schemeClr val="accent2"/>
                </a:solidFill>
                <a:latin typeface="+mn-lt"/>
                <a:ea typeface="Nirmala UI Semilight" panose="020B0402040204020203" pitchFamily="34" charset="0"/>
                <a:cs typeface="Nirmala UI Semilight" panose="020B0402040204020203" pitchFamily="34" charset="0"/>
              </a:rPr>
              <a:t>The Azure Platform – </a:t>
            </a:r>
            <a:r>
              <a:rPr lang="en-US" sz="3600" b="1" dirty="0">
                <a:solidFill>
                  <a:schemeClr val="accent2"/>
                </a:solidFill>
                <a:latin typeface="+mn-lt"/>
                <a:ea typeface="Nirmala UI Semilight" panose="020B0402040204020203" pitchFamily="34" charset="0"/>
                <a:cs typeface="Nirmala UI Semilight" panose="020B0402040204020203" pitchFamily="34" charset="0"/>
              </a:rPr>
              <a:t>A Global, Consistent Control Plane</a:t>
            </a:r>
            <a:endParaRPr sz="4000" dirty="0">
              <a:solidFill>
                <a:schemeClr val="accent2"/>
              </a:solidFill>
              <a:latin typeface="+mn-lt"/>
              <a:ea typeface="Nirmala UI Semilight" panose="020B0402040204020203" pitchFamily="34" charset="0"/>
              <a:cs typeface="Nirmala UI Semilight" panose="020B0402040204020203" pitchFamily="34" charset="0"/>
            </a:endParaRPr>
          </a:p>
        </p:txBody>
      </p:sp>
      <p:sp>
        <p:nvSpPr>
          <p:cNvPr id="4" name="object 3">
            <a:extLst>
              <a:ext uri="{FF2B5EF4-FFF2-40B4-BE49-F238E27FC236}">
                <a16:creationId xmlns:a16="http://schemas.microsoft.com/office/drawing/2014/main" id="{D61381D8-5D49-C43A-B1C6-0D5B8CAAEFD7}"/>
              </a:ext>
            </a:extLst>
          </p:cNvPr>
          <p:cNvSpPr txBox="1"/>
          <p:nvPr/>
        </p:nvSpPr>
        <p:spPr>
          <a:xfrm>
            <a:off x="302988" y="1325563"/>
            <a:ext cx="11403924" cy="4067780"/>
          </a:xfrm>
          <a:prstGeom prst="rect">
            <a:avLst/>
          </a:prstGeom>
        </p:spPr>
        <p:txBody>
          <a:bodyPr vert="horz" wrap="square" lIns="0" tIns="43180" rIns="0" bIns="0" rtlCol="0">
            <a:spAutoFit/>
          </a:bodyPr>
          <a:lstStyle/>
          <a:p>
            <a:pPr marL="241300" indent="-228600">
              <a:lnSpc>
                <a:spcPct val="100000"/>
              </a:lnSpc>
              <a:spcBef>
                <a:spcPts val="340"/>
              </a:spcBef>
              <a:buFont typeface="Arial"/>
              <a:buChar char="•"/>
              <a:tabLst>
                <a:tab pos="241300" algn="l"/>
              </a:tabLst>
            </a:pPr>
            <a:r>
              <a:rPr lang="en-US" sz="2400" b="1" spc="-10" dirty="0">
                <a:ea typeface="Nirmala UI Semilight" panose="020B0402040204020203" pitchFamily="34" charset="0"/>
                <a:cs typeface="Nirmala UI Semilight" panose="020B0402040204020203" pitchFamily="34" charset="0"/>
              </a:rPr>
              <a:t>Azure is built on a global control plane powered by the Azure Resource Manager (ARM).</a:t>
            </a:r>
          </a:p>
          <a:p>
            <a:pPr marL="241300" indent="-228600">
              <a:lnSpc>
                <a:spcPct val="100000"/>
              </a:lnSpc>
              <a:spcBef>
                <a:spcPts val="340"/>
              </a:spcBef>
              <a:buFont typeface="Arial"/>
              <a:buChar char="•"/>
              <a:tabLst>
                <a:tab pos="241300" algn="l"/>
              </a:tabLst>
            </a:pPr>
            <a:r>
              <a:rPr lang="en-US" sz="2400" b="1" spc="-10" dirty="0">
                <a:ea typeface="Nirmala UI Semilight" panose="020B0402040204020203" pitchFamily="34" charset="0"/>
                <a:cs typeface="Nirmala UI Semilight" panose="020B0402040204020203" pitchFamily="34" charset="0"/>
              </a:rPr>
              <a:t>Every service, deployment, and setting flows through ARM—regardless of the tool used.</a:t>
            </a:r>
          </a:p>
          <a:p>
            <a:pPr marL="241300" indent="-228600">
              <a:lnSpc>
                <a:spcPct val="100000"/>
              </a:lnSpc>
              <a:spcBef>
                <a:spcPts val="340"/>
              </a:spcBef>
              <a:buFont typeface="Arial"/>
              <a:buChar char="•"/>
              <a:tabLst>
                <a:tab pos="241300" algn="l"/>
              </a:tabLst>
            </a:pPr>
            <a:r>
              <a:rPr lang="en-US" sz="2400" b="1" spc="-10" dirty="0">
                <a:ea typeface="Nirmala UI Semilight" panose="020B0402040204020203" pitchFamily="34" charset="0"/>
                <a:cs typeface="Nirmala UI Semilight" panose="020B0402040204020203" pitchFamily="34" charset="0"/>
              </a:rPr>
              <a:t>Regions house the physical infrastructure, but ARM provides consistent APIs and behavior everywhere.</a:t>
            </a:r>
          </a:p>
          <a:p>
            <a:pPr marL="241300" indent="-228600">
              <a:lnSpc>
                <a:spcPct val="100000"/>
              </a:lnSpc>
              <a:spcBef>
                <a:spcPts val="340"/>
              </a:spcBef>
              <a:buFont typeface="Arial"/>
              <a:buChar char="•"/>
              <a:tabLst>
                <a:tab pos="241300" algn="l"/>
              </a:tabLst>
            </a:pPr>
            <a:r>
              <a:rPr lang="en-US" sz="2000" b="1" spc="-10" dirty="0">
                <a:solidFill>
                  <a:schemeClr val="tx2"/>
                </a:solidFill>
                <a:ea typeface="Nirmala UI Semilight" panose="020B0402040204020203" pitchFamily="34" charset="0"/>
                <a:cs typeface="Nirmala UI Semilight" panose="020B0402040204020203" pitchFamily="34" charset="0"/>
              </a:rPr>
              <a:t>You can manage Azure through:</a:t>
            </a:r>
          </a:p>
          <a:p>
            <a:pPr marL="698500" lvl="1" indent="-228600">
              <a:spcBef>
                <a:spcPts val="340"/>
              </a:spcBef>
              <a:buFont typeface="Arial"/>
              <a:buChar char="•"/>
              <a:tabLst>
                <a:tab pos="241300" algn="l"/>
              </a:tabLst>
            </a:pPr>
            <a:r>
              <a:rPr lang="en-US" sz="2000" b="1" spc="-10" dirty="0">
                <a:ea typeface="Nirmala UI Semilight" panose="020B0402040204020203" pitchFamily="34" charset="0"/>
                <a:cs typeface="Nirmala UI Semilight" panose="020B0402040204020203" pitchFamily="34" charset="0"/>
              </a:rPr>
              <a:t>The Azure Portal (GUI)</a:t>
            </a:r>
          </a:p>
          <a:p>
            <a:pPr marL="698500" lvl="1" indent="-228600">
              <a:spcBef>
                <a:spcPts val="340"/>
              </a:spcBef>
              <a:buFont typeface="Arial"/>
              <a:buChar char="•"/>
              <a:tabLst>
                <a:tab pos="241300" algn="l"/>
              </a:tabLst>
            </a:pPr>
            <a:r>
              <a:rPr lang="en-US" sz="2000" b="1" spc="-10" dirty="0">
                <a:ea typeface="Nirmala UI Semilight" panose="020B0402040204020203" pitchFamily="34" charset="0"/>
                <a:cs typeface="Nirmala UI Semilight" panose="020B0402040204020203" pitchFamily="34" charset="0"/>
              </a:rPr>
              <a:t>Azure CLI and PowerShell</a:t>
            </a:r>
          </a:p>
          <a:p>
            <a:pPr marL="698500" lvl="1" indent="-228600">
              <a:spcBef>
                <a:spcPts val="340"/>
              </a:spcBef>
              <a:buFont typeface="Arial"/>
              <a:buChar char="•"/>
              <a:tabLst>
                <a:tab pos="241300" algn="l"/>
              </a:tabLst>
            </a:pPr>
            <a:r>
              <a:rPr lang="en-US" sz="2000" b="1" spc="-10" dirty="0">
                <a:ea typeface="Nirmala UI Semilight" panose="020B0402040204020203" pitchFamily="34" charset="0"/>
                <a:cs typeface="Nirmala UI Semilight" panose="020B0402040204020203" pitchFamily="34" charset="0"/>
              </a:rPr>
              <a:t>SDKs (Python, .NET, etc.)</a:t>
            </a:r>
          </a:p>
          <a:p>
            <a:pPr marL="698500" lvl="1" indent="-228600">
              <a:spcBef>
                <a:spcPts val="340"/>
              </a:spcBef>
              <a:buFont typeface="Arial"/>
              <a:buChar char="•"/>
              <a:tabLst>
                <a:tab pos="241300" algn="l"/>
              </a:tabLst>
            </a:pPr>
            <a:r>
              <a:rPr lang="en-US" sz="2000" b="1" spc="-10" dirty="0">
                <a:ea typeface="Nirmala UI Semilight" panose="020B0402040204020203" pitchFamily="34" charset="0"/>
                <a:cs typeface="Nirmala UI Semilight" panose="020B0402040204020203" pitchFamily="34" charset="0"/>
              </a:rPr>
              <a:t>Infrastructure as Code (Bicep, Terraform)</a:t>
            </a:r>
          </a:p>
        </p:txBody>
      </p:sp>
      <p:sp>
        <p:nvSpPr>
          <p:cNvPr id="5" name="Rectangle 4">
            <a:extLst>
              <a:ext uri="{FF2B5EF4-FFF2-40B4-BE49-F238E27FC236}">
                <a16:creationId xmlns:a16="http://schemas.microsoft.com/office/drawing/2014/main" id="{E61CF217-C9A3-92BA-E65D-52B7860A9578}"/>
              </a:ext>
            </a:extLst>
          </p:cNvPr>
          <p:cNvSpPr/>
          <p:nvPr/>
        </p:nvSpPr>
        <p:spPr>
          <a:xfrm>
            <a:off x="7126662" y="4391566"/>
            <a:ext cx="2620651" cy="716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Azure Resource Manager (ARM)</a:t>
            </a:r>
          </a:p>
        </p:txBody>
      </p:sp>
      <p:sp>
        <p:nvSpPr>
          <p:cNvPr id="6" name="Rectangle 5">
            <a:extLst>
              <a:ext uri="{FF2B5EF4-FFF2-40B4-BE49-F238E27FC236}">
                <a16:creationId xmlns:a16="http://schemas.microsoft.com/office/drawing/2014/main" id="{954102BF-68C8-3FC3-7B20-4570AA67AFAF}"/>
              </a:ext>
            </a:extLst>
          </p:cNvPr>
          <p:cNvSpPr/>
          <p:nvPr/>
        </p:nvSpPr>
        <p:spPr>
          <a:xfrm>
            <a:off x="7126663" y="5476008"/>
            <a:ext cx="2620651" cy="71643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Azure Regions</a:t>
            </a:r>
          </a:p>
          <a:p>
            <a:pPr algn="ctr"/>
            <a:r>
              <a:rPr lang="en-US" dirty="0"/>
              <a:t>(Physical Infrastructure)</a:t>
            </a:r>
          </a:p>
        </p:txBody>
      </p:sp>
      <p:sp>
        <p:nvSpPr>
          <p:cNvPr id="7" name="TextBox 6">
            <a:extLst>
              <a:ext uri="{FF2B5EF4-FFF2-40B4-BE49-F238E27FC236}">
                <a16:creationId xmlns:a16="http://schemas.microsoft.com/office/drawing/2014/main" id="{935C8D44-A472-C756-4C35-E4991AC0B59D}"/>
              </a:ext>
            </a:extLst>
          </p:cNvPr>
          <p:cNvSpPr txBox="1"/>
          <p:nvPr/>
        </p:nvSpPr>
        <p:spPr>
          <a:xfrm>
            <a:off x="6692234" y="3359453"/>
            <a:ext cx="811569" cy="369332"/>
          </a:xfrm>
          <a:prstGeom prst="rect">
            <a:avLst/>
          </a:prstGeom>
          <a:noFill/>
        </p:spPr>
        <p:txBody>
          <a:bodyPr wrap="none" rtlCol="0">
            <a:spAutoFit/>
          </a:bodyPr>
          <a:lstStyle/>
          <a:p>
            <a:r>
              <a:rPr lang="en-US" b="1" dirty="0"/>
              <a:t>Portal</a:t>
            </a:r>
          </a:p>
        </p:txBody>
      </p:sp>
      <p:sp>
        <p:nvSpPr>
          <p:cNvPr id="8" name="TextBox 7">
            <a:extLst>
              <a:ext uri="{FF2B5EF4-FFF2-40B4-BE49-F238E27FC236}">
                <a16:creationId xmlns:a16="http://schemas.microsoft.com/office/drawing/2014/main" id="{D0A4AB37-FEE7-2505-9A2B-56A37244366B}"/>
              </a:ext>
            </a:extLst>
          </p:cNvPr>
          <p:cNvSpPr txBox="1"/>
          <p:nvPr/>
        </p:nvSpPr>
        <p:spPr>
          <a:xfrm>
            <a:off x="7782439" y="3359453"/>
            <a:ext cx="534121" cy="369332"/>
          </a:xfrm>
          <a:prstGeom prst="rect">
            <a:avLst/>
          </a:prstGeom>
          <a:noFill/>
        </p:spPr>
        <p:txBody>
          <a:bodyPr wrap="none" rtlCol="0">
            <a:spAutoFit/>
          </a:bodyPr>
          <a:lstStyle/>
          <a:p>
            <a:r>
              <a:rPr lang="en-US" b="1" dirty="0"/>
              <a:t>CLI</a:t>
            </a:r>
          </a:p>
        </p:txBody>
      </p:sp>
      <p:sp>
        <p:nvSpPr>
          <p:cNvPr id="9" name="TextBox 8">
            <a:extLst>
              <a:ext uri="{FF2B5EF4-FFF2-40B4-BE49-F238E27FC236}">
                <a16:creationId xmlns:a16="http://schemas.microsoft.com/office/drawing/2014/main" id="{14AE70FF-EFC5-C8B2-FA82-F70D29AC6552}"/>
              </a:ext>
            </a:extLst>
          </p:cNvPr>
          <p:cNvSpPr txBox="1"/>
          <p:nvPr/>
        </p:nvSpPr>
        <p:spPr>
          <a:xfrm>
            <a:off x="8595196" y="3359453"/>
            <a:ext cx="779381" cy="369332"/>
          </a:xfrm>
          <a:prstGeom prst="rect">
            <a:avLst/>
          </a:prstGeom>
          <a:noFill/>
        </p:spPr>
        <p:txBody>
          <a:bodyPr wrap="none" rtlCol="0">
            <a:spAutoFit/>
          </a:bodyPr>
          <a:lstStyle/>
          <a:p>
            <a:r>
              <a:rPr lang="en-US" b="1" dirty="0"/>
              <a:t>Bicep</a:t>
            </a:r>
          </a:p>
        </p:txBody>
      </p:sp>
      <p:sp>
        <p:nvSpPr>
          <p:cNvPr id="10" name="TextBox 9">
            <a:extLst>
              <a:ext uri="{FF2B5EF4-FFF2-40B4-BE49-F238E27FC236}">
                <a16:creationId xmlns:a16="http://schemas.microsoft.com/office/drawing/2014/main" id="{F7021BF9-FAF4-07A1-2864-E271D940E374}"/>
              </a:ext>
            </a:extLst>
          </p:cNvPr>
          <p:cNvSpPr txBox="1"/>
          <p:nvPr/>
        </p:nvSpPr>
        <p:spPr>
          <a:xfrm>
            <a:off x="9374583" y="3359453"/>
            <a:ext cx="745460" cy="369332"/>
          </a:xfrm>
          <a:prstGeom prst="rect">
            <a:avLst/>
          </a:prstGeom>
          <a:noFill/>
        </p:spPr>
        <p:txBody>
          <a:bodyPr wrap="none" rtlCol="0">
            <a:spAutoFit/>
          </a:bodyPr>
          <a:lstStyle/>
          <a:p>
            <a:r>
              <a:rPr lang="en-US" b="1" dirty="0"/>
              <a:t>SDKs</a:t>
            </a:r>
          </a:p>
        </p:txBody>
      </p:sp>
      <p:cxnSp>
        <p:nvCxnSpPr>
          <p:cNvPr id="12" name="Straight Arrow Connector 11">
            <a:extLst>
              <a:ext uri="{FF2B5EF4-FFF2-40B4-BE49-F238E27FC236}">
                <a16:creationId xmlns:a16="http://schemas.microsoft.com/office/drawing/2014/main" id="{60D04EF4-1D8F-6A58-B175-BB5944207AC6}"/>
              </a:ext>
            </a:extLst>
          </p:cNvPr>
          <p:cNvCxnSpPr>
            <a:cxnSpLocks/>
          </p:cNvCxnSpPr>
          <p:nvPr/>
        </p:nvCxnSpPr>
        <p:spPr>
          <a:xfrm>
            <a:off x="6994689" y="3728785"/>
            <a:ext cx="447720" cy="662781"/>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DE3ED64-DCE7-0975-424F-62A27691B1ED}"/>
              </a:ext>
            </a:extLst>
          </p:cNvPr>
          <p:cNvCxnSpPr>
            <a:cxnSpLocks/>
          </p:cNvCxnSpPr>
          <p:nvPr/>
        </p:nvCxnSpPr>
        <p:spPr>
          <a:xfrm>
            <a:off x="8059915" y="3728785"/>
            <a:ext cx="0" cy="662781"/>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E4CD65A4-2742-B826-79A4-A8E713F3802B}"/>
              </a:ext>
            </a:extLst>
          </p:cNvPr>
          <p:cNvCxnSpPr>
            <a:cxnSpLocks/>
          </p:cNvCxnSpPr>
          <p:nvPr/>
        </p:nvCxnSpPr>
        <p:spPr>
          <a:xfrm>
            <a:off x="8984886" y="3728785"/>
            <a:ext cx="0" cy="662781"/>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25A4ED11-4B1B-0416-AB76-D50AACAD05EE}"/>
              </a:ext>
            </a:extLst>
          </p:cNvPr>
          <p:cNvCxnSpPr>
            <a:cxnSpLocks/>
          </p:cNvCxnSpPr>
          <p:nvPr/>
        </p:nvCxnSpPr>
        <p:spPr>
          <a:xfrm flipH="1">
            <a:off x="9415790" y="3728785"/>
            <a:ext cx="331523" cy="662781"/>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64A4DCFD-AC20-FD58-7E37-933603443444}"/>
              </a:ext>
            </a:extLst>
          </p:cNvPr>
          <p:cNvCxnSpPr>
            <a:cxnSpLocks/>
          </p:cNvCxnSpPr>
          <p:nvPr/>
        </p:nvCxnSpPr>
        <p:spPr>
          <a:xfrm>
            <a:off x="8032214" y="5108003"/>
            <a:ext cx="0" cy="368005"/>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84ADC13F-C549-6944-B995-0E17DB4BD954}"/>
              </a:ext>
            </a:extLst>
          </p:cNvPr>
          <p:cNvCxnSpPr>
            <a:cxnSpLocks/>
          </p:cNvCxnSpPr>
          <p:nvPr/>
        </p:nvCxnSpPr>
        <p:spPr>
          <a:xfrm>
            <a:off x="8901616" y="5108003"/>
            <a:ext cx="0" cy="368005"/>
          </a:xfrm>
          <a:prstGeom prst="straightConnector1">
            <a:avLst/>
          </a:prstGeom>
          <a:ln>
            <a:solidFill>
              <a:srgbClr val="FFC000"/>
            </a:solidFill>
            <a:tailEnd type="triangle"/>
          </a:ln>
        </p:spPr>
        <p:style>
          <a:lnRef idx="2">
            <a:schemeClr val="accent1"/>
          </a:lnRef>
          <a:fillRef idx="0">
            <a:schemeClr val="accent1"/>
          </a:fillRef>
          <a:effectRef idx="1">
            <a:schemeClr val="accent1"/>
          </a:effectRef>
          <a:fontRef idx="minor">
            <a:schemeClr val="tx1"/>
          </a:fontRef>
        </p:style>
      </p:cxnSp>
      <p:sp>
        <p:nvSpPr>
          <p:cNvPr id="32" name="Slide Number Placeholder 4">
            <a:extLst>
              <a:ext uri="{FF2B5EF4-FFF2-40B4-BE49-F238E27FC236}">
                <a16:creationId xmlns:a16="http://schemas.microsoft.com/office/drawing/2014/main" id="{CF5614BA-6E52-960C-9DFF-275FA62EEE13}"/>
              </a:ext>
            </a:extLst>
          </p:cNvPr>
          <p:cNvSpPr txBox="1">
            <a:spLocks/>
          </p:cNvSpPr>
          <p:nvPr/>
        </p:nvSpPr>
        <p:spPr>
          <a:xfrm>
            <a:off x="8610600" y="6356350"/>
            <a:ext cx="2743200"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2400" b="1" i="0" u="none" strike="noStrike" kern="1200" cap="none" spc="0" normalizeH="0" baseline="0">
                <a:ln>
                  <a:noFill/>
                </a:ln>
                <a:solidFill>
                  <a:srgbClr val="D1282E"/>
                </a:solidFill>
                <a:effectLst/>
                <a:uFillTx/>
                <a:latin typeface="Arial"/>
                <a:ea typeface="Arial"/>
                <a:cs typeface="Arial"/>
                <a:sym typeface="Arial"/>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2</a:t>
            </a:fld>
            <a:endParaRPr lang="en-US" dirty="0"/>
          </a:p>
        </p:txBody>
      </p:sp>
    </p:spTree>
    <p:extLst>
      <p:ext uri="{BB962C8B-B14F-4D97-AF65-F5344CB8AC3E}">
        <p14:creationId xmlns:p14="http://schemas.microsoft.com/office/powerpoint/2010/main" val="3304761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61A04-DC95-9D94-3DC1-AAF2602A2986}"/>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089C736E-440F-A5F3-C985-11BD7603FEFC}"/>
              </a:ext>
            </a:extLst>
          </p:cNvPr>
          <p:cNvSpPr txBox="1">
            <a:spLocks noGrp="1"/>
          </p:cNvSpPr>
          <p:nvPr>
            <p:ph type="title"/>
          </p:nvPr>
        </p:nvSpPr>
        <p:spPr>
          <a:xfrm>
            <a:off x="182100" y="15237"/>
            <a:ext cx="11706912" cy="1325563"/>
          </a:xfrm>
          <a:prstGeom prst="rect">
            <a:avLst/>
          </a:prstGeom>
        </p:spPr>
        <p:txBody>
          <a:bodyPr>
            <a:normAutofit/>
          </a:bodyPr>
          <a:lstStyle>
            <a:lvl1pPr defTabSz="905255">
              <a:defRPr sz="3564" spc="-99"/>
            </a:lvl1pPr>
          </a:lstStyle>
          <a:p>
            <a:pPr algn="l"/>
            <a:r>
              <a:rPr lang="en-US" sz="4000" b="1" dirty="0">
                <a:solidFill>
                  <a:schemeClr val="accent2"/>
                </a:solidFill>
                <a:latin typeface="+mn-lt"/>
                <a:ea typeface="Nirmala UI Semilight" panose="020B0402040204020203" pitchFamily="34" charset="0"/>
                <a:cs typeface="Nirmala UI Semilight" panose="020B0402040204020203" pitchFamily="34" charset="0"/>
              </a:rPr>
              <a:t>How Azure Sees the World</a:t>
            </a:r>
            <a:endParaRPr sz="4000" dirty="0">
              <a:solidFill>
                <a:schemeClr val="accent2"/>
              </a:solidFill>
              <a:latin typeface="+mn-lt"/>
              <a:ea typeface="Nirmala UI Semilight" panose="020B0402040204020203" pitchFamily="34" charset="0"/>
              <a:cs typeface="Nirmala UI Semilight" panose="020B0402040204020203" pitchFamily="34" charset="0"/>
            </a:endParaRPr>
          </a:p>
        </p:txBody>
      </p:sp>
      <p:sp>
        <p:nvSpPr>
          <p:cNvPr id="4" name="object 3">
            <a:extLst>
              <a:ext uri="{FF2B5EF4-FFF2-40B4-BE49-F238E27FC236}">
                <a16:creationId xmlns:a16="http://schemas.microsoft.com/office/drawing/2014/main" id="{785451C1-1A32-D78B-057F-95D11FB65E3B}"/>
              </a:ext>
            </a:extLst>
          </p:cNvPr>
          <p:cNvSpPr txBox="1"/>
          <p:nvPr/>
        </p:nvSpPr>
        <p:spPr>
          <a:xfrm>
            <a:off x="302988" y="1325563"/>
            <a:ext cx="11403924" cy="3944670"/>
          </a:xfrm>
          <a:prstGeom prst="rect">
            <a:avLst/>
          </a:prstGeom>
        </p:spPr>
        <p:txBody>
          <a:bodyPr vert="horz" wrap="square" lIns="0" tIns="43180" rIns="0" bIns="0" rtlCol="0">
            <a:spAutoFit/>
          </a:bodyPr>
          <a:lstStyle/>
          <a:p>
            <a:pPr marL="241300" indent="-228600">
              <a:lnSpc>
                <a:spcPct val="100000"/>
              </a:lnSpc>
              <a:spcBef>
                <a:spcPts val="340"/>
              </a:spcBef>
              <a:buFont typeface="Arial"/>
              <a:buChar char="•"/>
              <a:tabLst>
                <a:tab pos="241300" algn="l"/>
              </a:tabLst>
            </a:pPr>
            <a:r>
              <a:rPr lang="en-US" sz="2800" b="1" spc="-10" dirty="0">
                <a:solidFill>
                  <a:schemeClr val="tx2"/>
                </a:solidFill>
                <a:ea typeface="Nirmala UI Semilight" panose="020B0402040204020203" pitchFamily="34" charset="0"/>
                <a:cs typeface="Nirmala UI Semilight" panose="020B0402040204020203" pitchFamily="34" charset="0"/>
              </a:rPr>
              <a:t>Azure organizes your environment into hierarchical scopes:</a:t>
            </a:r>
          </a:p>
          <a:p>
            <a:pPr marL="698500" lvl="1" indent="-228600">
              <a:spcBef>
                <a:spcPts val="340"/>
              </a:spcBef>
              <a:buFont typeface="Arial"/>
              <a:buChar char="•"/>
              <a:tabLst>
                <a:tab pos="241300" algn="l"/>
              </a:tabLst>
            </a:pPr>
            <a:r>
              <a:rPr lang="en-US" sz="2800" spc="-10" dirty="0">
                <a:ea typeface="Nirmala UI Semilight" panose="020B0402040204020203" pitchFamily="34" charset="0"/>
                <a:cs typeface="Nirmala UI Semilight" panose="020B0402040204020203" pitchFamily="34" charset="0"/>
              </a:rPr>
              <a:t>Management Groups (optional)</a:t>
            </a:r>
          </a:p>
          <a:p>
            <a:pPr marL="698500" lvl="1" indent="-228600">
              <a:spcBef>
                <a:spcPts val="340"/>
              </a:spcBef>
              <a:buFont typeface="Arial"/>
              <a:buChar char="•"/>
              <a:tabLst>
                <a:tab pos="241300" algn="l"/>
              </a:tabLst>
            </a:pPr>
            <a:r>
              <a:rPr lang="en-US" sz="2800" spc="-10" dirty="0">
                <a:ea typeface="Nirmala UI Semilight" panose="020B0402040204020203" pitchFamily="34" charset="0"/>
                <a:cs typeface="Nirmala UI Semilight" panose="020B0402040204020203" pitchFamily="34" charset="0"/>
              </a:rPr>
              <a:t>Subscriptions (Billing Boundary)</a:t>
            </a:r>
          </a:p>
          <a:p>
            <a:pPr marL="698500" lvl="1" indent="-228600">
              <a:spcBef>
                <a:spcPts val="340"/>
              </a:spcBef>
              <a:buFont typeface="Arial"/>
              <a:buChar char="•"/>
              <a:tabLst>
                <a:tab pos="241300" algn="l"/>
              </a:tabLst>
            </a:pPr>
            <a:r>
              <a:rPr lang="en-US" sz="2800" spc="-10" dirty="0">
                <a:ea typeface="Nirmala UI Semilight" panose="020B0402040204020203" pitchFamily="34" charset="0"/>
                <a:cs typeface="Nirmala UI Semilight" panose="020B0402040204020203" pitchFamily="34" charset="0"/>
              </a:rPr>
              <a:t>Resource Groups (logical containers)</a:t>
            </a:r>
          </a:p>
          <a:p>
            <a:pPr marL="698500" lvl="1" indent="-228600">
              <a:spcBef>
                <a:spcPts val="340"/>
              </a:spcBef>
              <a:buFont typeface="Arial"/>
              <a:buChar char="•"/>
              <a:tabLst>
                <a:tab pos="241300" algn="l"/>
              </a:tabLst>
            </a:pPr>
            <a:r>
              <a:rPr lang="en-US" sz="2800" spc="-10" dirty="0">
                <a:ea typeface="Nirmala UI Semilight" panose="020B0402040204020203" pitchFamily="34" charset="0"/>
                <a:cs typeface="Nirmala UI Semilight" panose="020B0402040204020203" pitchFamily="34" charset="0"/>
              </a:rPr>
              <a:t>Resources (VMs, </a:t>
            </a:r>
            <a:r>
              <a:rPr lang="en-US" sz="2800" spc="-10" dirty="0" err="1">
                <a:ea typeface="Nirmala UI Semilight" panose="020B0402040204020203" pitchFamily="34" charset="0"/>
                <a:cs typeface="Nirmala UI Semilight" panose="020B0402040204020203" pitchFamily="34" charset="0"/>
              </a:rPr>
              <a:t>Vnets</a:t>
            </a:r>
            <a:r>
              <a:rPr lang="en-US" sz="2800" spc="-10" dirty="0">
                <a:ea typeface="Nirmala UI Semilight" panose="020B0402040204020203" pitchFamily="34" charset="0"/>
                <a:cs typeface="Nirmala UI Semilight" panose="020B0402040204020203" pitchFamily="34" charset="0"/>
              </a:rPr>
              <a:t>, Storage, etc.)</a:t>
            </a:r>
          </a:p>
          <a:p>
            <a:pPr marL="241300" indent="-228600">
              <a:spcBef>
                <a:spcPts val="340"/>
              </a:spcBef>
              <a:buFont typeface="Arial"/>
              <a:buChar char="•"/>
              <a:tabLst>
                <a:tab pos="241300" algn="l"/>
              </a:tabLst>
            </a:pPr>
            <a:r>
              <a:rPr lang="en-US" sz="2400" spc="-10" dirty="0">
                <a:ea typeface="Nirmala UI Semilight" panose="020B0402040204020203" pitchFamily="34" charset="0"/>
                <a:cs typeface="Nirmala UI Semilight" panose="020B0402040204020203" pitchFamily="34" charset="0"/>
              </a:rPr>
              <a:t>You apply RBAC, Policies, and Tags at any Scope Level</a:t>
            </a:r>
          </a:p>
          <a:p>
            <a:pPr marL="241300" indent="-228600">
              <a:spcBef>
                <a:spcPts val="340"/>
              </a:spcBef>
              <a:buFont typeface="Arial"/>
              <a:buChar char="•"/>
              <a:tabLst>
                <a:tab pos="241300" algn="l"/>
              </a:tabLst>
            </a:pPr>
            <a:r>
              <a:rPr lang="en-US" sz="2400" spc="-10" dirty="0">
                <a:ea typeface="Nirmala UI Semilight" panose="020B0402040204020203" pitchFamily="34" charset="0"/>
                <a:cs typeface="Nirmala UI Semilight" panose="020B0402040204020203" pitchFamily="34" charset="0"/>
              </a:rPr>
              <a:t>ARM Provides declarative deployment and ensures resources are deployed in the correct order.</a:t>
            </a:r>
          </a:p>
          <a:p>
            <a:pPr marL="241300" indent="-228600">
              <a:spcBef>
                <a:spcPts val="340"/>
              </a:spcBef>
              <a:buFont typeface="Arial"/>
              <a:buChar char="•"/>
              <a:tabLst>
                <a:tab pos="241300" algn="l"/>
              </a:tabLst>
            </a:pPr>
            <a:r>
              <a:rPr lang="en-US" sz="2400" spc="-10" dirty="0">
                <a:ea typeface="Nirmala UI Semilight" panose="020B0402040204020203" pitchFamily="34" charset="0"/>
                <a:cs typeface="Nirmala UI Semilight" panose="020B0402040204020203" pitchFamily="34" charset="0"/>
              </a:rPr>
              <a:t>Tools like Bicep let you describe your desired state and let Azure handle the rest.</a:t>
            </a:r>
          </a:p>
        </p:txBody>
      </p:sp>
      <p:sp>
        <p:nvSpPr>
          <p:cNvPr id="32" name="Slide Number Placeholder 4">
            <a:extLst>
              <a:ext uri="{FF2B5EF4-FFF2-40B4-BE49-F238E27FC236}">
                <a16:creationId xmlns:a16="http://schemas.microsoft.com/office/drawing/2014/main" id="{4DF7CFB6-350E-D574-F6D3-0FAEA43B110D}"/>
              </a:ext>
            </a:extLst>
          </p:cNvPr>
          <p:cNvSpPr txBox="1">
            <a:spLocks/>
          </p:cNvSpPr>
          <p:nvPr/>
        </p:nvSpPr>
        <p:spPr>
          <a:xfrm>
            <a:off x="8610600" y="6356350"/>
            <a:ext cx="2743200" cy="3651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2400" b="1" i="0" u="none" strike="noStrike" kern="1200" cap="none" spc="0" normalizeH="0" baseline="0">
                <a:ln>
                  <a:noFill/>
                </a:ln>
                <a:solidFill>
                  <a:srgbClr val="D1282E"/>
                </a:solidFill>
                <a:effectLst/>
                <a:uFillTx/>
                <a:latin typeface="Arial"/>
                <a:ea typeface="Arial"/>
                <a:cs typeface="Arial"/>
                <a:sym typeface="Arial"/>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3</a:t>
            </a:fld>
            <a:endParaRPr lang="en-US" dirty="0"/>
          </a:p>
        </p:txBody>
      </p:sp>
    </p:spTree>
    <p:extLst>
      <p:ext uri="{BB962C8B-B14F-4D97-AF65-F5344CB8AC3E}">
        <p14:creationId xmlns:p14="http://schemas.microsoft.com/office/powerpoint/2010/main" val="514856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37C58-1A57-52A1-A0D4-383F10ABF5FE}"/>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728B8562-C03B-926D-B6D1-3357FEC31764}"/>
              </a:ext>
            </a:extLst>
          </p:cNvPr>
          <p:cNvSpPr txBox="1">
            <a:spLocks noGrp="1"/>
          </p:cNvSpPr>
          <p:nvPr>
            <p:ph type="title"/>
          </p:nvPr>
        </p:nvSpPr>
        <p:spPr>
          <a:xfrm>
            <a:off x="160256" y="-94268"/>
            <a:ext cx="11706912" cy="1325563"/>
          </a:xfrm>
          <a:prstGeom prst="rect">
            <a:avLst/>
          </a:prstGeom>
        </p:spPr>
        <p:txBody>
          <a:bodyPr>
            <a:normAutofit/>
          </a:bodyPr>
          <a:lstStyle>
            <a:lvl1pPr defTabSz="905255">
              <a:defRPr sz="3564" spc="-99"/>
            </a:lvl1pPr>
          </a:lstStyle>
          <a:p>
            <a:pPr algn="l"/>
            <a:r>
              <a:rPr lang="en-US" sz="4000" b="1" dirty="0">
                <a:solidFill>
                  <a:schemeClr val="accent2"/>
                </a:solidFill>
                <a:latin typeface="+mn-lt"/>
                <a:ea typeface="Nirmala UI Semilight" panose="020B0402040204020203" pitchFamily="34" charset="0"/>
                <a:cs typeface="Nirmala UI Semilight" panose="020B0402040204020203" pitchFamily="34" charset="0"/>
              </a:rPr>
              <a:t>Resources, Groups, and Scopes</a:t>
            </a:r>
            <a:endParaRPr sz="4000" dirty="0">
              <a:solidFill>
                <a:schemeClr val="accent2"/>
              </a:solidFill>
              <a:latin typeface="+mn-lt"/>
              <a:ea typeface="Nirmala UI Semilight" panose="020B0402040204020203" pitchFamily="34" charset="0"/>
              <a:cs typeface="Nirmala UI Semilight" panose="020B0402040204020203" pitchFamily="34" charset="0"/>
            </a:endParaRPr>
          </a:p>
        </p:txBody>
      </p:sp>
      <p:sp>
        <p:nvSpPr>
          <p:cNvPr id="32" name="Slide Number Placeholder 4">
            <a:extLst>
              <a:ext uri="{FF2B5EF4-FFF2-40B4-BE49-F238E27FC236}">
                <a16:creationId xmlns:a16="http://schemas.microsoft.com/office/drawing/2014/main" id="{30BF53F3-05B8-FCFE-8405-6B79E89D7BA8}"/>
              </a:ext>
            </a:extLst>
          </p:cNvPr>
          <p:cNvSpPr txBox="1">
            <a:spLocks/>
          </p:cNvSpPr>
          <p:nvPr/>
        </p:nvSpPr>
        <p:spPr>
          <a:xfrm>
            <a:off x="8610600" y="6356350"/>
            <a:ext cx="2743200"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2400" b="1" i="0" u="none" strike="noStrike" kern="1200" cap="none" spc="0" normalizeH="0" baseline="0">
                <a:ln>
                  <a:noFill/>
                </a:ln>
                <a:solidFill>
                  <a:srgbClr val="D1282E"/>
                </a:solidFill>
                <a:effectLst/>
                <a:uFillTx/>
                <a:latin typeface="Arial"/>
                <a:ea typeface="Arial"/>
                <a:cs typeface="Arial"/>
                <a:sym typeface="Arial"/>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4</a:t>
            </a:fld>
            <a:endParaRPr lang="en-US" dirty="0"/>
          </a:p>
        </p:txBody>
      </p:sp>
      <p:graphicFrame>
        <p:nvGraphicFramePr>
          <p:cNvPr id="2" name="Diagram 1">
            <a:extLst>
              <a:ext uri="{FF2B5EF4-FFF2-40B4-BE49-F238E27FC236}">
                <a16:creationId xmlns:a16="http://schemas.microsoft.com/office/drawing/2014/main" id="{516BA9C2-6889-A7D8-0C64-5BC1CD929001}"/>
              </a:ext>
            </a:extLst>
          </p:cNvPr>
          <p:cNvGraphicFramePr/>
          <p:nvPr>
            <p:extLst>
              <p:ext uri="{D42A27DB-BD31-4B8C-83A1-F6EECF244321}">
                <p14:modId xmlns:p14="http://schemas.microsoft.com/office/powerpoint/2010/main" val="1918273907"/>
              </p:ext>
            </p:extLst>
          </p:nvPr>
        </p:nvGraphicFramePr>
        <p:xfrm>
          <a:off x="2032000" y="937683"/>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7961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lide Number Placeholder 4"/>
          <p:cNvSpPr txBox="1">
            <a:spLocks noGrp="1"/>
          </p:cNvSpPr>
          <p:nvPr>
            <p:ph type="sldNum" sz="quarter" idx="12"/>
          </p:nvPr>
        </p:nvSpPr>
        <p:spPr>
          <a:xfrm rot="16200000">
            <a:off x="11638915" y="5837228"/>
            <a:ext cx="416138"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latin typeface="Nirmala UI Semilight" panose="020B0402040204020203" pitchFamily="34" charset="0"/>
                <a:ea typeface="Nirmala UI Semilight" panose="020B0402040204020203" pitchFamily="34" charset="0"/>
                <a:cs typeface="Nirmala UI Semilight" panose="020B0402040204020203" pitchFamily="34" charset="0"/>
              </a:rPr>
              <a:pPr/>
              <a:t>5</a:t>
            </a:fld>
            <a:endParaRPr>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sp>
        <p:nvSpPr>
          <p:cNvPr id="7" name="Path1836">
            <a:extLst>
              <a:ext uri="{FF2B5EF4-FFF2-40B4-BE49-F238E27FC236}">
                <a16:creationId xmlns:a16="http://schemas.microsoft.com/office/drawing/2014/main" id="{3CD03529-BCBB-504C-99B3-9ACBC8CB0BAB}"/>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grpSp>
        <p:nvGrpSpPr>
          <p:cNvPr id="8" name="Group1837">
            <a:extLst>
              <a:ext uri="{FF2B5EF4-FFF2-40B4-BE49-F238E27FC236}">
                <a16:creationId xmlns:a16="http://schemas.microsoft.com/office/drawing/2014/main" id="{B5E25CFC-E121-F649-B261-651378E07330}"/>
              </a:ext>
            </a:extLst>
          </p:cNvPr>
          <p:cNvGrpSpPr/>
          <p:nvPr/>
        </p:nvGrpSpPr>
        <p:grpSpPr>
          <a:xfrm>
            <a:off x="644479" y="3684327"/>
            <a:ext cx="5257800" cy="1618488"/>
            <a:chOff x="701040" y="4088892"/>
            <a:chExt cx="5257800" cy="1618488"/>
          </a:xfrm>
        </p:grpSpPr>
        <p:sp>
          <p:nvSpPr>
            <p:cNvPr id="9" name="Path1838">
              <a:extLst>
                <a:ext uri="{FF2B5EF4-FFF2-40B4-BE49-F238E27FC236}">
                  <a16:creationId xmlns:a16="http://schemas.microsoft.com/office/drawing/2014/main" id="{D853DA68-73FD-DB4C-83E8-20EB9AB068C6}"/>
                </a:ext>
              </a:extLst>
            </p:cNvPr>
            <p:cNvSpPr/>
            <p:nvPr/>
          </p:nvSpPr>
          <p:spPr>
            <a:xfrm>
              <a:off x="701040" y="4088892"/>
              <a:ext cx="5257800" cy="1618488"/>
            </a:xfrm>
            <a:custGeom>
              <a:avLst/>
              <a:gdLst/>
              <a:ahLst/>
              <a:cxnLst/>
              <a:rect l="l" t="t" r="r" b="b"/>
              <a:pathLst>
                <a:path w="5257800" h="1618488">
                  <a:moveTo>
                    <a:pt x="0" y="1618488"/>
                  </a:moveTo>
                  <a:lnTo>
                    <a:pt x="5257800" y="1618488"/>
                  </a:lnTo>
                  <a:lnTo>
                    <a:pt x="5257800" y="0"/>
                  </a:lnTo>
                  <a:lnTo>
                    <a:pt x="0" y="0"/>
                  </a:lnTo>
                  <a:lnTo>
                    <a:pt x="0" y="1618488"/>
                  </a:lnTo>
                  <a:close/>
                </a:path>
              </a:pathLst>
            </a:custGeom>
            <a:solidFill>
              <a:srgbClr val="F05A28">
                <a:alpha val="100000"/>
              </a:srgbClr>
            </a:solidFill>
            <a:ln w="0" cap="sq">
              <a:solidFill>
                <a:srgbClr val="F05A28"/>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10" name="Image1839">
              <a:extLst>
                <a:ext uri="{FF2B5EF4-FFF2-40B4-BE49-F238E27FC236}">
                  <a16:creationId xmlns:a16="http://schemas.microsoft.com/office/drawing/2014/main" id="{3C6A1345-154A-4649-BA56-D4EA713B6180}"/>
                </a:ext>
              </a:extLst>
            </p:cNvPr>
            <p:cNvPicPr>
              <a:picLocks noChangeAspect="1"/>
            </p:cNvPicPr>
            <p:nvPr/>
          </p:nvPicPr>
          <p:blipFill>
            <a:blip r:embed="rId3"/>
            <a:stretch>
              <a:fillRect/>
            </a:stretch>
          </p:blipFill>
          <p:spPr>
            <a:xfrm>
              <a:off x="1959229" y="4624451"/>
              <a:ext cx="2861183" cy="274320"/>
            </a:xfrm>
            <a:prstGeom prst="rect">
              <a:avLst/>
            </a:prstGeom>
            <a:noFill/>
          </p:spPr>
        </p:pic>
        <p:pic>
          <p:nvPicPr>
            <p:cNvPr id="11" name="Image1840">
              <a:extLst>
                <a:ext uri="{FF2B5EF4-FFF2-40B4-BE49-F238E27FC236}">
                  <a16:creationId xmlns:a16="http://schemas.microsoft.com/office/drawing/2014/main" id="{C077977A-ED75-F448-9A00-32BBE40741E3}"/>
                </a:ext>
              </a:extLst>
            </p:cNvPr>
            <p:cNvPicPr>
              <a:picLocks noChangeAspect="1"/>
            </p:cNvPicPr>
            <p:nvPr/>
          </p:nvPicPr>
          <p:blipFill>
            <a:blip r:embed="rId4"/>
            <a:stretch>
              <a:fillRect/>
            </a:stretch>
          </p:blipFill>
          <p:spPr>
            <a:xfrm>
              <a:off x="1809877" y="4898771"/>
              <a:ext cx="3145536" cy="274320"/>
            </a:xfrm>
            <a:prstGeom prst="rect">
              <a:avLst/>
            </a:prstGeom>
            <a:noFill/>
          </p:spPr>
        </p:pic>
      </p:grpSp>
      <p:grpSp>
        <p:nvGrpSpPr>
          <p:cNvPr id="12" name="Group1841">
            <a:extLst>
              <a:ext uri="{FF2B5EF4-FFF2-40B4-BE49-F238E27FC236}">
                <a16:creationId xmlns:a16="http://schemas.microsoft.com/office/drawing/2014/main" id="{0BCD4272-8548-8E4E-8ADD-BE8093AB7A10}"/>
              </a:ext>
            </a:extLst>
          </p:cNvPr>
          <p:cNvGrpSpPr/>
          <p:nvPr/>
        </p:nvGrpSpPr>
        <p:grpSpPr>
          <a:xfrm>
            <a:off x="6161359" y="1788471"/>
            <a:ext cx="5257800" cy="1620012"/>
            <a:chOff x="6217920" y="2193036"/>
            <a:chExt cx="5257800" cy="1620012"/>
          </a:xfrm>
        </p:grpSpPr>
        <p:sp>
          <p:nvSpPr>
            <p:cNvPr id="13" name="Path1842">
              <a:extLst>
                <a:ext uri="{FF2B5EF4-FFF2-40B4-BE49-F238E27FC236}">
                  <a16:creationId xmlns:a16="http://schemas.microsoft.com/office/drawing/2014/main" id="{F4DA020F-C5DC-4344-BDB1-30CABCCFC651}"/>
                </a:ext>
              </a:extLst>
            </p:cNvPr>
            <p:cNvSpPr/>
            <p:nvPr/>
          </p:nvSpPr>
          <p:spPr>
            <a:xfrm>
              <a:off x="6217920" y="2193036"/>
              <a:ext cx="5257800" cy="1620012"/>
            </a:xfrm>
            <a:custGeom>
              <a:avLst/>
              <a:gdLst/>
              <a:ahLst/>
              <a:cxnLst/>
              <a:rect l="l" t="t" r="r" b="b"/>
              <a:pathLst>
                <a:path w="5257800" h="1620012">
                  <a:moveTo>
                    <a:pt x="0" y="1620012"/>
                  </a:moveTo>
                  <a:lnTo>
                    <a:pt x="5257800" y="1620012"/>
                  </a:lnTo>
                  <a:lnTo>
                    <a:pt x="5257800" y="0"/>
                  </a:lnTo>
                  <a:lnTo>
                    <a:pt x="0" y="0"/>
                  </a:lnTo>
                  <a:lnTo>
                    <a:pt x="0" y="1620012"/>
                  </a:lnTo>
                  <a:close/>
                </a:path>
              </a:pathLst>
            </a:custGeom>
            <a:solidFill>
              <a:srgbClr val="A62E5C">
                <a:alpha val="100000"/>
              </a:srgbClr>
            </a:solidFill>
            <a:ln w="0" cap="sq">
              <a:solidFill>
                <a:srgbClr val="A62E5C"/>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14" name="Image1843">
              <a:extLst>
                <a:ext uri="{FF2B5EF4-FFF2-40B4-BE49-F238E27FC236}">
                  <a16:creationId xmlns:a16="http://schemas.microsoft.com/office/drawing/2014/main" id="{E8EE4F5D-410A-AB4F-AB52-E5FD7487D3C3}"/>
                </a:ext>
              </a:extLst>
            </p:cNvPr>
            <p:cNvPicPr>
              <a:picLocks noChangeAspect="1"/>
            </p:cNvPicPr>
            <p:nvPr/>
          </p:nvPicPr>
          <p:blipFill>
            <a:blip r:embed="rId5"/>
            <a:stretch>
              <a:fillRect/>
            </a:stretch>
          </p:blipFill>
          <p:spPr>
            <a:xfrm>
              <a:off x="6662039" y="2729230"/>
              <a:ext cx="4556887" cy="274320"/>
            </a:xfrm>
            <a:prstGeom prst="rect">
              <a:avLst/>
            </a:prstGeom>
            <a:noFill/>
          </p:spPr>
        </p:pic>
        <p:pic>
          <p:nvPicPr>
            <p:cNvPr id="15" name="Image1844">
              <a:extLst>
                <a:ext uri="{FF2B5EF4-FFF2-40B4-BE49-F238E27FC236}">
                  <a16:creationId xmlns:a16="http://schemas.microsoft.com/office/drawing/2014/main" id="{48AC4548-FB1A-094D-A263-AD68BDC9B646}"/>
                </a:ext>
              </a:extLst>
            </p:cNvPr>
            <p:cNvPicPr>
              <a:picLocks noChangeAspect="1"/>
            </p:cNvPicPr>
            <p:nvPr/>
          </p:nvPicPr>
          <p:blipFill>
            <a:blip r:embed="rId6"/>
            <a:stretch>
              <a:fillRect/>
            </a:stretch>
          </p:blipFill>
          <p:spPr>
            <a:xfrm>
              <a:off x="7096379" y="3003245"/>
              <a:ext cx="2999487" cy="274625"/>
            </a:xfrm>
            <a:prstGeom prst="rect">
              <a:avLst/>
            </a:prstGeom>
            <a:noFill/>
          </p:spPr>
        </p:pic>
        <p:pic>
          <p:nvPicPr>
            <p:cNvPr id="16" name="Image1845">
              <a:extLst>
                <a:ext uri="{FF2B5EF4-FFF2-40B4-BE49-F238E27FC236}">
                  <a16:creationId xmlns:a16="http://schemas.microsoft.com/office/drawing/2014/main" id="{7D4FB9A2-3856-8F4E-A8BA-FA987F77126D}"/>
                </a:ext>
              </a:extLst>
            </p:cNvPr>
            <p:cNvPicPr>
              <a:picLocks noChangeAspect="1"/>
            </p:cNvPicPr>
            <p:nvPr/>
          </p:nvPicPr>
          <p:blipFill>
            <a:blip r:embed="rId7"/>
            <a:stretch>
              <a:fillRect/>
            </a:stretch>
          </p:blipFill>
          <p:spPr>
            <a:xfrm>
              <a:off x="10002902" y="3003245"/>
              <a:ext cx="713600" cy="274625"/>
            </a:xfrm>
            <a:prstGeom prst="rect">
              <a:avLst/>
            </a:prstGeom>
            <a:noFill/>
          </p:spPr>
        </p:pic>
      </p:grpSp>
      <p:grpSp>
        <p:nvGrpSpPr>
          <p:cNvPr id="17" name="Group1846">
            <a:extLst>
              <a:ext uri="{FF2B5EF4-FFF2-40B4-BE49-F238E27FC236}">
                <a16:creationId xmlns:a16="http://schemas.microsoft.com/office/drawing/2014/main" id="{786FD202-C46F-7742-9C1F-5E2BAE37E47C}"/>
              </a:ext>
            </a:extLst>
          </p:cNvPr>
          <p:cNvGrpSpPr/>
          <p:nvPr/>
        </p:nvGrpSpPr>
        <p:grpSpPr>
          <a:xfrm>
            <a:off x="631966" y="1788471"/>
            <a:ext cx="5257800" cy="1620012"/>
            <a:chOff x="701040" y="2193036"/>
            <a:chExt cx="5257800" cy="1620012"/>
          </a:xfrm>
        </p:grpSpPr>
        <p:sp>
          <p:nvSpPr>
            <p:cNvPr id="18" name="Path1847">
              <a:extLst>
                <a:ext uri="{FF2B5EF4-FFF2-40B4-BE49-F238E27FC236}">
                  <a16:creationId xmlns:a16="http://schemas.microsoft.com/office/drawing/2014/main" id="{3EF1BEC1-E80E-DC4A-AAF5-73295C2AEDFF}"/>
                </a:ext>
              </a:extLst>
            </p:cNvPr>
            <p:cNvSpPr/>
            <p:nvPr/>
          </p:nvSpPr>
          <p:spPr>
            <a:xfrm>
              <a:off x="701040" y="2193036"/>
              <a:ext cx="5257800" cy="1620012"/>
            </a:xfrm>
            <a:custGeom>
              <a:avLst/>
              <a:gdLst/>
              <a:ahLst/>
              <a:cxnLst/>
              <a:rect l="l" t="t" r="r" b="b"/>
              <a:pathLst>
                <a:path w="5257800" h="1620012">
                  <a:moveTo>
                    <a:pt x="0" y="1620012"/>
                  </a:moveTo>
                  <a:lnTo>
                    <a:pt x="5257800" y="1620012"/>
                  </a:lnTo>
                  <a:lnTo>
                    <a:pt x="5257800" y="0"/>
                  </a:lnTo>
                  <a:lnTo>
                    <a:pt x="0" y="0"/>
                  </a:lnTo>
                  <a:lnTo>
                    <a:pt x="0" y="1620012"/>
                  </a:lnTo>
                  <a:close/>
                </a:path>
              </a:pathLst>
            </a:custGeom>
            <a:solidFill>
              <a:srgbClr val="675BA7">
                <a:alpha val="100000"/>
              </a:srgbClr>
            </a:solidFill>
            <a:ln w="0" cap="sq">
              <a:solidFill>
                <a:srgbClr val="675BA7"/>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19" name="Image1848">
              <a:extLst>
                <a:ext uri="{FF2B5EF4-FFF2-40B4-BE49-F238E27FC236}">
                  <a16:creationId xmlns:a16="http://schemas.microsoft.com/office/drawing/2014/main" id="{365ED2C7-BBF8-1F4A-B863-AED31BA93BA3}"/>
                </a:ext>
              </a:extLst>
            </p:cNvPr>
            <p:cNvPicPr>
              <a:picLocks noChangeAspect="1"/>
            </p:cNvPicPr>
            <p:nvPr/>
          </p:nvPicPr>
          <p:blipFill>
            <a:blip r:embed="rId8"/>
            <a:stretch>
              <a:fillRect/>
            </a:stretch>
          </p:blipFill>
          <p:spPr>
            <a:xfrm>
              <a:off x="1466977" y="2729230"/>
              <a:ext cx="2122932" cy="274320"/>
            </a:xfrm>
            <a:prstGeom prst="rect">
              <a:avLst/>
            </a:prstGeom>
            <a:noFill/>
          </p:spPr>
        </p:pic>
        <p:pic>
          <p:nvPicPr>
            <p:cNvPr id="20" name="Image1849">
              <a:extLst>
                <a:ext uri="{FF2B5EF4-FFF2-40B4-BE49-F238E27FC236}">
                  <a16:creationId xmlns:a16="http://schemas.microsoft.com/office/drawing/2014/main" id="{E1550102-215C-6543-982B-B1A8F1401FC5}"/>
                </a:ext>
              </a:extLst>
            </p:cNvPr>
            <p:cNvPicPr>
              <a:picLocks noChangeAspect="1"/>
            </p:cNvPicPr>
            <p:nvPr/>
          </p:nvPicPr>
          <p:blipFill>
            <a:blip r:embed="rId9"/>
            <a:stretch>
              <a:fillRect/>
            </a:stretch>
          </p:blipFill>
          <p:spPr>
            <a:xfrm>
              <a:off x="3497326" y="2729230"/>
              <a:ext cx="1884045" cy="274320"/>
            </a:xfrm>
            <a:prstGeom prst="rect">
              <a:avLst/>
            </a:prstGeom>
            <a:noFill/>
          </p:spPr>
        </p:pic>
        <p:pic>
          <p:nvPicPr>
            <p:cNvPr id="21" name="Image1850">
              <a:extLst>
                <a:ext uri="{FF2B5EF4-FFF2-40B4-BE49-F238E27FC236}">
                  <a16:creationId xmlns:a16="http://schemas.microsoft.com/office/drawing/2014/main" id="{08B54256-10AD-6F4C-9DD5-0AC1DB9D71D3}"/>
                </a:ext>
              </a:extLst>
            </p:cNvPr>
            <p:cNvPicPr>
              <a:picLocks noChangeAspect="1"/>
            </p:cNvPicPr>
            <p:nvPr/>
          </p:nvPicPr>
          <p:blipFill>
            <a:blip r:embed="rId10"/>
            <a:stretch>
              <a:fillRect/>
            </a:stretch>
          </p:blipFill>
          <p:spPr>
            <a:xfrm>
              <a:off x="1660525" y="3003245"/>
              <a:ext cx="3450718" cy="274625"/>
            </a:xfrm>
            <a:prstGeom prst="rect">
              <a:avLst/>
            </a:prstGeom>
            <a:noFill/>
          </p:spPr>
        </p:pic>
      </p:grpSp>
      <p:grpSp>
        <p:nvGrpSpPr>
          <p:cNvPr id="22" name="Group1852">
            <a:extLst>
              <a:ext uri="{FF2B5EF4-FFF2-40B4-BE49-F238E27FC236}">
                <a16:creationId xmlns:a16="http://schemas.microsoft.com/office/drawing/2014/main" id="{B3D4BD4B-2EA6-4044-903D-CBCB67CB5375}"/>
              </a:ext>
            </a:extLst>
          </p:cNvPr>
          <p:cNvGrpSpPr/>
          <p:nvPr/>
        </p:nvGrpSpPr>
        <p:grpSpPr>
          <a:xfrm>
            <a:off x="6161359" y="3684327"/>
            <a:ext cx="5257800" cy="1618488"/>
            <a:chOff x="6217920" y="4088892"/>
            <a:chExt cx="5257800" cy="1618488"/>
          </a:xfrm>
        </p:grpSpPr>
        <p:sp>
          <p:nvSpPr>
            <p:cNvPr id="23" name="Path1853">
              <a:extLst>
                <a:ext uri="{FF2B5EF4-FFF2-40B4-BE49-F238E27FC236}">
                  <a16:creationId xmlns:a16="http://schemas.microsoft.com/office/drawing/2014/main" id="{C5FD7EAE-5DBE-9E45-871F-7AF0B961C430}"/>
                </a:ext>
              </a:extLst>
            </p:cNvPr>
            <p:cNvSpPr/>
            <p:nvPr/>
          </p:nvSpPr>
          <p:spPr>
            <a:xfrm>
              <a:off x="6217920" y="4088892"/>
              <a:ext cx="5257800" cy="1618488"/>
            </a:xfrm>
            <a:custGeom>
              <a:avLst/>
              <a:gdLst/>
              <a:ahLst/>
              <a:cxnLst/>
              <a:rect l="l" t="t" r="r" b="b"/>
              <a:pathLst>
                <a:path w="5257800" h="1618488">
                  <a:moveTo>
                    <a:pt x="0" y="1618488"/>
                  </a:moveTo>
                  <a:lnTo>
                    <a:pt x="5257800" y="1618488"/>
                  </a:lnTo>
                  <a:lnTo>
                    <a:pt x="5257800" y="0"/>
                  </a:lnTo>
                  <a:lnTo>
                    <a:pt x="0" y="0"/>
                  </a:lnTo>
                  <a:lnTo>
                    <a:pt x="0" y="1618488"/>
                  </a:lnTo>
                  <a:close/>
                </a:path>
              </a:pathLst>
            </a:custGeom>
            <a:solidFill>
              <a:srgbClr val="9BC850">
                <a:alpha val="100000"/>
              </a:srgbClr>
            </a:solidFill>
            <a:ln w="0" cap="sq">
              <a:solidFill>
                <a:srgbClr val="9BC850"/>
              </a:solidFill>
              <a:prstDash val="solid"/>
            </a:ln>
          </p:spPr>
          <p:txBody>
            <a:bodyPr rtlCol="0" anchor="ctr"/>
            <a:lstStyle/>
            <a:p>
              <a:pPr algn="ctr"/>
              <a:endParaRPr lang="en-US" altLang="zh-CN">
                <a:latin typeface="Nirmala UI Semilight" panose="020B0402040204020203" pitchFamily="34" charset="0"/>
                <a:ea typeface="Nirmala UI Semilight" panose="020B0402040204020203" pitchFamily="34" charset="0"/>
                <a:cs typeface="Nirmala UI Semilight" panose="020B0402040204020203" pitchFamily="34" charset="0"/>
              </a:endParaRPr>
            </a:p>
          </p:txBody>
        </p:sp>
        <p:pic>
          <p:nvPicPr>
            <p:cNvPr id="24" name="Image1854">
              <a:extLst>
                <a:ext uri="{FF2B5EF4-FFF2-40B4-BE49-F238E27FC236}">
                  <a16:creationId xmlns:a16="http://schemas.microsoft.com/office/drawing/2014/main" id="{2F502CF6-E846-4D41-9985-73E7AAB9BEEA}"/>
                </a:ext>
              </a:extLst>
            </p:cNvPr>
            <p:cNvPicPr>
              <a:picLocks noChangeAspect="1"/>
            </p:cNvPicPr>
            <p:nvPr/>
          </p:nvPicPr>
          <p:blipFill>
            <a:blip r:embed="rId11"/>
            <a:stretch>
              <a:fillRect/>
            </a:stretch>
          </p:blipFill>
          <p:spPr>
            <a:xfrm>
              <a:off x="7134479" y="4350131"/>
              <a:ext cx="833883" cy="274320"/>
            </a:xfrm>
            <a:prstGeom prst="rect">
              <a:avLst/>
            </a:prstGeom>
            <a:noFill/>
          </p:spPr>
        </p:pic>
        <p:pic>
          <p:nvPicPr>
            <p:cNvPr id="25" name="Image1855">
              <a:extLst>
                <a:ext uri="{FF2B5EF4-FFF2-40B4-BE49-F238E27FC236}">
                  <a16:creationId xmlns:a16="http://schemas.microsoft.com/office/drawing/2014/main" id="{E4790100-D10D-F942-82FC-A73F1CA20AF7}"/>
                </a:ext>
              </a:extLst>
            </p:cNvPr>
            <p:cNvPicPr>
              <a:picLocks noChangeAspect="1"/>
            </p:cNvPicPr>
            <p:nvPr/>
          </p:nvPicPr>
          <p:blipFill>
            <a:blip r:embed="rId12"/>
            <a:stretch>
              <a:fillRect/>
            </a:stretch>
          </p:blipFill>
          <p:spPr>
            <a:xfrm>
              <a:off x="7875397" y="4350131"/>
              <a:ext cx="2879343" cy="274320"/>
            </a:xfrm>
            <a:prstGeom prst="rect">
              <a:avLst/>
            </a:prstGeom>
            <a:noFill/>
          </p:spPr>
        </p:pic>
        <p:pic>
          <p:nvPicPr>
            <p:cNvPr id="26" name="Image1856">
              <a:extLst>
                <a:ext uri="{FF2B5EF4-FFF2-40B4-BE49-F238E27FC236}">
                  <a16:creationId xmlns:a16="http://schemas.microsoft.com/office/drawing/2014/main" id="{9A6C5C5B-C6A2-C64F-A75C-B9F33D4A2D4F}"/>
                </a:ext>
              </a:extLst>
            </p:cNvPr>
            <p:cNvPicPr>
              <a:picLocks noChangeAspect="1"/>
            </p:cNvPicPr>
            <p:nvPr/>
          </p:nvPicPr>
          <p:blipFill>
            <a:blip r:embed="rId13"/>
            <a:stretch>
              <a:fillRect/>
            </a:stretch>
          </p:blipFill>
          <p:spPr>
            <a:xfrm>
              <a:off x="6544691" y="4624451"/>
              <a:ext cx="4791457" cy="274320"/>
            </a:xfrm>
            <a:prstGeom prst="rect">
              <a:avLst/>
            </a:prstGeom>
            <a:noFill/>
          </p:spPr>
        </p:pic>
        <p:pic>
          <p:nvPicPr>
            <p:cNvPr id="27" name="Image1857">
              <a:extLst>
                <a:ext uri="{FF2B5EF4-FFF2-40B4-BE49-F238E27FC236}">
                  <a16:creationId xmlns:a16="http://schemas.microsoft.com/office/drawing/2014/main" id="{E4F5BA52-FA7F-5D4F-8E45-94DD9B87A8D3}"/>
                </a:ext>
              </a:extLst>
            </p:cNvPr>
            <p:cNvPicPr>
              <a:picLocks noChangeAspect="1"/>
            </p:cNvPicPr>
            <p:nvPr/>
          </p:nvPicPr>
          <p:blipFill>
            <a:blip r:embed="rId14"/>
            <a:stretch>
              <a:fillRect/>
            </a:stretch>
          </p:blipFill>
          <p:spPr>
            <a:xfrm>
              <a:off x="6928739" y="4898771"/>
              <a:ext cx="4027933" cy="274320"/>
            </a:xfrm>
            <a:prstGeom prst="rect">
              <a:avLst/>
            </a:prstGeom>
            <a:noFill/>
          </p:spPr>
        </p:pic>
        <p:pic>
          <p:nvPicPr>
            <p:cNvPr id="28" name="Image1858">
              <a:extLst>
                <a:ext uri="{FF2B5EF4-FFF2-40B4-BE49-F238E27FC236}">
                  <a16:creationId xmlns:a16="http://schemas.microsoft.com/office/drawing/2014/main" id="{BAC2DB56-2EA0-474E-8FA8-D0BDA7B4D45D}"/>
                </a:ext>
              </a:extLst>
            </p:cNvPr>
            <p:cNvPicPr>
              <a:picLocks noChangeAspect="1"/>
            </p:cNvPicPr>
            <p:nvPr/>
          </p:nvPicPr>
          <p:blipFill>
            <a:blip r:embed="rId15"/>
            <a:stretch>
              <a:fillRect/>
            </a:stretch>
          </p:blipFill>
          <p:spPr>
            <a:xfrm>
              <a:off x="7439279" y="5173091"/>
              <a:ext cx="2932685" cy="274320"/>
            </a:xfrm>
            <a:prstGeom prst="rect">
              <a:avLst/>
            </a:prstGeom>
            <a:noFill/>
          </p:spPr>
        </p:pic>
      </p:grpSp>
      <p:sp>
        <p:nvSpPr>
          <p:cNvPr id="4" name="Title 1">
            <a:extLst>
              <a:ext uri="{FF2B5EF4-FFF2-40B4-BE49-F238E27FC236}">
                <a16:creationId xmlns:a16="http://schemas.microsoft.com/office/drawing/2014/main" id="{2D04326F-5101-BBEA-361F-D6A729954A09}"/>
              </a:ext>
            </a:extLst>
          </p:cNvPr>
          <p:cNvSpPr txBox="1">
            <a:spLocks/>
          </p:cNvSpPr>
          <p:nvPr/>
        </p:nvSpPr>
        <p:spPr>
          <a:xfrm>
            <a:off x="160256" y="-94268"/>
            <a:ext cx="11706912" cy="1325563"/>
          </a:xfrm>
          <a:prstGeom prst="rect">
            <a:avLst/>
          </a:prstGeom>
        </p:spPr>
        <p:txBody>
          <a:bodyPr vert="horz" lIns="91440" tIns="45720" rIns="91440" bIns="45720" rtlCol="0" anchor="ctr">
            <a:normAutofit/>
          </a:bodyPr>
          <a:lstStyle>
            <a:lvl1pPr algn="l" defTabSz="905255" rtl="0" eaLnBrk="1" latinLnBrk="0" hangingPunct="1">
              <a:lnSpc>
                <a:spcPct val="90000"/>
              </a:lnSpc>
              <a:spcBef>
                <a:spcPct val="0"/>
              </a:spcBef>
              <a:buNone/>
              <a:defRPr sz="3564" kern="1200" spc="-99">
                <a:solidFill>
                  <a:schemeClr val="tx1"/>
                </a:solidFill>
                <a:latin typeface="+mj-lt"/>
                <a:ea typeface="+mj-ea"/>
                <a:cs typeface="+mj-cs"/>
              </a:defRPr>
            </a:lvl1pPr>
          </a:lstStyle>
          <a:p>
            <a:r>
              <a:rPr lang="en-US" sz="4000" b="1" dirty="0">
                <a:solidFill>
                  <a:schemeClr val="accent2"/>
                </a:solidFill>
                <a:latin typeface="+mn-lt"/>
                <a:ea typeface="Nirmala UI Semilight" panose="020B0402040204020203" pitchFamily="34" charset="0"/>
                <a:cs typeface="Nirmala UI Semilight" panose="020B0402040204020203" pitchFamily="34" charset="0"/>
              </a:rPr>
              <a:t>Azure Resource Manager (ARM)</a:t>
            </a:r>
            <a:endParaRPr lang="en-US" sz="4000" dirty="0">
              <a:solidFill>
                <a:schemeClr val="accent2"/>
              </a:solidFill>
              <a:latin typeface="+mn-lt"/>
              <a:ea typeface="Nirmala UI Semilight" panose="020B0402040204020203" pitchFamily="34" charset="0"/>
              <a:cs typeface="Nirmala UI Semilight" panose="020B0402040204020203" pitchFamily="34" charset="0"/>
            </a:endParaRPr>
          </a:p>
        </p:txBody>
      </p:sp>
    </p:spTree>
    <p:extLst>
      <p:ext uri="{BB962C8B-B14F-4D97-AF65-F5344CB8AC3E}">
        <p14:creationId xmlns:p14="http://schemas.microsoft.com/office/powerpoint/2010/main" val="3016875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6</a:t>
            </a:fld>
            <a:endParaRPr dirty="0"/>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7" name="Path1836">
            <a:extLst>
              <a:ext uri="{FF2B5EF4-FFF2-40B4-BE49-F238E27FC236}">
                <a16:creationId xmlns:a16="http://schemas.microsoft.com/office/drawing/2014/main" id="{3CD03529-BCBB-504C-99B3-9ACBC8CB0BAB}"/>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grpSp>
        <p:nvGrpSpPr>
          <p:cNvPr id="29" name="Group1860">
            <a:extLst>
              <a:ext uri="{FF2B5EF4-FFF2-40B4-BE49-F238E27FC236}">
                <a16:creationId xmlns:a16="http://schemas.microsoft.com/office/drawing/2014/main" id="{9ABA1320-5A0F-6144-BE5D-E23DE5AFF616}"/>
              </a:ext>
            </a:extLst>
          </p:cNvPr>
          <p:cNvGrpSpPr/>
          <p:nvPr/>
        </p:nvGrpSpPr>
        <p:grpSpPr>
          <a:xfrm>
            <a:off x="4376928" y="2179320"/>
            <a:ext cx="3429000" cy="3496056"/>
            <a:chOff x="4376928" y="2179320"/>
            <a:chExt cx="3429000" cy="3496056"/>
          </a:xfrm>
        </p:grpSpPr>
        <p:sp>
          <p:nvSpPr>
            <p:cNvPr id="30" name="Path1861">
              <a:extLst>
                <a:ext uri="{FF2B5EF4-FFF2-40B4-BE49-F238E27FC236}">
                  <a16:creationId xmlns:a16="http://schemas.microsoft.com/office/drawing/2014/main" id="{41259176-3A41-614E-A1C2-01FC64749F97}"/>
                </a:ext>
              </a:extLst>
            </p:cNvPr>
            <p:cNvSpPr/>
            <p:nvPr/>
          </p:nvSpPr>
          <p:spPr>
            <a:xfrm>
              <a:off x="4376928" y="2179320"/>
              <a:ext cx="3429000" cy="3496056"/>
            </a:xfrm>
            <a:custGeom>
              <a:avLst/>
              <a:gdLst/>
              <a:ahLst/>
              <a:cxnLst/>
              <a:rect l="l" t="t" r="r" b="b"/>
              <a:pathLst>
                <a:path w="3429000" h="3496056">
                  <a:moveTo>
                    <a:pt x="0" y="3496056"/>
                  </a:moveTo>
                  <a:lnTo>
                    <a:pt x="3429000" y="3496056"/>
                  </a:lnTo>
                  <a:lnTo>
                    <a:pt x="3429000" y="0"/>
                  </a:lnTo>
                  <a:lnTo>
                    <a:pt x="0" y="0"/>
                  </a:lnTo>
                  <a:lnTo>
                    <a:pt x="0" y="3496056"/>
                  </a:lnTo>
                  <a:close/>
                </a:path>
              </a:pathLst>
            </a:custGeom>
            <a:solidFill>
              <a:srgbClr val="2A9FBC">
                <a:alpha val="100000"/>
              </a:srgbClr>
            </a:solidFill>
            <a:ln w="0" cap="sq">
              <a:solidFill>
                <a:srgbClr val="2A9FBC"/>
              </a:solidFill>
              <a:prstDash val="solid"/>
            </a:ln>
          </p:spPr>
          <p:txBody>
            <a:bodyPr rtlCol="0" anchor="ctr"/>
            <a:lstStyle/>
            <a:p>
              <a:pPr algn="ctr"/>
              <a:endParaRPr lang="en-US" altLang="zh-CN"/>
            </a:p>
          </p:txBody>
        </p:sp>
        <p:pic>
          <p:nvPicPr>
            <p:cNvPr id="31" name="Image1862">
              <a:extLst>
                <a:ext uri="{FF2B5EF4-FFF2-40B4-BE49-F238E27FC236}">
                  <a16:creationId xmlns:a16="http://schemas.microsoft.com/office/drawing/2014/main" id="{D5EF39CB-9A8A-E741-A86A-749E25505E4E}"/>
                </a:ext>
              </a:extLst>
            </p:cNvPr>
            <p:cNvPicPr>
              <a:picLocks noChangeAspect="1"/>
            </p:cNvPicPr>
            <p:nvPr/>
          </p:nvPicPr>
          <p:blipFill>
            <a:blip r:embed="rId3"/>
            <a:stretch>
              <a:fillRect/>
            </a:stretch>
          </p:blipFill>
          <p:spPr>
            <a:xfrm>
              <a:off x="5331206" y="3013202"/>
              <a:ext cx="1773937" cy="365760"/>
            </a:xfrm>
            <a:prstGeom prst="rect">
              <a:avLst/>
            </a:prstGeom>
            <a:noFill/>
          </p:spPr>
        </p:pic>
        <p:pic>
          <p:nvPicPr>
            <p:cNvPr id="32" name="Image1863">
              <a:extLst>
                <a:ext uri="{FF2B5EF4-FFF2-40B4-BE49-F238E27FC236}">
                  <a16:creationId xmlns:a16="http://schemas.microsoft.com/office/drawing/2014/main" id="{5DBB2672-FCB4-9041-B9D9-99A894440F97}"/>
                </a:ext>
              </a:extLst>
            </p:cNvPr>
            <p:cNvPicPr>
              <a:picLocks noChangeAspect="1"/>
            </p:cNvPicPr>
            <p:nvPr/>
          </p:nvPicPr>
          <p:blipFill>
            <a:blip r:embed="rId4"/>
            <a:stretch>
              <a:fillRect/>
            </a:stretch>
          </p:blipFill>
          <p:spPr>
            <a:xfrm>
              <a:off x="5219954" y="3378962"/>
              <a:ext cx="1991487" cy="365760"/>
            </a:xfrm>
            <a:prstGeom prst="rect">
              <a:avLst/>
            </a:prstGeom>
            <a:noFill/>
          </p:spPr>
        </p:pic>
        <p:pic>
          <p:nvPicPr>
            <p:cNvPr id="33" name="Image1864">
              <a:extLst>
                <a:ext uri="{FF2B5EF4-FFF2-40B4-BE49-F238E27FC236}">
                  <a16:creationId xmlns:a16="http://schemas.microsoft.com/office/drawing/2014/main" id="{407AAF58-C0BC-FC4E-AF11-BC39847F6C8B}"/>
                </a:ext>
              </a:extLst>
            </p:cNvPr>
            <p:cNvPicPr>
              <a:picLocks noChangeAspect="1"/>
            </p:cNvPicPr>
            <p:nvPr/>
          </p:nvPicPr>
          <p:blipFill>
            <a:blip r:embed="rId5"/>
            <a:stretch>
              <a:fillRect/>
            </a:stretch>
          </p:blipFill>
          <p:spPr>
            <a:xfrm>
              <a:off x="4858766" y="3744417"/>
              <a:ext cx="2717419" cy="366065"/>
            </a:xfrm>
            <a:prstGeom prst="rect">
              <a:avLst/>
            </a:prstGeom>
            <a:noFill/>
          </p:spPr>
        </p:pic>
        <p:pic>
          <p:nvPicPr>
            <p:cNvPr id="34" name="Image1865">
              <a:extLst>
                <a:ext uri="{FF2B5EF4-FFF2-40B4-BE49-F238E27FC236}">
                  <a16:creationId xmlns:a16="http://schemas.microsoft.com/office/drawing/2014/main" id="{557F3DDC-5B0C-8F49-8175-401128357498}"/>
                </a:ext>
              </a:extLst>
            </p:cNvPr>
            <p:cNvPicPr>
              <a:picLocks noChangeAspect="1"/>
            </p:cNvPicPr>
            <p:nvPr/>
          </p:nvPicPr>
          <p:blipFill>
            <a:blip r:embed="rId6"/>
            <a:stretch>
              <a:fillRect/>
            </a:stretch>
          </p:blipFill>
          <p:spPr>
            <a:xfrm>
              <a:off x="4956302" y="4110863"/>
              <a:ext cx="2503043" cy="365760"/>
            </a:xfrm>
            <a:prstGeom prst="rect">
              <a:avLst/>
            </a:prstGeom>
            <a:noFill/>
          </p:spPr>
        </p:pic>
        <p:pic>
          <p:nvPicPr>
            <p:cNvPr id="35" name="Image1866">
              <a:extLst>
                <a:ext uri="{FF2B5EF4-FFF2-40B4-BE49-F238E27FC236}">
                  <a16:creationId xmlns:a16="http://schemas.microsoft.com/office/drawing/2014/main" id="{C2CC9DA6-D34D-4A44-873E-CB724A63F281}"/>
                </a:ext>
              </a:extLst>
            </p:cNvPr>
            <p:cNvPicPr>
              <a:picLocks noChangeAspect="1"/>
            </p:cNvPicPr>
            <p:nvPr/>
          </p:nvPicPr>
          <p:blipFill>
            <a:blip r:embed="rId7"/>
            <a:stretch>
              <a:fillRect/>
            </a:stretch>
          </p:blipFill>
          <p:spPr>
            <a:xfrm>
              <a:off x="5434838" y="4476623"/>
              <a:ext cx="1445387" cy="365760"/>
            </a:xfrm>
            <a:prstGeom prst="rect">
              <a:avLst/>
            </a:prstGeom>
            <a:noFill/>
          </p:spPr>
        </p:pic>
      </p:grpSp>
      <p:grpSp>
        <p:nvGrpSpPr>
          <p:cNvPr id="36" name="Group1867">
            <a:extLst>
              <a:ext uri="{FF2B5EF4-FFF2-40B4-BE49-F238E27FC236}">
                <a16:creationId xmlns:a16="http://schemas.microsoft.com/office/drawing/2014/main" id="{A5D81057-6003-504A-ACD2-001C6ACA5E0A}"/>
              </a:ext>
            </a:extLst>
          </p:cNvPr>
          <p:cNvGrpSpPr/>
          <p:nvPr/>
        </p:nvGrpSpPr>
        <p:grpSpPr>
          <a:xfrm>
            <a:off x="701040" y="2179320"/>
            <a:ext cx="3429000" cy="3496056"/>
            <a:chOff x="701040" y="2179320"/>
            <a:chExt cx="3429000" cy="3496056"/>
          </a:xfrm>
        </p:grpSpPr>
        <p:sp>
          <p:nvSpPr>
            <p:cNvPr id="37" name="Path1868">
              <a:extLst>
                <a:ext uri="{FF2B5EF4-FFF2-40B4-BE49-F238E27FC236}">
                  <a16:creationId xmlns:a16="http://schemas.microsoft.com/office/drawing/2014/main" id="{A788706E-F1AE-2B46-B604-FD3F8663FDC6}"/>
                </a:ext>
              </a:extLst>
            </p:cNvPr>
            <p:cNvSpPr/>
            <p:nvPr/>
          </p:nvSpPr>
          <p:spPr>
            <a:xfrm>
              <a:off x="701040" y="2179320"/>
              <a:ext cx="3429000" cy="3496056"/>
            </a:xfrm>
            <a:custGeom>
              <a:avLst/>
              <a:gdLst/>
              <a:ahLst/>
              <a:cxnLst/>
              <a:rect l="l" t="t" r="r" b="b"/>
              <a:pathLst>
                <a:path w="3429000" h="3496056">
                  <a:moveTo>
                    <a:pt x="0" y="3496056"/>
                  </a:moveTo>
                  <a:lnTo>
                    <a:pt x="3429000" y="3496056"/>
                  </a:lnTo>
                  <a:lnTo>
                    <a:pt x="3429000" y="0"/>
                  </a:lnTo>
                  <a:lnTo>
                    <a:pt x="0" y="0"/>
                  </a:lnTo>
                  <a:lnTo>
                    <a:pt x="0" y="3496056"/>
                  </a:lnTo>
                  <a:close/>
                </a:path>
              </a:pathLst>
            </a:custGeom>
            <a:solidFill>
              <a:srgbClr val="E5E5E5">
                <a:alpha val="100000"/>
              </a:srgbClr>
            </a:solidFill>
            <a:ln w="0" cap="sq">
              <a:solidFill>
                <a:srgbClr val="E5E5E5"/>
              </a:solidFill>
              <a:prstDash val="solid"/>
            </a:ln>
          </p:spPr>
          <p:txBody>
            <a:bodyPr rtlCol="0" anchor="ctr"/>
            <a:lstStyle/>
            <a:p>
              <a:pPr algn="ctr"/>
              <a:endParaRPr lang="en-US" altLang="zh-CN"/>
            </a:p>
          </p:txBody>
        </p:sp>
        <p:pic>
          <p:nvPicPr>
            <p:cNvPr id="38" name="Image1869">
              <a:extLst>
                <a:ext uri="{FF2B5EF4-FFF2-40B4-BE49-F238E27FC236}">
                  <a16:creationId xmlns:a16="http://schemas.microsoft.com/office/drawing/2014/main" id="{52A13042-7E75-8348-AF43-CB4CA97562DB}"/>
                </a:ext>
              </a:extLst>
            </p:cNvPr>
            <p:cNvPicPr>
              <a:picLocks noChangeAspect="1"/>
            </p:cNvPicPr>
            <p:nvPr/>
          </p:nvPicPr>
          <p:blipFill>
            <a:blip r:embed="rId8"/>
            <a:stretch>
              <a:fillRect/>
            </a:stretch>
          </p:blipFill>
          <p:spPr>
            <a:xfrm>
              <a:off x="1822069" y="3561842"/>
              <a:ext cx="1441958" cy="365760"/>
            </a:xfrm>
            <a:prstGeom prst="rect">
              <a:avLst/>
            </a:prstGeom>
            <a:noFill/>
          </p:spPr>
        </p:pic>
        <p:pic>
          <p:nvPicPr>
            <p:cNvPr id="39" name="Image1870">
              <a:extLst>
                <a:ext uri="{FF2B5EF4-FFF2-40B4-BE49-F238E27FC236}">
                  <a16:creationId xmlns:a16="http://schemas.microsoft.com/office/drawing/2014/main" id="{61505B29-D3E5-804D-AC01-6C0F2B54F64C}"/>
                </a:ext>
              </a:extLst>
            </p:cNvPr>
            <p:cNvPicPr>
              <a:picLocks noChangeAspect="1"/>
            </p:cNvPicPr>
            <p:nvPr/>
          </p:nvPicPr>
          <p:blipFill>
            <a:blip r:embed="rId9"/>
            <a:stretch>
              <a:fillRect/>
            </a:stretch>
          </p:blipFill>
          <p:spPr>
            <a:xfrm>
              <a:off x="1588897" y="3927298"/>
              <a:ext cx="1803908" cy="366064"/>
            </a:xfrm>
            <a:prstGeom prst="rect">
              <a:avLst/>
            </a:prstGeom>
            <a:noFill/>
          </p:spPr>
        </p:pic>
      </p:grpSp>
      <p:grpSp>
        <p:nvGrpSpPr>
          <p:cNvPr id="40" name="Group1872">
            <a:extLst>
              <a:ext uri="{FF2B5EF4-FFF2-40B4-BE49-F238E27FC236}">
                <a16:creationId xmlns:a16="http://schemas.microsoft.com/office/drawing/2014/main" id="{84A2634C-C3CA-5E4A-B665-49592F64D42D}"/>
              </a:ext>
            </a:extLst>
          </p:cNvPr>
          <p:cNvGrpSpPr/>
          <p:nvPr/>
        </p:nvGrpSpPr>
        <p:grpSpPr>
          <a:xfrm>
            <a:off x="8051293" y="2179320"/>
            <a:ext cx="3428999" cy="3496056"/>
            <a:chOff x="8051293" y="2179320"/>
            <a:chExt cx="3428999" cy="3496056"/>
          </a:xfrm>
        </p:grpSpPr>
        <p:sp>
          <p:nvSpPr>
            <p:cNvPr id="41" name="Path1873">
              <a:extLst>
                <a:ext uri="{FF2B5EF4-FFF2-40B4-BE49-F238E27FC236}">
                  <a16:creationId xmlns:a16="http://schemas.microsoft.com/office/drawing/2014/main" id="{2525642F-3121-A445-9ABC-E9E8C0776620}"/>
                </a:ext>
              </a:extLst>
            </p:cNvPr>
            <p:cNvSpPr/>
            <p:nvPr/>
          </p:nvSpPr>
          <p:spPr>
            <a:xfrm>
              <a:off x="8051293" y="2179320"/>
              <a:ext cx="3428999" cy="3496056"/>
            </a:xfrm>
            <a:custGeom>
              <a:avLst/>
              <a:gdLst/>
              <a:ahLst/>
              <a:cxnLst/>
              <a:rect l="l" t="t" r="r" b="b"/>
              <a:pathLst>
                <a:path w="3428999" h="3496056">
                  <a:moveTo>
                    <a:pt x="0" y="3496056"/>
                  </a:moveTo>
                  <a:lnTo>
                    <a:pt x="3429000" y="3496056"/>
                  </a:lnTo>
                  <a:lnTo>
                    <a:pt x="3429000" y="0"/>
                  </a:lnTo>
                  <a:lnTo>
                    <a:pt x="0" y="0"/>
                  </a:lnTo>
                  <a:lnTo>
                    <a:pt x="0" y="3496056"/>
                  </a:lnTo>
                  <a:close/>
                </a:path>
              </a:pathLst>
            </a:custGeom>
            <a:solidFill>
              <a:srgbClr val="E5E5E5">
                <a:alpha val="100000"/>
              </a:srgbClr>
            </a:solidFill>
            <a:ln w="0" cap="sq">
              <a:solidFill>
                <a:srgbClr val="E5E5E5"/>
              </a:solidFill>
              <a:prstDash val="solid"/>
            </a:ln>
          </p:spPr>
          <p:txBody>
            <a:bodyPr rtlCol="0" anchor="ctr"/>
            <a:lstStyle/>
            <a:p>
              <a:pPr algn="ctr"/>
              <a:endParaRPr lang="en-US" altLang="zh-CN"/>
            </a:p>
          </p:txBody>
        </p:sp>
        <p:pic>
          <p:nvPicPr>
            <p:cNvPr id="42" name="Image1874">
              <a:extLst>
                <a:ext uri="{FF2B5EF4-FFF2-40B4-BE49-F238E27FC236}">
                  <a16:creationId xmlns:a16="http://schemas.microsoft.com/office/drawing/2014/main" id="{EBF8F9D6-588B-E14C-8E7E-05AEF0F9A768}"/>
                </a:ext>
              </a:extLst>
            </p:cNvPr>
            <p:cNvPicPr>
              <a:picLocks noChangeAspect="1"/>
            </p:cNvPicPr>
            <p:nvPr/>
          </p:nvPicPr>
          <p:blipFill>
            <a:blip r:embed="rId10"/>
            <a:stretch>
              <a:fillRect/>
            </a:stretch>
          </p:blipFill>
          <p:spPr>
            <a:xfrm>
              <a:off x="8805672" y="3196082"/>
              <a:ext cx="2170050" cy="365760"/>
            </a:xfrm>
            <a:prstGeom prst="rect">
              <a:avLst/>
            </a:prstGeom>
            <a:noFill/>
          </p:spPr>
        </p:pic>
        <p:pic>
          <p:nvPicPr>
            <p:cNvPr id="43" name="Image1875">
              <a:extLst>
                <a:ext uri="{FF2B5EF4-FFF2-40B4-BE49-F238E27FC236}">
                  <a16:creationId xmlns:a16="http://schemas.microsoft.com/office/drawing/2014/main" id="{2BB5ECD6-D514-F640-909A-C396B5DF4BF1}"/>
                </a:ext>
              </a:extLst>
            </p:cNvPr>
            <p:cNvPicPr>
              <a:picLocks noChangeAspect="1"/>
            </p:cNvPicPr>
            <p:nvPr/>
          </p:nvPicPr>
          <p:blipFill>
            <a:blip r:embed="rId11"/>
            <a:stretch>
              <a:fillRect/>
            </a:stretch>
          </p:blipFill>
          <p:spPr>
            <a:xfrm>
              <a:off x="8584692" y="3561842"/>
              <a:ext cx="2622424" cy="365760"/>
            </a:xfrm>
            <a:prstGeom prst="rect">
              <a:avLst/>
            </a:prstGeom>
            <a:noFill/>
          </p:spPr>
        </p:pic>
        <p:pic>
          <p:nvPicPr>
            <p:cNvPr id="44" name="Image1876">
              <a:extLst>
                <a:ext uri="{FF2B5EF4-FFF2-40B4-BE49-F238E27FC236}">
                  <a16:creationId xmlns:a16="http://schemas.microsoft.com/office/drawing/2014/main" id="{11B71856-3504-0E40-BADD-65640575C00E}"/>
                </a:ext>
              </a:extLst>
            </p:cNvPr>
            <p:cNvPicPr>
              <a:picLocks noChangeAspect="1"/>
            </p:cNvPicPr>
            <p:nvPr/>
          </p:nvPicPr>
          <p:blipFill>
            <a:blip r:embed="rId12"/>
            <a:stretch>
              <a:fillRect/>
            </a:stretch>
          </p:blipFill>
          <p:spPr>
            <a:xfrm>
              <a:off x="8875776" y="3927298"/>
              <a:ext cx="2045208" cy="366064"/>
            </a:xfrm>
            <a:prstGeom prst="rect">
              <a:avLst/>
            </a:prstGeom>
            <a:noFill/>
          </p:spPr>
        </p:pic>
        <p:pic>
          <p:nvPicPr>
            <p:cNvPr id="45" name="Image1877">
              <a:extLst>
                <a:ext uri="{FF2B5EF4-FFF2-40B4-BE49-F238E27FC236}">
                  <a16:creationId xmlns:a16="http://schemas.microsoft.com/office/drawing/2014/main" id="{BE24C75D-A5B4-7649-B60D-20187A96B1B8}"/>
                </a:ext>
              </a:extLst>
            </p:cNvPr>
            <p:cNvPicPr>
              <a:picLocks noChangeAspect="1"/>
            </p:cNvPicPr>
            <p:nvPr/>
          </p:nvPicPr>
          <p:blipFill>
            <a:blip r:embed="rId13"/>
            <a:stretch>
              <a:fillRect/>
            </a:stretch>
          </p:blipFill>
          <p:spPr>
            <a:xfrm>
              <a:off x="8808720" y="4293743"/>
              <a:ext cx="2077340" cy="365760"/>
            </a:xfrm>
            <a:prstGeom prst="rect">
              <a:avLst/>
            </a:prstGeom>
            <a:noFill/>
          </p:spPr>
        </p:pic>
      </p:grpSp>
      <p:sp>
        <p:nvSpPr>
          <p:cNvPr id="4" name="Title 1">
            <a:extLst>
              <a:ext uri="{FF2B5EF4-FFF2-40B4-BE49-F238E27FC236}">
                <a16:creationId xmlns:a16="http://schemas.microsoft.com/office/drawing/2014/main" id="{1630CF66-A916-6375-BEC3-CA3D1D3FD098}"/>
              </a:ext>
            </a:extLst>
          </p:cNvPr>
          <p:cNvSpPr txBox="1">
            <a:spLocks/>
          </p:cNvSpPr>
          <p:nvPr/>
        </p:nvSpPr>
        <p:spPr>
          <a:xfrm>
            <a:off x="160256" y="-94268"/>
            <a:ext cx="11706912" cy="1325563"/>
          </a:xfrm>
          <a:prstGeom prst="rect">
            <a:avLst/>
          </a:prstGeom>
        </p:spPr>
        <p:txBody>
          <a:bodyPr vert="horz" lIns="91440" tIns="45720" rIns="91440" bIns="45720" rtlCol="0" anchor="ctr">
            <a:normAutofit/>
          </a:bodyPr>
          <a:lstStyle>
            <a:lvl1pPr algn="l" defTabSz="905255" rtl="0" eaLnBrk="1" latinLnBrk="0" hangingPunct="1">
              <a:lnSpc>
                <a:spcPct val="90000"/>
              </a:lnSpc>
              <a:spcBef>
                <a:spcPct val="0"/>
              </a:spcBef>
              <a:buNone/>
              <a:defRPr sz="3564" kern="1200" spc="-99">
                <a:solidFill>
                  <a:schemeClr val="tx1"/>
                </a:solidFill>
                <a:latin typeface="+mj-lt"/>
                <a:ea typeface="+mj-ea"/>
                <a:cs typeface="+mj-cs"/>
              </a:defRPr>
            </a:lvl1pPr>
          </a:lstStyle>
          <a:p>
            <a:r>
              <a:rPr lang="en-US" sz="4000" b="1" dirty="0">
                <a:solidFill>
                  <a:schemeClr val="accent2"/>
                </a:solidFill>
                <a:latin typeface="+mn-lt"/>
                <a:ea typeface="Nirmala UI Semilight" panose="020B0402040204020203" pitchFamily="34" charset="0"/>
                <a:cs typeface="Nirmala UI Semilight" panose="020B0402040204020203" pitchFamily="34" charset="0"/>
              </a:rPr>
              <a:t>Azure Resource Manager (ARM)</a:t>
            </a:r>
            <a:endParaRPr lang="en-US" sz="4000" dirty="0">
              <a:solidFill>
                <a:schemeClr val="accent2"/>
              </a:solidFill>
              <a:latin typeface="+mn-lt"/>
              <a:ea typeface="Nirmala UI Semilight" panose="020B0402040204020203" pitchFamily="34" charset="0"/>
              <a:cs typeface="Nirmala UI Semilight" panose="020B0402040204020203" pitchFamily="34" charset="0"/>
            </a:endParaRPr>
          </a:p>
        </p:txBody>
      </p:sp>
    </p:spTree>
    <p:extLst>
      <p:ext uri="{BB962C8B-B14F-4D97-AF65-F5344CB8AC3E}">
        <p14:creationId xmlns:p14="http://schemas.microsoft.com/office/powerpoint/2010/main" val="2024866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7</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6" name="object 3">
            <a:extLst>
              <a:ext uri="{FF2B5EF4-FFF2-40B4-BE49-F238E27FC236}">
                <a16:creationId xmlns:a16="http://schemas.microsoft.com/office/drawing/2014/main" id="{57D84A46-1FD9-8344-926B-F4845F1994F5}"/>
              </a:ext>
            </a:extLst>
          </p:cNvPr>
          <p:cNvSpPr txBox="1"/>
          <p:nvPr/>
        </p:nvSpPr>
        <p:spPr>
          <a:xfrm>
            <a:off x="4610862" y="1767840"/>
            <a:ext cx="7236122" cy="3567643"/>
          </a:xfrm>
          <a:prstGeom prst="rect">
            <a:avLst/>
          </a:prstGeom>
        </p:spPr>
        <p:txBody>
          <a:bodyPr vert="horz" wrap="square" lIns="0" tIns="43180" rIns="0" bIns="0" rtlCol="0">
            <a:spAutoFit/>
          </a:bodyPr>
          <a:lstStyle/>
          <a:p>
            <a:pPr marL="241300" indent="-228600">
              <a:lnSpc>
                <a:spcPct val="100000"/>
              </a:lnSpc>
              <a:spcBef>
                <a:spcPts val="340"/>
              </a:spcBef>
              <a:buFont typeface="Arial"/>
              <a:buChar char="•"/>
              <a:tabLst>
                <a:tab pos="241300" algn="l"/>
              </a:tabLst>
            </a:pPr>
            <a:r>
              <a:rPr lang="en-US" sz="3200" spc="-10" dirty="0">
                <a:ea typeface="Nirmala UI Semilight" panose="020B0402040204020203" pitchFamily="34" charset="0"/>
                <a:cs typeface="Nirmala UI Semilight" panose="020B0402040204020203" pitchFamily="34" charset="0"/>
              </a:rPr>
              <a:t>Every ARM resource exists in one, and only one, resource group</a:t>
            </a:r>
          </a:p>
          <a:p>
            <a:pPr marL="241300" indent="-228600">
              <a:lnSpc>
                <a:spcPct val="100000"/>
              </a:lnSpc>
              <a:spcBef>
                <a:spcPts val="340"/>
              </a:spcBef>
              <a:buFont typeface="Arial"/>
              <a:buChar char="•"/>
              <a:tabLst>
                <a:tab pos="241300" algn="l"/>
              </a:tabLst>
            </a:pPr>
            <a:r>
              <a:rPr lang="en-US" sz="3200" spc="-10" dirty="0">
                <a:ea typeface="Nirmala UI Semilight" panose="020B0402040204020203" pitchFamily="34" charset="0"/>
                <a:cs typeface="Nirmala UI Semilight" panose="020B0402040204020203" pitchFamily="34" charset="0"/>
              </a:rPr>
              <a:t>While resource groups are created in a region they can contain resources from outside the region</a:t>
            </a:r>
          </a:p>
          <a:p>
            <a:pPr marL="241300" indent="-228600">
              <a:lnSpc>
                <a:spcPct val="100000"/>
              </a:lnSpc>
              <a:spcBef>
                <a:spcPts val="340"/>
              </a:spcBef>
              <a:buFont typeface="Arial"/>
              <a:buChar char="•"/>
              <a:tabLst>
                <a:tab pos="241300" algn="l"/>
              </a:tabLst>
            </a:pPr>
            <a:r>
              <a:rPr lang="en-US" sz="3200" spc="-10" dirty="0">
                <a:ea typeface="Nirmala UI Semilight" panose="020B0402040204020203" pitchFamily="34" charset="0"/>
                <a:cs typeface="Nirmala UI Semilight" panose="020B0402040204020203" pitchFamily="34" charset="0"/>
              </a:rPr>
              <a:t>Resources can be moved between resource groups</a:t>
            </a:r>
            <a:endParaRPr lang="en-US" sz="2800" spc="-10" dirty="0">
              <a:ea typeface="Nirmala UI Semilight" panose="020B0402040204020203" pitchFamily="34" charset="0"/>
              <a:cs typeface="Nirmala UI Semilight" panose="020B0402040204020203" pitchFamily="34" charset="0"/>
            </a:endParaRPr>
          </a:p>
        </p:txBody>
      </p:sp>
      <p:sp>
        <p:nvSpPr>
          <p:cNvPr id="9" name="Path405">
            <a:extLst>
              <a:ext uri="{FF2B5EF4-FFF2-40B4-BE49-F238E27FC236}">
                <a16:creationId xmlns:a16="http://schemas.microsoft.com/office/drawing/2014/main" id="{548021A8-597F-7D4A-9E0F-A4457AD28BDE}"/>
              </a:ext>
            </a:extLst>
          </p:cNvPr>
          <p:cNvSpPr/>
          <p:nvPr/>
        </p:nvSpPr>
        <p:spPr>
          <a:xfrm>
            <a:off x="4425231" y="1557250"/>
            <a:ext cx="51816" cy="4182758"/>
          </a:xfrm>
          <a:custGeom>
            <a:avLst/>
            <a:gdLst/>
            <a:ahLst/>
            <a:cxnLst/>
            <a:rect l="l" t="t" r="r" b="b"/>
            <a:pathLst>
              <a:path w="51816" h="4182758">
                <a:moveTo>
                  <a:pt x="25908" y="25908"/>
                </a:moveTo>
                <a:lnTo>
                  <a:pt x="25908" y="4156850"/>
                </a:lnTo>
              </a:path>
            </a:pathLst>
          </a:custGeom>
          <a:solidFill>
            <a:srgbClr val="000000">
              <a:alpha val="0"/>
            </a:srgbClr>
          </a:solidFill>
          <a:ln w="25908" cap="sq">
            <a:solidFill>
              <a:srgbClr val="F05A28"/>
            </a:solidFill>
            <a:prstDash val="solid"/>
          </a:ln>
        </p:spPr>
        <p:txBody>
          <a:bodyPr rtlCol="0" anchor="ctr"/>
          <a:lstStyle/>
          <a:p>
            <a:pPr algn="ctr"/>
            <a:endParaRPr lang="en-US" altLang="zh-CN"/>
          </a:p>
        </p:txBody>
      </p:sp>
      <p:sp>
        <p:nvSpPr>
          <p:cNvPr id="8" name="object 3">
            <a:extLst>
              <a:ext uri="{FF2B5EF4-FFF2-40B4-BE49-F238E27FC236}">
                <a16:creationId xmlns:a16="http://schemas.microsoft.com/office/drawing/2014/main" id="{4B778991-2D5F-1B45-8DCF-512EDD9AD497}"/>
              </a:ext>
            </a:extLst>
          </p:cNvPr>
          <p:cNvSpPr txBox="1"/>
          <p:nvPr/>
        </p:nvSpPr>
        <p:spPr>
          <a:xfrm>
            <a:off x="588433" y="2042015"/>
            <a:ext cx="4022429" cy="1736373"/>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5500" b="1" spc="-10" dirty="0">
                <a:solidFill>
                  <a:schemeClr val="accent2"/>
                </a:solidFill>
                <a:ea typeface="Nirmala UI Semilight" panose="020B0402040204020203" pitchFamily="34" charset="0"/>
                <a:cs typeface="Nirmala UI Semilight" panose="020B0402040204020203" pitchFamily="34" charset="0"/>
              </a:rPr>
              <a:t>Resource Groups</a:t>
            </a:r>
            <a:endParaRPr lang="en-US" sz="5500" b="1" dirty="0">
              <a:solidFill>
                <a:schemeClr val="accent2"/>
              </a:solidFill>
              <a:ea typeface="Nirmala UI Semilight" panose="020B0402040204020203" pitchFamily="34" charset="0"/>
              <a:cs typeface="Nirmala UI Semilight" panose="020B0402040204020203" pitchFamily="34" charset="0"/>
            </a:endParaRPr>
          </a:p>
        </p:txBody>
      </p:sp>
    </p:spTree>
    <p:extLst>
      <p:ext uri="{BB962C8B-B14F-4D97-AF65-F5344CB8AC3E}">
        <p14:creationId xmlns:p14="http://schemas.microsoft.com/office/powerpoint/2010/main" val="13658406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8</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6" name="object 3">
            <a:extLst>
              <a:ext uri="{FF2B5EF4-FFF2-40B4-BE49-F238E27FC236}">
                <a16:creationId xmlns:a16="http://schemas.microsoft.com/office/drawing/2014/main" id="{57D84A46-1FD9-8344-926B-F4845F1994F5}"/>
              </a:ext>
            </a:extLst>
          </p:cNvPr>
          <p:cNvSpPr txBox="1"/>
          <p:nvPr/>
        </p:nvSpPr>
        <p:spPr>
          <a:xfrm>
            <a:off x="4610862" y="1767840"/>
            <a:ext cx="7236122" cy="3606115"/>
          </a:xfrm>
          <a:prstGeom prst="rect">
            <a:avLst/>
          </a:prstGeom>
        </p:spPr>
        <p:txBody>
          <a:bodyPr vert="horz" wrap="square" lIns="0" tIns="43180" rIns="0" bIns="0" rtlCol="0">
            <a:spAutoFit/>
          </a:bodyPr>
          <a:lstStyle/>
          <a:p>
            <a:pPr marL="241300" indent="-228600">
              <a:lnSpc>
                <a:spcPct val="100000"/>
              </a:lnSpc>
              <a:spcBef>
                <a:spcPts val="340"/>
              </a:spcBef>
              <a:buFont typeface="Arial"/>
              <a:buChar char="•"/>
              <a:tabLst>
                <a:tab pos="241300" algn="l"/>
              </a:tabLst>
            </a:pPr>
            <a:r>
              <a:rPr lang="en-US" sz="3200" spc="-10" dirty="0">
                <a:ea typeface="Nirmala UI Semilight" panose="020B0402040204020203" pitchFamily="34" charset="0"/>
                <a:cs typeface="Nirmala UI Semilight" panose="020B0402040204020203" pitchFamily="34" charset="0"/>
              </a:rPr>
              <a:t>All resources in your group should share same lifecycle.</a:t>
            </a:r>
          </a:p>
          <a:p>
            <a:pPr marL="698500" lvl="1" indent="-228600">
              <a:spcBef>
                <a:spcPts val="340"/>
              </a:spcBef>
              <a:buFont typeface="Arial"/>
              <a:buChar char="•"/>
              <a:tabLst>
                <a:tab pos="241300" algn="l"/>
              </a:tabLst>
            </a:pPr>
            <a:r>
              <a:rPr lang="en-US" sz="3200" spc="-10" dirty="0">
                <a:ea typeface="Nirmala UI Semilight" panose="020B0402040204020203" pitchFamily="34" charset="0"/>
                <a:cs typeface="Nirmala UI Semilight" panose="020B0402040204020203" pitchFamily="34" charset="0"/>
              </a:rPr>
              <a:t>Deploy, Update, and Delete together</a:t>
            </a:r>
          </a:p>
          <a:p>
            <a:pPr marL="241300" indent="-228600">
              <a:lnSpc>
                <a:spcPct val="100000"/>
              </a:lnSpc>
              <a:spcBef>
                <a:spcPts val="340"/>
              </a:spcBef>
              <a:buFont typeface="Arial"/>
              <a:buChar char="•"/>
              <a:tabLst>
                <a:tab pos="241300" algn="l"/>
              </a:tabLst>
            </a:pPr>
            <a:r>
              <a:rPr lang="en-US" sz="3200" spc="-10" dirty="0">
                <a:ea typeface="Nirmala UI Semilight" panose="020B0402040204020203" pitchFamily="34" charset="0"/>
                <a:cs typeface="Nirmala UI Semilight" panose="020B0402040204020203" pitchFamily="34" charset="0"/>
              </a:rPr>
              <a:t>Resource groups can be heterogeneous or homogeneous</a:t>
            </a:r>
          </a:p>
          <a:p>
            <a:pPr marL="241300" indent="-228600">
              <a:lnSpc>
                <a:spcPct val="100000"/>
              </a:lnSpc>
              <a:spcBef>
                <a:spcPts val="340"/>
              </a:spcBef>
              <a:buFont typeface="Arial"/>
              <a:buChar char="•"/>
              <a:tabLst>
                <a:tab pos="241300" algn="l"/>
              </a:tabLst>
            </a:pPr>
            <a:r>
              <a:rPr lang="en-US" sz="3200" spc="-10" dirty="0">
                <a:ea typeface="Nirmala UI Semilight" panose="020B0402040204020203" pitchFamily="34" charset="0"/>
                <a:cs typeface="Nirmala UI Semilight" panose="020B0402040204020203" pitchFamily="34" charset="0"/>
              </a:rPr>
              <a:t>Resource groups are not a boundary of access</a:t>
            </a:r>
            <a:endParaRPr lang="en-US" sz="2800" spc="-10" dirty="0">
              <a:ea typeface="Nirmala UI Semilight" panose="020B0402040204020203" pitchFamily="34" charset="0"/>
              <a:cs typeface="Nirmala UI Semilight" panose="020B0402040204020203" pitchFamily="34" charset="0"/>
            </a:endParaRPr>
          </a:p>
        </p:txBody>
      </p:sp>
      <p:sp>
        <p:nvSpPr>
          <p:cNvPr id="9" name="Path405">
            <a:extLst>
              <a:ext uri="{FF2B5EF4-FFF2-40B4-BE49-F238E27FC236}">
                <a16:creationId xmlns:a16="http://schemas.microsoft.com/office/drawing/2014/main" id="{548021A8-597F-7D4A-9E0F-A4457AD28BDE}"/>
              </a:ext>
            </a:extLst>
          </p:cNvPr>
          <p:cNvSpPr/>
          <p:nvPr/>
        </p:nvSpPr>
        <p:spPr>
          <a:xfrm>
            <a:off x="4425231" y="1557249"/>
            <a:ext cx="51816" cy="4182758"/>
          </a:xfrm>
          <a:custGeom>
            <a:avLst/>
            <a:gdLst/>
            <a:ahLst/>
            <a:cxnLst/>
            <a:rect l="l" t="t" r="r" b="b"/>
            <a:pathLst>
              <a:path w="51816" h="4182758">
                <a:moveTo>
                  <a:pt x="25908" y="25908"/>
                </a:moveTo>
                <a:lnTo>
                  <a:pt x="25908" y="4156850"/>
                </a:lnTo>
              </a:path>
            </a:pathLst>
          </a:custGeom>
          <a:solidFill>
            <a:srgbClr val="000000">
              <a:alpha val="0"/>
            </a:srgbClr>
          </a:solidFill>
          <a:ln w="25908" cap="sq">
            <a:solidFill>
              <a:srgbClr val="F05A28"/>
            </a:solidFill>
            <a:prstDash val="solid"/>
          </a:ln>
        </p:spPr>
        <p:txBody>
          <a:bodyPr rtlCol="0" anchor="ctr"/>
          <a:lstStyle/>
          <a:p>
            <a:pPr algn="ctr"/>
            <a:endParaRPr lang="en-US" altLang="zh-CN"/>
          </a:p>
        </p:txBody>
      </p:sp>
      <p:sp>
        <p:nvSpPr>
          <p:cNvPr id="8" name="object 3">
            <a:extLst>
              <a:ext uri="{FF2B5EF4-FFF2-40B4-BE49-F238E27FC236}">
                <a16:creationId xmlns:a16="http://schemas.microsoft.com/office/drawing/2014/main" id="{4B778991-2D5F-1B45-8DCF-512EDD9AD497}"/>
              </a:ext>
            </a:extLst>
          </p:cNvPr>
          <p:cNvSpPr txBox="1"/>
          <p:nvPr/>
        </p:nvSpPr>
        <p:spPr>
          <a:xfrm>
            <a:off x="588433" y="2042015"/>
            <a:ext cx="4022429" cy="1736373"/>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5500" b="1" spc="-10" dirty="0">
                <a:solidFill>
                  <a:schemeClr val="accent2"/>
                </a:solidFill>
                <a:ea typeface="Nirmala UI Semilight" panose="020B0402040204020203" pitchFamily="34" charset="0"/>
                <a:cs typeface="Nirmala UI Semilight" panose="020B0402040204020203" pitchFamily="34" charset="0"/>
              </a:rPr>
              <a:t>Resource Groups</a:t>
            </a:r>
            <a:endParaRPr lang="en-US" sz="5500" b="1" dirty="0">
              <a:solidFill>
                <a:schemeClr val="accent2"/>
              </a:solidFill>
              <a:ea typeface="Nirmala UI Semilight" panose="020B0402040204020203" pitchFamily="34" charset="0"/>
              <a:cs typeface="Nirmala UI Semilight" panose="020B0402040204020203" pitchFamily="34" charset="0"/>
            </a:endParaRPr>
          </a:p>
        </p:txBody>
      </p:sp>
    </p:spTree>
    <p:extLst>
      <p:ext uri="{BB962C8B-B14F-4D97-AF65-F5344CB8AC3E}">
        <p14:creationId xmlns:p14="http://schemas.microsoft.com/office/powerpoint/2010/main" val="12469151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Path457">
            <a:extLst>
              <a:ext uri="{FF2B5EF4-FFF2-40B4-BE49-F238E27FC236}">
                <a16:creationId xmlns:a16="http://schemas.microsoft.com/office/drawing/2014/main" id="{964413B8-BD8B-9644-BF13-038E22C0F9A9}"/>
              </a:ext>
            </a:extLst>
          </p:cNvPr>
          <p:cNvSpPr/>
          <p:nvPr/>
        </p:nvSpPr>
        <p:spPr>
          <a:xfrm>
            <a:off x="139700" y="-38100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7" name="Path462">
            <a:extLst>
              <a:ext uri="{FF2B5EF4-FFF2-40B4-BE49-F238E27FC236}">
                <a16:creationId xmlns:a16="http://schemas.microsoft.com/office/drawing/2014/main" id="{13EC50DE-ABED-044B-8C5F-C5ACAF11BB31}"/>
              </a:ext>
            </a:extLst>
          </p:cNvPr>
          <p:cNvSpPr/>
          <p:nvPr/>
        </p:nvSpPr>
        <p:spPr>
          <a:xfrm>
            <a:off x="504698" y="863346"/>
            <a:ext cx="10905744" cy="4559808"/>
          </a:xfrm>
          <a:custGeom>
            <a:avLst/>
            <a:gdLst/>
            <a:ahLst/>
            <a:cxnLst/>
            <a:rect l="l" t="t" r="r" b="b"/>
            <a:pathLst>
              <a:path w="10905744" h="4559808">
                <a:moveTo>
                  <a:pt x="0" y="4559808"/>
                </a:moveTo>
                <a:lnTo>
                  <a:pt x="10905744" y="4559808"/>
                </a:lnTo>
                <a:lnTo>
                  <a:pt x="10905744" y="0"/>
                </a:lnTo>
                <a:lnTo>
                  <a:pt x="0" y="0"/>
                </a:lnTo>
                <a:lnTo>
                  <a:pt x="0" y="4559808"/>
                </a:lnTo>
                <a:close/>
              </a:path>
            </a:pathLst>
          </a:custGeom>
          <a:solidFill>
            <a:srgbClr val="FFFFFF">
              <a:alpha val="100000"/>
            </a:srgbClr>
          </a:solidFill>
          <a:ln w="0" cap="sq">
            <a:solidFill>
              <a:srgbClr val="FFFFFF"/>
            </a:solidFill>
            <a:prstDash val="solid"/>
          </a:ln>
        </p:spPr>
        <p:txBody>
          <a:bodyPr rtlCol="0" anchor="ctr"/>
          <a:lstStyle/>
          <a:p>
            <a:pPr algn="ctr"/>
            <a:endParaRPr lang="en-US" altLang="zh-CN"/>
          </a:p>
        </p:txBody>
      </p:sp>
      <p:sp>
        <p:nvSpPr>
          <p:cNvPr id="8" name="Path463">
            <a:extLst>
              <a:ext uri="{FF2B5EF4-FFF2-40B4-BE49-F238E27FC236}">
                <a16:creationId xmlns:a16="http://schemas.microsoft.com/office/drawing/2014/main" id="{DB345D04-F197-D349-93CD-2C2F199F752C}"/>
              </a:ext>
            </a:extLst>
          </p:cNvPr>
          <p:cNvSpPr/>
          <p:nvPr/>
        </p:nvSpPr>
        <p:spPr>
          <a:xfrm>
            <a:off x="478790" y="837438"/>
            <a:ext cx="10957560" cy="4611624"/>
          </a:xfrm>
          <a:custGeom>
            <a:avLst/>
            <a:gdLst/>
            <a:ahLst/>
            <a:cxnLst/>
            <a:rect l="l" t="t" r="r" b="b"/>
            <a:pathLst>
              <a:path w="10957560" h="4611624">
                <a:moveTo>
                  <a:pt x="25908" y="4585716"/>
                </a:moveTo>
                <a:lnTo>
                  <a:pt x="10931652" y="4585716"/>
                </a:lnTo>
                <a:lnTo>
                  <a:pt x="10931652" y="25908"/>
                </a:lnTo>
                <a:lnTo>
                  <a:pt x="25908" y="25908"/>
                </a:lnTo>
                <a:lnTo>
                  <a:pt x="25908" y="4585716"/>
                </a:lnTo>
                <a:close/>
              </a:path>
            </a:pathLst>
          </a:custGeom>
          <a:solidFill>
            <a:srgbClr val="FFFFFF">
              <a:alpha val="0"/>
            </a:srgbClr>
          </a:solidFill>
          <a:ln w="25908" cap="sq">
            <a:solidFill>
              <a:srgbClr val="1F778D"/>
            </a:solidFill>
            <a:prstDash val="sysDash"/>
          </a:ln>
        </p:spPr>
        <p:txBody>
          <a:bodyPr rtlCol="0" anchor="ctr"/>
          <a:lstStyle/>
          <a:p>
            <a:pPr algn="ctr"/>
            <a:endParaRPr lang="en-US" altLang="zh-CN"/>
          </a:p>
        </p:txBody>
      </p:sp>
      <p:pic>
        <p:nvPicPr>
          <p:cNvPr id="9" name="Image464">
            <a:extLst>
              <a:ext uri="{FF2B5EF4-FFF2-40B4-BE49-F238E27FC236}">
                <a16:creationId xmlns:a16="http://schemas.microsoft.com/office/drawing/2014/main" id="{3F9F17FB-5842-0C4E-978E-CCFCC1B82320}"/>
              </a:ext>
            </a:extLst>
          </p:cNvPr>
          <p:cNvPicPr>
            <a:picLocks noChangeAspect="1"/>
          </p:cNvPicPr>
          <p:nvPr/>
        </p:nvPicPr>
        <p:blipFill>
          <a:blip r:embed="rId3"/>
          <a:stretch>
            <a:fillRect/>
          </a:stretch>
        </p:blipFill>
        <p:spPr>
          <a:xfrm>
            <a:off x="532511" y="870585"/>
            <a:ext cx="10850118" cy="3176016"/>
          </a:xfrm>
          <a:prstGeom prst="rect">
            <a:avLst/>
          </a:prstGeom>
          <a:noFill/>
        </p:spPr>
      </p:pic>
      <p:grpSp>
        <p:nvGrpSpPr>
          <p:cNvPr id="10" name="Group465">
            <a:extLst>
              <a:ext uri="{FF2B5EF4-FFF2-40B4-BE49-F238E27FC236}">
                <a16:creationId xmlns:a16="http://schemas.microsoft.com/office/drawing/2014/main" id="{52DEF484-7150-8744-ACD9-DEA8E23BE12E}"/>
              </a:ext>
            </a:extLst>
          </p:cNvPr>
          <p:cNvGrpSpPr/>
          <p:nvPr/>
        </p:nvGrpSpPr>
        <p:grpSpPr>
          <a:xfrm>
            <a:off x="846836" y="4197096"/>
            <a:ext cx="10186416" cy="434340"/>
            <a:chOff x="707136" y="4578096"/>
            <a:chExt cx="10186416" cy="434340"/>
          </a:xfrm>
        </p:grpSpPr>
        <p:sp>
          <p:nvSpPr>
            <p:cNvPr id="11" name="Path466">
              <a:extLst>
                <a:ext uri="{FF2B5EF4-FFF2-40B4-BE49-F238E27FC236}">
                  <a16:creationId xmlns:a16="http://schemas.microsoft.com/office/drawing/2014/main" id="{C2262389-9966-3F47-8B47-85BA2E733ACE}"/>
                </a:ext>
              </a:extLst>
            </p:cNvPr>
            <p:cNvSpPr/>
            <p:nvPr/>
          </p:nvSpPr>
          <p:spPr>
            <a:xfrm>
              <a:off x="707136" y="4578096"/>
              <a:ext cx="10186416" cy="434340"/>
            </a:xfrm>
            <a:custGeom>
              <a:avLst/>
              <a:gdLst/>
              <a:ahLst/>
              <a:cxnLst/>
              <a:rect l="l" t="t" r="r" b="b"/>
              <a:pathLst>
                <a:path w="10186416" h="434340">
                  <a:moveTo>
                    <a:pt x="0" y="72390"/>
                  </a:moveTo>
                  <a:cubicBezTo>
                    <a:pt x="0" y="32385"/>
                    <a:pt x="32410" y="0"/>
                    <a:pt x="72390" y="0"/>
                  </a:cubicBezTo>
                  <a:lnTo>
                    <a:pt x="10114026" y="0"/>
                  </a:lnTo>
                  <a:cubicBezTo>
                    <a:pt x="10154032" y="0"/>
                    <a:pt x="10186416" y="32385"/>
                    <a:pt x="10186416" y="72390"/>
                  </a:cubicBezTo>
                  <a:lnTo>
                    <a:pt x="10186416" y="361950"/>
                  </a:lnTo>
                  <a:cubicBezTo>
                    <a:pt x="10186416" y="401955"/>
                    <a:pt x="10154032" y="434340"/>
                    <a:pt x="10114026" y="434340"/>
                  </a:cubicBezTo>
                  <a:lnTo>
                    <a:pt x="72390" y="434340"/>
                  </a:lnTo>
                  <a:cubicBezTo>
                    <a:pt x="32410" y="434340"/>
                    <a:pt x="0" y="401955"/>
                    <a:pt x="0" y="361950"/>
                  </a:cubicBezTo>
                  <a:lnTo>
                    <a:pt x="0" y="72390"/>
                  </a:lnTo>
                  <a:close/>
                </a:path>
              </a:pathLst>
            </a:custGeom>
            <a:solidFill>
              <a:srgbClr val="303030">
                <a:alpha val="100000"/>
              </a:srgbClr>
            </a:solidFill>
            <a:ln w="0" cap="sq">
              <a:solidFill>
                <a:srgbClr val="303030"/>
              </a:solidFill>
              <a:prstDash val="solid"/>
            </a:ln>
          </p:spPr>
          <p:txBody>
            <a:bodyPr rtlCol="0" anchor="ctr"/>
            <a:lstStyle/>
            <a:p>
              <a:pPr algn="ctr"/>
              <a:endParaRPr lang="en-US" altLang="zh-CN"/>
            </a:p>
          </p:txBody>
        </p:sp>
        <p:pic>
          <p:nvPicPr>
            <p:cNvPr id="12" name="Image467">
              <a:extLst>
                <a:ext uri="{FF2B5EF4-FFF2-40B4-BE49-F238E27FC236}">
                  <a16:creationId xmlns:a16="http://schemas.microsoft.com/office/drawing/2014/main" id="{DCC5592B-DF8D-2D4C-99AA-C436A985A85A}"/>
                </a:ext>
              </a:extLst>
            </p:cNvPr>
            <p:cNvPicPr>
              <a:picLocks noChangeAspect="1"/>
            </p:cNvPicPr>
            <p:nvPr/>
          </p:nvPicPr>
          <p:blipFill>
            <a:blip r:embed="rId4"/>
            <a:stretch>
              <a:fillRect/>
            </a:stretch>
          </p:blipFill>
          <p:spPr>
            <a:xfrm>
              <a:off x="4224528" y="4644518"/>
              <a:ext cx="3295523" cy="304800"/>
            </a:xfrm>
            <a:prstGeom prst="rect">
              <a:avLst/>
            </a:prstGeom>
            <a:noFill/>
          </p:spPr>
        </p:pic>
      </p:grpSp>
      <p:grpSp>
        <p:nvGrpSpPr>
          <p:cNvPr id="13" name="Group468">
            <a:extLst>
              <a:ext uri="{FF2B5EF4-FFF2-40B4-BE49-F238E27FC236}">
                <a16:creationId xmlns:a16="http://schemas.microsoft.com/office/drawing/2014/main" id="{C51EF332-2482-7941-917F-D439FD16EE77}"/>
              </a:ext>
            </a:extLst>
          </p:cNvPr>
          <p:cNvGrpSpPr/>
          <p:nvPr/>
        </p:nvGrpSpPr>
        <p:grpSpPr>
          <a:xfrm>
            <a:off x="846836" y="4809744"/>
            <a:ext cx="10186416" cy="1113130"/>
            <a:chOff x="707136" y="5190744"/>
            <a:chExt cx="10186416" cy="1113130"/>
          </a:xfrm>
        </p:grpSpPr>
        <p:sp>
          <p:nvSpPr>
            <p:cNvPr id="14" name="Path469">
              <a:extLst>
                <a:ext uri="{FF2B5EF4-FFF2-40B4-BE49-F238E27FC236}">
                  <a16:creationId xmlns:a16="http://schemas.microsoft.com/office/drawing/2014/main" id="{CDACE1E0-A36A-6143-8255-DAC112D29B17}"/>
                </a:ext>
              </a:extLst>
            </p:cNvPr>
            <p:cNvSpPr/>
            <p:nvPr/>
          </p:nvSpPr>
          <p:spPr>
            <a:xfrm>
              <a:off x="707136" y="5190744"/>
              <a:ext cx="10186416" cy="434340"/>
            </a:xfrm>
            <a:custGeom>
              <a:avLst/>
              <a:gdLst/>
              <a:ahLst/>
              <a:cxnLst/>
              <a:rect l="l" t="t" r="r" b="b"/>
              <a:pathLst>
                <a:path w="10186416" h="434340">
                  <a:moveTo>
                    <a:pt x="0" y="72390"/>
                  </a:moveTo>
                  <a:cubicBezTo>
                    <a:pt x="0" y="32385"/>
                    <a:pt x="32410" y="0"/>
                    <a:pt x="72390" y="0"/>
                  </a:cubicBezTo>
                  <a:lnTo>
                    <a:pt x="10114026" y="0"/>
                  </a:lnTo>
                  <a:cubicBezTo>
                    <a:pt x="10154032" y="0"/>
                    <a:pt x="10186416" y="32385"/>
                    <a:pt x="10186416" y="72390"/>
                  </a:cubicBezTo>
                  <a:lnTo>
                    <a:pt x="10186416" y="361950"/>
                  </a:lnTo>
                  <a:cubicBezTo>
                    <a:pt x="10186416" y="401930"/>
                    <a:pt x="10154032" y="434340"/>
                    <a:pt x="10114026" y="434340"/>
                  </a:cubicBezTo>
                  <a:lnTo>
                    <a:pt x="72390" y="434340"/>
                  </a:lnTo>
                  <a:cubicBezTo>
                    <a:pt x="32410" y="434340"/>
                    <a:pt x="0" y="401930"/>
                    <a:pt x="0" y="361950"/>
                  </a:cubicBezTo>
                  <a:lnTo>
                    <a:pt x="0" y="72390"/>
                  </a:lnTo>
                  <a:close/>
                </a:path>
              </a:pathLst>
            </a:custGeom>
            <a:solidFill>
              <a:srgbClr val="2A9FBC">
                <a:alpha val="100000"/>
              </a:srgbClr>
            </a:solidFill>
            <a:ln w="0" cap="sq">
              <a:solidFill>
                <a:srgbClr val="2A9FBC"/>
              </a:solidFill>
              <a:prstDash val="solid"/>
            </a:ln>
          </p:spPr>
          <p:txBody>
            <a:bodyPr rtlCol="0" anchor="ctr"/>
            <a:lstStyle/>
            <a:p>
              <a:pPr algn="ctr"/>
              <a:endParaRPr lang="en-US" altLang="zh-CN"/>
            </a:p>
          </p:txBody>
        </p:sp>
        <p:pic>
          <p:nvPicPr>
            <p:cNvPr id="15" name="Image470">
              <a:extLst>
                <a:ext uri="{FF2B5EF4-FFF2-40B4-BE49-F238E27FC236}">
                  <a16:creationId xmlns:a16="http://schemas.microsoft.com/office/drawing/2014/main" id="{3EEBD4F0-D6D1-0E48-9F6F-0178C723EAC0}"/>
                </a:ext>
              </a:extLst>
            </p:cNvPr>
            <p:cNvPicPr>
              <a:picLocks noChangeAspect="1"/>
            </p:cNvPicPr>
            <p:nvPr/>
          </p:nvPicPr>
          <p:blipFill>
            <a:blip r:embed="rId5"/>
            <a:stretch>
              <a:fillRect/>
            </a:stretch>
          </p:blipFill>
          <p:spPr>
            <a:xfrm>
              <a:off x="3750564" y="5256860"/>
              <a:ext cx="4244975" cy="305105"/>
            </a:xfrm>
            <a:prstGeom prst="rect">
              <a:avLst/>
            </a:prstGeom>
            <a:noFill/>
          </p:spPr>
        </p:pic>
        <p:pic>
          <p:nvPicPr>
            <p:cNvPr id="16" name="Image471">
              <a:extLst>
                <a:ext uri="{FF2B5EF4-FFF2-40B4-BE49-F238E27FC236}">
                  <a16:creationId xmlns:a16="http://schemas.microsoft.com/office/drawing/2014/main" id="{D2D81952-6368-3747-8063-EF57E128A359}"/>
                </a:ext>
              </a:extLst>
            </p:cNvPr>
            <p:cNvPicPr>
              <a:picLocks noChangeAspect="1"/>
            </p:cNvPicPr>
            <p:nvPr/>
          </p:nvPicPr>
          <p:blipFill>
            <a:blip r:embed="rId6"/>
            <a:stretch>
              <a:fillRect/>
            </a:stretch>
          </p:blipFill>
          <p:spPr>
            <a:xfrm>
              <a:off x="2236978" y="5938114"/>
              <a:ext cx="2603373" cy="365760"/>
            </a:xfrm>
            <a:prstGeom prst="rect">
              <a:avLst/>
            </a:prstGeom>
            <a:noFill/>
          </p:spPr>
        </p:pic>
        <p:pic>
          <p:nvPicPr>
            <p:cNvPr id="17" name="Image472">
              <a:extLst>
                <a:ext uri="{FF2B5EF4-FFF2-40B4-BE49-F238E27FC236}">
                  <a16:creationId xmlns:a16="http://schemas.microsoft.com/office/drawing/2014/main" id="{F2839FC4-4B95-E549-BD4F-5140BE718D79}"/>
                </a:ext>
              </a:extLst>
            </p:cNvPr>
            <p:cNvPicPr>
              <a:picLocks noChangeAspect="1"/>
            </p:cNvPicPr>
            <p:nvPr/>
          </p:nvPicPr>
          <p:blipFill>
            <a:blip r:embed="rId7"/>
            <a:stretch>
              <a:fillRect/>
            </a:stretch>
          </p:blipFill>
          <p:spPr>
            <a:xfrm>
              <a:off x="882993" y="5391912"/>
              <a:ext cx="1263815" cy="779031"/>
            </a:xfrm>
            <a:prstGeom prst="rect">
              <a:avLst/>
            </a:prstGeom>
            <a:noFill/>
          </p:spPr>
        </p:pic>
      </p:grpSp>
      <p:sp>
        <p:nvSpPr>
          <p:cNvPr id="18" name="Slide Number Placeholder 4">
            <a:extLst>
              <a:ext uri="{FF2B5EF4-FFF2-40B4-BE49-F238E27FC236}">
                <a16:creationId xmlns:a16="http://schemas.microsoft.com/office/drawing/2014/main" id="{54B442EE-6CCD-714B-8CB0-E125D71CC5FA}"/>
              </a:ext>
            </a:extLst>
          </p:cNvPr>
          <p:cNvSpPr txBox="1">
            <a:spLocks/>
          </p:cNvSpPr>
          <p:nvPr/>
        </p:nvSpPr>
        <p:spPr>
          <a:xfrm rot="16200000">
            <a:off x="11189124" y="5824644"/>
            <a:ext cx="1315721" cy="4868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2400" b="1" i="0" u="none" strike="noStrike" kern="1200" cap="none" spc="0" normalizeH="0" baseline="0">
                <a:ln>
                  <a:noFill/>
                </a:ln>
                <a:solidFill>
                  <a:srgbClr val="D1282E"/>
                </a:solidFill>
                <a:effectLst/>
                <a:uFillTx/>
                <a:latin typeface="Arial"/>
                <a:ea typeface="Arial"/>
                <a:cs typeface="Arial"/>
                <a:sym typeface="Arial"/>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9</a:t>
            </a:fld>
            <a:endParaRPr lang="en-US" dirty="0"/>
          </a:p>
        </p:txBody>
      </p:sp>
      <p:sp>
        <p:nvSpPr>
          <p:cNvPr id="19" name="Title 5">
            <a:extLst>
              <a:ext uri="{FF2B5EF4-FFF2-40B4-BE49-F238E27FC236}">
                <a16:creationId xmlns:a16="http://schemas.microsoft.com/office/drawing/2014/main" id="{1F47C0C7-A21C-EB44-BEB1-6BAC35756CF2}"/>
              </a:ext>
            </a:extLst>
          </p:cNvPr>
          <p:cNvSpPr txBox="1">
            <a:spLocks noGrp="1"/>
          </p:cNvSpPr>
          <p:nvPr>
            <p:ph type="title" idx="4294967295"/>
          </p:nvPr>
        </p:nvSpPr>
        <p:spPr>
          <a:xfrm>
            <a:off x="161463" y="69977"/>
            <a:ext cx="11059922" cy="730250"/>
          </a:xfrm>
          <a:prstGeom prst="rect">
            <a:avLst/>
          </a:prstGeom>
        </p:spPr>
        <p:txBody>
          <a:bodyPr>
            <a:normAutofit/>
          </a:bodyPr>
          <a:lstStyle>
            <a:lvl1pPr>
              <a:defRPr spc="-100"/>
            </a:lvl1pPr>
          </a:lstStyle>
          <a:p>
            <a:r>
              <a:rPr lang="en-US" b="1" dirty="0">
                <a:solidFill>
                  <a:schemeClr val="accent2"/>
                </a:solidFill>
                <a:latin typeface="+mn-lt"/>
                <a:ea typeface="Nirmala UI Semilight" panose="020B0402040204020203" pitchFamily="34" charset="0"/>
                <a:cs typeface="Nirmala UI Semilight" panose="020B0402040204020203" pitchFamily="34" charset="0"/>
              </a:rPr>
              <a:t>Azure resource manager architecture</a:t>
            </a:r>
            <a:endParaRPr b="1" dirty="0">
              <a:solidFill>
                <a:schemeClr val="accent2"/>
              </a:solidFill>
              <a:latin typeface="+mn-lt"/>
              <a:ea typeface="Nirmala UI Semilight" panose="020B0402040204020203" pitchFamily="34" charset="0"/>
              <a:cs typeface="Nirmala UI Semilight" panose="020B0402040204020203" pitchFamily="34" charset="0"/>
            </a:endParaRPr>
          </a:p>
        </p:txBody>
      </p:sp>
      <p:sp>
        <p:nvSpPr>
          <p:cNvPr id="5" name="Slide Number Placeholder 4">
            <a:extLst>
              <a:ext uri="{FF2B5EF4-FFF2-40B4-BE49-F238E27FC236}">
                <a16:creationId xmlns:a16="http://schemas.microsoft.com/office/drawing/2014/main" id="{9F176C70-5864-C374-84B1-19D0240F093F}"/>
              </a:ext>
            </a:extLst>
          </p:cNvPr>
          <p:cNvSpPr>
            <a:spLocks noGrp="1"/>
          </p:cNvSpPr>
          <p:nvPr>
            <p:ph type="sldNum" sz="quarter" idx="12"/>
          </p:nvPr>
        </p:nvSpPr>
        <p:spPr/>
        <p:txBody>
          <a:bodyPr/>
          <a:lstStyle/>
          <a:p>
            <a:fld id="{D99624C5-FDF6-4954-B8C3-64918F306FAA}" type="slidenum">
              <a:rPr lang="en-US" smtClean="0"/>
              <a:t>9</a:t>
            </a:fld>
            <a:endParaRPr lang="en-US"/>
          </a:p>
        </p:txBody>
      </p:sp>
    </p:spTree>
    <p:extLst>
      <p:ext uri="{BB962C8B-B14F-4D97-AF65-F5344CB8AC3E}">
        <p14:creationId xmlns:p14="http://schemas.microsoft.com/office/powerpoint/2010/main" val="407594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478">
            <a:extLst>
              <a:ext uri="{FF2B5EF4-FFF2-40B4-BE49-F238E27FC236}">
                <a16:creationId xmlns:a16="http://schemas.microsoft.com/office/drawing/2014/main" id="{0BCC1E66-B79C-BF48-9424-059863D7DB26}"/>
              </a:ext>
            </a:extLst>
          </p:cNvPr>
          <p:cNvPicPr>
            <a:picLocks noChangeAspect="1"/>
          </p:cNvPicPr>
          <p:nvPr/>
        </p:nvPicPr>
        <p:blipFill>
          <a:blip r:embed="rId3"/>
          <a:stretch>
            <a:fillRect/>
          </a:stretch>
        </p:blipFill>
        <p:spPr>
          <a:xfrm>
            <a:off x="403692" y="1484158"/>
            <a:ext cx="11199876" cy="4288536"/>
          </a:xfrm>
          <a:prstGeom prst="rect">
            <a:avLst/>
          </a:prstGeom>
          <a:noFill/>
        </p:spPr>
      </p:pic>
      <p:sp>
        <p:nvSpPr>
          <p:cNvPr id="19" name="Slide Number Placeholder 4">
            <a:extLst>
              <a:ext uri="{FF2B5EF4-FFF2-40B4-BE49-F238E27FC236}">
                <a16:creationId xmlns:a16="http://schemas.microsoft.com/office/drawing/2014/main" id="{97EACD6F-7639-D445-AE1E-CEB183794C42}"/>
              </a:ext>
            </a:extLst>
          </p:cNvPr>
          <p:cNvSpPr txBox="1">
            <a:spLocks/>
          </p:cNvSpPr>
          <p:nvPr/>
        </p:nvSpPr>
        <p:spPr>
          <a:xfrm rot="16200000">
            <a:off x="11189124" y="5824644"/>
            <a:ext cx="1315721" cy="48683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2400" b="1" i="0" u="none" strike="noStrike" kern="1200" cap="none" spc="0" normalizeH="0" baseline="0">
                <a:ln>
                  <a:noFill/>
                </a:ln>
                <a:solidFill>
                  <a:srgbClr val="D1282E"/>
                </a:solidFill>
                <a:effectLst/>
                <a:uFillTx/>
                <a:latin typeface="Arial"/>
                <a:ea typeface="Arial"/>
                <a:cs typeface="Arial"/>
                <a:sym typeface="Arial"/>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10</a:t>
            </a:fld>
            <a:endParaRPr lang="en-US" dirty="0"/>
          </a:p>
        </p:txBody>
      </p:sp>
      <p:sp>
        <p:nvSpPr>
          <p:cNvPr id="20" name="Title 5">
            <a:extLst>
              <a:ext uri="{FF2B5EF4-FFF2-40B4-BE49-F238E27FC236}">
                <a16:creationId xmlns:a16="http://schemas.microsoft.com/office/drawing/2014/main" id="{AD0436C9-18AB-014E-8095-C5424AB1EF04}"/>
              </a:ext>
            </a:extLst>
          </p:cNvPr>
          <p:cNvSpPr txBox="1">
            <a:spLocks noGrp="1"/>
          </p:cNvSpPr>
          <p:nvPr>
            <p:ph type="title"/>
          </p:nvPr>
        </p:nvSpPr>
        <p:spPr>
          <a:xfrm>
            <a:off x="403692" y="239897"/>
            <a:ext cx="10346871" cy="582068"/>
          </a:xfrm>
          <a:prstGeom prst="rect">
            <a:avLst/>
          </a:prstGeom>
        </p:spPr>
        <p:txBody>
          <a:bodyPr>
            <a:normAutofit fontScale="90000"/>
          </a:bodyPr>
          <a:lstStyle>
            <a:lvl1pPr>
              <a:defRPr spc="-100"/>
            </a:lvl1pPr>
          </a:lstStyle>
          <a:p>
            <a:pPr algn="l"/>
            <a:r>
              <a:rPr lang="en-US" b="1" dirty="0">
                <a:solidFill>
                  <a:schemeClr val="accent2"/>
                </a:solidFill>
                <a:latin typeface="+mn-lt"/>
                <a:ea typeface="Nirmala UI Semilight" panose="020B0402040204020203" pitchFamily="34" charset="0"/>
                <a:cs typeface="Nirmala UI Semilight" panose="020B0402040204020203" pitchFamily="34" charset="0"/>
              </a:rPr>
              <a:t>Resources and Dependencies</a:t>
            </a:r>
            <a:endParaRPr b="1" dirty="0">
              <a:solidFill>
                <a:schemeClr val="accent2"/>
              </a:solidFill>
              <a:latin typeface="+mn-lt"/>
              <a:ea typeface="Nirmala UI Semilight" panose="020B0402040204020203" pitchFamily="34" charset="0"/>
              <a:cs typeface="Nirmala UI Semilight" panose="020B0402040204020203" pitchFamily="34" charset="0"/>
            </a:endParaRPr>
          </a:p>
        </p:txBody>
      </p:sp>
      <p:sp>
        <p:nvSpPr>
          <p:cNvPr id="2" name="Slide Number Placeholder 1">
            <a:extLst>
              <a:ext uri="{FF2B5EF4-FFF2-40B4-BE49-F238E27FC236}">
                <a16:creationId xmlns:a16="http://schemas.microsoft.com/office/drawing/2014/main" id="{F82349F9-2833-3E69-A1DA-2E27A286A68A}"/>
              </a:ext>
            </a:extLst>
          </p:cNvPr>
          <p:cNvSpPr>
            <a:spLocks noGrp="1"/>
          </p:cNvSpPr>
          <p:nvPr>
            <p:ph type="sldNum" sz="quarter" idx="12"/>
          </p:nvPr>
        </p:nvSpPr>
        <p:spPr/>
        <p:txBody>
          <a:bodyPr/>
          <a:lstStyle/>
          <a:p>
            <a:fld id="{D99624C5-FDF6-4954-B8C3-64918F306FAA}" type="slidenum">
              <a:rPr lang="en-US" smtClean="0"/>
              <a:t>10</a:t>
            </a:fld>
            <a:endParaRPr lang="en-US"/>
          </a:p>
        </p:txBody>
      </p:sp>
    </p:spTree>
    <p:extLst>
      <p:ext uri="{BB962C8B-B14F-4D97-AF65-F5344CB8AC3E}">
        <p14:creationId xmlns:p14="http://schemas.microsoft.com/office/powerpoint/2010/main" val="3214266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Slide Number Placeholder 4"/>
          <p:cNvSpPr txBox="1">
            <a:spLocks noGrp="1"/>
          </p:cNvSpPr>
          <p:nvPr>
            <p:ph type="sldNum" sz="quarter" idx="12"/>
          </p:nvPr>
        </p:nvSpPr>
        <p:spPr>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2400" b="1" i="0" u="none" strike="noStrike" cap="none" spc="0" normalizeH="0" baseline="0">
                <a:ln>
                  <a:noFill/>
                </a:ln>
                <a:solidFill>
                  <a:srgbClr val="D1282E"/>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11</a:t>
            </a:fld>
            <a:endParaRPr/>
          </a:p>
        </p:txBody>
      </p:sp>
      <p:sp>
        <p:nvSpPr>
          <p:cNvPr id="5" name="Path72">
            <a:extLst>
              <a:ext uri="{FF2B5EF4-FFF2-40B4-BE49-F238E27FC236}">
                <a16:creationId xmlns:a16="http://schemas.microsoft.com/office/drawing/2014/main" id="{4B30C7DB-C8AC-2145-9861-353091EE435D}"/>
              </a:ext>
            </a:extLst>
          </p:cNvPr>
          <p:cNvSpPr/>
          <p:nvPr/>
        </p:nvSpPr>
        <p:spPr>
          <a:xfrm>
            <a:off x="0" y="0"/>
            <a:ext cx="0" cy="0"/>
          </a:xfrm>
          <a:custGeom>
            <a:avLst/>
            <a:gdLst/>
            <a:ahLst/>
            <a:cxnLst/>
            <a:rect l="l" t="t" r="r" b="b"/>
            <a:pathLst>
              <a:path/>
            </a:pathLst>
          </a:custGeom>
          <a:solidFill/>
          <a:ln>
            <a:solidFill/>
            <a:prstDash/>
          </a:ln>
        </p:spPr>
        <p:txBody>
          <a:bodyPr rtlCol="0" anchor="ctr"/>
          <a:lstStyle/>
          <a:p>
            <a:pPr algn="ctr"/>
            <a:endParaRPr lang="en-US" altLang="zh-CN"/>
          </a:p>
        </p:txBody>
      </p:sp>
      <p:sp>
        <p:nvSpPr>
          <p:cNvPr id="6" name="object 3">
            <a:extLst>
              <a:ext uri="{FF2B5EF4-FFF2-40B4-BE49-F238E27FC236}">
                <a16:creationId xmlns:a16="http://schemas.microsoft.com/office/drawing/2014/main" id="{57D84A46-1FD9-8344-926B-F4845F1994F5}"/>
              </a:ext>
            </a:extLst>
          </p:cNvPr>
          <p:cNvSpPr txBox="1"/>
          <p:nvPr/>
        </p:nvSpPr>
        <p:spPr>
          <a:xfrm>
            <a:off x="4610862" y="2338014"/>
            <a:ext cx="7236122" cy="2621230"/>
          </a:xfrm>
          <a:prstGeom prst="rect">
            <a:avLst/>
          </a:prstGeom>
        </p:spPr>
        <p:txBody>
          <a:bodyPr vert="horz" wrap="square" lIns="0" tIns="43180" rIns="0" bIns="0" rtlCol="0">
            <a:spAutoFit/>
          </a:bodyPr>
          <a:lstStyle/>
          <a:p>
            <a:pPr marL="241300" indent="-228600">
              <a:lnSpc>
                <a:spcPct val="100000"/>
              </a:lnSpc>
              <a:spcBef>
                <a:spcPts val="340"/>
              </a:spcBef>
              <a:buFont typeface="Arial"/>
              <a:buChar char="•"/>
              <a:tabLst>
                <a:tab pos="241300" algn="l"/>
              </a:tabLst>
            </a:pPr>
            <a:r>
              <a:rPr lang="en-US" sz="3200" spc="-10" dirty="0">
                <a:ea typeface="Nirmala UI Semilight" panose="020B0402040204020203" pitchFamily="34" charset="0"/>
                <a:cs typeface="Nirmala UI Semilight" panose="020B0402040204020203" pitchFamily="34" charset="0"/>
              </a:rPr>
              <a:t>800 resource groups per subscription</a:t>
            </a:r>
          </a:p>
          <a:p>
            <a:pPr marL="241300" indent="-228600">
              <a:lnSpc>
                <a:spcPct val="100000"/>
              </a:lnSpc>
              <a:spcBef>
                <a:spcPts val="340"/>
              </a:spcBef>
              <a:buFont typeface="Arial"/>
              <a:buChar char="•"/>
              <a:tabLst>
                <a:tab pos="241300" algn="l"/>
              </a:tabLst>
            </a:pPr>
            <a:r>
              <a:rPr lang="en-US" sz="3200" spc="-10" dirty="0">
                <a:ea typeface="Nirmala UI Semilight" panose="020B0402040204020203" pitchFamily="34" charset="0"/>
                <a:cs typeface="Nirmala UI Semilight" panose="020B0402040204020203" pitchFamily="34" charset="0"/>
              </a:rPr>
              <a:t>800 resources per resource type per resource group</a:t>
            </a:r>
          </a:p>
          <a:p>
            <a:pPr marL="241300" indent="-228600">
              <a:lnSpc>
                <a:spcPct val="100000"/>
              </a:lnSpc>
              <a:spcBef>
                <a:spcPts val="340"/>
              </a:spcBef>
              <a:buFont typeface="Arial"/>
              <a:buChar char="•"/>
              <a:tabLst>
                <a:tab pos="241300" algn="l"/>
              </a:tabLst>
            </a:pPr>
            <a:r>
              <a:rPr lang="en-US" sz="3200" spc="-10" dirty="0">
                <a:ea typeface="Nirmala UI Semilight" panose="020B0402040204020203" pitchFamily="34" charset="0"/>
                <a:cs typeface="Nirmala UI Semilight" panose="020B0402040204020203" pitchFamily="34" charset="0"/>
              </a:rPr>
              <a:t>15 tags per resource group</a:t>
            </a:r>
          </a:p>
          <a:p>
            <a:pPr marL="241300" indent="-228600">
              <a:lnSpc>
                <a:spcPct val="100000"/>
              </a:lnSpc>
              <a:spcBef>
                <a:spcPts val="340"/>
              </a:spcBef>
              <a:buFont typeface="Arial"/>
              <a:buChar char="•"/>
              <a:tabLst>
                <a:tab pos="241300" algn="l"/>
              </a:tabLst>
            </a:pPr>
            <a:r>
              <a:rPr lang="en-US" sz="3200" spc="-10" dirty="0">
                <a:ea typeface="Nirmala UI Semilight" panose="020B0402040204020203" pitchFamily="34" charset="0"/>
                <a:cs typeface="Nirmala UI Semilight" panose="020B0402040204020203" pitchFamily="34" charset="0"/>
              </a:rPr>
              <a:t>Bound by subscription</a:t>
            </a:r>
            <a:endParaRPr lang="en-US" sz="2800" spc="-10" dirty="0">
              <a:ea typeface="Nirmala UI Semilight" panose="020B0402040204020203" pitchFamily="34" charset="0"/>
              <a:cs typeface="Nirmala UI Semilight" panose="020B0402040204020203" pitchFamily="34" charset="0"/>
            </a:endParaRPr>
          </a:p>
        </p:txBody>
      </p:sp>
      <p:sp>
        <p:nvSpPr>
          <p:cNvPr id="9" name="Path405">
            <a:extLst>
              <a:ext uri="{FF2B5EF4-FFF2-40B4-BE49-F238E27FC236}">
                <a16:creationId xmlns:a16="http://schemas.microsoft.com/office/drawing/2014/main" id="{548021A8-597F-7D4A-9E0F-A4457AD28BDE}"/>
              </a:ext>
            </a:extLst>
          </p:cNvPr>
          <p:cNvSpPr/>
          <p:nvPr/>
        </p:nvSpPr>
        <p:spPr>
          <a:xfrm>
            <a:off x="4447534" y="1557250"/>
            <a:ext cx="51816" cy="4182758"/>
          </a:xfrm>
          <a:custGeom>
            <a:avLst/>
            <a:gdLst/>
            <a:ahLst/>
            <a:cxnLst/>
            <a:rect l="l" t="t" r="r" b="b"/>
            <a:pathLst>
              <a:path w="51816" h="4182758">
                <a:moveTo>
                  <a:pt x="25908" y="25908"/>
                </a:moveTo>
                <a:lnTo>
                  <a:pt x="25908" y="4156850"/>
                </a:lnTo>
              </a:path>
            </a:pathLst>
          </a:custGeom>
          <a:solidFill>
            <a:srgbClr val="000000">
              <a:alpha val="0"/>
            </a:srgbClr>
          </a:solidFill>
          <a:ln w="25908" cap="sq">
            <a:solidFill>
              <a:srgbClr val="F05A28"/>
            </a:solidFill>
            <a:prstDash val="solid"/>
          </a:ln>
        </p:spPr>
        <p:txBody>
          <a:bodyPr rtlCol="0" anchor="ctr"/>
          <a:lstStyle/>
          <a:p>
            <a:pPr algn="ctr"/>
            <a:endParaRPr lang="en-US" altLang="zh-CN"/>
          </a:p>
        </p:txBody>
      </p:sp>
      <p:sp>
        <p:nvSpPr>
          <p:cNvPr id="8" name="object 3">
            <a:extLst>
              <a:ext uri="{FF2B5EF4-FFF2-40B4-BE49-F238E27FC236}">
                <a16:creationId xmlns:a16="http://schemas.microsoft.com/office/drawing/2014/main" id="{4B778991-2D5F-1B45-8DCF-512EDD9AD497}"/>
              </a:ext>
            </a:extLst>
          </p:cNvPr>
          <p:cNvSpPr txBox="1"/>
          <p:nvPr/>
        </p:nvSpPr>
        <p:spPr>
          <a:xfrm>
            <a:off x="345016" y="2576202"/>
            <a:ext cx="4022429" cy="1705595"/>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5400" b="1" spc="-10" dirty="0">
                <a:solidFill>
                  <a:schemeClr val="accent2"/>
                </a:solidFill>
                <a:ea typeface="Nirmala UI Semilight" panose="020B0402040204020203" pitchFamily="34" charset="0"/>
                <a:cs typeface="Nirmala UI Semilight" panose="020B0402040204020203" pitchFamily="34" charset="0"/>
              </a:rPr>
              <a:t>Resource Group Limits</a:t>
            </a:r>
            <a:endParaRPr lang="en-US" sz="5400" b="1" dirty="0">
              <a:solidFill>
                <a:schemeClr val="accent2"/>
              </a:solidFill>
              <a:ea typeface="Nirmala UI Semilight" panose="020B0402040204020203" pitchFamily="34" charset="0"/>
              <a:cs typeface="Nirmala UI Semilight" panose="020B0402040204020203" pitchFamily="34" charset="0"/>
            </a:endParaRPr>
          </a:p>
        </p:txBody>
      </p:sp>
    </p:spTree>
    <p:extLst>
      <p:ext uri="{BB962C8B-B14F-4D97-AF65-F5344CB8AC3E}">
        <p14:creationId xmlns:p14="http://schemas.microsoft.com/office/powerpoint/2010/main" val="7389007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51B6E-3468-3FC1-0C2E-6B663DB36417}"/>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93D804EF-FCD5-60C7-4B6C-86A1639C1EF9}"/>
              </a:ext>
            </a:extLst>
          </p:cNvPr>
          <p:cNvSpPr txBox="1">
            <a:spLocks noGrp="1"/>
          </p:cNvSpPr>
          <p:nvPr>
            <p:ph type="title"/>
          </p:nvPr>
        </p:nvSpPr>
        <p:spPr>
          <a:xfrm>
            <a:off x="182100" y="0"/>
            <a:ext cx="11706912" cy="1325563"/>
          </a:xfrm>
          <a:prstGeom prst="rect">
            <a:avLst/>
          </a:prstGeom>
        </p:spPr>
        <p:txBody>
          <a:bodyPr>
            <a:normAutofit/>
          </a:bodyPr>
          <a:lstStyle>
            <a:lvl1pPr defTabSz="905255">
              <a:defRPr sz="3564" spc="-99"/>
            </a:lvl1pPr>
          </a:lstStyle>
          <a:p>
            <a:pPr algn="l"/>
            <a:r>
              <a:rPr lang="en-US" sz="4000" b="1" dirty="0">
                <a:solidFill>
                  <a:schemeClr val="accent2"/>
                </a:solidFill>
                <a:latin typeface="+mn-lt"/>
                <a:ea typeface="Nirmala UI Semilight" panose="020B0402040204020203" pitchFamily="34" charset="0"/>
                <a:cs typeface="Nirmala UI Semilight" panose="020B0402040204020203" pitchFamily="34" charset="0"/>
              </a:rPr>
              <a:t>LAB: Deploy a VM via the Portal Interface</a:t>
            </a:r>
          </a:p>
        </p:txBody>
      </p:sp>
      <p:sp>
        <p:nvSpPr>
          <p:cNvPr id="4" name="object 3">
            <a:extLst>
              <a:ext uri="{FF2B5EF4-FFF2-40B4-BE49-F238E27FC236}">
                <a16:creationId xmlns:a16="http://schemas.microsoft.com/office/drawing/2014/main" id="{548EBD6D-5AEB-CD43-A1FA-E335696DF681}"/>
              </a:ext>
            </a:extLst>
          </p:cNvPr>
          <p:cNvSpPr txBox="1"/>
          <p:nvPr/>
        </p:nvSpPr>
        <p:spPr>
          <a:xfrm>
            <a:off x="302988" y="1325563"/>
            <a:ext cx="11403924" cy="1697901"/>
          </a:xfrm>
          <a:prstGeom prst="rect">
            <a:avLst/>
          </a:prstGeom>
        </p:spPr>
        <p:txBody>
          <a:bodyPr vert="horz" wrap="square" lIns="0" tIns="43180" rIns="0" bIns="0" rtlCol="0">
            <a:spAutoFit/>
          </a:bodyPr>
          <a:lstStyle/>
          <a:p>
            <a:pPr marL="12700">
              <a:lnSpc>
                <a:spcPct val="100000"/>
              </a:lnSpc>
              <a:spcBef>
                <a:spcPts val="340"/>
              </a:spcBef>
              <a:tabLst>
                <a:tab pos="241300" algn="l"/>
              </a:tabLst>
            </a:pPr>
            <a:r>
              <a:rPr lang="en-US" sz="2800" b="1" spc="-10" dirty="0">
                <a:solidFill>
                  <a:schemeClr val="tx2">
                    <a:lumMod val="50000"/>
                    <a:lumOff val="50000"/>
                  </a:schemeClr>
                </a:solidFill>
                <a:ea typeface="Nirmala UI Semilight" panose="020B0402040204020203" pitchFamily="34" charset="0"/>
                <a:cs typeface="Nirmala UI Semilight" panose="020B0402040204020203" pitchFamily="34" charset="0"/>
              </a:rPr>
              <a:t>Get Started with Azure Portal!</a:t>
            </a:r>
          </a:p>
          <a:p>
            <a:pPr marL="355600" indent="-342900">
              <a:lnSpc>
                <a:spcPct val="100000"/>
              </a:lnSpc>
              <a:spcBef>
                <a:spcPts val="340"/>
              </a:spcBef>
              <a:buFont typeface="Arial" panose="020B0604020202020204" pitchFamily="34" charset="0"/>
              <a:buChar char="•"/>
              <a:tabLst>
                <a:tab pos="241300" algn="l"/>
              </a:tabLst>
            </a:pPr>
            <a:r>
              <a:rPr lang="en-US" sz="2400" spc="-10" dirty="0">
                <a:ea typeface="Nirmala UI Semilight" panose="020B0402040204020203" pitchFamily="34" charset="0"/>
                <a:cs typeface="Nirmala UI Semilight" panose="020B0402040204020203" pitchFamily="34" charset="0"/>
              </a:rPr>
              <a:t>Traditionally, we’d build resources using Bicep Templates, or </a:t>
            </a:r>
            <a:r>
              <a:rPr lang="en-US" sz="2400" spc="-10" dirty="0" err="1">
                <a:ea typeface="Nirmala UI Semilight" panose="020B0402040204020203" pitchFamily="34" charset="0"/>
                <a:cs typeface="Nirmala UI Semilight" panose="020B0402040204020203" pitchFamily="34" charset="0"/>
              </a:rPr>
              <a:t>IaC</a:t>
            </a:r>
            <a:r>
              <a:rPr lang="en-US" sz="2400" spc="-10" dirty="0">
                <a:ea typeface="Nirmala UI Semilight" panose="020B0402040204020203" pitchFamily="34" charset="0"/>
                <a:cs typeface="Nirmala UI Semilight" panose="020B0402040204020203" pitchFamily="34" charset="0"/>
              </a:rPr>
              <a:t> tools like </a:t>
            </a:r>
            <a:r>
              <a:rPr lang="en-US" sz="2400" spc="-10" dirty="0" err="1">
                <a:ea typeface="Nirmala UI Semilight" panose="020B0402040204020203" pitchFamily="34" charset="0"/>
                <a:cs typeface="Nirmala UI Semilight" panose="020B0402040204020203" pitchFamily="34" charset="0"/>
              </a:rPr>
              <a:t>Terrafrom</a:t>
            </a:r>
            <a:endParaRPr lang="en-US" sz="2400" spc="-10" dirty="0">
              <a:ea typeface="Nirmala UI Semilight" panose="020B0402040204020203" pitchFamily="34" charset="0"/>
              <a:cs typeface="Nirmala UI Semilight" panose="020B0402040204020203" pitchFamily="34" charset="0"/>
            </a:endParaRPr>
          </a:p>
          <a:p>
            <a:pPr marL="355600" indent="-342900">
              <a:lnSpc>
                <a:spcPct val="100000"/>
              </a:lnSpc>
              <a:spcBef>
                <a:spcPts val="340"/>
              </a:spcBef>
              <a:buFont typeface="Arial" panose="020B0604020202020204" pitchFamily="34" charset="0"/>
              <a:buChar char="•"/>
              <a:tabLst>
                <a:tab pos="241300" algn="l"/>
              </a:tabLst>
            </a:pPr>
            <a:r>
              <a:rPr lang="en-US" sz="2400" spc="-10" dirty="0">
                <a:ea typeface="Nirmala UI Semilight" panose="020B0402040204020203" pitchFamily="34" charset="0"/>
                <a:cs typeface="Nirmala UI Semilight" panose="020B0402040204020203" pitchFamily="34" charset="0"/>
              </a:rPr>
              <a:t>To cement our understanding of the tool, we’ll use the Portal to provision a VM.</a:t>
            </a:r>
          </a:p>
          <a:p>
            <a:pPr marL="355600" indent="-342900">
              <a:lnSpc>
                <a:spcPct val="100000"/>
              </a:lnSpc>
              <a:spcBef>
                <a:spcPts val="340"/>
              </a:spcBef>
              <a:buFont typeface="Arial" panose="020B0604020202020204" pitchFamily="34" charset="0"/>
              <a:buChar char="•"/>
              <a:tabLst>
                <a:tab pos="241300" algn="l"/>
              </a:tabLst>
            </a:pPr>
            <a:r>
              <a:rPr lang="en-US" sz="2400" spc="-10" dirty="0">
                <a:ea typeface="Nirmala UI Semilight" panose="020B0402040204020203" pitchFamily="34" charset="0"/>
                <a:cs typeface="Nirmala UI Semilight" panose="020B0402040204020203" pitchFamily="34" charset="0"/>
              </a:rPr>
              <a:t>To build a VM, we’ll also need to deploy its dependencies:</a:t>
            </a:r>
          </a:p>
        </p:txBody>
      </p:sp>
      <p:sp>
        <p:nvSpPr>
          <p:cNvPr id="32" name="Slide Number Placeholder 4">
            <a:extLst>
              <a:ext uri="{FF2B5EF4-FFF2-40B4-BE49-F238E27FC236}">
                <a16:creationId xmlns:a16="http://schemas.microsoft.com/office/drawing/2014/main" id="{240789DD-E2FE-A98C-9145-AE3208325E56}"/>
              </a:ext>
            </a:extLst>
          </p:cNvPr>
          <p:cNvSpPr txBox="1">
            <a:spLocks/>
          </p:cNvSpPr>
          <p:nvPr/>
        </p:nvSpPr>
        <p:spPr>
          <a:xfrm>
            <a:off x="8610600" y="6356350"/>
            <a:ext cx="2743200" cy="36512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lang="en-US" sz="1800" b="0" i="0" u="none" strike="noStrike" cap="none" spc="0" normalizeH="0" baseline="0">
                <a:ln>
                  <a:noFill/>
                </a:ln>
                <a:solidFill>
                  <a:srgbClr val="000000"/>
                </a:solidFill>
                <a:effectLst/>
                <a:uFillTx/>
              </a:defRPr>
            </a:defPPr>
            <a:lvl1pPr marL="0" marR="0" indent="0" algn="l" defTabSz="914400" rtl="0" eaLnBrk="1" fontAlgn="auto" latinLnBrk="0" hangingPunct="0">
              <a:lnSpc>
                <a:spcPct val="100000"/>
              </a:lnSpc>
              <a:spcBef>
                <a:spcPts val="0"/>
              </a:spcBef>
              <a:spcAft>
                <a:spcPts val="0"/>
              </a:spcAft>
              <a:buClrTx/>
              <a:buSzTx/>
              <a:buFontTx/>
              <a:buNone/>
              <a:tabLst/>
              <a:defRPr kumimoji="0" sz="2400" b="1" i="0" u="none" strike="noStrike" kern="1200" cap="none" spc="0" normalizeH="0" baseline="0">
                <a:ln>
                  <a:noFill/>
                </a:ln>
                <a:solidFill>
                  <a:srgbClr val="D1282E"/>
                </a:solidFill>
                <a:effectLst/>
                <a:uFillTx/>
                <a:latin typeface="Arial"/>
                <a:ea typeface="Arial"/>
                <a:cs typeface="Arial"/>
                <a:sym typeface="Arial"/>
              </a:defRPr>
            </a:lvl1pPr>
            <a:lvl2pPr marL="0" marR="0" indent="457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2pPr>
            <a:lvl3pPr marL="0" marR="0" indent="914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3pPr>
            <a:lvl4pPr marL="0" marR="0" indent="1371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4pPr>
            <a:lvl5pPr marL="0" marR="0" indent="18288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5pPr>
            <a:lvl6pPr marL="0" marR="0" indent="22860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6pPr>
            <a:lvl7pPr marL="0" marR="0" indent="27432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7pPr>
            <a:lvl8pPr marL="0" marR="0" indent="32004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8pPr>
            <a:lvl9pPr marL="0" marR="0" indent="3657600" algn="l" defTabSz="914400" rtl="0" eaLnBrk="1" fontAlgn="auto" latinLnBrk="0" hangingPunct="0">
              <a:lnSpc>
                <a:spcPct val="100000"/>
              </a:lnSpc>
              <a:spcBef>
                <a:spcPts val="0"/>
              </a:spcBef>
              <a:spcAft>
                <a:spcPts val="0"/>
              </a:spcAft>
              <a:buClrTx/>
              <a:buSzTx/>
              <a:buFontTx/>
              <a:buNone/>
              <a:tabLst/>
              <a:defRPr kumimoji="0" sz="1800" b="0" i="0" u="none" strike="noStrike" kern="1200" cap="none" spc="0" normalizeH="0" baseline="0">
                <a:ln>
                  <a:noFill/>
                </a:ln>
                <a:solidFill>
                  <a:srgbClr val="000000"/>
                </a:solidFill>
                <a:effectLst/>
                <a:uFillTx/>
                <a:latin typeface="Arial"/>
                <a:ea typeface="Arial"/>
                <a:cs typeface="Arial"/>
                <a:sym typeface="Arial"/>
              </a:defRPr>
            </a:lvl9pPr>
          </a:lstStyle>
          <a:p>
            <a:fld id="{86CB4B4D-7CA3-9044-876B-883B54F8677D}" type="slidenum">
              <a:rPr lang="en-US" smtClean="0"/>
              <a:pPr/>
              <a:t>12</a:t>
            </a:fld>
            <a:endParaRPr lang="en-US" dirty="0"/>
          </a:p>
        </p:txBody>
      </p:sp>
      <p:sp>
        <p:nvSpPr>
          <p:cNvPr id="2" name="TextBox 1">
            <a:extLst>
              <a:ext uri="{FF2B5EF4-FFF2-40B4-BE49-F238E27FC236}">
                <a16:creationId xmlns:a16="http://schemas.microsoft.com/office/drawing/2014/main" id="{0FC00EC4-610F-1EA4-0F20-5AA424AF353D}"/>
              </a:ext>
            </a:extLst>
          </p:cNvPr>
          <p:cNvSpPr txBox="1"/>
          <p:nvPr/>
        </p:nvSpPr>
        <p:spPr>
          <a:xfrm>
            <a:off x="4615306" y="4564752"/>
            <a:ext cx="2902718" cy="584775"/>
          </a:xfrm>
          <a:prstGeom prst="rect">
            <a:avLst/>
          </a:prstGeom>
          <a:noFill/>
        </p:spPr>
        <p:txBody>
          <a:bodyPr wrap="none" rtlCol="0">
            <a:spAutoFit/>
          </a:bodyPr>
          <a:lstStyle/>
          <a:p>
            <a:pPr algn="l"/>
            <a:r>
              <a:rPr lang="en-US" sz="3200" b="1" dirty="0">
                <a:solidFill>
                  <a:schemeClr val="accent2"/>
                </a:solidFill>
              </a:rPr>
              <a:t>Pro Tip for </a:t>
            </a:r>
            <a:r>
              <a:rPr lang="en-US" sz="3200" b="1" dirty="0" err="1">
                <a:solidFill>
                  <a:schemeClr val="accent2"/>
                </a:solidFill>
              </a:rPr>
              <a:t>IaC</a:t>
            </a:r>
            <a:r>
              <a:rPr lang="en-US" sz="3200" b="1" dirty="0">
                <a:solidFill>
                  <a:schemeClr val="accent2"/>
                </a:solidFill>
              </a:rPr>
              <a:t>:</a:t>
            </a:r>
            <a:endParaRPr lang="en-US" b="1" dirty="0">
              <a:solidFill>
                <a:schemeClr val="accent2"/>
              </a:solidFill>
            </a:endParaRPr>
          </a:p>
        </p:txBody>
      </p:sp>
      <p:sp>
        <p:nvSpPr>
          <p:cNvPr id="11" name="TextBox 10">
            <a:extLst>
              <a:ext uri="{FF2B5EF4-FFF2-40B4-BE49-F238E27FC236}">
                <a16:creationId xmlns:a16="http://schemas.microsoft.com/office/drawing/2014/main" id="{4F3498D2-15CB-BB18-2F38-28A83DF066C1}"/>
              </a:ext>
            </a:extLst>
          </p:cNvPr>
          <p:cNvSpPr txBox="1"/>
          <p:nvPr/>
        </p:nvSpPr>
        <p:spPr>
          <a:xfrm>
            <a:off x="0" y="5058723"/>
            <a:ext cx="12192000" cy="1200329"/>
          </a:xfrm>
          <a:prstGeom prst="rect">
            <a:avLst/>
          </a:prstGeom>
          <a:noFill/>
        </p:spPr>
        <p:txBody>
          <a:bodyPr wrap="square" rtlCol="0">
            <a:spAutoFit/>
          </a:bodyPr>
          <a:lstStyle/>
          <a:p>
            <a:pPr algn="ctr"/>
            <a:r>
              <a:rPr lang="en-US" sz="2400" b="1" dirty="0"/>
              <a:t>When writing a Bicep or ARM Template, you must declare and manage these dependencies in the correct order--often using </a:t>
            </a:r>
            <a:r>
              <a:rPr lang="en-US" sz="2400" b="1" i="1" dirty="0">
                <a:solidFill>
                  <a:schemeClr val="accent2"/>
                </a:solidFill>
              </a:rPr>
              <a:t>dependsOn</a:t>
            </a:r>
            <a:r>
              <a:rPr lang="en-US" sz="2400" b="1" dirty="0"/>
              <a:t> explicitly or letting Azure infer it through resource references.</a:t>
            </a:r>
          </a:p>
        </p:txBody>
      </p:sp>
      <p:sp>
        <p:nvSpPr>
          <p:cNvPr id="5" name="TextBox 4">
            <a:extLst>
              <a:ext uri="{FF2B5EF4-FFF2-40B4-BE49-F238E27FC236}">
                <a16:creationId xmlns:a16="http://schemas.microsoft.com/office/drawing/2014/main" id="{46CF0100-27C4-716D-8946-A18B14CE48E4}"/>
              </a:ext>
            </a:extLst>
          </p:cNvPr>
          <p:cNvSpPr txBox="1"/>
          <p:nvPr/>
        </p:nvSpPr>
        <p:spPr>
          <a:xfrm>
            <a:off x="1959644" y="3200811"/>
            <a:ext cx="2788712" cy="1277273"/>
          </a:xfrm>
          <a:prstGeom prst="rect">
            <a:avLst/>
          </a:prstGeom>
          <a:noFill/>
        </p:spPr>
        <p:txBody>
          <a:bodyPr wrap="none" rtlCol="0">
            <a:spAutoFit/>
          </a:bodyPr>
          <a:lstStyle/>
          <a:p>
            <a:pPr marL="355600" indent="-342900">
              <a:spcBef>
                <a:spcPts val="340"/>
              </a:spcBef>
              <a:buFont typeface="Arial" panose="020B0604020202020204" pitchFamily="34" charset="0"/>
              <a:buChar char="•"/>
              <a:tabLst>
                <a:tab pos="241300" algn="l"/>
              </a:tabLst>
            </a:pPr>
            <a:r>
              <a:rPr lang="en-US" sz="2400" b="1" spc="-10" dirty="0">
                <a:solidFill>
                  <a:schemeClr val="tx2"/>
                </a:solidFill>
                <a:ea typeface="Nirmala UI Semilight" panose="020B0402040204020203" pitchFamily="34" charset="0"/>
                <a:cs typeface="Nirmala UI Semilight" panose="020B0402040204020203" pitchFamily="34" charset="0"/>
              </a:rPr>
              <a:t>Resource Group</a:t>
            </a:r>
          </a:p>
          <a:p>
            <a:pPr marL="355600" indent="-342900">
              <a:spcBef>
                <a:spcPts val="340"/>
              </a:spcBef>
              <a:buFont typeface="Arial" panose="020B0604020202020204" pitchFamily="34" charset="0"/>
              <a:buChar char="•"/>
              <a:tabLst>
                <a:tab pos="241300" algn="l"/>
              </a:tabLst>
            </a:pPr>
            <a:r>
              <a:rPr lang="en-US" sz="2400" b="1" spc="-10" dirty="0">
                <a:solidFill>
                  <a:schemeClr val="tx2"/>
                </a:solidFill>
                <a:ea typeface="Nirmala UI Semilight" panose="020B0402040204020203" pitchFamily="34" charset="0"/>
                <a:cs typeface="Nirmala UI Semilight" panose="020B0402040204020203" pitchFamily="34" charset="0"/>
              </a:rPr>
              <a:t>Virtual Network</a:t>
            </a:r>
          </a:p>
          <a:p>
            <a:pPr marL="355600" indent="-342900">
              <a:spcBef>
                <a:spcPts val="340"/>
              </a:spcBef>
              <a:buFont typeface="Arial" panose="020B0604020202020204" pitchFamily="34" charset="0"/>
              <a:buChar char="•"/>
              <a:tabLst>
                <a:tab pos="241300" algn="l"/>
              </a:tabLst>
            </a:pPr>
            <a:r>
              <a:rPr lang="en-US" sz="2400" b="1" spc="-10" dirty="0">
                <a:solidFill>
                  <a:schemeClr val="tx2"/>
                </a:solidFill>
                <a:ea typeface="Nirmala UI Semilight" panose="020B0402040204020203" pitchFamily="34" charset="0"/>
                <a:cs typeface="Nirmala UI Semilight" panose="020B0402040204020203" pitchFamily="34" charset="0"/>
              </a:rPr>
              <a:t>Subnet</a:t>
            </a:r>
            <a:endParaRPr lang="en-US" b="1" dirty="0">
              <a:solidFill>
                <a:schemeClr val="tx2"/>
              </a:solidFill>
            </a:endParaRPr>
          </a:p>
        </p:txBody>
      </p:sp>
      <p:sp>
        <p:nvSpPr>
          <p:cNvPr id="6" name="TextBox 5">
            <a:extLst>
              <a:ext uri="{FF2B5EF4-FFF2-40B4-BE49-F238E27FC236}">
                <a16:creationId xmlns:a16="http://schemas.microsoft.com/office/drawing/2014/main" id="{BF5BAA02-4D7A-0336-9496-1F89D35032E7}"/>
              </a:ext>
            </a:extLst>
          </p:cNvPr>
          <p:cNvSpPr txBox="1"/>
          <p:nvPr/>
        </p:nvSpPr>
        <p:spPr>
          <a:xfrm>
            <a:off x="6424519" y="3190181"/>
            <a:ext cx="3807837" cy="1277273"/>
          </a:xfrm>
          <a:prstGeom prst="rect">
            <a:avLst/>
          </a:prstGeom>
          <a:noFill/>
        </p:spPr>
        <p:txBody>
          <a:bodyPr wrap="none" rtlCol="0">
            <a:spAutoFit/>
          </a:bodyPr>
          <a:lstStyle/>
          <a:p>
            <a:pPr marL="355600" indent="-342900">
              <a:spcBef>
                <a:spcPts val="340"/>
              </a:spcBef>
              <a:buFont typeface="Arial" panose="020B0604020202020204" pitchFamily="34" charset="0"/>
              <a:buChar char="•"/>
              <a:tabLst>
                <a:tab pos="241300" algn="l"/>
              </a:tabLst>
            </a:pPr>
            <a:r>
              <a:rPr lang="en-US" sz="2400" b="1" spc="-10" dirty="0">
                <a:solidFill>
                  <a:schemeClr val="tx2"/>
                </a:solidFill>
                <a:ea typeface="Nirmala UI Semilight" panose="020B0402040204020203" pitchFamily="34" charset="0"/>
                <a:cs typeface="Nirmala UI Semilight" panose="020B0402040204020203" pitchFamily="34" charset="0"/>
              </a:rPr>
              <a:t>Network Interface (NIC)</a:t>
            </a:r>
          </a:p>
          <a:p>
            <a:pPr marL="355600" indent="-342900">
              <a:spcBef>
                <a:spcPts val="340"/>
              </a:spcBef>
              <a:buFont typeface="Arial" panose="020B0604020202020204" pitchFamily="34" charset="0"/>
              <a:buChar char="•"/>
              <a:tabLst>
                <a:tab pos="241300" algn="l"/>
              </a:tabLst>
            </a:pPr>
            <a:r>
              <a:rPr lang="en-US" sz="2400" b="1" spc="-10" dirty="0">
                <a:solidFill>
                  <a:schemeClr val="tx2"/>
                </a:solidFill>
                <a:ea typeface="Nirmala UI Semilight" panose="020B0402040204020203" pitchFamily="34" charset="0"/>
                <a:cs typeface="Nirmala UI Semilight" panose="020B0402040204020203" pitchFamily="34" charset="0"/>
              </a:rPr>
              <a:t>Storage / Disks</a:t>
            </a:r>
          </a:p>
          <a:p>
            <a:pPr marL="355600" indent="-342900">
              <a:spcBef>
                <a:spcPts val="340"/>
              </a:spcBef>
              <a:buFont typeface="Arial" panose="020B0604020202020204" pitchFamily="34" charset="0"/>
              <a:buChar char="•"/>
              <a:tabLst>
                <a:tab pos="241300" algn="l"/>
              </a:tabLst>
            </a:pPr>
            <a:r>
              <a:rPr lang="en-US" sz="2400" b="1" spc="-10" dirty="0">
                <a:solidFill>
                  <a:schemeClr val="tx2"/>
                </a:solidFill>
                <a:ea typeface="Nirmala UI Semilight" panose="020B0402040204020203" pitchFamily="34" charset="0"/>
                <a:cs typeface="Nirmala UI Semilight" panose="020B0402040204020203" pitchFamily="34" charset="0"/>
              </a:rPr>
              <a:t>Virtual Machine Image</a:t>
            </a:r>
            <a:endParaRPr lang="en-US" b="1" dirty="0">
              <a:solidFill>
                <a:schemeClr val="tx2"/>
              </a:solidFill>
            </a:endParaRPr>
          </a:p>
        </p:txBody>
      </p:sp>
    </p:spTree>
    <p:extLst>
      <p:ext uri="{BB962C8B-B14F-4D97-AF65-F5344CB8AC3E}">
        <p14:creationId xmlns:p14="http://schemas.microsoft.com/office/powerpoint/2010/main" val="21164007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TotalTime>
  <Words>2292</Words>
  <Application>Microsoft Office PowerPoint</Application>
  <PresentationFormat>Widescreen</PresentationFormat>
  <Paragraphs>254</Paragraphs>
  <Slides>12</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Aptos</vt:lpstr>
      <vt:lpstr>Aptos Display</vt:lpstr>
      <vt:lpstr>Arial</vt:lpstr>
      <vt:lpstr>Gadugi</vt:lpstr>
      <vt:lpstr>Leelawadee</vt:lpstr>
      <vt:lpstr>Nirmala UI Semilight</vt:lpstr>
      <vt:lpstr>Office Theme</vt:lpstr>
      <vt:lpstr>What is Azure?</vt:lpstr>
      <vt:lpstr>The Azure Platform – A Global, Consistent Control Plane</vt:lpstr>
      <vt:lpstr>How Azure Sees the World</vt:lpstr>
      <vt:lpstr>Resources, Groups, and Scopes</vt:lpstr>
      <vt:lpstr>PowerPoint Presentation</vt:lpstr>
      <vt:lpstr>PowerPoint Presentation</vt:lpstr>
      <vt:lpstr>PowerPoint Presentation</vt:lpstr>
      <vt:lpstr>PowerPoint Presentation</vt:lpstr>
      <vt:lpstr>Azure resource manager architecture</vt:lpstr>
      <vt:lpstr>Resources and Dependencies</vt:lpstr>
      <vt:lpstr>PowerPoint Presentation</vt:lpstr>
      <vt:lpstr>LAB: Deploy a VM via the Portal Interface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Tim Patrick</dc:creator>
  <cp:lastModifiedBy>Tim Patrick</cp:lastModifiedBy>
  <cp:revision>3</cp:revision>
  <dcterms:created xsi:type="dcterms:W3CDTF">2025-08-05T16:10:54Z</dcterms:created>
  <dcterms:modified xsi:type="dcterms:W3CDTF">2025-08-06T16:18:45Z</dcterms:modified>
</cp:coreProperties>
</file>