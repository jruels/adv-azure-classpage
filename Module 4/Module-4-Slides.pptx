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40" r:id="rId2"/>
    <p:sldId id="2641" r:id="rId3"/>
    <p:sldId id="2642" r:id="rId4"/>
    <p:sldId id="2643" r:id="rId5"/>
    <p:sldId id="2644" r:id="rId6"/>
    <p:sldId id="2645" r:id="rId7"/>
    <p:sldId id="2648" r:id="rId8"/>
    <p:sldId id="2649" r:id="rId9"/>
    <p:sldId id="2650" r:id="rId10"/>
    <p:sldId id="5274" r:id="rId11"/>
    <p:sldId id="5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86772-F0A8-4E1B-B561-FD8ABFE46209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8E7FC-2AA1-4EB0-90EC-47484AA40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2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Availability Sets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Azure are used to ensure high availability for virtual machines (VMs) within a single region.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Fault Domains (FDs)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diagram shows three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 Fault Domains (FD1, FD2, FD3)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each with a VM and its corresponding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 Fault Domain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Fault Domain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represents a group of resources that share a common power source and network switch.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distributing VMs across multiple fault domains, Azure protects against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rack-level failures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Domains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not explicitly shown, Availability Sets also distribute VMs across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Domains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ensures that during planned maintenance, only one update domain is rebooted at a time, minimizing downtime.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Failure and Maintenance Considerations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VMs are placed on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physical nodes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within a rack.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Failures can occur at both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rack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level, which is why fault domain separation is critical.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planned maintenance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VMs in Availability Sets 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live migrated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—they are rebooted, but Azure ensures only one update domain is affected at a time.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Availability Sets are ideal for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legacy applications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 workloads that require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99.95% SLA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within a single region.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higher availability and zone-level redundancy, consider using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Availability Zones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Machine Scale Sets with zone distribution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77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Fault Domains (default 3)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put VMs in to an availability set, Azure guarantees to spread them across Fault Domains and Update Domains. A Fault Domain (FD) is essentially a rack of servers. It consumes subsystems like network, power, cooling etc. So 2 VMs in the same availability set means Azure will provision them in to 2 different racks so that if say, the network or the power failed, only one rack would be affected.</a:t>
            </a:r>
          </a:p>
          <a:p>
            <a:endParaRPr lang="en-US" dirty="0"/>
          </a:p>
          <a:p>
            <a:r>
              <a:rPr lang="en-US" dirty="0"/>
              <a:t>Update Domains (default 5)</a:t>
            </a:r>
          </a:p>
          <a:p>
            <a:r>
              <a:rPr lang="en-US" dirty="0"/>
              <a:t>If there is a patch that must be applied to the hypervisor than it will do a rolling update across Update Domains to avoid any downtime to your apps.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33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Fault Domains (FDs)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diagram shows three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Fault Domains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(FD0, FD1, FD2), each representing a separate rack with its own power and network infrastructure.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ensures that VMs in an Availability Set are spread across these fault domains to protect against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rack-level failures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Domains (UDs)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 each fault domain, VMs are also distributed across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Domains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(e.g., UD0, UD1, UD2, etc.).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domains are used during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planned maintenance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ensure that not all VMs are rebooted at the same time.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updates one UD at a time, allowing applications to remain available during platform upgrades.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Availability Set Scope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Availability Set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spans across all three fault domains and multiple update domains.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configuration ensures that: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least one VM remains available during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failures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(FD protection).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least one VM remains available during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planned maintenance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(UD protection).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30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Availability Zones (AZs)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Azure provide high availability and fault isolation within a single region.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Are Availability Zones?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region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divided into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physically separate zones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typically three per region.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zones are labeled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 diagram.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zone has its own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power, cooling, and networking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ensuring that a failure in one zone does not affect the others.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Fault and Update Domain Isolation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AZ acts as both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fault domain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an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domain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that deploying VMs across multiple AZs protects against both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failures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planned maintenance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Availability SLA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distribute VMs across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or more AZs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Azure provides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99.99% SLA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VM uptime.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higher than the 99.95% SLA offered by Availability Sets, making AZs the preferred choice for mission-critical workloads.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Network Integration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Network (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VNet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span all AZs within a region.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allows seamless communication between resources in different zones without needing peering or additional configuration.</a:t>
            </a:r>
          </a:p>
          <a:p>
            <a:endParaRPr lang="en-US" dirty="0"/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 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Zone-redundant services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like 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SQL Database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Kubernetes Service (AKS)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Load Balancer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simplify high availability.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even greater resilience, combine AZs with 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geo-redundant services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across multiple regions.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53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map highlights Microsoft Azure's global infrastructure, which now includes over 60 announced regions—more than any other cloud provider.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operates 93 availability zones across 33 active regions, ensuring high availability, fault tolerance, and low-latency access for customers worldwide.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Regions such as West US, UK South, India South, and Japan East are among the most active and strategically important.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global presence supports compliance with local data regulations and enables customers to deploy resilient applications closer to their users.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continues to expand rapidly, with new regions being announced regularly to meet growing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Virtual Machine Scale Sets allow us to deploy and manage a group of identical, load-balanced VMs at scale.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use a single 'gold image' to ensure consistency across all instances, and support automatic configuration during deployment.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 sets can automatically increase or decrease the number of VM instances based on real-time metrics like CPU usage or on predefined schedules—this ensures both performance and cost-efficiency.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of the key advantages is that updates can be rolled out to the scale set without taking the entire service offline, supporting high availability.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in the diagram, scale sets integrate with other Azure services like load balancers, virtual networks, and storage accounts, all within a defined resource group and subscription.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architecture is ideal for scenarios like large-scale web applications, microservices, and compute-intensive workloads.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33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VM Scale Sets simplify the management of large-scale VM deployments by treating the entire set as a single resource.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allow updates to be rolled out across the set without requiring downtime, which is critical for maintaining service availability.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diagram illustrates how storage, networking, extensions, and configuration are centrally managed within the scale set.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VM instance in the scale set is part of a subnet, ensuring secure and scalable network integration.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architecture is ideal for applications that need to scale dynamically while maintaining consistent configuration and high availability.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02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Maximum VMs per Scale Set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1,000 VMs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per scale set when using 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 images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 images from Azure Compute Gallery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CA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600 VMs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per scale set when using 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 managed images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CA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Maximum Scale Sets per Region per Subscription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 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2,000 scale sets per region per subscription</a:t>
            </a:r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limits apply to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Uniform orchestration mode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Azure also supports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Flexible orchestration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allows mixing VM types and using Spot VMs, but the 1,000 VM limit still applies for high availability scenarios.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https://learn.microsoft.com/en-us/azure/virtual-machine-scale-sets/overview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24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VM Scale Sets support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auto-scaling strategies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ensure optimal performance and cost-efficiency.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Scheduled scaling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allows you to define scale-out or scale-in actions based on specific dates, times, or recurring patterns. This is particularly useful for predictable workloads, such as business hours or seasonal traffic spikes.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Metric-based scaling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dynamically adjusts the number of VM instances based on real-time performance indicators like CPU utilization, memory usage, disk I/O, or custom Azure Monitor metrics.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two methods can be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When both are configured,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scheduled rules take precedence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over metric-based rules. This ensures that planned events override reactive scaling logic.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 configurations can include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cooldown periods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 limits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graceful shutdowns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avoid flapping and ensure smooth transitions.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Auto-scaling is managed through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Monitor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autoscale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settings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can be configured via the portal, CLI, PowerShell, or ARM templates.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mission-critical applications, it's recommended to use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scaling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predictive analytics 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horizontal pod autoscaling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integrated with AKS (Azure Kubernetes Service).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4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21DF9-132F-9803-442E-79B79E208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E8CB5-5D5E-2761-B99F-7F7164B22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ACDEF-2813-FE74-D303-1DA290AC1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FF1E2-5A32-EF35-4573-17AC095EF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22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4AFE2-AEC8-CE3A-A06D-C2A6345F4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B774C-3F2A-67C8-865F-27681210C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EE371-A90F-02BB-AC09-B31938890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regional VMSS</a:t>
            </a:r>
            <a:r>
              <a:rPr lang="en-US" dirty="0"/>
              <a:t> uses </a:t>
            </a:r>
            <a:r>
              <a:rPr lang="en-US" i="1" dirty="0"/>
              <a:t>placement groups</a:t>
            </a:r>
            <a:r>
              <a:rPr lang="en-US" dirty="0"/>
              <a:t> to provide multi-fault-domain redundancy and supports &gt; 100 VMs; beyond thresholds, it auto-stripes across additional placement groups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BF1AB-6953-3186-D557-6152BA111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6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A1E9-A8AA-3860-CD07-1D7C2052F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D87E3-668A-796F-144C-6F56ED9EF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FA11F-A0D3-1D03-A5E3-41D78F89F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75E71-108A-4D92-CC95-BAE2B9085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0EC0B-1C13-EEC5-8528-0A779322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13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C739-C60E-3E75-06E6-EA89534B2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12E80-B5A7-B890-6C54-11D994F46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EFD7E-807A-BB92-00C8-2B66E396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FF171-0FA3-E048-6A3B-D2824FC1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7481C-2396-6BC8-3F4F-3842E927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8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0E7E-5C67-86A2-F94C-0AEC36EA1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179D8-E1B1-F13E-C785-DABE47003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383DF-2492-4C7F-41AE-414270485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43BB2-4D6A-9160-E887-AC6629AAC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1B46F-CBB3-13B6-A260-676A6C771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3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1FD0-EA11-49FF-653E-9F061021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F0F0E-964D-4D89-1493-535D8DA70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1CB3C-4651-E9CB-9BF2-6A745FDC1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75D31-0B42-9837-5C9A-0A66618D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ECD61-FD66-A8AC-81B4-4738F417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D4A6D-625F-D9D3-FEDD-2D301EC6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6DAA-681D-D25F-481B-67159F87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D58AF-85B8-F13A-F2EC-DBD160F9C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BD893-9F9D-44B9-9303-F5464A8A2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F7DB7-E549-A495-2F8D-0049C9052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A4AA0-1CE0-CC17-4735-9F15FA36B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C86518-E65B-122F-6EB7-75CCE37C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E2AD4-70C5-1069-3F15-7B754CC2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DC05F-EF39-7D52-BDDB-4E0A559D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6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3E42-741E-4D6A-18B3-ACC2B0920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0EEB8-D6A4-BBB0-99A5-BC804F62E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A5090-A45F-2CC4-6CA5-27BEE5AA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C30FD-C592-5040-9F44-D02B86BD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36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A2CE4-EAA6-9B97-98C8-A7023977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70285-33B1-D196-749B-31DDC979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3E1CB-8CB0-BBC2-8739-D9D30A6A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67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6D09-73FB-8CBB-D2A3-A5F8A0E47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9165-DD0C-114F-ED3C-28A7A9E97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F4D51-C00E-C5D4-C230-046843913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9B66A-7C58-E384-3B5F-9534418B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A507C-2B1D-9691-F387-68DCBC49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09F08-FFAA-AAAD-0C4F-0CBEE27A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7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A684-A3A2-6FFD-3977-969535D42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0130D-E79A-FE64-C83D-EC89BEDD0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F21B9-5041-AC50-456E-37907CE5D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77F6B-59D6-9265-904D-4553B27E5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4E094-3637-2F6F-31EB-8613EB7F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7CAB2-8653-C646-7A6D-5CF86416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3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27E4-1FC4-B2E8-F973-C09556E9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B15E4-E06F-4015-0BD9-FCD2D3AEF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BDF46-1A4E-6542-0366-EE9C9948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F2226-C6DC-F038-7F38-C1721789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A631B-DC50-F506-5B18-93EDD937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99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05F01-5005-92FB-FE31-D140E7283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50FFA-7F39-84DC-2D42-58998DE5B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D50EE-A48F-2526-0746-3BA5EA8E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D16EB-9688-29B1-070E-F02F8CA4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FC3DB-1AB4-58A6-07C6-A6D98428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8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AF518-45B1-BF92-84F9-E5611079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F6CA0-997E-1531-296D-F763878B3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C2A68-9ABE-2D7E-B580-B4EF7173C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7C1C5-2B25-475A-8FFD-378930511B3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DA864-63D4-452C-AD02-01544A062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034E6-3652-E2AF-4BAF-35215F3E0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DD4E-A360-415A-BD24-1532F9C9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0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11" Type="http://schemas.openxmlformats.org/officeDocument/2006/relationships/image" Target="../media/image17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905255">
              <a:defRPr sz="3564" spc="-99"/>
            </a:lvl1pPr>
          </a:lstStyle>
          <a:p>
            <a:r>
              <a:rPr lang="en-US" dirty="0"/>
              <a:t>Availability Sets</a:t>
            </a:r>
            <a:endParaRPr dirty="0"/>
          </a:p>
        </p:txBody>
      </p:sp>
      <p:sp>
        <p:nvSpPr>
          <p:cNvPr id="415" name="Slide Number Placeholder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1</a:t>
            </a:fld>
            <a:endParaRPr/>
          </a:p>
        </p:txBody>
      </p:sp>
      <p:sp>
        <p:nvSpPr>
          <p:cNvPr id="5" name="Path72">
            <a:extLst>
              <a:ext uri="{FF2B5EF4-FFF2-40B4-BE49-F238E27FC236}">
                <a16:creationId xmlns:a16="http://schemas.microsoft.com/office/drawing/2014/main" id="{4B30C7DB-C8AC-2145-9861-353091EE435D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7" name="Path1836">
            <a:extLst>
              <a:ext uri="{FF2B5EF4-FFF2-40B4-BE49-F238E27FC236}">
                <a16:creationId xmlns:a16="http://schemas.microsoft.com/office/drawing/2014/main" id="{3CD03529-BCBB-504C-99B3-9ACBC8CB0BAB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pic>
        <p:nvPicPr>
          <p:cNvPr id="23" name="Image3536">
            <a:extLst>
              <a:ext uri="{FF2B5EF4-FFF2-40B4-BE49-F238E27FC236}">
                <a16:creationId xmlns:a16="http://schemas.microsoft.com/office/drawing/2014/main" id="{1887FD5B-C8B1-2B4C-B2BB-8D5363308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020" y="454549"/>
            <a:ext cx="1223771" cy="810984"/>
          </a:xfrm>
          <a:prstGeom prst="rect">
            <a:avLst/>
          </a:prstGeom>
          <a:noFill/>
        </p:spPr>
      </p:pic>
      <p:pic>
        <p:nvPicPr>
          <p:cNvPr id="24" name="Image3540">
            <a:extLst>
              <a:ext uri="{FF2B5EF4-FFF2-40B4-BE49-F238E27FC236}">
                <a16:creationId xmlns:a16="http://schemas.microsoft.com/office/drawing/2014/main" id="{3A4E1758-E7C2-A84E-A148-F6B7FEA1E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8767" y="2451118"/>
            <a:ext cx="964714" cy="916884"/>
          </a:xfrm>
          <a:prstGeom prst="rect">
            <a:avLst/>
          </a:prstGeom>
          <a:noFill/>
        </p:spPr>
      </p:pic>
      <p:pic>
        <p:nvPicPr>
          <p:cNvPr id="25" name="Image3541">
            <a:extLst>
              <a:ext uri="{FF2B5EF4-FFF2-40B4-BE49-F238E27FC236}">
                <a16:creationId xmlns:a16="http://schemas.microsoft.com/office/drawing/2014/main" id="{92778C0F-B36A-9248-95C7-562E712AD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9433" y="4405873"/>
            <a:ext cx="903162" cy="876719"/>
          </a:xfrm>
          <a:prstGeom prst="rect">
            <a:avLst/>
          </a:prstGeom>
          <a:noFill/>
        </p:spPr>
      </p:pic>
      <p:sp>
        <p:nvSpPr>
          <p:cNvPr id="26" name="object 3">
            <a:extLst>
              <a:ext uri="{FF2B5EF4-FFF2-40B4-BE49-F238E27FC236}">
                <a16:creationId xmlns:a16="http://schemas.microsoft.com/office/drawing/2014/main" id="{14211ADB-BFB9-D24A-8D43-EAB9A1686CDA}"/>
              </a:ext>
            </a:extLst>
          </p:cNvPr>
          <p:cNvSpPr txBox="1"/>
          <p:nvPr/>
        </p:nvSpPr>
        <p:spPr>
          <a:xfrm>
            <a:off x="8525030" y="1546935"/>
            <a:ext cx="2437750" cy="59759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VMs are placed on nodes in a rack</a:t>
            </a:r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C007EA45-24F8-494F-A8A3-C1867EDCBBA8}"/>
              </a:ext>
            </a:extLst>
          </p:cNvPr>
          <p:cNvSpPr txBox="1"/>
          <p:nvPr/>
        </p:nvSpPr>
        <p:spPr>
          <a:xfrm>
            <a:off x="8413267" y="3368002"/>
            <a:ext cx="2752647" cy="59759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Failures can occur at node and rack levels</a:t>
            </a:r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28" name="object 3">
            <a:extLst>
              <a:ext uri="{FF2B5EF4-FFF2-40B4-BE49-F238E27FC236}">
                <a16:creationId xmlns:a16="http://schemas.microsoft.com/office/drawing/2014/main" id="{1CE0C23C-C610-554E-9743-8F00DFE73690}"/>
              </a:ext>
            </a:extLst>
          </p:cNvPr>
          <p:cNvSpPr txBox="1"/>
          <p:nvPr/>
        </p:nvSpPr>
        <p:spPr>
          <a:xfrm>
            <a:off x="8672139" y="5430628"/>
            <a:ext cx="2437750" cy="115159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Maintenance is also required on hosts and VMs are </a:t>
            </a:r>
            <a:r>
              <a:rPr lang="en-US" b="1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not </a:t>
            </a:r>
            <a:r>
              <a:rPr lang="en-US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live migrated</a:t>
            </a:r>
            <a:endParaRPr lang="en-US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4098" name="Picture 2" descr="Availability sets overview - Azure Virtual Machines | Microsoft Learn">
            <a:extLst>
              <a:ext uri="{FF2B5EF4-FFF2-40B4-BE49-F238E27FC236}">
                <a16:creationId xmlns:a16="http://schemas.microsoft.com/office/drawing/2014/main" id="{31C48977-7B37-ABBA-BC0C-7E7C2B22B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98" y="1426683"/>
            <a:ext cx="6168128" cy="457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827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905255">
              <a:defRPr sz="3564" spc="-99"/>
            </a:lvl1pPr>
          </a:lstStyle>
          <a:p>
            <a:r>
              <a:rPr lang="en-US" dirty="0"/>
              <a:t>Availability Sets</a:t>
            </a:r>
            <a:endParaRPr dirty="0"/>
          </a:p>
        </p:txBody>
      </p:sp>
      <p:sp>
        <p:nvSpPr>
          <p:cNvPr id="415" name="Slide Number Placeholder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2</a:t>
            </a:fld>
            <a:endParaRPr/>
          </a:p>
        </p:txBody>
      </p:sp>
      <p:sp>
        <p:nvSpPr>
          <p:cNvPr id="5" name="Path72">
            <a:extLst>
              <a:ext uri="{FF2B5EF4-FFF2-40B4-BE49-F238E27FC236}">
                <a16:creationId xmlns:a16="http://schemas.microsoft.com/office/drawing/2014/main" id="{4B30C7DB-C8AC-2145-9861-353091EE435D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7" name="Path1836">
            <a:extLst>
              <a:ext uri="{FF2B5EF4-FFF2-40B4-BE49-F238E27FC236}">
                <a16:creationId xmlns:a16="http://schemas.microsoft.com/office/drawing/2014/main" id="{3CD03529-BCBB-504C-99B3-9ACBC8CB0BAB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14211ADB-BFB9-D24A-8D43-EAB9A1686CDA}"/>
              </a:ext>
            </a:extLst>
          </p:cNvPr>
          <p:cNvSpPr txBox="1"/>
          <p:nvPr/>
        </p:nvSpPr>
        <p:spPr>
          <a:xfrm>
            <a:off x="1158565" y="4142948"/>
            <a:ext cx="2437750" cy="1890261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To ensure availability of services, always deploy minimum 2 instances of any service and place in a unique availability set</a:t>
            </a:r>
            <a:endParaRPr lang="en-US" sz="20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C007EA45-24F8-494F-A8A3-C1867EDCBBA8}"/>
              </a:ext>
            </a:extLst>
          </p:cNvPr>
          <p:cNvSpPr txBox="1"/>
          <p:nvPr/>
        </p:nvSpPr>
        <p:spPr>
          <a:xfrm>
            <a:off x="4759777" y="4142948"/>
            <a:ext cx="2437750" cy="158248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This ensures VMs are spread over three fault domains (racks) and five (by default) update domains</a:t>
            </a:r>
            <a:endParaRPr lang="en-US" sz="20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28" name="object 3">
            <a:extLst>
              <a:ext uri="{FF2B5EF4-FFF2-40B4-BE49-F238E27FC236}">
                <a16:creationId xmlns:a16="http://schemas.microsoft.com/office/drawing/2014/main" id="{1CE0C23C-C610-554E-9743-8F00DFE73690}"/>
              </a:ext>
            </a:extLst>
          </p:cNvPr>
          <p:cNvSpPr txBox="1"/>
          <p:nvPr/>
        </p:nvSpPr>
        <p:spPr>
          <a:xfrm>
            <a:off x="8297744" y="4142948"/>
            <a:ext cx="2437750" cy="966931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Must have minimum 2 VMs to receive SLA of 99.95%</a:t>
            </a:r>
            <a:endParaRPr lang="en-US" sz="2000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12" name="Image3556">
            <a:extLst>
              <a:ext uri="{FF2B5EF4-FFF2-40B4-BE49-F238E27FC236}">
                <a16:creationId xmlns:a16="http://schemas.microsoft.com/office/drawing/2014/main" id="{855D97B1-7008-234B-9BB7-4A757D190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431" y="2001992"/>
            <a:ext cx="1795272" cy="1635252"/>
          </a:xfrm>
          <a:prstGeom prst="rect">
            <a:avLst/>
          </a:prstGeom>
          <a:noFill/>
        </p:spPr>
      </p:pic>
      <p:pic>
        <p:nvPicPr>
          <p:cNvPr id="13" name="Image3557">
            <a:extLst>
              <a:ext uri="{FF2B5EF4-FFF2-40B4-BE49-F238E27FC236}">
                <a16:creationId xmlns:a16="http://schemas.microsoft.com/office/drawing/2014/main" id="{3F3D3941-8800-6845-9529-F938B2000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1432" y="1884644"/>
            <a:ext cx="1874520" cy="1869948"/>
          </a:xfrm>
          <a:prstGeom prst="rect">
            <a:avLst/>
          </a:prstGeom>
          <a:noFill/>
        </p:spPr>
      </p:pic>
      <p:pic>
        <p:nvPicPr>
          <p:cNvPr id="14" name="Image3558">
            <a:extLst>
              <a:ext uri="{FF2B5EF4-FFF2-40B4-BE49-F238E27FC236}">
                <a16:creationId xmlns:a16="http://schemas.microsoft.com/office/drawing/2014/main" id="{C298C069-2212-2647-B848-13D2D1451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102" y="2001992"/>
            <a:ext cx="1598676" cy="16352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7009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itle 1"/>
          <p:cNvSpPr txBox="1">
            <a:spLocks noGrp="1"/>
          </p:cNvSpPr>
          <p:nvPr>
            <p:ph type="title"/>
          </p:nvPr>
        </p:nvSpPr>
        <p:spPr>
          <a:xfrm>
            <a:off x="609600" y="-79852"/>
            <a:ext cx="10515600" cy="1325563"/>
          </a:xfrm>
          <a:prstGeom prst="rect">
            <a:avLst/>
          </a:prstGeom>
        </p:spPr>
        <p:txBody>
          <a:bodyPr/>
          <a:lstStyle>
            <a:lvl1pPr defTabSz="905255">
              <a:defRPr sz="3564" spc="-99"/>
            </a:lvl1pPr>
          </a:lstStyle>
          <a:p>
            <a:r>
              <a:rPr lang="en-US" dirty="0"/>
              <a:t>Availability Sets</a:t>
            </a:r>
            <a:endParaRPr dirty="0"/>
          </a:p>
        </p:txBody>
      </p:sp>
      <p:sp>
        <p:nvSpPr>
          <p:cNvPr id="415" name="Slide Number Placeholder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3</a:t>
            </a:fld>
            <a:endParaRPr/>
          </a:p>
        </p:txBody>
      </p:sp>
      <p:sp>
        <p:nvSpPr>
          <p:cNvPr id="5" name="Path72">
            <a:extLst>
              <a:ext uri="{FF2B5EF4-FFF2-40B4-BE49-F238E27FC236}">
                <a16:creationId xmlns:a16="http://schemas.microsoft.com/office/drawing/2014/main" id="{4B30C7DB-C8AC-2145-9861-353091EE435D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7" name="Path1836">
            <a:extLst>
              <a:ext uri="{FF2B5EF4-FFF2-40B4-BE49-F238E27FC236}">
                <a16:creationId xmlns:a16="http://schemas.microsoft.com/office/drawing/2014/main" id="{3CD03529-BCBB-504C-99B3-9ACBC8CB0BAB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pic>
        <p:nvPicPr>
          <p:cNvPr id="15" name="Image3571">
            <a:extLst>
              <a:ext uri="{FF2B5EF4-FFF2-40B4-BE49-F238E27FC236}">
                <a16:creationId xmlns:a16="http://schemas.microsoft.com/office/drawing/2014/main" id="{D200E0E0-2F9F-D24E-A00F-A2C17C27B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26414"/>
            <a:ext cx="11055096" cy="52486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540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itle 1"/>
          <p:cNvSpPr txBox="1">
            <a:spLocks noGrp="1"/>
          </p:cNvSpPr>
          <p:nvPr>
            <p:ph type="title"/>
          </p:nvPr>
        </p:nvSpPr>
        <p:spPr>
          <a:xfrm>
            <a:off x="174327" y="286115"/>
            <a:ext cx="8013405" cy="729784"/>
          </a:xfrm>
          <a:prstGeom prst="rect">
            <a:avLst/>
          </a:prstGeom>
        </p:spPr>
        <p:txBody>
          <a:bodyPr/>
          <a:lstStyle>
            <a:lvl1pPr defTabSz="905255">
              <a:defRPr sz="3564" spc="-99"/>
            </a:lvl1pPr>
          </a:lstStyle>
          <a:p>
            <a:r>
              <a:rPr lang="en-US" dirty="0"/>
              <a:t>Availability zones</a:t>
            </a:r>
            <a:endParaRPr dirty="0"/>
          </a:p>
        </p:txBody>
      </p:sp>
      <p:sp>
        <p:nvSpPr>
          <p:cNvPr id="415" name="Slide Number Placeholder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4</a:t>
            </a:fld>
            <a:endParaRPr/>
          </a:p>
        </p:txBody>
      </p:sp>
      <p:sp>
        <p:nvSpPr>
          <p:cNvPr id="5" name="Path72">
            <a:extLst>
              <a:ext uri="{FF2B5EF4-FFF2-40B4-BE49-F238E27FC236}">
                <a16:creationId xmlns:a16="http://schemas.microsoft.com/office/drawing/2014/main" id="{4B30C7DB-C8AC-2145-9861-353091EE435D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7" name="Path1836">
            <a:extLst>
              <a:ext uri="{FF2B5EF4-FFF2-40B4-BE49-F238E27FC236}">
                <a16:creationId xmlns:a16="http://schemas.microsoft.com/office/drawing/2014/main" id="{3CD03529-BCBB-504C-99B3-9ACBC8CB0BAB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8" name="Group3593">
            <a:extLst>
              <a:ext uri="{FF2B5EF4-FFF2-40B4-BE49-F238E27FC236}">
                <a16:creationId xmlns:a16="http://schemas.microsoft.com/office/drawing/2014/main" id="{CB57408D-FF13-8D4E-BB7C-14232AC9167E}"/>
              </a:ext>
            </a:extLst>
          </p:cNvPr>
          <p:cNvGrpSpPr/>
          <p:nvPr/>
        </p:nvGrpSpPr>
        <p:grpSpPr>
          <a:xfrm>
            <a:off x="5848733" y="1717602"/>
            <a:ext cx="5277612" cy="4073043"/>
            <a:chOff x="6376416" y="1717548"/>
            <a:chExt cx="5277612" cy="4073043"/>
          </a:xfrm>
        </p:grpSpPr>
        <p:sp>
          <p:nvSpPr>
            <p:cNvPr id="9" name="Path3594">
              <a:extLst>
                <a:ext uri="{FF2B5EF4-FFF2-40B4-BE49-F238E27FC236}">
                  <a16:creationId xmlns:a16="http://schemas.microsoft.com/office/drawing/2014/main" id="{0485D10C-82C4-DD4B-AC93-C442786CF1F6}"/>
                </a:ext>
              </a:extLst>
            </p:cNvPr>
            <p:cNvSpPr/>
            <p:nvPr/>
          </p:nvSpPr>
          <p:spPr>
            <a:xfrm>
              <a:off x="7225285" y="3849624"/>
              <a:ext cx="269748" cy="533400"/>
            </a:xfrm>
            <a:custGeom>
              <a:avLst/>
              <a:gdLst/>
              <a:ahLst/>
              <a:cxnLst/>
              <a:rect l="l" t="t" r="r" b="b"/>
              <a:pathLst>
                <a:path w="269748" h="533400">
                  <a:moveTo>
                    <a:pt x="0" y="533400"/>
                  </a:moveTo>
                  <a:lnTo>
                    <a:pt x="269748" y="533400"/>
                  </a:lnTo>
                  <a:lnTo>
                    <a:pt x="269748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0" name="Path3595">
              <a:extLst>
                <a:ext uri="{FF2B5EF4-FFF2-40B4-BE49-F238E27FC236}">
                  <a16:creationId xmlns:a16="http://schemas.microsoft.com/office/drawing/2014/main" id="{978579B9-5442-CC47-A476-C898E973313E}"/>
                </a:ext>
              </a:extLst>
            </p:cNvPr>
            <p:cNvSpPr/>
            <p:nvPr/>
          </p:nvSpPr>
          <p:spPr>
            <a:xfrm>
              <a:off x="7252716" y="4351020"/>
              <a:ext cx="220981" cy="96012"/>
            </a:xfrm>
            <a:custGeom>
              <a:avLst/>
              <a:gdLst/>
              <a:ahLst/>
              <a:cxnLst/>
              <a:rect l="l" t="t" r="r" b="b"/>
              <a:pathLst>
                <a:path w="220981" h="96012">
                  <a:moveTo>
                    <a:pt x="0" y="96012"/>
                  </a:moveTo>
                  <a:lnTo>
                    <a:pt x="220980" y="96012"/>
                  </a:lnTo>
                  <a:lnTo>
                    <a:pt x="220980" y="0"/>
                  </a:lnTo>
                  <a:lnTo>
                    <a:pt x="0" y="0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11" name="Image3596">
              <a:extLst>
                <a:ext uri="{FF2B5EF4-FFF2-40B4-BE49-F238E27FC236}">
                  <a16:creationId xmlns:a16="http://schemas.microsoft.com/office/drawing/2014/main" id="{36A496CC-1BDA-6A40-B7C1-41272E687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05472" y="3828288"/>
              <a:ext cx="313944" cy="637032"/>
            </a:xfrm>
            <a:prstGeom prst="rect">
              <a:avLst/>
            </a:prstGeom>
            <a:noFill/>
          </p:spPr>
        </p:pic>
        <p:sp>
          <p:nvSpPr>
            <p:cNvPr id="12" name="Path3597">
              <a:extLst>
                <a:ext uri="{FF2B5EF4-FFF2-40B4-BE49-F238E27FC236}">
                  <a16:creationId xmlns:a16="http://schemas.microsoft.com/office/drawing/2014/main" id="{D4FCF274-E1FF-F746-9638-479428E1EE11}"/>
                </a:ext>
              </a:extLst>
            </p:cNvPr>
            <p:cNvSpPr/>
            <p:nvPr/>
          </p:nvSpPr>
          <p:spPr>
            <a:xfrm>
              <a:off x="8878824" y="3855720"/>
              <a:ext cx="269748" cy="534924"/>
            </a:xfrm>
            <a:custGeom>
              <a:avLst/>
              <a:gdLst/>
              <a:ahLst/>
              <a:cxnLst/>
              <a:rect l="l" t="t" r="r" b="b"/>
              <a:pathLst>
                <a:path w="269748" h="534924">
                  <a:moveTo>
                    <a:pt x="0" y="534924"/>
                  </a:moveTo>
                  <a:lnTo>
                    <a:pt x="269748" y="534924"/>
                  </a:lnTo>
                  <a:lnTo>
                    <a:pt x="269748" y="0"/>
                  </a:lnTo>
                  <a:lnTo>
                    <a:pt x="0" y="0"/>
                  </a:lnTo>
                  <a:lnTo>
                    <a:pt x="0" y="5349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3" name="Path3598">
              <a:extLst>
                <a:ext uri="{FF2B5EF4-FFF2-40B4-BE49-F238E27FC236}">
                  <a16:creationId xmlns:a16="http://schemas.microsoft.com/office/drawing/2014/main" id="{D654EBCC-EFFA-3C4F-9348-22AAE8CBC28A}"/>
                </a:ext>
              </a:extLst>
            </p:cNvPr>
            <p:cNvSpPr/>
            <p:nvPr/>
          </p:nvSpPr>
          <p:spPr>
            <a:xfrm>
              <a:off x="8906256" y="4357116"/>
              <a:ext cx="220982" cy="96012"/>
            </a:xfrm>
            <a:custGeom>
              <a:avLst/>
              <a:gdLst/>
              <a:ahLst/>
              <a:cxnLst/>
              <a:rect l="l" t="t" r="r" b="b"/>
              <a:pathLst>
                <a:path w="220982" h="96012">
                  <a:moveTo>
                    <a:pt x="0" y="96012"/>
                  </a:moveTo>
                  <a:lnTo>
                    <a:pt x="220980" y="96012"/>
                  </a:lnTo>
                  <a:lnTo>
                    <a:pt x="220980" y="0"/>
                  </a:lnTo>
                  <a:lnTo>
                    <a:pt x="0" y="0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14" name="Image3599">
              <a:extLst>
                <a:ext uri="{FF2B5EF4-FFF2-40B4-BE49-F238E27FC236}">
                  <a16:creationId xmlns:a16="http://schemas.microsoft.com/office/drawing/2014/main" id="{1B8F5408-CD01-D049-995D-311EA3657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59012" y="3835908"/>
              <a:ext cx="312420" cy="635508"/>
            </a:xfrm>
            <a:prstGeom prst="rect">
              <a:avLst/>
            </a:prstGeom>
            <a:noFill/>
          </p:spPr>
        </p:pic>
        <p:sp>
          <p:nvSpPr>
            <p:cNvPr id="16" name="Path3600">
              <a:extLst>
                <a:ext uri="{FF2B5EF4-FFF2-40B4-BE49-F238E27FC236}">
                  <a16:creationId xmlns:a16="http://schemas.microsoft.com/office/drawing/2014/main" id="{2CDAFD62-B2D6-0E42-8E64-9ABA645C725E}"/>
                </a:ext>
              </a:extLst>
            </p:cNvPr>
            <p:cNvSpPr/>
            <p:nvPr/>
          </p:nvSpPr>
          <p:spPr>
            <a:xfrm>
              <a:off x="10546080" y="3837432"/>
              <a:ext cx="269748" cy="534924"/>
            </a:xfrm>
            <a:custGeom>
              <a:avLst/>
              <a:gdLst/>
              <a:ahLst/>
              <a:cxnLst/>
              <a:rect l="l" t="t" r="r" b="b"/>
              <a:pathLst>
                <a:path w="269748" h="534924">
                  <a:moveTo>
                    <a:pt x="0" y="534924"/>
                  </a:moveTo>
                  <a:lnTo>
                    <a:pt x="269748" y="534924"/>
                  </a:lnTo>
                  <a:lnTo>
                    <a:pt x="269748" y="0"/>
                  </a:lnTo>
                  <a:lnTo>
                    <a:pt x="0" y="0"/>
                  </a:lnTo>
                  <a:lnTo>
                    <a:pt x="0" y="5349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7" name="Path3601">
              <a:extLst>
                <a:ext uri="{FF2B5EF4-FFF2-40B4-BE49-F238E27FC236}">
                  <a16:creationId xmlns:a16="http://schemas.microsoft.com/office/drawing/2014/main" id="{8280F617-0671-CC4F-BF07-B4ED4D2ECD14}"/>
                </a:ext>
              </a:extLst>
            </p:cNvPr>
            <p:cNvSpPr/>
            <p:nvPr/>
          </p:nvSpPr>
          <p:spPr>
            <a:xfrm>
              <a:off x="10573512" y="4338828"/>
              <a:ext cx="219456" cy="96012"/>
            </a:xfrm>
            <a:custGeom>
              <a:avLst/>
              <a:gdLst/>
              <a:ahLst/>
              <a:cxnLst/>
              <a:rect l="l" t="t" r="r" b="b"/>
              <a:pathLst>
                <a:path w="219456" h="96012">
                  <a:moveTo>
                    <a:pt x="0" y="96012"/>
                  </a:moveTo>
                  <a:lnTo>
                    <a:pt x="219456" y="96012"/>
                  </a:lnTo>
                  <a:lnTo>
                    <a:pt x="219456" y="0"/>
                  </a:lnTo>
                  <a:lnTo>
                    <a:pt x="0" y="0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18" name="Image3602">
              <a:extLst>
                <a:ext uri="{FF2B5EF4-FFF2-40B4-BE49-F238E27FC236}">
                  <a16:creationId xmlns:a16="http://schemas.microsoft.com/office/drawing/2014/main" id="{645AE2E6-5E6D-AE42-B622-0F7E1E4CD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26268" y="3816096"/>
              <a:ext cx="312420" cy="637032"/>
            </a:xfrm>
            <a:prstGeom prst="rect">
              <a:avLst/>
            </a:prstGeom>
            <a:noFill/>
          </p:spPr>
        </p:pic>
        <p:sp>
          <p:nvSpPr>
            <p:cNvPr id="19" name="Path3603">
              <a:extLst>
                <a:ext uri="{FF2B5EF4-FFF2-40B4-BE49-F238E27FC236}">
                  <a16:creationId xmlns:a16="http://schemas.microsoft.com/office/drawing/2014/main" id="{D35B3AB1-6D20-BF46-BFE8-77B924FAEDC7}"/>
                </a:ext>
              </a:extLst>
            </p:cNvPr>
            <p:cNvSpPr/>
            <p:nvPr/>
          </p:nvSpPr>
          <p:spPr>
            <a:xfrm>
              <a:off x="6376416" y="1717548"/>
              <a:ext cx="5277612" cy="3773424"/>
            </a:xfrm>
            <a:custGeom>
              <a:avLst/>
              <a:gdLst/>
              <a:ahLst/>
              <a:cxnLst/>
              <a:rect l="l" t="t" r="r" b="b"/>
              <a:pathLst>
                <a:path w="5277612" h="3773424">
                  <a:moveTo>
                    <a:pt x="57912" y="3715512"/>
                  </a:moveTo>
                  <a:lnTo>
                    <a:pt x="5219700" y="3715512"/>
                  </a:lnTo>
                  <a:lnTo>
                    <a:pt x="5219700" y="57912"/>
                  </a:lnTo>
                  <a:lnTo>
                    <a:pt x="57912" y="57912"/>
                  </a:lnTo>
                  <a:lnTo>
                    <a:pt x="57912" y="371551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30480" cap="sq">
              <a:solidFill>
                <a:srgbClr val="F05A28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20" name="Image3604">
              <a:extLst>
                <a:ext uri="{FF2B5EF4-FFF2-40B4-BE49-F238E27FC236}">
                  <a16:creationId xmlns:a16="http://schemas.microsoft.com/office/drawing/2014/main" id="{003FDEEF-B933-414C-83D2-2E92B2062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60007" y="4956683"/>
              <a:ext cx="573024" cy="274320"/>
            </a:xfrm>
            <a:prstGeom prst="rect">
              <a:avLst/>
            </a:prstGeom>
            <a:noFill/>
          </p:spPr>
        </p:pic>
        <p:sp>
          <p:nvSpPr>
            <p:cNvPr id="21" name="Path3605">
              <a:extLst>
                <a:ext uri="{FF2B5EF4-FFF2-40B4-BE49-F238E27FC236}">
                  <a16:creationId xmlns:a16="http://schemas.microsoft.com/office/drawing/2014/main" id="{7C3A0819-55F2-B845-A736-0AEA678B30B9}"/>
                </a:ext>
              </a:extLst>
            </p:cNvPr>
            <p:cNvSpPr/>
            <p:nvPr/>
          </p:nvSpPr>
          <p:spPr>
            <a:xfrm>
              <a:off x="6559296" y="1869948"/>
              <a:ext cx="1586484" cy="2936748"/>
            </a:xfrm>
            <a:custGeom>
              <a:avLst/>
              <a:gdLst/>
              <a:ahLst/>
              <a:cxnLst/>
              <a:rect l="l" t="t" r="r" b="b"/>
              <a:pathLst>
                <a:path w="1586484" h="2936748">
                  <a:moveTo>
                    <a:pt x="57912" y="2878836"/>
                  </a:moveTo>
                  <a:lnTo>
                    <a:pt x="1528572" y="2878836"/>
                  </a:lnTo>
                  <a:lnTo>
                    <a:pt x="1528572" y="57912"/>
                  </a:lnTo>
                  <a:lnTo>
                    <a:pt x="57912" y="57912"/>
                  </a:lnTo>
                  <a:lnTo>
                    <a:pt x="57912" y="287883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30480" cap="sq">
              <a:solidFill>
                <a:srgbClr val="2A9FBC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22" name="Image3606">
              <a:extLst>
                <a:ext uri="{FF2B5EF4-FFF2-40B4-BE49-F238E27FC236}">
                  <a16:creationId xmlns:a16="http://schemas.microsoft.com/office/drawing/2014/main" id="{CCB35410-17DB-1B40-B335-7A49DB35B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75828" y="4956683"/>
              <a:ext cx="640080" cy="274320"/>
            </a:xfrm>
            <a:prstGeom prst="rect">
              <a:avLst/>
            </a:prstGeom>
            <a:noFill/>
          </p:spPr>
        </p:pic>
        <p:sp>
          <p:nvSpPr>
            <p:cNvPr id="23" name="Path3607">
              <a:extLst>
                <a:ext uri="{FF2B5EF4-FFF2-40B4-BE49-F238E27FC236}">
                  <a16:creationId xmlns:a16="http://schemas.microsoft.com/office/drawing/2014/main" id="{08F302D1-DD72-E54D-8605-20442161995C}"/>
                </a:ext>
              </a:extLst>
            </p:cNvPr>
            <p:cNvSpPr/>
            <p:nvPr/>
          </p:nvSpPr>
          <p:spPr>
            <a:xfrm>
              <a:off x="8226552" y="1869948"/>
              <a:ext cx="1586484" cy="2936748"/>
            </a:xfrm>
            <a:custGeom>
              <a:avLst/>
              <a:gdLst/>
              <a:ahLst/>
              <a:cxnLst/>
              <a:rect l="l" t="t" r="r" b="b"/>
              <a:pathLst>
                <a:path w="1586484" h="2936748">
                  <a:moveTo>
                    <a:pt x="57912" y="2878836"/>
                  </a:moveTo>
                  <a:lnTo>
                    <a:pt x="1528572" y="2878836"/>
                  </a:lnTo>
                  <a:lnTo>
                    <a:pt x="1528572" y="57912"/>
                  </a:lnTo>
                  <a:lnTo>
                    <a:pt x="57912" y="57912"/>
                  </a:lnTo>
                  <a:lnTo>
                    <a:pt x="57912" y="287883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30480" cap="sq">
              <a:solidFill>
                <a:srgbClr val="2A9FBC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24" name="Image3608">
              <a:extLst>
                <a:ext uri="{FF2B5EF4-FFF2-40B4-BE49-F238E27FC236}">
                  <a16:creationId xmlns:a16="http://schemas.microsoft.com/office/drawing/2014/main" id="{E0ED4D68-76C5-BC4F-B5A5-057E6B88D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43084" y="4956683"/>
              <a:ext cx="642112" cy="274320"/>
            </a:xfrm>
            <a:prstGeom prst="rect">
              <a:avLst/>
            </a:prstGeom>
            <a:noFill/>
          </p:spPr>
        </p:pic>
        <p:sp>
          <p:nvSpPr>
            <p:cNvPr id="25" name="Path3609">
              <a:extLst>
                <a:ext uri="{FF2B5EF4-FFF2-40B4-BE49-F238E27FC236}">
                  <a16:creationId xmlns:a16="http://schemas.microsoft.com/office/drawing/2014/main" id="{136091AA-E352-EB49-B8C9-7EAD5B242814}"/>
                </a:ext>
              </a:extLst>
            </p:cNvPr>
            <p:cNvSpPr/>
            <p:nvPr/>
          </p:nvSpPr>
          <p:spPr>
            <a:xfrm>
              <a:off x="9892286" y="1869948"/>
              <a:ext cx="1588006" cy="2936748"/>
            </a:xfrm>
            <a:custGeom>
              <a:avLst/>
              <a:gdLst/>
              <a:ahLst/>
              <a:cxnLst/>
              <a:rect l="l" t="t" r="r" b="b"/>
              <a:pathLst>
                <a:path w="1588006" h="2936748">
                  <a:moveTo>
                    <a:pt x="57912" y="2878836"/>
                  </a:moveTo>
                  <a:lnTo>
                    <a:pt x="1530096" y="2878836"/>
                  </a:lnTo>
                  <a:lnTo>
                    <a:pt x="1530096" y="57912"/>
                  </a:lnTo>
                  <a:lnTo>
                    <a:pt x="57912" y="57912"/>
                  </a:lnTo>
                  <a:lnTo>
                    <a:pt x="57912" y="287883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30480" cap="sq">
              <a:solidFill>
                <a:srgbClr val="2A9FBC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26" name="Image3610">
              <a:extLst>
                <a:ext uri="{FF2B5EF4-FFF2-40B4-BE49-F238E27FC236}">
                  <a16:creationId xmlns:a16="http://schemas.microsoft.com/office/drawing/2014/main" id="{800E8842-3970-6F45-A3CC-41E4650CA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10348" y="5516271"/>
              <a:ext cx="948028" cy="274320"/>
            </a:xfrm>
            <a:prstGeom prst="rect">
              <a:avLst/>
            </a:prstGeom>
            <a:noFill/>
          </p:spPr>
        </p:pic>
        <p:sp>
          <p:nvSpPr>
            <p:cNvPr id="27" name="Path3611">
              <a:extLst>
                <a:ext uri="{FF2B5EF4-FFF2-40B4-BE49-F238E27FC236}">
                  <a16:creationId xmlns:a16="http://schemas.microsoft.com/office/drawing/2014/main" id="{2D450439-B8A2-E64E-AF2C-CCF4A31B91AB}"/>
                </a:ext>
              </a:extLst>
            </p:cNvPr>
            <p:cNvSpPr/>
            <p:nvPr/>
          </p:nvSpPr>
          <p:spPr>
            <a:xfrm>
              <a:off x="6739128" y="2022348"/>
              <a:ext cx="1229868" cy="516636"/>
            </a:xfrm>
            <a:custGeom>
              <a:avLst/>
              <a:gdLst/>
              <a:ahLst/>
              <a:cxnLst/>
              <a:rect l="l" t="t" r="r" b="b"/>
              <a:pathLst>
                <a:path w="1229868" h="516636">
                  <a:moveTo>
                    <a:pt x="57912" y="458724"/>
                  </a:moveTo>
                  <a:lnTo>
                    <a:pt x="1171956" y="458724"/>
                  </a:lnTo>
                  <a:lnTo>
                    <a:pt x="1171956" y="57912"/>
                  </a:lnTo>
                  <a:lnTo>
                    <a:pt x="57912" y="57912"/>
                  </a:lnTo>
                  <a:lnTo>
                    <a:pt x="57912" y="45872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30480" cap="sq">
              <a:solidFill>
                <a:srgbClr val="727272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28" name="Image3612">
              <a:extLst>
                <a:ext uri="{FF2B5EF4-FFF2-40B4-BE49-F238E27FC236}">
                  <a16:creationId xmlns:a16="http://schemas.microsoft.com/office/drawing/2014/main" id="{F9C92E47-E244-B345-9D82-F1AC429BA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84747" y="2143633"/>
              <a:ext cx="888797" cy="274320"/>
            </a:xfrm>
            <a:prstGeom prst="rect">
              <a:avLst/>
            </a:prstGeom>
            <a:noFill/>
          </p:spPr>
        </p:pic>
        <p:sp>
          <p:nvSpPr>
            <p:cNvPr id="29" name="Path3613">
              <a:extLst>
                <a:ext uri="{FF2B5EF4-FFF2-40B4-BE49-F238E27FC236}">
                  <a16:creationId xmlns:a16="http://schemas.microsoft.com/office/drawing/2014/main" id="{5CEFA9D6-8747-1942-9F39-0DBEA8C6DFDC}"/>
                </a:ext>
              </a:extLst>
            </p:cNvPr>
            <p:cNvSpPr/>
            <p:nvPr/>
          </p:nvSpPr>
          <p:spPr>
            <a:xfrm>
              <a:off x="6739128" y="2549652"/>
              <a:ext cx="1229868" cy="515112"/>
            </a:xfrm>
            <a:custGeom>
              <a:avLst/>
              <a:gdLst/>
              <a:ahLst/>
              <a:cxnLst/>
              <a:rect l="l" t="t" r="r" b="b"/>
              <a:pathLst>
                <a:path w="1229868" h="515112">
                  <a:moveTo>
                    <a:pt x="57912" y="457200"/>
                  </a:moveTo>
                  <a:lnTo>
                    <a:pt x="1171956" y="457200"/>
                  </a:lnTo>
                  <a:lnTo>
                    <a:pt x="1171956" y="57912"/>
                  </a:lnTo>
                  <a:lnTo>
                    <a:pt x="57912" y="57912"/>
                  </a:lnTo>
                  <a:lnTo>
                    <a:pt x="57912" y="4572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30480" cap="sq">
              <a:solidFill>
                <a:srgbClr val="727272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30" name="Image3614">
              <a:extLst>
                <a:ext uri="{FF2B5EF4-FFF2-40B4-BE49-F238E27FC236}">
                  <a16:creationId xmlns:a16="http://schemas.microsoft.com/office/drawing/2014/main" id="{5272B461-24ED-A940-90C9-D087509B8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84747" y="2670937"/>
              <a:ext cx="888797" cy="274320"/>
            </a:xfrm>
            <a:prstGeom prst="rect">
              <a:avLst/>
            </a:prstGeom>
            <a:noFill/>
          </p:spPr>
        </p:pic>
        <p:sp>
          <p:nvSpPr>
            <p:cNvPr id="31" name="Path3615">
              <a:extLst>
                <a:ext uri="{FF2B5EF4-FFF2-40B4-BE49-F238E27FC236}">
                  <a16:creationId xmlns:a16="http://schemas.microsoft.com/office/drawing/2014/main" id="{BB38DDD1-DE65-DB4B-A8CF-018823F92804}"/>
                </a:ext>
              </a:extLst>
            </p:cNvPr>
            <p:cNvSpPr/>
            <p:nvPr/>
          </p:nvSpPr>
          <p:spPr>
            <a:xfrm>
              <a:off x="6739128" y="3076956"/>
              <a:ext cx="1229868" cy="515112"/>
            </a:xfrm>
            <a:custGeom>
              <a:avLst/>
              <a:gdLst/>
              <a:ahLst/>
              <a:cxnLst/>
              <a:rect l="l" t="t" r="r" b="b"/>
              <a:pathLst>
                <a:path w="1229868" h="515112">
                  <a:moveTo>
                    <a:pt x="57912" y="457200"/>
                  </a:moveTo>
                  <a:lnTo>
                    <a:pt x="1171956" y="457200"/>
                  </a:lnTo>
                  <a:lnTo>
                    <a:pt x="1171956" y="57912"/>
                  </a:lnTo>
                  <a:lnTo>
                    <a:pt x="57912" y="57912"/>
                  </a:lnTo>
                  <a:lnTo>
                    <a:pt x="57912" y="4572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30480" cap="sq">
              <a:solidFill>
                <a:srgbClr val="727272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32" name="Image3616">
              <a:extLst>
                <a:ext uri="{FF2B5EF4-FFF2-40B4-BE49-F238E27FC236}">
                  <a16:creationId xmlns:a16="http://schemas.microsoft.com/office/drawing/2014/main" id="{47F1541D-4DE0-1B4C-8F89-A2AA8F1CF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84747" y="3197682"/>
              <a:ext cx="888797" cy="274625"/>
            </a:xfrm>
            <a:prstGeom prst="rect">
              <a:avLst/>
            </a:prstGeom>
            <a:noFill/>
          </p:spPr>
        </p:pic>
      </p:grpSp>
      <p:sp>
        <p:nvSpPr>
          <p:cNvPr id="33" name="Path405">
            <a:extLst>
              <a:ext uri="{FF2B5EF4-FFF2-40B4-BE49-F238E27FC236}">
                <a16:creationId xmlns:a16="http://schemas.microsoft.com/office/drawing/2014/main" id="{847475E5-0116-774B-AEE5-07CA1ECE3EFC}"/>
              </a:ext>
            </a:extLst>
          </p:cNvPr>
          <p:cNvSpPr/>
          <p:nvPr/>
        </p:nvSpPr>
        <p:spPr>
          <a:xfrm>
            <a:off x="5533265" y="1500743"/>
            <a:ext cx="51816" cy="4182758"/>
          </a:xfrm>
          <a:custGeom>
            <a:avLst/>
            <a:gdLst/>
            <a:ahLst/>
            <a:cxnLst/>
            <a:rect l="l" t="t" r="r" b="b"/>
            <a:pathLst>
              <a:path w="51816" h="4182758">
                <a:moveTo>
                  <a:pt x="25908" y="25908"/>
                </a:moveTo>
                <a:lnTo>
                  <a:pt x="25908" y="4156850"/>
                </a:lnTo>
              </a:path>
            </a:pathLst>
          </a:custGeom>
          <a:solidFill>
            <a:srgbClr val="000000">
              <a:alpha val="0"/>
            </a:srgbClr>
          </a:solidFill>
          <a:ln w="25908" cap="sq">
            <a:solidFill>
              <a:srgbClr val="F05A28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4" name="object 3">
            <a:extLst>
              <a:ext uri="{FF2B5EF4-FFF2-40B4-BE49-F238E27FC236}">
                <a16:creationId xmlns:a16="http://schemas.microsoft.com/office/drawing/2014/main" id="{8958D788-8058-5A4F-81AF-42A6E44BC23D}"/>
              </a:ext>
            </a:extLst>
          </p:cNvPr>
          <p:cNvSpPr txBox="1"/>
          <p:nvPr/>
        </p:nvSpPr>
        <p:spPr>
          <a:xfrm>
            <a:off x="174327" y="1717601"/>
            <a:ext cx="5313218" cy="433708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Regions are broken up into physically separate AZs</a:t>
            </a: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AZs have independent power, cooling and networking </a:t>
            </a: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3 AZs are exposed per subscription</a:t>
            </a: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VMs spread over AZs receive 99.99% SLA</a:t>
            </a: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Each AZ can be thought of as separate fault domain and update domain</a:t>
            </a: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Virtual networks span AZs</a:t>
            </a: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endParaRPr lang="en-US" sz="2400" spc="-1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088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79093F-5151-544E-BA97-0759EEB51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08" y="816485"/>
            <a:ext cx="10282891" cy="5177681"/>
          </a:xfrm>
          <a:prstGeom prst="rect">
            <a:avLst/>
          </a:prstGeom>
        </p:spPr>
      </p:pic>
      <p:sp>
        <p:nvSpPr>
          <p:cNvPr id="41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905255">
              <a:defRPr sz="3564" spc="-99"/>
            </a:lvl1pPr>
          </a:lstStyle>
          <a:p>
            <a:r>
              <a:rPr lang="en-US" dirty="0"/>
              <a:t>Regions</a:t>
            </a:r>
            <a:endParaRPr dirty="0"/>
          </a:p>
        </p:txBody>
      </p:sp>
      <p:sp>
        <p:nvSpPr>
          <p:cNvPr id="415" name="Slide Number Placeholder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5</a:t>
            </a:fld>
            <a:endParaRPr/>
          </a:p>
        </p:txBody>
      </p:sp>
      <p:sp>
        <p:nvSpPr>
          <p:cNvPr id="5" name="Path72">
            <a:extLst>
              <a:ext uri="{FF2B5EF4-FFF2-40B4-BE49-F238E27FC236}">
                <a16:creationId xmlns:a16="http://schemas.microsoft.com/office/drawing/2014/main" id="{4B30C7DB-C8AC-2145-9861-353091EE435D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7" name="Path1836">
            <a:extLst>
              <a:ext uri="{FF2B5EF4-FFF2-40B4-BE49-F238E27FC236}">
                <a16:creationId xmlns:a16="http://schemas.microsoft.com/office/drawing/2014/main" id="{3CD03529-BCBB-504C-99B3-9ACBC8CB0BAB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A2AABAA4-E780-8F4F-A42C-DC28F287BC43}"/>
              </a:ext>
            </a:extLst>
          </p:cNvPr>
          <p:cNvSpPr/>
          <p:nvPr/>
        </p:nvSpPr>
        <p:spPr>
          <a:xfrm>
            <a:off x="2945394" y="5518979"/>
            <a:ext cx="6301211" cy="878186"/>
          </a:xfrm>
          <a:custGeom>
            <a:avLst/>
            <a:gdLst>
              <a:gd name="connsiteX0" fmla="*/ 0 w 6301211"/>
              <a:gd name="connsiteY0" fmla="*/ 878186 h 878186"/>
              <a:gd name="connsiteX1" fmla="*/ 6301211 w 6301211"/>
              <a:gd name="connsiteY1" fmla="*/ 878186 h 878186"/>
              <a:gd name="connsiteX2" fmla="*/ 6301211 w 6301211"/>
              <a:gd name="connsiteY2" fmla="*/ 0 h 878186"/>
              <a:gd name="connsiteX3" fmla="*/ 0 w 6301211"/>
              <a:gd name="connsiteY3" fmla="*/ 0 h 878186"/>
              <a:gd name="connsiteX4" fmla="*/ 0 w 6301211"/>
              <a:gd name="connsiteY4" fmla="*/ 878186 h 87818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301211" h="878186">
                <a:moveTo>
                  <a:pt x="0" y="878186"/>
                </a:moveTo>
                <a:lnTo>
                  <a:pt x="6301211" y="878186"/>
                </a:lnTo>
                <a:lnTo>
                  <a:pt x="6301211" y="0"/>
                </a:lnTo>
                <a:lnTo>
                  <a:pt x="0" y="0"/>
                </a:lnTo>
                <a:lnTo>
                  <a:pt x="0" y="878186"/>
                </a:lnTo>
              </a:path>
            </a:pathLst>
          </a:custGeom>
          <a:solidFill>
            <a:srgbClr val="F05A2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9EB2D4C-14A2-7744-B588-0CB83725756B}"/>
              </a:ext>
            </a:extLst>
          </p:cNvPr>
          <p:cNvSpPr txBox="1"/>
          <p:nvPr/>
        </p:nvSpPr>
        <p:spPr>
          <a:xfrm>
            <a:off x="5109634" y="5867398"/>
            <a:ext cx="2765309" cy="30425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1999" dirty="0">
                <a:solidFill>
                  <a:srgbClr val="FFFFFF"/>
                </a:solidFill>
                <a:latin typeface=".LastResort" pitchFamily="18" charset="0"/>
                <a:cs typeface=".LastResort" pitchFamily="18" charset="0"/>
              </a:rPr>
              <a:t>60+</a:t>
            </a:r>
            <a:r>
              <a:rPr lang="en-US" altLang="zh-CN" sz="199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999" dirty="0">
                <a:solidFill>
                  <a:srgbClr val="FFFFFF"/>
                </a:solidFill>
                <a:latin typeface=".LastResort" pitchFamily="18" charset="0"/>
                <a:cs typeface=".LastResort" pitchFamily="18" charset="0"/>
              </a:rPr>
              <a:t>regions,</a:t>
            </a:r>
            <a:r>
              <a:rPr lang="en-US" altLang="zh-CN" sz="199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999" dirty="0">
                <a:solidFill>
                  <a:srgbClr val="FFFFFF"/>
                </a:solidFill>
                <a:latin typeface=".LastResort" pitchFamily="18" charset="0"/>
                <a:cs typeface=".LastResort" pitchFamily="18" charset="0"/>
              </a:rPr>
              <a:t>140 countries</a:t>
            </a:r>
            <a:endParaRPr lang="en-US" altLang="zh-CN" sz="1999" dirty="0">
              <a:solidFill>
                <a:srgbClr val="FFFFFF"/>
              </a:solidFill>
              <a:latin typeface="Arial Unicode MS" pitchFamily="18" charset="0"/>
              <a:cs typeface="Arial Unicode M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77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itle 1"/>
          <p:cNvSpPr txBox="1">
            <a:spLocks noGrp="1"/>
          </p:cNvSpPr>
          <p:nvPr>
            <p:ph type="title"/>
          </p:nvPr>
        </p:nvSpPr>
        <p:spPr>
          <a:xfrm>
            <a:off x="461682" y="23249"/>
            <a:ext cx="10515600" cy="1325563"/>
          </a:xfrm>
          <a:prstGeom prst="rect">
            <a:avLst/>
          </a:prstGeom>
        </p:spPr>
        <p:txBody>
          <a:bodyPr/>
          <a:lstStyle>
            <a:lvl1pPr defTabSz="905255">
              <a:defRPr sz="3564" spc="-99"/>
            </a:lvl1pPr>
          </a:lstStyle>
          <a:p>
            <a:r>
              <a:rPr lang="en-US" dirty="0"/>
              <a:t>Scale sets </a:t>
            </a:r>
            <a:endParaRPr dirty="0"/>
          </a:p>
        </p:txBody>
      </p:sp>
      <p:sp>
        <p:nvSpPr>
          <p:cNvPr id="415" name="Slide Number Placeholder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6</a:t>
            </a:fld>
            <a:endParaRPr/>
          </a:p>
        </p:txBody>
      </p:sp>
      <p:sp>
        <p:nvSpPr>
          <p:cNvPr id="5" name="Path72">
            <a:extLst>
              <a:ext uri="{FF2B5EF4-FFF2-40B4-BE49-F238E27FC236}">
                <a16:creationId xmlns:a16="http://schemas.microsoft.com/office/drawing/2014/main" id="{4B30C7DB-C8AC-2145-9861-353091EE435D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7" name="Path1836">
            <a:extLst>
              <a:ext uri="{FF2B5EF4-FFF2-40B4-BE49-F238E27FC236}">
                <a16:creationId xmlns:a16="http://schemas.microsoft.com/office/drawing/2014/main" id="{3CD03529-BCBB-504C-99B3-9ACBC8CB0BAB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9EB2D4C-14A2-7744-B588-0CB83725756B}"/>
              </a:ext>
            </a:extLst>
          </p:cNvPr>
          <p:cNvSpPr txBox="1"/>
          <p:nvPr/>
        </p:nvSpPr>
        <p:spPr>
          <a:xfrm>
            <a:off x="5109634" y="5867398"/>
            <a:ext cx="2637069" cy="30457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1999" dirty="0">
                <a:solidFill>
                  <a:srgbClr val="FFFFFF"/>
                </a:solidFill>
                <a:latin typeface=".LastResort" pitchFamily="18" charset="0"/>
                <a:cs typeface=".LastResort" pitchFamily="18" charset="0"/>
              </a:rPr>
              <a:t>54</a:t>
            </a:r>
            <a:r>
              <a:rPr lang="en-US" altLang="zh-CN" sz="199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999" dirty="0">
                <a:solidFill>
                  <a:srgbClr val="FFFFFF"/>
                </a:solidFill>
                <a:latin typeface=".LastResort" pitchFamily="18" charset="0"/>
                <a:cs typeface=".LastResort" pitchFamily="18" charset="0"/>
              </a:rPr>
              <a:t>regions,</a:t>
            </a:r>
            <a:r>
              <a:rPr lang="en-US" altLang="zh-CN" sz="199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999" dirty="0">
                <a:solidFill>
                  <a:srgbClr val="FFFFFF"/>
                </a:solidFill>
                <a:latin typeface=".LastResort" pitchFamily="18" charset="0"/>
                <a:cs typeface=".LastResort" pitchFamily="18" charset="0"/>
              </a:rPr>
              <a:t>140 countries</a:t>
            </a:r>
            <a:endParaRPr lang="en-US" altLang="zh-CN" sz="1999" dirty="0">
              <a:solidFill>
                <a:srgbClr val="FFFFFF"/>
              </a:solidFill>
              <a:latin typeface="Arial Unicode MS" pitchFamily="18" charset="0"/>
              <a:cs typeface="Arial Unicode M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B4F8C5-4D6B-C646-AD0E-55FA0BE62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205" y="2683347"/>
            <a:ext cx="5384800" cy="3695700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E1B993A7-A59F-3E4C-8A4E-ED27644A4F20}"/>
              </a:ext>
            </a:extLst>
          </p:cNvPr>
          <p:cNvSpPr txBox="1"/>
          <p:nvPr/>
        </p:nvSpPr>
        <p:spPr>
          <a:xfrm>
            <a:off x="655595" y="953210"/>
            <a:ext cx="5863738" cy="19672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Enables large scale deployment of VMs from single gold image with automatic configuration</a:t>
            </a:r>
          </a:p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Supports auto-scale based on metrics and schedules</a:t>
            </a:r>
          </a:p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Scale sets can be updated without taking down the entire set</a:t>
            </a:r>
          </a:p>
        </p:txBody>
      </p:sp>
    </p:spTree>
    <p:extLst>
      <p:ext uri="{BB962C8B-B14F-4D97-AF65-F5344CB8AC3E}">
        <p14:creationId xmlns:p14="http://schemas.microsoft.com/office/powerpoint/2010/main" val="287641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itle 1"/>
          <p:cNvSpPr txBox="1">
            <a:spLocks noGrp="1"/>
          </p:cNvSpPr>
          <p:nvPr>
            <p:ph type="title"/>
          </p:nvPr>
        </p:nvSpPr>
        <p:spPr>
          <a:xfrm>
            <a:off x="609600" y="136525"/>
            <a:ext cx="10515600" cy="1325563"/>
          </a:xfrm>
          <a:prstGeom prst="rect">
            <a:avLst/>
          </a:prstGeom>
        </p:spPr>
        <p:txBody>
          <a:bodyPr/>
          <a:lstStyle>
            <a:lvl1pPr defTabSz="905255">
              <a:defRPr sz="3564" spc="-99"/>
            </a:lvl1pPr>
          </a:lstStyle>
          <a:p>
            <a:r>
              <a:rPr lang="en-US" dirty="0"/>
              <a:t>Scale sets </a:t>
            </a:r>
            <a:endParaRPr dirty="0"/>
          </a:p>
        </p:txBody>
      </p:sp>
      <p:sp>
        <p:nvSpPr>
          <p:cNvPr id="415" name="Slide Number Placeholder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7</a:t>
            </a:fld>
            <a:endParaRPr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E1B993A7-A59F-3E4C-8A4E-ED27644A4F20}"/>
              </a:ext>
            </a:extLst>
          </p:cNvPr>
          <p:cNvSpPr txBox="1"/>
          <p:nvPr/>
        </p:nvSpPr>
        <p:spPr>
          <a:xfrm>
            <a:off x="609600" y="1118162"/>
            <a:ext cx="5863738" cy="13131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Azure VM Scale Sets enable the entire deployment to be managed in a simple fashion</a:t>
            </a:r>
          </a:p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Enable rollout of updates without taking down the entire service.</a:t>
            </a:r>
          </a:p>
        </p:txBody>
      </p:sp>
      <p:sp>
        <p:nvSpPr>
          <p:cNvPr id="15" name="Path3741">
            <a:extLst>
              <a:ext uri="{FF2B5EF4-FFF2-40B4-BE49-F238E27FC236}">
                <a16:creationId xmlns:a16="http://schemas.microsoft.com/office/drawing/2014/main" id="{C1809B61-8509-1343-AA9D-1D2351A7BC74}"/>
              </a:ext>
            </a:extLst>
          </p:cNvPr>
          <p:cNvSpPr/>
          <p:nvPr/>
        </p:nvSpPr>
        <p:spPr>
          <a:xfrm flipH="1" flipV="1">
            <a:off x="-84668" y="304802"/>
            <a:ext cx="45719" cy="45719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pic>
        <p:nvPicPr>
          <p:cNvPr id="16" name="Image3742">
            <a:extLst>
              <a:ext uri="{FF2B5EF4-FFF2-40B4-BE49-F238E27FC236}">
                <a16:creationId xmlns:a16="http://schemas.microsoft.com/office/drawing/2014/main" id="{2186A045-26F3-CE4A-A9BD-F6348CD64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303" y="2685161"/>
            <a:ext cx="8267496" cy="3608200"/>
          </a:xfrm>
          <a:prstGeom prst="rect">
            <a:avLst/>
          </a:prstGeom>
          <a:noFill/>
        </p:spPr>
      </p:pic>
      <p:sp>
        <p:nvSpPr>
          <p:cNvPr id="17" name="Path3743">
            <a:extLst>
              <a:ext uri="{FF2B5EF4-FFF2-40B4-BE49-F238E27FC236}">
                <a16:creationId xmlns:a16="http://schemas.microsoft.com/office/drawing/2014/main" id="{D5D36C1C-AA42-2D43-B5BE-FA43995869BB}"/>
              </a:ext>
            </a:extLst>
          </p:cNvPr>
          <p:cNvSpPr/>
          <p:nvPr/>
        </p:nvSpPr>
        <p:spPr>
          <a:xfrm>
            <a:off x="2607733" y="2667003"/>
            <a:ext cx="8300974" cy="3652266"/>
          </a:xfrm>
          <a:custGeom>
            <a:avLst/>
            <a:gdLst/>
            <a:ahLst/>
            <a:cxnLst/>
            <a:rect l="l" t="t" r="r" b="b"/>
            <a:pathLst>
              <a:path w="9773412" h="4294632">
                <a:moveTo>
                  <a:pt x="25908" y="199009"/>
                </a:moveTo>
                <a:cubicBezTo>
                  <a:pt x="25908" y="103378"/>
                  <a:pt x="103378" y="25908"/>
                  <a:pt x="199009" y="25908"/>
                </a:cubicBezTo>
                <a:lnTo>
                  <a:pt x="9574404" y="25908"/>
                </a:lnTo>
                <a:cubicBezTo>
                  <a:pt x="9670036" y="25908"/>
                  <a:pt x="9747504" y="103378"/>
                  <a:pt x="9747504" y="199009"/>
                </a:cubicBezTo>
                <a:lnTo>
                  <a:pt x="9747504" y="4095573"/>
                </a:lnTo>
                <a:cubicBezTo>
                  <a:pt x="9747504" y="4191204"/>
                  <a:pt x="9670036" y="4268725"/>
                  <a:pt x="9574404" y="4268725"/>
                </a:cubicBezTo>
                <a:lnTo>
                  <a:pt x="199009" y="4268725"/>
                </a:lnTo>
                <a:cubicBezTo>
                  <a:pt x="103378" y="4268725"/>
                  <a:pt x="25908" y="4191204"/>
                  <a:pt x="25908" y="4095573"/>
                </a:cubicBezTo>
                <a:lnTo>
                  <a:pt x="25908" y="199009"/>
                </a:lnTo>
                <a:close/>
              </a:path>
            </a:pathLst>
          </a:custGeom>
          <a:solidFill>
            <a:srgbClr val="D1EEF5">
              <a:alpha val="0"/>
            </a:srgbClr>
          </a:solidFill>
          <a:ln w="25908" cap="sq">
            <a:solidFill>
              <a:srgbClr val="0070C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151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905255">
              <a:defRPr sz="3564" spc="-99"/>
            </a:lvl1pPr>
          </a:lstStyle>
          <a:p>
            <a:r>
              <a:rPr lang="en-US" dirty="0"/>
              <a:t>Scale sets Limitations </a:t>
            </a:r>
            <a:endParaRPr dirty="0"/>
          </a:p>
        </p:txBody>
      </p:sp>
      <p:sp>
        <p:nvSpPr>
          <p:cNvPr id="415" name="Slide Number Placeholder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8</a:t>
            </a:fld>
            <a:endParaRPr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E1B993A7-A59F-3E4C-8A4E-ED27644A4F20}"/>
              </a:ext>
            </a:extLst>
          </p:cNvPr>
          <p:cNvSpPr txBox="1"/>
          <p:nvPr/>
        </p:nvSpPr>
        <p:spPr>
          <a:xfrm>
            <a:off x="2210107" y="3779405"/>
            <a:ext cx="3514884" cy="127470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spc="-10" dirty="0">
                <a:latin typeface="Calibri"/>
                <a:cs typeface="Calibri"/>
              </a:rPr>
              <a:t>1000 VMs per Scale Set maximum and use with Azure Standard Load Balancer for matching scale</a:t>
            </a:r>
          </a:p>
        </p:txBody>
      </p:sp>
      <p:sp>
        <p:nvSpPr>
          <p:cNvPr id="15" name="Path3741">
            <a:extLst>
              <a:ext uri="{FF2B5EF4-FFF2-40B4-BE49-F238E27FC236}">
                <a16:creationId xmlns:a16="http://schemas.microsoft.com/office/drawing/2014/main" id="{C1809B61-8509-1343-AA9D-1D2351A7BC74}"/>
              </a:ext>
            </a:extLst>
          </p:cNvPr>
          <p:cNvSpPr/>
          <p:nvPr/>
        </p:nvSpPr>
        <p:spPr>
          <a:xfrm flipH="1" flipV="1">
            <a:off x="-84668" y="304802"/>
            <a:ext cx="45719" cy="45719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pic>
        <p:nvPicPr>
          <p:cNvPr id="8" name="Image3747">
            <a:extLst>
              <a:ext uri="{FF2B5EF4-FFF2-40B4-BE49-F238E27FC236}">
                <a16:creationId xmlns:a16="http://schemas.microsoft.com/office/drawing/2014/main" id="{452B5EAC-F256-1D4A-BFD4-92D6BCA66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577340"/>
            <a:ext cx="915924" cy="1865376"/>
          </a:xfrm>
          <a:prstGeom prst="rect">
            <a:avLst/>
          </a:prstGeom>
          <a:noFill/>
        </p:spPr>
      </p:pic>
      <p:pic>
        <p:nvPicPr>
          <p:cNvPr id="9" name="Image3748">
            <a:extLst>
              <a:ext uri="{FF2B5EF4-FFF2-40B4-BE49-F238E27FC236}">
                <a16:creationId xmlns:a16="http://schemas.microsoft.com/office/drawing/2014/main" id="{25510D50-3E0A-DC4B-88FC-897CB97FA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152" y="1851660"/>
            <a:ext cx="1965960" cy="1591056"/>
          </a:xfrm>
          <a:prstGeom prst="rect">
            <a:avLst/>
          </a:prstGeom>
          <a:noFill/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D5DF09E5-97E3-5845-AD1E-ABF0AF024CE5}"/>
              </a:ext>
            </a:extLst>
          </p:cNvPr>
          <p:cNvSpPr txBox="1"/>
          <p:nvPr/>
        </p:nvSpPr>
        <p:spPr>
          <a:xfrm>
            <a:off x="6865563" y="3864072"/>
            <a:ext cx="3514884" cy="6591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spc="-10" dirty="0">
                <a:latin typeface="Calibri"/>
                <a:cs typeface="Calibri"/>
              </a:rPr>
              <a:t>2000 Scale Sets per region per subscription</a:t>
            </a:r>
          </a:p>
        </p:txBody>
      </p:sp>
    </p:spTree>
    <p:extLst>
      <p:ext uri="{BB962C8B-B14F-4D97-AF65-F5344CB8AC3E}">
        <p14:creationId xmlns:p14="http://schemas.microsoft.com/office/powerpoint/2010/main" val="3414653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lide Number Placeholder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D1282E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9</a:t>
            </a:fld>
            <a:endParaRPr/>
          </a:p>
        </p:txBody>
      </p:sp>
      <p:sp>
        <p:nvSpPr>
          <p:cNvPr id="5" name="Path72">
            <a:extLst>
              <a:ext uri="{FF2B5EF4-FFF2-40B4-BE49-F238E27FC236}">
                <a16:creationId xmlns:a16="http://schemas.microsoft.com/office/drawing/2014/main" id="{4B30C7DB-C8AC-2145-9861-353091EE435D}"/>
              </a:ext>
            </a:extLst>
          </p:cNvPr>
          <p:cNvSpPr/>
          <p:nvPr/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solidFill/>
          <a:ln>
            <a:solidFill/>
            <a:prstDash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7D84A46-1FD9-8344-926B-F4845F1994F5}"/>
              </a:ext>
            </a:extLst>
          </p:cNvPr>
          <p:cNvSpPr txBox="1"/>
          <p:nvPr/>
        </p:nvSpPr>
        <p:spPr>
          <a:xfrm>
            <a:off x="4610862" y="1882140"/>
            <a:ext cx="7236122" cy="243656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8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Scale Sets support many types of scale</a:t>
            </a:r>
          </a:p>
          <a:p>
            <a:pPr marL="812800" lvl="1" indent="-342900"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 a schedule both specific day and recurrence (enables scaling ahead of the load increase)</a:t>
            </a:r>
          </a:p>
          <a:p>
            <a:pPr marL="812800" lvl="1" indent="-342900"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Based on resource metrics </a:t>
            </a:r>
          </a:p>
          <a:p>
            <a:pPr marL="812800" lvl="1" indent="-342900"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spc="-1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Can combine (schedule rules take precedence over metric rules)</a:t>
            </a:r>
          </a:p>
        </p:txBody>
      </p:sp>
      <p:sp>
        <p:nvSpPr>
          <p:cNvPr id="9" name="Path405">
            <a:extLst>
              <a:ext uri="{FF2B5EF4-FFF2-40B4-BE49-F238E27FC236}">
                <a16:creationId xmlns:a16="http://schemas.microsoft.com/office/drawing/2014/main" id="{548021A8-597F-7D4A-9E0F-A4457AD28BDE}"/>
              </a:ext>
            </a:extLst>
          </p:cNvPr>
          <p:cNvSpPr/>
          <p:nvPr/>
        </p:nvSpPr>
        <p:spPr>
          <a:xfrm>
            <a:off x="4447534" y="1557250"/>
            <a:ext cx="51816" cy="4182758"/>
          </a:xfrm>
          <a:custGeom>
            <a:avLst/>
            <a:gdLst/>
            <a:ahLst/>
            <a:cxnLst/>
            <a:rect l="l" t="t" r="r" b="b"/>
            <a:pathLst>
              <a:path w="51816" h="4182758">
                <a:moveTo>
                  <a:pt x="25908" y="25908"/>
                </a:moveTo>
                <a:lnTo>
                  <a:pt x="25908" y="4156850"/>
                </a:lnTo>
              </a:path>
            </a:pathLst>
          </a:custGeom>
          <a:solidFill>
            <a:srgbClr val="000000">
              <a:alpha val="0"/>
            </a:srgbClr>
          </a:solidFill>
          <a:ln w="25908" cap="sq">
            <a:solidFill>
              <a:srgbClr val="F05A28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4B778991-2D5F-1B45-8DCF-512EDD9AD497}"/>
              </a:ext>
            </a:extLst>
          </p:cNvPr>
          <p:cNvSpPr txBox="1"/>
          <p:nvPr/>
        </p:nvSpPr>
        <p:spPr>
          <a:xfrm>
            <a:off x="369349" y="0"/>
            <a:ext cx="8986922" cy="88998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5500" spc="-10" dirty="0">
                <a:solidFill>
                  <a:srgbClr val="C0000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Auto-scaling Scale Sets</a:t>
            </a:r>
            <a:endParaRPr lang="en-US" sz="5500" dirty="0">
              <a:solidFill>
                <a:srgbClr val="C0000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6B65BB-283B-7144-1BFB-EA87FAF9AF90}"/>
              </a:ext>
            </a:extLst>
          </p:cNvPr>
          <p:cNvSpPr/>
          <p:nvPr/>
        </p:nvSpPr>
        <p:spPr>
          <a:xfrm>
            <a:off x="767443" y="1882140"/>
            <a:ext cx="2759528" cy="10243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Scheduled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E56DC2-ED56-6569-1681-88FEC03CA0E5}"/>
              </a:ext>
            </a:extLst>
          </p:cNvPr>
          <p:cNvSpPr/>
          <p:nvPr/>
        </p:nvSpPr>
        <p:spPr>
          <a:xfrm>
            <a:off x="767443" y="3898639"/>
            <a:ext cx="2759528" cy="10243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Metric-Based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9698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A318-0448-8378-ED5C-D2FE5FD6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5E00E46-2935-9130-59C5-570DDA51CA9C}"/>
              </a:ext>
            </a:extLst>
          </p:cNvPr>
          <p:cNvSpPr txBox="1"/>
          <p:nvPr/>
        </p:nvSpPr>
        <p:spPr>
          <a:xfrm>
            <a:off x="2947924" y="240889"/>
            <a:ext cx="7738364" cy="7743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>
              <a:spcBef>
                <a:spcPct val="0"/>
              </a:spcBef>
              <a:spcAft>
                <a:spcPts val="600"/>
              </a:spcAft>
            </a:pPr>
            <a:endParaRPr lang="en-US" sz="3600" cap="all" spc="-60" dirty="0">
              <a:solidFill>
                <a:schemeClr val="tx1">
                  <a:lumMod val="85000"/>
                  <a:lumOff val="15000"/>
                </a:schemeClr>
              </a:solidFill>
              <a:latin typeface="Leelawadee UI Semilight" panose="020B0402040204020203" pitchFamily="34" charset="-34"/>
              <a:ea typeface="+mj-ea"/>
              <a:cs typeface="Leelawadee UI Semilight" panose="020B0402040204020203" pitchFamily="34" charset="-34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F614AD4-4A5C-D1B5-3BCE-C8D8D797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Pop quiz:</a:t>
            </a:r>
            <a:endParaRPr lang="en-CA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37EA4-4EE3-228A-6A10-9388EEE35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10</a:t>
            </a:fld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11792AE-FAE7-B2E5-3384-6BFB9064BF75}"/>
              </a:ext>
            </a:extLst>
          </p:cNvPr>
          <p:cNvSpPr txBox="1"/>
          <p:nvPr/>
        </p:nvSpPr>
        <p:spPr>
          <a:xfrm>
            <a:off x="609600" y="2348074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CA" dirty="0">
                <a:latin typeface="+mj-lt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need high availability in a single region and want to support 200 instances in a scale set. Which option should you choose?</a:t>
            </a:r>
          </a:p>
          <a:p>
            <a: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A. Regional scale set (non-zonal) without placement groups</a:t>
            </a:r>
            <a:b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</a:br>
            <a: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B. Zonal scale set with true Availability Zones</a:t>
            </a:r>
            <a:b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</a:br>
            <a: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C. Regional scale set with placement groups</a:t>
            </a:r>
            <a:b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</a:br>
            <a: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D. Single VM in an Availability Set</a:t>
            </a:r>
          </a:p>
        </p:txBody>
      </p:sp>
    </p:spTree>
    <p:extLst>
      <p:ext uri="{BB962C8B-B14F-4D97-AF65-F5344CB8AC3E}">
        <p14:creationId xmlns:p14="http://schemas.microsoft.com/office/powerpoint/2010/main" val="429523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8BD3A-7CC7-329E-8A0F-6DE5814C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573847-D7D4-8B64-404B-EB9C368B6C44}"/>
              </a:ext>
            </a:extLst>
          </p:cNvPr>
          <p:cNvSpPr txBox="1"/>
          <p:nvPr/>
        </p:nvSpPr>
        <p:spPr>
          <a:xfrm>
            <a:off x="2947924" y="240889"/>
            <a:ext cx="7738364" cy="7743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>
              <a:spcBef>
                <a:spcPct val="0"/>
              </a:spcBef>
              <a:spcAft>
                <a:spcPts val="600"/>
              </a:spcAft>
            </a:pPr>
            <a:endParaRPr lang="en-US" sz="3600" cap="all" spc="-60" dirty="0">
              <a:solidFill>
                <a:schemeClr val="tx1">
                  <a:lumMod val="85000"/>
                  <a:lumOff val="15000"/>
                </a:schemeClr>
              </a:solidFill>
              <a:latin typeface="Leelawadee UI Semilight" panose="020B0402040204020203" pitchFamily="34" charset="-34"/>
              <a:ea typeface="+mj-ea"/>
              <a:cs typeface="Leelawadee UI Semilight" panose="020B0402040204020203" pitchFamily="34" charset="-34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543D13D-A5C2-5C73-FE3F-1940624D9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Pop quiz:</a:t>
            </a:r>
            <a:endParaRPr lang="en-CA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B1D82-39D0-B87B-2453-1B0370B4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11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E0F5433-F539-C36A-A4BB-87A2B225926B}"/>
              </a:ext>
            </a:extLst>
          </p:cNvPr>
          <p:cNvSpPr txBox="1"/>
          <p:nvPr/>
        </p:nvSpPr>
        <p:spPr>
          <a:xfrm>
            <a:off x="609600" y="2348074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CA" dirty="0">
                <a:latin typeface="+mj-lt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need high availability in a single region and want to support 200 instances in a scale set. Which option should you choose?</a:t>
            </a:r>
          </a:p>
          <a:p>
            <a: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A. Regional scale set (non-zonal) without placement groups</a:t>
            </a:r>
            <a:b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</a:br>
            <a: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B. Zonal scale set with true Availability Zones</a:t>
            </a:r>
            <a:b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</a:br>
            <a:r>
              <a:rPr lang="en-CA" dirty="0">
                <a:highlight>
                  <a:srgbClr val="FFFF00"/>
                </a:highlight>
                <a:ea typeface="Nirmala UI Semilight" panose="020B0402040204020203" pitchFamily="34" charset="0"/>
                <a:cs typeface="Nirmala UI Semilight" panose="020B0402040204020203" pitchFamily="34" charset="0"/>
              </a:rPr>
              <a:t>C. Regional scale set with placement groups</a:t>
            </a:r>
            <a:b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</a:br>
            <a:r>
              <a:rPr lang="en-CA" dirty="0">
                <a:ea typeface="Nirmala UI Semilight" panose="020B0402040204020203" pitchFamily="34" charset="0"/>
                <a:cs typeface="Nirmala UI Semilight" panose="020B0402040204020203" pitchFamily="34" charset="0"/>
              </a:rPr>
              <a:t>D. Single VM in an Availability Set</a:t>
            </a:r>
          </a:p>
        </p:txBody>
      </p:sp>
    </p:spTree>
    <p:extLst>
      <p:ext uri="{BB962C8B-B14F-4D97-AF65-F5344CB8AC3E}">
        <p14:creationId xmlns:p14="http://schemas.microsoft.com/office/powerpoint/2010/main" val="1966773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1852</Words>
  <Application>Microsoft Office PowerPoint</Application>
  <PresentationFormat>Widescreen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.LastResort</vt:lpstr>
      <vt:lpstr>Aptos</vt:lpstr>
      <vt:lpstr>Aptos Display</vt:lpstr>
      <vt:lpstr>Arial</vt:lpstr>
      <vt:lpstr>Arial Unicode MS</vt:lpstr>
      <vt:lpstr>Calibri</vt:lpstr>
      <vt:lpstr>Leelawadee UI Semilight</vt:lpstr>
      <vt:lpstr>Nirmala UI Semilight</vt:lpstr>
      <vt:lpstr>Times New Roman</vt:lpstr>
      <vt:lpstr>Office Theme</vt:lpstr>
      <vt:lpstr>Availability Sets</vt:lpstr>
      <vt:lpstr>Availability Sets</vt:lpstr>
      <vt:lpstr>Availability Sets</vt:lpstr>
      <vt:lpstr>Availability zones</vt:lpstr>
      <vt:lpstr>Regions</vt:lpstr>
      <vt:lpstr>Scale sets </vt:lpstr>
      <vt:lpstr>Scale sets </vt:lpstr>
      <vt:lpstr>Scale sets Limitations </vt:lpstr>
      <vt:lpstr>PowerPoint Presentation</vt:lpstr>
      <vt:lpstr>Pop quiz:</vt:lpstr>
      <vt:lpstr>Pop quiz: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Patrick</dc:creator>
  <cp:lastModifiedBy>Tim Patrick</cp:lastModifiedBy>
  <cp:revision>4</cp:revision>
  <dcterms:created xsi:type="dcterms:W3CDTF">2025-08-05T16:10:54Z</dcterms:created>
  <dcterms:modified xsi:type="dcterms:W3CDTF">2025-08-06T19:54:15Z</dcterms:modified>
</cp:coreProperties>
</file>